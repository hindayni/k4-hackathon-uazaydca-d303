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 id="2147483663" r:id="rId7"/>
    <p:sldMasterId id="2147483675" r:id="rId8"/>
    <p:sldMasterId id="2147483687" r:id="rId9"/>
    <p:sldMasterId id="2147483699" r:id="rId10"/>
    <p:sldMasterId id="2147483711"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4" r:id="rId81"/>
    <p:sldId id="325" r:id="rId82"/>
    <p:sldId id="326" r:id="rId83"/>
    <p:sldId id="327" r:id="rId84"/>
    <p:sldId id="328" r:id="rId85"/>
    <p:sldId id="329" r:id="rId86"/>
    <p:sldId id="330" r:id="rId87"/>
    <p:sldId id="331" r:id="rId88"/>
    <p:sldId id="332" r:id="rId89"/>
    <p:sldId id="333" r:id="rId90"/>
    <p:sldId id="334" r:id="rId91"/>
    <p:sldId id="335" r:id="rId92"/>
    <p:sldId id="336" r:id="rId93"/>
    <p:sldId id="337" r:id="rId94"/>
    <p:sldId id="338" r:id="rId95"/>
    <p:sldId id="339" r:id="rId96"/>
    <p:sldId id="340" r:id="rId97"/>
    <p:sldId id="341" r:id="rId98"/>
    <p:sldId id="342" r:id="rId99"/>
    <p:sldId id="343" r:id="rId100"/>
    <p:sldId id="344" r:id="rId101"/>
    <p:sldId id="345" r:id="rId102"/>
    <p:sldId id="346" r:id="rId103"/>
    <p:sldId id="347" r:id="rId104"/>
    <p:sldId id="348" r:id="rId105"/>
    <p:sldId id="349" r:id="rId106"/>
    <p:sldId id="350" r:id="rId107"/>
    <p:sldId id="351" r:id="rId108"/>
    <p:sldId id="352" r:id="rId109"/>
    <p:sldId id="353" r:id="rId110"/>
    <p:sldId id="354" r:id="rId111"/>
    <p:sldId id="355" r:id="rId112"/>
    <p:sldId id="356" r:id="rId113"/>
    <p:sldId id="357" r:id="rId114"/>
    <p:sldId id="358" r:id="rId115"/>
    <p:sldId id="359" r:id="rId116"/>
    <p:sldId id="360" r:id="rId117"/>
    <p:sldId id="361" r:id="rId118"/>
    <p:sldId id="362" r:id="rId119"/>
    <p:sldId id="363" r:id="rId120"/>
    <p:sldId id="364" r:id="rId121"/>
    <p:sldId id="365" r:id="rId122"/>
    <p:sldId id="366" r:id="rId123"/>
    <p:sldId id="367" r:id="rId124"/>
    <p:sldId id="368" r:id="rId125"/>
    <p:sldId id="369" r:id="rId126"/>
    <p:sldId id="370" r:id="rId127"/>
    <p:sldId id="371" r:id="rId128"/>
    <p:sldId id="372" r:id="rId129"/>
    <p:sldId id="373" r:id="rId130"/>
    <p:sldId id="374" r:id="rId131"/>
    <p:sldId id="375" r:id="rId132"/>
    <p:sldId id="376" r:id="rId133"/>
    <p:sldId id="377" r:id="rId134"/>
    <p:sldId id="378" r:id="rId135"/>
    <p:sldId id="379" r:id="rId136"/>
    <p:sldId id="380" r:id="rId137"/>
    <p:sldId id="381" r:id="rId138"/>
    <p:sldId id="382" r:id="rId139"/>
    <p:sldId id="383" r:id="rId140"/>
    <p:sldId id="384" r:id="rId141"/>
    <p:sldId id="385" r:id="rId142"/>
    <p:sldId id="386" r:id="rId143"/>
    <p:sldId id="387" r:id="rId144"/>
    <p:sldId id="388" r:id="rId145"/>
    <p:sldId id="389" r:id="rId146"/>
    <p:sldId id="390" r:id="rId147"/>
    <p:sldId id="391" r:id="rId148"/>
    <p:sldId id="392" r:id="rId149"/>
    <p:sldId id="393" r:id="rId150"/>
    <p:sldId id="394" r:id="rId151"/>
    <p:sldId id="395" r:id="rId152"/>
    <p:sldId id="396" r:id="rId153"/>
    <p:sldId id="397" r:id="rId154"/>
    <p:sldId id="398" r:id="rId155"/>
    <p:sldId id="399" r:id="rId156"/>
    <p:sldId id="400" r:id="rId157"/>
    <p:sldId id="401" r:id="rId158"/>
    <p:sldId id="402" r:id="rId159"/>
    <p:sldId id="403" r:id="rId160"/>
    <p:sldId id="404" r:id="rId161"/>
    <p:sldId id="405" r:id="rId162"/>
    <p:sldId id="406" r:id="rId163"/>
    <p:sldId id="407" r:id="rId164"/>
    <p:sldId id="408" r:id="rId165"/>
    <p:sldId id="409" r:id="rId166"/>
    <p:sldId id="410" r:id="rId167"/>
    <p:sldId id="411" r:id="rId168"/>
    <p:sldId id="412" r:id="rId169"/>
    <p:sldId id="413" r:id="rId170"/>
    <p:sldId id="414" r:id="rId171"/>
    <p:sldId id="415" r:id="rId172"/>
    <p:sldId id="416" r:id="rId173"/>
    <p:sldId id="417" r:id="rId174"/>
    <p:sldId id="418" r:id="rId175"/>
    <p:sldId id="419" r:id="rId176"/>
    <p:sldId id="420" r:id="rId177"/>
    <p:sldId id="421" r:id="rId178"/>
    <p:sldId id="422" r:id="rId179"/>
    <p:sldId id="423" r:id="rId180"/>
    <p:sldId id="424" r:id="rId181"/>
    <p:sldId id="425" r:id="rId182"/>
    <p:sldId id="426" r:id="rId183"/>
    <p:sldId id="427" r:id="rId184"/>
    <p:sldId id="428" r:id="rId185"/>
    <p:sldId id="429" r:id="rId186"/>
    <p:sldId id="430" r:id="rId187"/>
    <p:sldId id="431" r:id="rId188"/>
    <p:sldId id="432" r:id="rId189"/>
    <p:sldId id="433" r:id="rId190"/>
    <p:sldId id="434" r:id="rId191"/>
    <p:sldId id="435" r:id="rId192"/>
    <p:sldId id="436" r:id="rId193"/>
    <p:sldId id="437" r:id="rId194"/>
    <p:sldId id="438" r:id="rId195"/>
    <p:sldId id="439" r:id="rId196"/>
    <p:sldId id="440" r:id="rId197"/>
    <p:sldId id="441" r:id="rId198"/>
    <p:sldId id="442" r:id="rId199"/>
    <p:sldId id="443" r:id="rId200"/>
    <p:sldId id="444" r:id="rId201"/>
    <p:sldId id="445" r:id="rId202"/>
    <p:sldId id="446" r:id="rId203"/>
    <p:sldId id="447" r:id="rId204"/>
    <p:sldId id="448" r:id="rId205"/>
    <p:sldId id="449" r:id="rId206"/>
    <p:sldId id="450" r:id="rId207"/>
    <p:sldId id="451" r:id="rId208"/>
    <p:sldId id="452" r:id="rId209"/>
    <p:sldId id="453" r:id="rId210"/>
    <p:sldId id="454" r:id="rId21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212" roundtripDataSignature="AMtx7miLaJCpJFti4EWSwlfruu+G47tD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BE8B88-DE4F-40F9-8EF6-0FD96A1DF877}">
  <a:tblStyle styleId="{C2BE8B88-DE4F-40F9-8EF6-0FD96A1DF877}" styleName="Table_0">
    <a:wholeTbl>
      <a:tcTxStyle b="off" i="off">
        <a:font>
          <a:latin typeface="Constantia"/>
          <a:ea typeface="Constantia"/>
          <a:cs typeface="Constant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a:tcStyle>
        <a:fill>
          <a:solidFill>
            <a:srgbClr val="CAD4EA"/>
          </a:solidFill>
        </a:fill>
      </a:tcStyle>
    </a:band1H>
    <a:band2H>
      <a:tcTxStyle/>
    </a:band2H>
    <a:band1V>
      <a:tcTxStyle/>
      <a:tcStyle>
        <a:fill>
          <a:solidFill>
            <a:srgbClr val="CAD4EA"/>
          </a:solidFill>
        </a:fill>
      </a:tcStyle>
    </a:band1V>
    <a:band2V>
      <a:tcTxStyle/>
    </a:band2V>
    <a:lastCol>
      <a:tcTxStyle b="on" i="off">
        <a:font>
          <a:latin typeface="Constantia"/>
          <a:ea typeface="Constantia"/>
          <a:cs typeface="Constantia"/>
        </a:font>
        <a:schemeClr val="lt1"/>
      </a:tcTxStyle>
      <a:tcStyle>
        <a:fill>
          <a:solidFill>
            <a:schemeClr val="accent1"/>
          </a:solidFill>
        </a:fill>
      </a:tcStyle>
    </a:lastCol>
    <a:firstCol>
      <a:tcTxStyle b="on" i="off">
        <a:font>
          <a:latin typeface="Constantia"/>
          <a:ea typeface="Constantia"/>
          <a:cs typeface="Constantia"/>
        </a:font>
        <a:schemeClr val="lt1"/>
      </a:tcTxStyle>
      <a:tcStyle>
        <a:fill>
          <a:solidFill>
            <a:schemeClr val="accent1"/>
          </a:solidFill>
        </a:fill>
      </a:tcStyle>
    </a:firstCol>
    <a:lastRow>
      <a:tcTxStyle b="on" i="off">
        <a:font>
          <a:latin typeface="Constantia"/>
          <a:ea typeface="Constantia"/>
          <a:cs typeface="Constant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onstantia"/>
          <a:ea typeface="Constantia"/>
          <a:cs typeface="Constant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9E9FC857-DB0C-4306-AAF7-61F27CA975FC}"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556D886-79C6-4B34-8550-496D3A3E74C1}" styleName="Table_2">
    <a:wholeTbl>
      <a:tcTxStyle b="off" i="off">
        <a:font>
          <a:latin typeface="Century Schoolbook"/>
          <a:ea typeface="Century Schoolbook"/>
          <a:cs typeface="Century Schoolbook"/>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EDE7"/>
          </a:solidFill>
        </a:fill>
      </a:tcStyle>
    </a:wholeTbl>
    <a:band1H>
      <a:tcTxStyle/>
      <a:tcStyle>
        <a:fill>
          <a:solidFill>
            <a:srgbClr val="FFD8CC"/>
          </a:solidFill>
        </a:fill>
      </a:tcStyle>
    </a:band1H>
    <a:band2H>
      <a:tcTxStyle/>
    </a:band2H>
    <a:band1V>
      <a:tcTxStyle/>
      <a:tcStyle>
        <a:fill>
          <a:solidFill>
            <a:srgbClr val="FFD8CC"/>
          </a:solidFill>
        </a:fill>
      </a:tcStyle>
    </a:band1V>
    <a:band2V>
      <a:tcTxStyle/>
    </a:band2V>
    <a:lastCol>
      <a:tcTxStyle b="on" i="off">
        <a:font>
          <a:latin typeface="Century Schoolbook"/>
          <a:ea typeface="Century Schoolbook"/>
          <a:cs typeface="Century Schoolbook"/>
        </a:font>
        <a:schemeClr val="lt1"/>
      </a:tcTxStyle>
      <a:tcStyle>
        <a:fill>
          <a:solidFill>
            <a:schemeClr val="accent1"/>
          </a:solidFill>
        </a:fill>
      </a:tcStyle>
    </a:lastCol>
    <a:firstCol>
      <a:tcTxStyle b="on" i="off">
        <a:font>
          <a:latin typeface="Century Schoolbook"/>
          <a:ea typeface="Century Schoolbook"/>
          <a:cs typeface="Century Schoolbook"/>
        </a:font>
        <a:schemeClr val="lt1"/>
      </a:tcTxStyle>
      <a:tcStyle>
        <a:fill>
          <a:solidFill>
            <a:schemeClr val="accent1"/>
          </a:solidFill>
        </a:fill>
      </a:tcStyle>
    </a:firstCol>
    <a:lastRow>
      <a:tcTxStyle b="on" i="off">
        <a:font>
          <a:latin typeface="Century Schoolbook"/>
          <a:ea typeface="Century Schoolbook"/>
          <a:cs typeface="Century Schoolbook"/>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Schoolbook"/>
          <a:ea typeface="Century Schoolbook"/>
          <a:cs typeface="Century Schoolbook"/>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8.xml"/><Relationship Id="rId190" Type="http://schemas.openxmlformats.org/officeDocument/2006/relationships/slide" Target="slides/slide178.xml"/><Relationship Id="rId42" Type="http://schemas.openxmlformats.org/officeDocument/2006/relationships/slide" Target="slides/slide30.xml"/><Relationship Id="rId41" Type="http://schemas.openxmlformats.org/officeDocument/2006/relationships/slide" Target="slides/slide29.xml"/><Relationship Id="rId44" Type="http://schemas.openxmlformats.org/officeDocument/2006/relationships/slide" Target="slides/slide32.xml"/><Relationship Id="rId194" Type="http://schemas.openxmlformats.org/officeDocument/2006/relationships/slide" Target="slides/slide182.xml"/><Relationship Id="rId43" Type="http://schemas.openxmlformats.org/officeDocument/2006/relationships/slide" Target="slides/slide31.xml"/><Relationship Id="rId193" Type="http://schemas.openxmlformats.org/officeDocument/2006/relationships/slide" Target="slides/slide181.xml"/><Relationship Id="rId46" Type="http://schemas.openxmlformats.org/officeDocument/2006/relationships/slide" Target="slides/slide34.xml"/><Relationship Id="rId192" Type="http://schemas.openxmlformats.org/officeDocument/2006/relationships/slide" Target="slides/slide180.xml"/><Relationship Id="rId45" Type="http://schemas.openxmlformats.org/officeDocument/2006/relationships/slide" Target="slides/slide33.xml"/><Relationship Id="rId191" Type="http://schemas.openxmlformats.org/officeDocument/2006/relationships/slide" Target="slides/slide179.xml"/><Relationship Id="rId48" Type="http://schemas.openxmlformats.org/officeDocument/2006/relationships/slide" Target="slides/slide36.xml"/><Relationship Id="rId187" Type="http://schemas.openxmlformats.org/officeDocument/2006/relationships/slide" Target="slides/slide175.xml"/><Relationship Id="rId47" Type="http://schemas.openxmlformats.org/officeDocument/2006/relationships/slide" Target="slides/slide35.xml"/><Relationship Id="rId186" Type="http://schemas.openxmlformats.org/officeDocument/2006/relationships/slide" Target="slides/slide174.xml"/><Relationship Id="rId185" Type="http://schemas.openxmlformats.org/officeDocument/2006/relationships/slide" Target="slides/slide173.xml"/><Relationship Id="rId49" Type="http://schemas.openxmlformats.org/officeDocument/2006/relationships/slide" Target="slides/slide37.xml"/><Relationship Id="rId184" Type="http://schemas.openxmlformats.org/officeDocument/2006/relationships/slide" Target="slides/slide172.xml"/><Relationship Id="rId189" Type="http://schemas.openxmlformats.org/officeDocument/2006/relationships/slide" Target="slides/slide177.xml"/><Relationship Id="rId188" Type="http://schemas.openxmlformats.org/officeDocument/2006/relationships/slide" Target="slides/slide176.xml"/><Relationship Id="rId31" Type="http://schemas.openxmlformats.org/officeDocument/2006/relationships/slide" Target="slides/slide19.xml"/><Relationship Id="rId30" Type="http://schemas.openxmlformats.org/officeDocument/2006/relationships/slide" Target="slides/slide18.xml"/><Relationship Id="rId33" Type="http://schemas.openxmlformats.org/officeDocument/2006/relationships/slide" Target="slides/slide21.xml"/><Relationship Id="rId183" Type="http://schemas.openxmlformats.org/officeDocument/2006/relationships/slide" Target="slides/slide171.xml"/><Relationship Id="rId32" Type="http://schemas.openxmlformats.org/officeDocument/2006/relationships/slide" Target="slides/slide20.xml"/><Relationship Id="rId182" Type="http://schemas.openxmlformats.org/officeDocument/2006/relationships/slide" Target="slides/slide170.xml"/><Relationship Id="rId35" Type="http://schemas.openxmlformats.org/officeDocument/2006/relationships/slide" Target="slides/slide23.xml"/><Relationship Id="rId181" Type="http://schemas.openxmlformats.org/officeDocument/2006/relationships/slide" Target="slides/slide169.xml"/><Relationship Id="rId34" Type="http://schemas.openxmlformats.org/officeDocument/2006/relationships/slide" Target="slides/slide22.xml"/><Relationship Id="rId180" Type="http://schemas.openxmlformats.org/officeDocument/2006/relationships/slide" Target="slides/slide168.xml"/><Relationship Id="rId37" Type="http://schemas.openxmlformats.org/officeDocument/2006/relationships/slide" Target="slides/slide25.xml"/><Relationship Id="rId176" Type="http://schemas.openxmlformats.org/officeDocument/2006/relationships/slide" Target="slides/slide164.xml"/><Relationship Id="rId36" Type="http://schemas.openxmlformats.org/officeDocument/2006/relationships/slide" Target="slides/slide24.xml"/><Relationship Id="rId175" Type="http://schemas.openxmlformats.org/officeDocument/2006/relationships/slide" Target="slides/slide163.xml"/><Relationship Id="rId39" Type="http://schemas.openxmlformats.org/officeDocument/2006/relationships/slide" Target="slides/slide27.xml"/><Relationship Id="rId174" Type="http://schemas.openxmlformats.org/officeDocument/2006/relationships/slide" Target="slides/slide162.xml"/><Relationship Id="rId38" Type="http://schemas.openxmlformats.org/officeDocument/2006/relationships/slide" Target="slides/slide26.xml"/><Relationship Id="rId173" Type="http://schemas.openxmlformats.org/officeDocument/2006/relationships/slide" Target="slides/slide161.xml"/><Relationship Id="rId179" Type="http://schemas.openxmlformats.org/officeDocument/2006/relationships/slide" Target="slides/slide167.xml"/><Relationship Id="rId178" Type="http://schemas.openxmlformats.org/officeDocument/2006/relationships/slide" Target="slides/slide166.xml"/><Relationship Id="rId177" Type="http://schemas.openxmlformats.org/officeDocument/2006/relationships/slide" Target="slides/slide165.xml"/><Relationship Id="rId20" Type="http://schemas.openxmlformats.org/officeDocument/2006/relationships/slide" Target="slides/slide8.xml"/><Relationship Id="rId22" Type="http://schemas.openxmlformats.org/officeDocument/2006/relationships/slide" Target="slides/slide10.xml"/><Relationship Id="rId21" Type="http://schemas.openxmlformats.org/officeDocument/2006/relationships/slide" Target="slides/slide9.xml"/><Relationship Id="rId24" Type="http://schemas.openxmlformats.org/officeDocument/2006/relationships/slide" Target="slides/slide12.xml"/><Relationship Id="rId23" Type="http://schemas.openxmlformats.org/officeDocument/2006/relationships/slide" Target="slides/slide11.xml"/><Relationship Id="rId26" Type="http://schemas.openxmlformats.org/officeDocument/2006/relationships/slide" Target="slides/slide14.xml"/><Relationship Id="rId25" Type="http://schemas.openxmlformats.org/officeDocument/2006/relationships/slide" Target="slides/slide13.xml"/><Relationship Id="rId28" Type="http://schemas.openxmlformats.org/officeDocument/2006/relationships/slide" Target="slides/slide16.xml"/><Relationship Id="rId27" Type="http://schemas.openxmlformats.org/officeDocument/2006/relationships/slide" Target="slides/slide15.xml"/><Relationship Id="rId29" Type="http://schemas.openxmlformats.org/officeDocument/2006/relationships/slide" Target="slides/slide17.xml"/><Relationship Id="rId11" Type="http://schemas.openxmlformats.org/officeDocument/2006/relationships/slideMaster" Target="slideMasters/slideMaster7.xml"/><Relationship Id="rId10" Type="http://schemas.openxmlformats.org/officeDocument/2006/relationships/slideMaster" Target="slideMasters/slideMaster6.xml"/><Relationship Id="rId13" Type="http://schemas.openxmlformats.org/officeDocument/2006/relationships/slide" Target="slides/slide1.xml"/><Relationship Id="rId12" Type="http://schemas.openxmlformats.org/officeDocument/2006/relationships/notesMaster" Target="notesMasters/notesMaster1.xml"/><Relationship Id="rId15" Type="http://schemas.openxmlformats.org/officeDocument/2006/relationships/slide" Target="slides/slide3.xml"/><Relationship Id="rId198" Type="http://schemas.openxmlformats.org/officeDocument/2006/relationships/slide" Target="slides/slide186.xml"/><Relationship Id="rId14" Type="http://schemas.openxmlformats.org/officeDocument/2006/relationships/slide" Target="slides/slide2.xml"/><Relationship Id="rId197" Type="http://schemas.openxmlformats.org/officeDocument/2006/relationships/slide" Target="slides/slide185.xml"/><Relationship Id="rId17" Type="http://schemas.openxmlformats.org/officeDocument/2006/relationships/slide" Target="slides/slide5.xml"/><Relationship Id="rId196" Type="http://schemas.openxmlformats.org/officeDocument/2006/relationships/slide" Target="slides/slide184.xml"/><Relationship Id="rId16" Type="http://schemas.openxmlformats.org/officeDocument/2006/relationships/slide" Target="slides/slide4.xml"/><Relationship Id="rId195" Type="http://schemas.openxmlformats.org/officeDocument/2006/relationships/slide" Target="slides/slide183.xml"/><Relationship Id="rId19" Type="http://schemas.openxmlformats.org/officeDocument/2006/relationships/slide" Target="slides/slide7.xml"/><Relationship Id="rId18" Type="http://schemas.openxmlformats.org/officeDocument/2006/relationships/slide" Target="slides/slide6.xml"/><Relationship Id="rId199" Type="http://schemas.openxmlformats.org/officeDocument/2006/relationships/slide" Target="slides/slide187.xml"/><Relationship Id="rId84" Type="http://schemas.openxmlformats.org/officeDocument/2006/relationships/slide" Target="slides/slide72.xml"/><Relationship Id="rId83" Type="http://schemas.openxmlformats.org/officeDocument/2006/relationships/slide" Target="slides/slide71.xml"/><Relationship Id="rId86" Type="http://schemas.openxmlformats.org/officeDocument/2006/relationships/slide" Target="slides/slide74.xml"/><Relationship Id="rId85" Type="http://schemas.openxmlformats.org/officeDocument/2006/relationships/slide" Target="slides/slide73.xml"/><Relationship Id="rId88" Type="http://schemas.openxmlformats.org/officeDocument/2006/relationships/slide" Target="slides/slide76.xml"/><Relationship Id="rId150" Type="http://schemas.openxmlformats.org/officeDocument/2006/relationships/slide" Target="slides/slide138.xml"/><Relationship Id="rId87" Type="http://schemas.openxmlformats.org/officeDocument/2006/relationships/slide" Target="slides/slide75.xml"/><Relationship Id="rId89" Type="http://schemas.openxmlformats.org/officeDocument/2006/relationships/slide" Target="slides/slide77.xml"/><Relationship Id="rId80" Type="http://schemas.openxmlformats.org/officeDocument/2006/relationships/slide" Target="slides/slide68.xml"/><Relationship Id="rId82" Type="http://schemas.openxmlformats.org/officeDocument/2006/relationships/slide" Target="slides/slide70.xml"/><Relationship Id="rId81" Type="http://schemas.openxmlformats.org/officeDocument/2006/relationships/slide" Target="slides/slide6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37.xml"/><Relationship Id="rId4" Type="http://schemas.openxmlformats.org/officeDocument/2006/relationships/tableStyles" Target="tableStyles.xml"/><Relationship Id="rId148" Type="http://schemas.openxmlformats.org/officeDocument/2006/relationships/slide" Target="slides/slide136.xml"/><Relationship Id="rId9" Type="http://schemas.openxmlformats.org/officeDocument/2006/relationships/slideMaster" Target="slideMasters/slideMaster5.xml"/><Relationship Id="rId143" Type="http://schemas.openxmlformats.org/officeDocument/2006/relationships/slide" Target="slides/slide131.xml"/><Relationship Id="rId142" Type="http://schemas.openxmlformats.org/officeDocument/2006/relationships/slide" Target="slides/slide130.xml"/><Relationship Id="rId141" Type="http://schemas.openxmlformats.org/officeDocument/2006/relationships/slide" Target="slides/slide129.xml"/><Relationship Id="rId140" Type="http://schemas.openxmlformats.org/officeDocument/2006/relationships/slide" Target="slides/slide128.xml"/><Relationship Id="rId5" Type="http://schemas.openxmlformats.org/officeDocument/2006/relationships/slideMaster" Target="slideMasters/slideMaster1.xml"/><Relationship Id="rId147" Type="http://schemas.openxmlformats.org/officeDocument/2006/relationships/slide" Target="slides/slide135.xml"/><Relationship Id="rId6" Type="http://schemas.openxmlformats.org/officeDocument/2006/relationships/slideMaster" Target="slideMasters/slideMaster2.xml"/><Relationship Id="rId146" Type="http://schemas.openxmlformats.org/officeDocument/2006/relationships/slide" Target="slides/slide134.xml"/><Relationship Id="rId7" Type="http://schemas.openxmlformats.org/officeDocument/2006/relationships/slideMaster" Target="slideMasters/slideMaster3.xml"/><Relationship Id="rId145" Type="http://schemas.openxmlformats.org/officeDocument/2006/relationships/slide" Target="slides/slide133.xml"/><Relationship Id="rId8" Type="http://schemas.openxmlformats.org/officeDocument/2006/relationships/slideMaster" Target="slideMasters/slideMaster4.xml"/><Relationship Id="rId144" Type="http://schemas.openxmlformats.org/officeDocument/2006/relationships/slide" Target="slides/slide132.xml"/><Relationship Id="rId73" Type="http://schemas.openxmlformats.org/officeDocument/2006/relationships/slide" Target="slides/slide61.xml"/><Relationship Id="rId72" Type="http://schemas.openxmlformats.org/officeDocument/2006/relationships/slide" Target="slides/slide60.xml"/><Relationship Id="rId75" Type="http://schemas.openxmlformats.org/officeDocument/2006/relationships/slide" Target="slides/slide63.xml"/><Relationship Id="rId74" Type="http://schemas.openxmlformats.org/officeDocument/2006/relationships/slide" Target="slides/slide62.xml"/><Relationship Id="rId77" Type="http://schemas.openxmlformats.org/officeDocument/2006/relationships/slide" Target="slides/slide65.xml"/><Relationship Id="rId76" Type="http://schemas.openxmlformats.org/officeDocument/2006/relationships/slide" Target="slides/slide64.xml"/><Relationship Id="rId79" Type="http://schemas.openxmlformats.org/officeDocument/2006/relationships/slide" Target="slides/slide67.xml"/><Relationship Id="rId78" Type="http://schemas.openxmlformats.org/officeDocument/2006/relationships/slide" Target="slides/slide66.xml"/><Relationship Id="rId71" Type="http://schemas.openxmlformats.org/officeDocument/2006/relationships/slide" Target="slides/slide59.xml"/><Relationship Id="rId70" Type="http://schemas.openxmlformats.org/officeDocument/2006/relationships/slide" Target="slides/slide58.xml"/><Relationship Id="rId139" Type="http://schemas.openxmlformats.org/officeDocument/2006/relationships/slide" Target="slides/slide127.xml"/><Relationship Id="rId138" Type="http://schemas.openxmlformats.org/officeDocument/2006/relationships/slide" Target="slides/slide126.xml"/><Relationship Id="rId137" Type="http://schemas.openxmlformats.org/officeDocument/2006/relationships/slide" Target="slides/slide125.xml"/><Relationship Id="rId132" Type="http://schemas.openxmlformats.org/officeDocument/2006/relationships/slide" Target="slides/slide120.xml"/><Relationship Id="rId131" Type="http://schemas.openxmlformats.org/officeDocument/2006/relationships/slide" Target="slides/slide119.xml"/><Relationship Id="rId130" Type="http://schemas.openxmlformats.org/officeDocument/2006/relationships/slide" Target="slides/slide118.xml"/><Relationship Id="rId136" Type="http://schemas.openxmlformats.org/officeDocument/2006/relationships/slide" Target="slides/slide124.xml"/><Relationship Id="rId135" Type="http://schemas.openxmlformats.org/officeDocument/2006/relationships/slide" Target="slides/slide123.xml"/><Relationship Id="rId134" Type="http://schemas.openxmlformats.org/officeDocument/2006/relationships/slide" Target="slides/slide122.xml"/><Relationship Id="rId133" Type="http://schemas.openxmlformats.org/officeDocument/2006/relationships/slide" Target="slides/slide121.xml"/><Relationship Id="rId62" Type="http://schemas.openxmlformats.org/officeDocument/2006/relationships/slide" Target="slides/slide50.xml"/><Relationship Id="rId61" Type="http://schemas.openxmlformats.org/officeDocument/2006/relationships/slide" Target="slides/slide49.xml"/><Relationship Id="rId64" Type="http://schemas.openxmlformats.org/officeDocument/2006/relationships/slide" Target="slides/slide52.xml"/><Relationship Id="rId63" Type="http://schemas.openxmlformats.org/officeDocument/2006/relationships/slide" Target="slides/slide51.xml"/><Relationship Id="rId66" Type="http://schemas.openxmlformats.org/officeDocument/2006/relationships/slide" Target="slides/slide54.xml"/><Relationship Id="rId172" Type="http://schemas.openxmlformats.org/officeDocument/2006/relationships/slide" Target="slides/slide160.xml"/><Relationship Id="rId65" Type="http://schemas.openxmlformats.org/officeDocument/2006/relationships/slide" Target="slides/slide53.xml"/><Relationship Id="rId171" Type="http://schemas.openxmlformats.org/officeDocument/2006/relationships/slide" Target="slides/slide159.xml"/><Relationship Id="rId68" Type="http://schemas.openxmlformats.org/officeDocument/2006/relationships/slide" Target="slides/slide56.xml"/><Relationship Id="rId170" Type="http://schemas.openxmlformats.org/officeDocument/2006/relationships/slide" Target="slides/slide158.xml"/><Relationship Id="rId67" Type="http://schemas.openxmlformats.org/officeDocument/2006/relationships/slide" Target="slides/slide55.xml"/><Relationship Id="rId60" Type="http://schemas.openxmlformats.org/officeDocument/2006/relationships/slide" Target="slides/slide48.xml"/><Relationship Id="rId165" Type="http://schemas.openxmlformats.org/officeDocument/2006/relationships/slide" Target="slides/slide153.xml"/><Relationship Id="rId69" Type="http://schemas.openxmlformats.org/officeDocument/2006/relationships/slide" Target="slides/slide57.xml"/><Relationship Id="rId164" Type="http://schemas.openxmlformats.org/officeDocument/2006/relationships/slide" Target="slides/slide152.xml"/><Relationship Id="rId163" Type="http://schemas.openxmlformats.org/officeDocument/2006/relationships/slide" Target="slides/slide151.xml"/><Relationship Id="rId162" Type="http://schemas.openxmlformats.org/officeDocument/2006/relationships/slide" Target="slides/slide150.xml"/><Relationship Id="rId169" Type="http://schemas.openxmlformats.org/officeDocument/2006/relationships/slide" Target="slides/slide157.xml"/><Relationship Id="rId168" Type="http://schemas.openxmlformats.org/officeDocument/2006/relationships/slide" Target="slides/slide156.xml"/><Relationship Id="rId167" Type="http://schemas.openxmlformats.org/officeDocument/2006/relationships/slide" Target="slides/slide155.xml"/><Relationship Id="rId166" Type="http://schemas.openxmlformats.org/officeDocument/2006/relationships/slide" Target="slides/slide154.xml"/><Relationship Id="rId51" Type="http://schemas.openxmlformats.org/officeDocument/2006/relationships/slide" Target="slides/slide39.xml"/><Relationship Id="rId50" Type="http://schemas.openxmlformats.org/officeDocument/2006/relationships/slide" Target="slides/slide38.xml"/><Relationship Id="rId53" Type="http://schemas.openxmlformats.org/officeDocument/2006/relationships/slide" Target="slides/slide41.xml"/><Relationship Id="rId52" Type="http://schemas.openxmlformats.org/officeDocument/2006/relationships/slide" Target="slides/slide40.xml"/><Relationship Id="rId55" Type="http://schemas.openxmlformats.org/officeDocument/2006/relationships/slide" Target="slides/slide43.xml"/><Relationship Id="rId161" Type="http://schemas.openxmlformats.org/officeDocument/2006/relationships/slide" Target="slides/slide149.xml"/><Relationship Id="rId54" Type="http://schemas.openxmlformats.org/officeDocument/2006/relationships/slide" Target="slides/slide42.xml"/><Relationship Id="rId160" Type="http://schemas.openxmlformats.org/officeDocument/2006/relationships/slide" Target="slides/slide148.xml"/><Relationship Id="rId57" Type="http://schemas.openxmlformats.org/officeDocument/2006/relationships/slide" Target="slides/slide45.xml"/><Relationship Id="rId56" Type="http://schemas.openxmlformats.org/officeDocument/2006/relationships/slide" Target="slides/slide44.xml"/><Relationship Id="rId159" Type="http://schemas.openxmlformats.org/officeDocument/2006/relationships/slide" Target="slides/slide147.xml"/><Relationship Id="rId59" Type="http://schemas.openxmlformats.org/officeDocument/2006/relationships/slide" Target="slides/slide47.xml"/><Relationship Id="rId154" Type="http://schemas.openxmlformats.org/officeDocument/2006/relationships/slide" Target="slides/slide142.xml"/><Relationship Id="rId58" Type="http://schemas.openxmlformats.org/officeDocument/2006/relationships/slide" Target="slides/slide46.xml"/><Relationship Id="rId153" Type="http://schemas.openxmlformats.org/officeDocument/2006/relationships/slide" Target="slides/slide141.xml"/><Relationship Id="rId152" Type="http://schemas.openxmlformats.org/officeDocument/2006/relationships/slide" Target="slides/slide140.xml"/><Relationship Id="rId151" Type="http://schemas.openxmlformats.org/officeDocument/2006/relationships/slide" Target="slides/slide139.xml"/><Relationship Id="rId158" Type="http://schemas.openxmlformats.org/officeDocument/2006/relationships/slide" Target="slides/slide146.xml"/><Relationship Id="rId157" Type="http://schemas.openxmlformats.org/officeDocument/2006/relationships/slide" Target="slides/slide145.xml"/><Relationship Id="rId156" Type="http://schemas.openxmlformats.org/officeDocument/2006/relationships/slide" Target="slides/slide144.xml"/><Relationship Id="rId155" Type="http://schemas.openxmlformats.org/officeDocument/2006/relationships/slide" Target="slides/slide143.xml"/><Relationship Id="rId107" Type="http://schemas.openxmlformats.org/officeDocument/2006/relationships/slide" Target="slides/slide95.xml"/><Relationship Id="rId106" Type="http://schemas.openxmlformats.org/officeDocument/2006/relationships/slide" Target="slides/slide94.xml"/><Relationship Id="rId105" Type="http://schemas.openxmlformats.org/officeDocument/2006/relationships/slide" Target="slides/slide93.xml"/><Relationship Id="rId104" Type="http://schemas.openxmlformats.org/officeDocument/2006/relationships/slide" Target="slides/slide92.xml"/><Relationship Id="rId109" Type="http://schemas.openxmlformats.org/officeDocument/2006/relationships/slide" Target="slides/slide97.xml"/><Relationship Id="rId108" Type="http://schemas.openxmlformats.org/officeDocument/2006/relationships/slide" Target="slides/slide96.xml"/><Relationship Id="rId103" Type="http://schemas.openxmlformats.org/officeDocument/2006/relationships/slide" Target="slides/slide91.xml"/><Relationship Id="rId102" Type="http://schemas.openxmlformats.org/officeDocument/2006/relationships/slide" Target="slides/slide90.xml"/><Relationship Id="rId101" Type="http://schemas.openxmlformats.org/officeDocument/2006/relationships/slide" Target="slides/slide89.xml"/><Relationship Id="rId100" Type="http://schemas.openxmlformats.org/officeDocument/2006/relationships/slide" Target="slides/slide88.xml"/><Relationship Id="rId212" Type="http://customschemas.google.com/relationships/presentationmetadata" Target="metadata"/><Relationship Id="rId211" Type="http://schemas.openxmlformats.org/officeDocument/2006/relationships/slide" Target="slides/slide199.xml"/><Relationship Id="rId210" Type="http://schemas.openxmlformats.org/officeDocument/2006/relationships/slide" Target="slides/slide198.xml"/><Relationship Id="rId129" Type="http://schemas.openxmlformats.org/officeDocument/2006/relationships/slide" Target="slides/slide117.xml"/><Relationship Id="rId128" Type="http://schemas.openxmlformats.org/officeDocument/2006/relationships/slide" Target="slides/slide116.xml"/><Relationship Id="rId127" Type="http://schemas.openxmlformats.org/officeDocument/2006/relationships/slide" Target="slides/slide115.xml"/><Relationship Id="rId126" Type="http://schemas.openxmlformats.org/officeDocument/2006/relationships/slide" Target="slides/slide114.xml"/><Relationship Id="rId121" Type="http://schemas.openxmlformats.org/officeDocument/2006/relationships/slide" Target="slides/slide109.xml"/><Relationship Id="rId120" Type="http://schemas.openxmlformats.org/officeDocument/2006/relationships/slide" Target="slides/slide108.xml"/><Relationship Id="rId125" Type="http://schemas.openxmlformats.org/officeDocument/2006/relationships/slide" Target="slides/slide113.xml"/><Relationship Id="rId124" Type="http://schemas.openxmlformats.org/officeDocument/2006/relationships/slide" Target="slides/slide112.xml"/><Relationship Id="rId123" Type="http://schemas.openxmlformats.org/officeDocument/2006/relationships/slide" Target="slides/slide111.xml"/><Relationship Id="rId122" Type="http://schemas.openxmlformats.org/officeDocument/2006/relationships/slide" Target="slides/slide110.xml"/><Relationship Id="rId95" Type="http://schemas.openxmlformats.org/officeDocument/2006/relationships/slide" Target="slides/slide83.xml"/><Relationship Id="rId94" Type="http://schemas.openxmlformats.org/officeDocument/2006/relationships/slide" Target="slides/slide82.xml"/><Relationship Id="rId97" Type="http://schemas.openxmlformats.org/officeDocument/2006/relationships/slide" Target="slides/slide85.xml"/><Relationship Id="rId96" Type="http://schemas.openxmlformats.org/officeDocument/2006/relationships/slide" Target="slides/slide84.xml"/><Relationship Id="rId99" Type="http://schemas.openxmlformats.org/officeDocument/2006/relationships/slide" Target="slides/slide87.xml"/><Relationship Id="rId98" Type="http://schemas.openxmlformats.org/officeDocument/2006/relationships/slide" Target="slides/slide86.xml"/><Relationship Id="rId91" Type="http://schemas.openxmlformats.org/officeDocument/2006/relationships/slide" Target="slides/slide79.xml"/><Relationship Id="rId90" Type="http://schemas.openxmlformats.org/officeDocument/2006/relationships/slide" Target="slides/slide78.xml"/><Relationship Id="rId93" Type="http://schemas.openxmlformats.org/officeDocument/2006/relationships/slide" Target="slides/slide81.xml"/><Relationship Id="rId92" Type="http://schemas.openxmlformats.org/officeDocument/2006/relationships/slide" Target="slides/slide80.xml"/><Relationship Id="rId118" Type="http://schemas.openxmlformats.org/officeDocument/2006/relationships/slide" Target="slides/slide106.xml"/><Relationship Id="rId117" Type="http://schemas.openxmlformats.org/officeDocument/2006/relationships/slide" Target="slides/slide105.xml"/><Relationship Id="rId116" Type="http://schemas.openxmlformats.org/officeDocument/2006/relationships/slide" Target="slides/slide104.xml"/><Relationship Id="rId115" Type="http://schemas.openxmlformats.org/officeDocument/2006/relationships/slide" Target="slides/slide103.xml"/><Relationship Id="rId119" Type="http://schemas.openxmlformats.org/officeDocument/2006/relationships/slide" Target="slides/slide107.xml"/><Relationship Id="rId110" Type="http://schemas.openxmlformats.org/officeDocument/2006/relationships/slide" Target="slides/slide98.xml"/><Relationship Id="rId114" Type="http://schemas.openxmlformats.org/officeDocument/2006/relationships/slide" Target="slides/slide102.xml"/><Relationship Id="rId113" Type="http://schemas.openxmlformats.org/officeDocument/2006/relationships/slide" Target="slides/slide101.xml"/><Relationship Id="rId112" Type="http://schemas.openxmlformats.org/officeDocument/2006/relationships/slide" Target="slides/slide100.xml"/><Relationship Id="rId111" Type="http://schemas.openxmlformats.org/officeDocument/2006/relationships/slide" Target="slides/slide99.xml"/><Relationship Id="rId206" Type="http://schemas.openxmlformats.org/officeDocument/2006/relationships/slide" Target="slides/slide194.xml"/><Relationship Id="rId205" Type="http://schemas.openxmlformats.org/officeDocument/2006/relationships/slide" Target="slides/slide193.xml"/><Relationship Id="rId204" Type="http://schemas.openxmlformats.org/officeDocument/2006/relationships/slide" Target="slides/slide192.xml"/><Relationship Id="rId203" Type="http://schemas.openxmlformats.org/officeDocument/2006/relationships/slide" Target="slides/slide191.xml"/><Relationship Id="rId209" Type="http://schemas.openxmlformats.org/officeDocument/2006/relationships/slide" Target="slides/slide197.xml"/><Relationship Id="rId208" Type="http://schemas.openxmlformats.org/officeDocument/2006/relationships/slide" Target="slides/slide196.xml"/><Relationship Id="rId207" Type="http://schemas.openxmlformats.org/officeDocument/2006/relationships/slide" Target="slides/slide195.xml"/><Relationship Id="rId202" Type="http://schemas.openxmlformats.org/officeDocument/2006/relationships/slide" Target="slides/slide190.xml"/><Relationship Id="rId201" Type="http://schemas.openxmlformats.org/officeDocument/2006/relationships/slide" Target="slides/slide189.xml"/><Relationship Id="rId200" Type="http://schemas.openxmlformats.org/officeDocument/2006/relationships/slide" Target="slides/slide1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80" name="Google Shape;58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597" name="Google Shape;59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06" name="Google Shape;60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4" name="Google Shape;69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695" name="Google Shape;695;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4" name="Google Shape;7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83" name="Google Shape;783;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0" name="Google Shape;82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2" name="Google Shape;88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 name="Google Shape;90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 name="Google Shape;91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9" name="Google Shape;91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 name="Google Shape;93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4" name="Google Shape;94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6" name="Google Shape;95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6" name="Google Shape;96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4" name="Google Shape;984;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3" name="Google Shape;101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8" name="Google Shape;103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6" name="Google Shape;1056;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4" name="Google Shape;109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1" name="Google Shape;1121;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9" name="Google Shape;1129;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8" name="Google Shape;1138;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39" name="Google Shape;1139;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7" name="Google Shape;1147;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5" name="Google Shape;1155;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156" name="Google Shape;1156;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5" name="Google Shape;1165;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3" name="Google Shape;1183;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1" name="Google Shape;1201;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9" name="Google Shape;120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6" name="Google Shape;1236;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9" name="Google Shape;124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8" name="Google Shape;1258;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4" name="Google Shape;1284;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6" name="Google Shape;1306;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6" name="Google Shape;1316;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7" name="Google Shape;132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6" name="Google Shape;1336;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1" name="Google Shape;135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9" name="Google Shape;1359;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7" name="Google Shape;1367;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6" name="Google Shape;1386;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2" name="Google Shape;1402;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2" name="Shape 1412"/>
        <p:cNvGrpSpPr/>
        <p:nvPr/>
      </p:nvGrpSpPr>
      <p:grpSpPr>
        <a:xfrm>
          <a:off x="0" y="0"/>
          <a:ext cx="0" cy="0"/>
          <a:chOff x="0" y="0"/>
          <a:chExt cx="0" cy="0"/>
        </a:xfrm>
      </p:grpSpPr>
      <p:sp>
        <p:nvSpPr>
          <p:cNvPr id="1413" name="Google Shape;1413;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4" name="Google Shape;1414;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2" name="Google Shape;1422;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1" name="Google Shape;1431;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41" name="Google Shape;1441;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49" name="Google Shape;1449;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35" name="Google Shape;1535;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40" name="Google Shape;1540;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45" name="Google Shape;1545;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4" name="Google Shape;1554;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555" name="Google Shape;1555;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70" name="Google Shape;1570;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78" name="Google Shape;1578;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5" name="Shape 1585"/>
        <p:cNvGrpSpPr/>
        <p:nvPr/>
      </p:nvGrpSpPr>
      <p:grpSpPr>
        <a:xfrm>
          <a:off x="0" y="0"/>
          <a:ext cx="0" cy="0"/>
          <a:chOff x="0" y="0"/>
          <a:chExt cx="0" cy="0"/>
        </a:xfrm>
      </p:grpSpPr>
      <p:sp>
        <p:nvSpPr>
          <p:cNvPr id="1586" name="Google Shape;1586;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7" name="Google Shape;1587;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7" name="Google Shape;1597;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5" name="Google Shape;1605;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7" name="Shape 1627"/>
        <p:cNvGrpSpPr/>
        <p:nvPr/>
      </p:nvGrpSpPr>
      <p:grpSpPr>
        <a:xfrm>
          <a:off x="0" y="0"/>
          <a:ext cx="0" cy="0"/>
          <a:chOff x="0" y="0"/>
          <a:chExt cx="0" cy="0"/>
        </a:xfrm>
      </p:grpSpPr>
      <p:sp>
        <p:nvSpPr>
          <p:cNvPr id="1628" name="Google Shape;1628;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9" name="Google Shape;1629;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39" name="Google Shape;1639;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6" name="Shape 1646"/>
        <p:cNvGrpSpPr/>
        <p:nvPr/>
      </p:nvGrpSpPr>
      <p:grpSpPr>
        <a:xfrm>
          <a:off x="0" y="0"/>
          <a:ext cx="0" cy="0"/>
          <a:chOff x="0" y="0"/>
          <a:chExt cx="0" cy="0"/>
        </a:xfrm>
      </p:grpSpPr>
      <p:sp>
        <p:nvSpPr>
          <p:cNvPr id="1647" name="Google Shape;1647;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48" name="Google Shape;1648;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58" name="Google Shape;1658;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67" name="Google Shape;1667;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01" name="Google Shape;1701;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1" name="Google Shape;1711;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0" name="Google Shape;1720;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28" name="Google Shape;1728;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4" name="Shape 1734"/>
        <p:cNvGrpSpPr/>
        <p:nvPr/>
      </p:nvGrpSpPr>
      <p:grpSpPr>
        <a:xfrm>
          <a:off x="0" y="0"/>
          <a:ext cx="0" cy="0"/>
          <a:chOff x="0" y="0"/>
          <a:chExt cx="0" cy="0"/>
        </a:xfrm>
      </p:grpSpPr>
      <p:sp>
        <p:nvSpPr>
          <p:cNvPr id="1735" name="Google Shape;1735;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36" name="Google Shape;1736;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8" name="Google Shape;1758;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7" name="Google Shape;1767;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6" name="Google Shape;1776;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87" name="Google Shape;1787;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3" name="Shape 1793"/>
        <p:cNvGrpSpPr/>
        <p:nvPr/>
      </p:nvGrpSpPr>
      <p:grpSpPr>
        <a:xfrm>
          <a:off x="0" y="0"/>
          <a:ext cx="0" cy="0"/>
          <a:chOff x="0" y="0"/>
          <a:chExt cx="0" cy="0"/>
        </a:xfrm>
      </p:grpSpPr>
      <p:sp>
        <p:nvSpPr>
          <p:cNvPr id="1794" name="Google Shape;1794;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95" name="Google Shape;1795;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1" name="Shape 1801"/>
        <p:cNvGrpSpPr/>
        <p:nvPr/>
      </p:nvGrpSpPr>
      <p:grpSpPr>
        <a:xfrm>
          <a:off x="0" y="0"/>
          <a:ext cx="0" cy="0"/>
          <a:chOff x="0" y="0"/>
          <a:chExt cx="0" cy="0"/>
        </a:xfrm>
      </p:grpSpPr>
      <p:sp>
        <p:nvSpPr>
          <p:cNvPr id="1802" name="Google Shape;1802;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03" name="Google Shape;1803;p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1" name="Google Shape;1811;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20" name="Google Shape;1820;p1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39" name="Google Shape;1839;p1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latin typeface="Arial"/>
                <a:ea typeface="Arial"/>
                <a:cs typeface="Arial"/>
                <a:sym typeface="Arial"/>
              </a:rPr>
              <a:t>Quan he nam nu muon tro thanh quan he hon nhan phai tuan thu cac dieu kien ket hon, thu tuc ket hon</a:t>
            </a:r>
            <a:endParaRPr>
              <a:latin typeface="Arial"/>
              <a:ea typeface="Arial"/>
              <a:cs typeface="Arial"/>
              <a:sym typeface="Arial"/>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47" name="Google Shape;1847;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3" name="Google Shape;1863;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71" name="Google Shape;1871;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84" name="Google Shape;1884;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92" name="Google Shape;1892;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01" name="Google Shape;1901;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07" name="Google Shape;1907;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4" name="Google Shape;1914;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2" name="Google Shape;1922;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30" name="Google Shape;1930;p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38" name="Google Shape;1938;p1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46" name="Google Shape;1946;p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Bang haNH VI CUA MINH Quyen so huu, VIET DI CHUC</a:t>
            </a:r>
            <a:endParaRPr/>
          </a:p>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Yeu cau chu the khac thuc hien: yeu cau moi chu the khong xam pham toi quyen so huu. Yeu cau tra tien, giao tai san</a:t>
            </a:r>
            <a:endParaRPr/>
          </a:p>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Co hanh vi vi pham quyen thi Yeu cau TA buoc nguoi vi pham cong nhan quyen (cong nhan tac gia 1 ca khuc), buoc thuc hien nghia vucham dut hanh vi xam pham, boi thuong thiet hai</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None/>
            </a:pPr>
            <a:r>
              <a:rPr lang="en-US">
                <a:latin typeface="Arial"/>
                <a:ea typeface="Arial"/>
                <a:cs typeface="Arial"/>
                <a:sym typeface="Arial"/>
              </a:rPr>
              <a:t> nguoi xam pham quyen so huu phai tra lai tai san, cham dut hanh vi xam pham, boi thuong thiet hai</a:t>
            </a:r>
            <a:endParaRPr>
              <a:latin typeface="Arial"/>
              <a:ea typeface="Arial"/>
              <a:cs typeface="Arial"/>
              <a:sym typeface="Arial"/>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54" name="Google Shape;1954;p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latin typeface="Arial"/>
                <a:ea typeface="Arial"/>
                <a:cs typeface="Arial"/>
                <a:sym typeface="Arial"/>
              </a:rPr>
              <a:t>Cach the hien nghia vu DS:</a:t>
            </a:r>
            <a:endParaRPr/>
          </a:p>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Phai thuc hien hanh vi (nguoi vay tra tien, ben thue tra tien thue</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Khong hành dong (nguoi thue nha khong duoc sua chua nha neu khong co su dong y cua nguoi cho thue </a:t>
            </a:r>
            <a:endParaRPr/>
          </a:p>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64" name="Google Shape;1964;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latin typeface="Arial"/>
                <a:ea typeface="Arial"/>
                <a:cs typeface="Arial"/>
                <a:sym typeface="Arial"/>
              </a:rPr>
              <a:t>Khach th # doi tuong tac dong (tien#quyen su dung tien)</a:t>
            </a:r>
            <a:endParaRPr/>
          </a:p>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A la chu so huu mot xe may</a:t>
            </a:r>
            <a:endParaRPr/>
          </a:p>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Quan he hd: hanh vi</a:t>
            </a:r>
            <a:endParaRPr/>
          </a:p>
          <a:p>
            <a:pPr indent="-152400" lvl="0" marL="228600" rtl="0" algn="l">
              <a:spcBef>
                <a:spcPts val="0"/>
              </a:spcBef>
              <a:spcAft>
                <a:spcPts val="0"/>
              </a:spcAft>
              <a:buClr>
                <a:schemeClr val="dk1"/>
              </a:buClr>
              <a:buSzPts val="1200"/>
              <a:buFont typeface="Arial"/>
              <a:buNone/>
            </a:pPr>
            <a:r>
              <a:t/>
            </a:r>
            <a:endParaRPr>
              <a:latin typeface="Arial"/>
              <a:ea typeface="Arial"/>
              <a:cs typeface="Arial"/>
              <a:sym typeface="Arial"/>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2" name="Shape 1972"/>
        <p:cNvGrpSpPr/>
        <p:nvPr/>
      </p:nvGrpSpPr>
      <p:grpSpPr>
        <a:xfrm>
          <a:off x="0" y="0"/>
          <a:ext cx="0" cy="0"/>
          <a:chOff x="0" y="0"/>
          <a:chExt cx="0" cy="0"/>
        </a:xfrm>
      </p:grpSpPr>
      <p:sp>
        <p:nvSpPr>
          <p:cNvPr id="1973" name="Google Shape;1973;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4" name="Google Shape;1974;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82" name="Google Shape;1982;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duoc quy dịnh trong gia dinh</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AutoNum type="arabicParenR"/>
            </a:pPr>
            <a:r>
              <a:rPr lang="en-US">
                <a:latin typeface="Arial"/>
                <a:ea typeface="Arial"/>
                <a:cs typeface="Arial"/>
                <a:sym typeface="Arial"/>
              </a:rPr>
              <a:t>Lam phat sinh nhung hau qua phap ly</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None/>
            </a:pPr>
            <a:r>
              <a:rPr lang="en-US">
                <a:latin typeface="Arial"/>
                <a:ea typeface="Arial"/>
                <a:cs typeface="Arial"/>
                <a:sym typeface="Arial"/>
              </a:rPr>
              <a:t>Su thua nhan hay khong thua nhan cac quyen nghia vu cua cac chu the phu thuoc vao viec ton tai hay khong ton tại su kien phap ly</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None/>
            </a:pPr>
            <a:r>
              <a:rPr lang="en-US">
                <a:latin typeface="Arial"/>
                <a:ea typeface="Arial"/>
                <a:cs typeface="Arial"/>
                <a:sym typeface="Arial"/>
              </a:rPr>
              <a:t>VD: 1 nguoi chet lam cham dut cac quyen, nghia vụ cua ho  nhung lam phat sinh quyen thua ke </a:t>
            </a:r>
            <a:endParaRPr/>
          </a:p>
          <a:p>
            <a:pPr indent="-228600" lvl="0" marL="228600" rtl="0" algn="l">
              <a:spcBef>
                <a:spcPts val="0"/>
              </a:spcBef>
              <a:spcAft>
                <a:spcPts val="0"/>
              </a:spcAft>
              <a:buClr>
                <a:schemeClr val="dk1"/>
              </a:buClr>
              <a:buSzPts val="1200"/>
              <a:buFont typeface="Arial"/>
              <a:buNone/>
            </a:pPr>
            <a:r>
              <a:rPr lang="en-US">
                <a:latin typeface="Arial"/>
                <a:ea typeface="Arial"/>
                <a:cs typeface="Arial"/>
                <a:sym typeface="Arial"/>
              </a:rPr>
              <a:t>       Viec thuc hien HD mua ban lam cham dut quyen so huu tai san cua ngươi ban, phat sinh quyen so huu TS cua ngưoi mua</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None/>
            </a:pPr>
            <a:r>
              <a:t/>
            </a:r>
            <a:endParaRPr>
              <a:latin typeface="Arial"/>
              <a:ea typeface="Arial"/>
              <a:cs typeface="Arial"/>
              <a:sym typeface="Arial"/>
            </a:endParaRPr>
          </a:p>
          <a:p>
            <a:pPr indent="-228600" lvl="0" marL="228600" rtl="0" algn="l">
              <a:spcBef>
                <a:spcPts val="0"/>
              </a:spcBef>
              <a:spcAft>
                <a:spcPts val="0"/>
              </a:spcAft>
              <a:buClr>
                <a:schemeClr val="dk1"/>
              </a:buClr>
              <a:buSzPts val="1200"/>
              <a:buFont typeface="Arial"/>
              <a:buNone/>
            </a:pPr>
            <a:r>
              <a:rPr b="0" i="0" lang="en-US" sz="1200">
                <a:solidFill>
                  <a:schemeClr val="dk1"/>
                </a:solidFill>
                <a:latin typeface="Arial"/>
                <a:ea typeface="Arial"/>
                <a:cs typeface="Arial"/>
                <a:sym typeface="Arial"/>
              </a:rPr>
              <a:t>Đơn giản thôi hai người, một nam một nữ đang có quan hệ hôn nhân hợp pháp  (đây là một quan hệ pháp luật), hai người ra tòa ly hôn thì quyết định chấp thuận cho ly hôn của tòa là một sự kiện pháp lý làm thay đổi quan hệ pháp luật của họ (cụ thể là chấm dứt quan hệ hôn nhân) </a:t>
            </a:r>
            <a:br>
              <a:rPr b="0" i="0" lang="en-US" sz="1200">
                <a:solidFill>
                  <a:schemeClr val="dk1"/>
                </a:solidFill>
                <a:latin typeface="Arial"/>
                <a:ea typeface="Arial"/>
                <a:cs typeface="Arial"/>
                <a:sym typeface="Arial"/>
              </a:rPr>
            </a:br>
            <a:br>
              <a:rPr b="0" i="0" lang="en-US" sz="1200">
                <a:solidFill>
                  <a:schemeClr val="dk1"/>
                </a:solidFill>
                <a:latin typeface="Arial"/>
                <a:ea typeface="Arial"/>
                <a:cs typeface="Arial"/>
                <a:sym typeface="Arial"/>
              </a:rPr>
            </a:br>
            <a:r>
              <a:rPr b="0" i="0" lang="en-US" sz="1200">
                <a:solidFill>
                  <a:schemeClr val="dk1"/>
                </a:solidFill>
                <a:latin typeface="Arial"/>
                <a:ea typeface="Arial"/>
                <a:cs typeface="Arial"/>
                <a:sym typeface="Arial"/>
              </a:rPr>
              <a:t>Đối với tổ chức thì quan hệ lao động giữa một tổ chức kinh tế và người lao động là một quan hệ pháp luật việc tổ chức kinh tế bị tòa tuyên bố phá sản (sự kiện pháp lý) sẽ làm chấm dứt quan hệ lao động giữa họ. </a:t>
            </a:r>
            <a:br>
              <a:rPr b="0" i="0" lang="en-US" sz="1200">
                <a:solidFill>
                  <a:schemeClr val="dk1"/>
                </a:solidFill>
                <a:latin typeface="Arial"/>
                <a:ea typeface="Arial"/>
                <a:cs typeface="Arial"/>
                <a:sym typeface="Arial"/>
              </a:rPr>
            </a:br>
            <a:br>
              <a:rPr b="0" i="0" lang="en-US" sz="1200">
                <a:solidFill>
                  <a:schemeClr val="dk1"/>
                </a:solidFill>
                <a:latin typeface="Arial"/>
                <a:ea typeface="Arial"/>
                <a:cs typeface="Arial"/>
                <a:sym typeface="Arial"/>
              </a:rPr>
            </a:br>
            <a:r>
              <a:rPr b="0" i="0" lang="en-US" sz="1200">
                <a:solidFill>
                  <a:schemeClr val="dk1"/>
                </a:solidFill>
                <a:latin typeface="Arial"/>
                <a:ea typeface="Arial"/>
                <a:cs typeface="Arial"/>
                <a:sym typeface="Arial"/>
              </a:rPr>
              <a:t>Nói chung bạn phải hiểu rõ thế nào là quan hệ pháp luật (là quan hệ xã hội được pháp luật tham gia điều chỉnh) và sự kiện pháp lý (là sự kiện được pháp luật qui định làm phát sinh, thay đổi hoặc chấm dứt quan hệ pháp luật) thì việc tìm ví dụ không khó.</a:t>
            </a:r>
            <a:endParaRPr>
              <a:latin typeface="Arial"/>
              <a:ea typeface="Arial"/>
              <a:cs typeface="Arial"/>
              <a:sym typeface="Arial"/>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p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2" name="Google Shape;1992;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00" name="Google Shape;2000;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 Hành vi pháp lý: là những hành vi của các chủ thể nhằm làm phát sinh hậu quả pháp lý. Đây là sự kiện pháp lý phổ biến nhất.</a:t>
            </a:r>
            <a:br>
              <a:rPr lang="en-US"/>
            </a:br>
            <a:r>
              <a:rPr b="0" i="0" lang="en-US" sz="1200">
                <a:solidFill>
                  <a:schemeClr val="dk1"/>
                </a:solidFill>
                <a:latin typeface="Arial"/>
                <a:ea typeface="Arial"/>
                <a:cs typeface="Arial"/>
                <a:sym typeface="Arial"/>
              </a:rPr>
              <a:t>VD: giao kết hợp đồng mua bán tài sản làm phát sinh quyền, nghĩa vụ của các bên mua bán.</a:t>
            </a:r>
            <a:br>
              <a:rPr lang="en-US"/>
            </a:br>
            <a:br>
              <a:rPr lang="en-US"/>
            </a:br>
            <a:r>
              <a:rPr b="0" i="0" lang="en-US" sz="1200">
                <a:solidFill>
                  <a:schemeClr val="dk1"/>
                </a:solidFill>
                <a:latin typeface="Arial"/>
                <a:ea typeface="Arial"/>
                <a:cs typeface="Arial"/>
                <a:sym typeface="Arial"/>
              </a:rPr>
              <a:t>+ Xử sự pháp lý: là những hành vi không nhằm làm phát sinh hậu quả pháp lý nhưng hậu quả pháp lý vẫn xảy ra do pháp luật quy định.</a:t>
            </a:r>
            <a:br>
              <a:rPr lang="en-US"/>
            </a:br>
            <a:r>
              <a:rPr b="0" i="0" lang="en-US" sz="1200">
                <a:solidFill>
                  <a:schemeClr val="dk1"/>
                </a:solidFill>
                <a:latin typeface="Arial"/>
                <a:ea typeface="Arial"/>
                <a:cs typeface="Arial"/>
                <a:sym typeface="Arial"/>
              </a:rPr>
              <a:t>VD: Nhặt được tiền</a:t>
            </a:r>
            <a:br>
              <a:rPr lang="en-US"/>
            </a:br>
            <a:r>
              <a:rPr b="0" i="0" lang="en-US" sz="1200">
                <a:solidFill>
                  <a:schemeClr val="dk1"/>
                </a:solidFill>
                <a:latin typeface="Arial"/>
                <a:ea typeface="Arial"/>
                <a:cs typeface="Arial"/>
                <a:sym typeface="Arial"/>
              </a:rPr>
              <a:t>Đào được tài sản có giá trị lớn sẽ được hưởng 50% giá trị nếu không phải là cổ vật.</a:t>
            </a:r>
            <a:br>
              <a:rPr lang="en-US"/>
            </a:br>
            <a:br>
              <a:rPr lang="en-US"/>
            </a:br>
            <a:r>
              <a:rPr b="0" i="0" lang="en-US" sz="1200">
                <a:solidFill>
                  <a:schemeClr val="dk1"/>
                </a:solidFill>
                <a:latin typeface="Arial"/>
                <a:ea typeface="Arial"/>
                <a:cs typeface="Arial"/>
                <a:sym typeface="Arial"/>
              </a:rPr>
              <a:t>+ Sự biến pháp lý: là những sự kiện xảy ra không phụ thuộc vào ý muốn của con người nói chung và những người tham gia vào quan hệ dân sự nói riêng.</a:t>
            </a:r>
            <a:br>
              <a:rPr lang="en-US"/>
            </a:br>
            <a:br>
              <a:rPr lang="en-US"/>
            </a:br>
            <a:r>
              <a:rPr b="0" i="0" lang="en-US" sz="1200">
                <a:solidFill>
                  <a:schemeClr val="dk1"/>
                </a:solidFill>
                <a:latin typeface="Arial"/>
                <a:ea typeface="Arial"/>
                <a:cs typeface="Arial"/>
                <a:sym typeface="Arial"/>
              </a:rPr>
              <a:t>VD: thiên tai, bão lụt ..(sự biến tuyệt đối)</a:t>
            </a:r>
            <a:br>
              <a:rPr lang="en-US"/>
            </a:br>
            <a:r>
              <a:rPr b="0" i="0" lang="en-US" sz="1200">
                <a:solidFill>
                  <a:schemeClr val="dk1"/>
                </a:solidFill>
                <a:latin typeface="Arial"/>
                <a:ea typeface="Arial"/>
                <a:cs typeface="Arial"/>
                <a:sym typeface="Arial"/>
              </a:rPr>
              <a:t>chiến tranh (sự biến tương đối)</a:t>
            </a:r>
            <a:br>
              <a:rPr lang="en-US"/>
            </a:br>
            <a:r>
              <a:rPr b="0" i="0" lang="en-US" sz="1200">
                <a:solidFill>
                  <a:schemeClr val="dk1"/>
                </a:solidFill>
                <a:latin typeface="Arial"/>
                <a:ea typeface="Arial"/>
                <a:cs typeface="Arial"/>
                <a:sym typeface="Arial"/>
              </a:rPr>
              <a:t>- 2 người ký kết hợp đồng mua bán hàng hóa, đã thỏa thuận thời gian giao hàng, tuy nhiên do bão lụt nên số hàng trên không được giao đúng hạn. </a:t>
            </a:r>
            <a:br>
              <a:rPr lang="en-US"/>
            </a:br>
            <a:br>
              <a:rPr lang="en-US"/>
            </a:br>
            <a:r>
              <a:rPr b="0" i="0" lang="en-US" sz="1200">
                <a:solidFill>
                  <a:schemeClr val="dk1"/>
                </a:solidFill>
                <a:latin typeface="Arial"/>
                <a:ea typeface="Arial"/>
                <a:cs typeface="Arial"/>
                <a:sym typeface="Arial"/>
              </a:rPr>
              <a:t>+ Thời hạn: là sự kiện pháp lý đặc biệt làm phát sinh, thay đổi, chấm dứt quan hệ pháp luật dân sự.</a:t>
            </a:r>
            <a:br>
              <a:rPr lang="en-US"/>
            </a:br>
            <a:br>
              <a:rPr lang="en-US"/>
            </a:br>
            <a:r>
              <a:rPr b="0" i="0" lang="en-US" sz="1200">
                <a:solidFill>
                  <a:schemeClr val="dk1"/>
                </a:solidFill>
                <a:latin typeface="Arial"/>
                <a:ea typeface="Arial"/>
                <a:cs typeface="Arial"/>
                <a:sym typeface="Arial"/>
              </a:rPr>
              <a:t>VD: thời hiệu hưởng quyền, miễn trừ nghĩa vụ, thời hiệu khởi kiện.</a:t>
            </a:r>
            <a:endParaRPr/>
          </a:p>
          <a:p>
            <a:pPr indent="0" lvl="0" marL="0" rtl="0" algn="l">
              <a:spcBef>
                <a:spcPts val="0"/>
              </a:spcBef>
              <a:spcAft>
                <a:spcPts val="0"/>
              </a:spcAft>
              <a:buNone/>
            </a:pPr>
            <a:r>
              <a:t/>
            </a:r>
            <a:endParaRPr b="0" i="0" sz="1200">
              <a:solidFill>
                <a:schemeClr val="dk1"/>
              </a:solidFill>
              <a:latin typeface="Arial"/>
              <a:ea typeface="Arial"/>
              <a:cs typeface="Arial"/>
              <a:sym typeface="Arial"/>
            </a:endParaRPr>
          </a:p>
          <a:p>
            <a:pPr indent="0" lvl="0" marL="0" rtl="0" algn="l">
              <a:spcBef>
                <a:spcPts val="0"/>
              </a:spcBef>
              <a:spcAft>
                <a:spcPts val="0"/>
              </a:spcAft>
              <a:buNone/>
            </a:pPr>
            <a:r>
              <a:rPr i="1" lang="en-US" u="sng">
                <a:solidFill>
                  <a:srgbClr val="C00000"/>
                </a:solidFill>
              </a:rPr>
              <a:t>Một sự kiện pháp lý có thể đồng thời làm chấm dứt, thay đổi và pháp sinh các quan hệ pháp luật</a:t>
            </a:r>
            <a:br>
              <a:rPr lang="en-US"/>
            </a:br>
            <a:r>
              <a:rPr lang="en-US"/>
              <a:t>Sự kiện pháp lý mà vừa làm phát sinh, thay đỗi, chấm dứt QHPL là sự kiện "ly hôn".</a:t>
            </a:r>
            <a:br>
              <a:rPr lang="en-US"/>
            </a:br>
            <a:br>
              <a:rPr lang="en-US"/>
            </a:br>
            <a:r>
              <a:rPr lang="en-US"/>
              <a:t>Khi ly hôn thì quan hệ hôn nhân sẻ chấm dứt, quan hệ tài sản của vợ chồng sẻ thay đỗi(từ tài sản chung hợp nhất thành tài sản riêng) và quan hệ cấp dưỡng sẻ phát sinh (giữa cha,mẹ con hoặc giữa vợ chồng tùy theo trường hợp)</a:t>
            </a:r>
            <a:br>
              <a:rPr lang="en-US"/>
            </a:br>
            <a:r>
              <a:rPr b="0" i="0" lang="en-US" sz="1200">
                <a:solidFill>
                  <a:schemeClr val="dk1"/>
                </a:solidFill>
                <a:latin typeface="Arial"/>
                <a:ea typeface="Arial"/>
                <a:cs typeface="Arial"/>
                <a:sym typeface="Arial"/>
              </a:rPr>
              <a:t>***</a:t>
            </a:r>
            <a:endParaRPr>
              <a:latin typeface="Arial"/>
              <a:ea typeface="Arial"/>
              <a:cs typeface="Arial"/>
              <a:sym typeface="Arial"/>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6" name="Shape 2026"/>
        <p:cNvGrpSpPr/>
        <p:nvPr/>
      </p:nvGrpSpPr>
      <p:grpSpPr>
        <a:xfrm>
          <a:off x="0" y="0"/>
          <a:ext cx="0" cy="0"/>
          <a:chOff x="0" y="0"/>
          <a:chExt cx="0" cy="0"/>
        </a:xfrm>
      </p:grpSpPr>
      <p:sp>
        <p:nvSpPr>
          <p:cNvPr id="2027" name="Google Shape;2027;p1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8" name="Google Shape;2028;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5" name="Shape 2035"/>
        <p:cNvGrpSpPr/>
        <p:nvPr/>
      </p:nvGrpSpPr>
      <p:grpSpPr>
        <a:xfrm>
          <a:off x="0" y="0"/>
          <a:ext cx="0" cy="0"/>
          <a:chOff x="0" y="0"/>
          <a:chExt cx="0" cy="0"/>
        </a:xfrm>
      </p:grpSpPr>
      <p:sp>
        <p:nvSpPr>
          <p:cNvPr id="2036" name="Google Shape;2036;p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7" name="Google Shape;2037;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p1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4" name="Google Shape;2044;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3" name="Shape 2053"/>
        <p:cNvGrpSpPr/>
        <p:nvPr/>
      </p:nvGrpSpPr>
      <p:grpSpPr>
        <a:xfrm>
          <a:off x="0" y="0"/>
          <a:ext cx="0" cy="0"/>
          <a:chOff x="0" y="0"/>
          <a:chExt cx="0" cy="0"/>
        </a:xfrm>
      </p:grpSpPr>
      <p:sp>
        <p:nvSpPr>
          <p:cNvPr id="2054" name="Google Shape;2054;p1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5" name="Google Shape;2055;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2" name="Shape 2062"/>
        <p:cNvGrpSpPr/>
        <p:nvPr/>
      </p:nvGrpSpPr>
      <p:grpSpPr>
        <a:xfrm>
          <a:off x="0" y="0"/>
          <a:ext cx="0" cy="0"/>
          <a:chOff x="0" y="0"/>
          <a:chExt cx="0" cy="0"/>
        </a:xfrm>
      </p:grpSpPr>
      <p:sp>
        <p:nvSpPr>
          <p:cNvPr id="2063" name="Google Shape;2063;p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4" name="Google Shape;2064;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8" name="Shape 2068"/>
        <p:cNvGrpSpPr/>
        <p:nvPr/>
      </p:nvGrpSpPr>
      <p:grpSpPr>
        <a:xfrm>
          <a:off x="0" y="0"/>
          <a:ext cx="0" cy="0"/>
          <a:chOff x="0" y="0"/>
          <a:chExt cx="0" cy="0"/>
        </a:xfrm>
      </p:grpSpPr>
      <p:sp>
        <p:nvSpPr>
          <p:cNvPr id="2069" name="Google Shape;2069;p1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0" name="Google Shape;2070;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p1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1" name="Google Shape;2081;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2" name="Google Shape;2092;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0" name="Shape 2100"/>
        <p:cNvGrpSpPr/>
        <p:nvPr/>
      </p:nvGrpSpPr>
      <p:grpSpPr>
        <a:xfrm>
          <a:off x="0" y="0"/>
          <a:ext cx="0" cy="0"/>
          <a:chOff x="0" y="0"/>
          <a:chExt cx="0" cy="0"/>
        </a:xfrm>
      </p:grpSpPr>
      <p:sp>
        <p:nvSpPr>
          <p:cNvPr id="2101" name="Google Shape;2101;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2" name="Google Shape;2102;p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8" name="Shape 2108"/>
        <p:cNvGrpSpPr/>
        <p:nvPr/>
      </p:nvGrpSpPr>
      <p:grpSpPr>
        <a:xfrm>
          <a:off x="0" y="0"/>
          <a:ext cx="0" cy="0"/>
          <a:chOff x="0" y="0"/>
          <a:chExt cx="0" cy="0"/>
        </a:xfrm>
      </p:grpSpPr>
      <p:sp>
        <p:nvSpPr>
          <p:cNvPr id="2109" name="Google Shape;2109;p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0" name="Google Shape;2110;p1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p1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8" name="Google Shape;2118;p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4" name="Shape 2124"/>
        <p:cNvGrpSpPr/>
        <p:nvPr/>
      </p:nvGrpSpPr>
      <p:grpSpPr>
        <a:xfrm>
          <a:off x="0" y="0"/>
          <a:ext cx="0" cy="0"/>
          <a:chOff x="0" y="0"/>
          <a:chExt cx="0" cy="0"/>
        </a:xfrm>
      </p:grpSpPr>
      <p:sp>
        <p:nvSpPr>
          <p:cNvPr id="2125" name="Google Shape;2125;p1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6" name="Google Shape;2126;p1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1" name="Shape 2131"/>
        <p:cNvGrpSpPr/>
        <p:nvPr/>
      </p:nvGrpSpPr>
      <p:grpSpPr>
        <a:xfrm>
          <a:off x="0" y="0"/>
          <a:ext cx="0" cy="0"/>
          <a:chOff x="0" y="0"/>
          <a:chExt cx="0" cy="0"/>
        </a:xfrm>
      </p:grpSpPr>
      <p:sp>
        <p:nvSpPr>
          <p:cNvPr id="2132" name="Google Shape;2132;p1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3" name="Google Shape;2133;p1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9" name="Shape 2139"/>
        <p:cNvGrpSpPr/>
        <p:nvPr/>
      </p:nvGrpSpPr>
      <p:grpSpPr>
        <a:xfrm>
          <a:off x="0" y="0"/>
          <a:ext cx="0" cy="0"/>
          <a:chOff x="0" y="0"/>
          <a:chExt cx="0" cy="0"/>
        </a:xfrm>
      </p:grpSpPr>
      <p:sp>
        <p:nvSpPr>
          <p:cNvPr id="2140" name="Google Shape;2140;p1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1" name="Google Shape;2141;p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1" name="Shape 2151"/>
        <p:cNvGrpSpPr/>
        <p:nvPr/>
      </p:nvGrpSpPr>
      <p:grpSpPr>
        <a:xfrm>
          <a:off x="0" y="0"/>
          <a:ext cx="0" cy="0"/>
          <a:chOff x="0" y="0"/>
          <a:chExt cx="0" cy="0"/>
        </a:xfrm>
      </p:grpSpPr>
      <p:sp>
        <p:nvSpPr>
          <p:cNvPr id="2152" name="Google Shape;2152;p1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3" name="Google Shape;2153;p1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1" name="Shape 2161"/>
        <p:cNvGrpSpPr/>
        <p:nvPr/>
      </p:nvGrpSpPr>
      <p:grpSpPr>
        <a:xfrm>
          <a:off x="0" y="0"/>
          <a:ext cx="0" cy="0"/>
          <a:chOff x="0" y="0"/>
          <a:chExt cx="0" cy="0"/>
        </a:xfrm>
      </p:grpSpPr>
      <p:sp>
        <p:nvSpPr>
          <p:cNvPr id="2162" name="Google Shape;2162;p1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3" name="Google Shape;2163;p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p1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4" name="Google Shape;2174;p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5" name="Shape 2185"/>
        <p:cNvGrpSpPr/>
        <p:nvPr/>
      </p:nvGrpSpPr>
      <p:grpSpPr>
        <a:xfrm>
          <a:off x="0" y="0"/>
          <a:ext cx="0" cy="0"/>
          <a:chOff x="0" y="0"/>
          <a:chExt cx="0" cy="0"/>
        </a:xfrm>
      </p:grpSpPr>
      <p:sp>
        <p:nvSpPr>
          <p:cNvPr id="2186" name="Google Shape;2186;p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7" name="Google Shape;2187;p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5" name="Shape 2195"/>
        <p:cNvGrpSpPr/>
        <p:nvPr/>
      </p:nvGrpSpPr>
      <p:grpSpPr>
        <a:xfrm>
          <a:off x="0" y="0"/>
          <a:ext cx="0" cy="0"/>
          <a:chOff x="0" y="0"/>
          <a:chExt cx="0" cy="0"/>
        </a:xfrm>
      </p:grpSpPr>
      <p:sp>
        <p:nvSpPr>
          <p:cNvPr id="2196" name="Google Shape;2196;p1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7" name="Google Shape;2197;p1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1" name="Shape 2211"/>
        <p:cNvGrpSpPr/>
        <p:nvPr/>
      </p:nvGrpSpPr>
      <p:grpSpPr>
        <a:xfrm>
          <a:off x="0" y="0"/>
          <a:ext cx="0" cy="0"/>
          <a:chOff x="0" y="0"/>
          <a:chExt cx="0" cy="0"/>
        </a:xfrm>
      </p:grpSpPr>
      <p:sp>
        <p:nvSpPr>
          <p:cNvPr id="2212" name="Google Shape;2212;p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3" name="Google Shape;2213;p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p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1" name="Google Shape;2221;p1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6" name="Shape 2236"/>
        <p:cNvGrpSpPr/>
        <p:nvPr/>
      </p:nvGrpSpPr>
      <p:grpSpPr>
        <a:xfrm>
          <a:off x="0" y="0"/>
          <a:ext cx="0" cy="0"/>
          <a:chOff x="0" y="0"/>
          <a:chExt cx="0" cy="0"/>
        </a:xfrm>
      </p:grpSpPr>
      <p:sp>
        <p:nvSpPr>
          <p:cNvPr id="2237" name="Google Shape;2237;p1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8" name="Google Shape;2238;p1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5" name="Shape 2245"/>
        <p:cNvGrpSpPr/>
        <p:nvPr/>
      </p:nvGrpSpPr>
      <p:grpSpPr>
        <a:xfrm>
          <a:off x="0" y="0"/>
          <a:ext cx="0" cy="0"/>
          <a:chOff x="0" y="0"/>
          <a:chExt cx="0" cy="0"/>
        </a:xfrm>
      </p:grpSpPr>
      <p:sp>
        <p:nvSpPr>
          <p:cNvPr id="2246" name="Google Shape;2246;p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7" name="Google Shape;2247;p1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p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7" name="Google Shape;2257;p1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4" name="Shape 2264"/>
        <p:cNvGrpSpPr/>
        <p:nvPr/>
      </p:nvGrpSpPr>
      <p:grpSpPr>
        <a:xfrm>
          <a:off x="0" y="0"/>
          <a:ext cx="0" cy="0"/>
          <a:chOff x="0" y="0"/>
          <a:chExt cx="0" cy="0"/>
        </a:xfrm>
      </p:grpSpPr>
      <p:sp>
        <p:nvSpPr>
          <p:cNvPr id="2265" name="Google Shape;2265;p1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6" name="Google Shape;2266;p1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p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5" name="Google Shape;2275;p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5" name="Shape 2285"/>
        <p:cNvGrpSpPr/>
        <p:nvPr/>
      </p:nvGrpSpPr>
      <p:grpSpPr>
        <a:xfrm>
          <a:off x="0" y="0"/>
          <a:ext cx="0" cy="0"/>
          <a:chOff x="0" y="0"/>
          <a:chExt cx="0" cy="0"/>
        </a:xfrm>
      </p:grpSpPr>
      <p:sp>
        <p:nvSpPr>
          <p:cNvPr id="2286" name="Google Shape;2286;p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7" name="Google Shape;2287;p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3" name="Shape 2293"/>
        <p:cNvGrpSpPr/>
        <p:nvPr/>
      </p:nvGrpSpPr>
      <p:grpSpPr>
        <a:xfrm>
          <a:off x="0" y="0"/>
          <a:ext cx="0" cy="0"/>
          <a:chOff x="0" y="0"/>
          <a:chExt cx="0" cy="0"/>
        </a:xfrm>
      </p:grpSpPr>
      <p:sp>
        <p:nvSpPr>
          <p:cNvPr id="2294" name="Google Shape;2294;p1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5" name="Google Shape;2295;p1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2" name="Shape 2302"/>
        <p:cNvGrpSpPr/>
        <p:nvPr/>
      </p:nvGrpSpPr>
      <p:grpSpPr>
        <a:xfrm>
          <a:off x="0" y="0"/>
          <a:ext cx="0" cy="0"/>
          <a:chOff x="0" y="0"/>
          <a:chExt cx="0" cy="0"/>
        </a:xfrm>
      </p:grpSpPr>
      <p:sp>
        <p:nvSpPr>
          <p:cNvPr id="2303" name="Google Shape;2303;p1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4" name="Google Shape;2304;p1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p1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2" name="Google Shape;2312;p1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p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0" name="Google Shape;2320;p1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7" name="Shape 2327"/>
        <p:cNvGrpSpPr/>
        <p:nvPr/>
      </p:nvGrpSpPr>
      <p:grpSpPr>
        <a:xfrm>
          <a:off x="0" y="0"/>
          <a:ext cx="0" cy="0"/>
          <a:chOff x="0" y="0"/>
          <a:chExt cx="0" cy="0"/>
        </a:xfrm>
      </p:grpSpPr>
      <p:sp>
        <p:nvSpPr>
          <p:cNvPr id="2328" name="Google Shape;2328;p1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9" name="Google Shape;2329;p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9" name="Shape 2339"/>
        <p:cNvGrpSpPr/>
        <p:nvPr/>
      </p:nvGrpSpPr>
      <p:grpSpPr>
        <a:xfrm>
          <a:off x="0" y="0"/>
          <a:ext cx="0" cy="0"/>
          <a:chOff x="0" y="0"/>
          <a:chExt cx="0" cy="0"/>
        </a:xfrm>
      </p:grpSpPr>
      <p:sp>
        <p:nvSpPr>
          <p:cNvPr id="2340" name="Google Shape;2340;p1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1" name="Google Shape;2341;p1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7" name="Shape 2347"/>
        <p:cNvGrpSpPr/>
        <p:nvPr/>
      </p:nvGrpSpPr>
      <p:grpSpPr>
        <a:xfrm>
          <a:off x="0" y="0"/>
          <a:ext cx="0" cy="0"/>
          <a:chOff x="0" y="0"/>
          <a:chExt cx="0" cy="0"/>
        </a:xfrm>
      </p:grpSpPr>
      <p:sp>
        <p:nvSpPr>
          <p:cNvPr id="2348" name="Google Shape;2348;p1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9" name="Google Shape;2349;p1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5" name="Shape 2355"/>
        <p:cNvGrpSpPr/>
        <p:nvPr/>
      </p:nvGrpSpPr>
      <p:grpSpPr>
        <a:xfrm>
          <a:off x="0" y="0"/>
          <a:ext cx="0" cy="0"/>
          <a:chOff x="0" y="0"/>
          <a:chExt cx="0" cy="0"/>
        </a:xfrm>
      </p:grpSpPr>
      <p:sp>
        <p:nvSpPr>
          <p:cNvPr id="2356" name="Google Shape;2356;p1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7" name="Google Shape;2357;p1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8" name="Shape 2368"/>
        <p:cNvGrpSpPr/>
        <p:nvPr/>
      </p:nvGrpSpPr>
      <p:grpSpPr>
        <a:xfrm>
          <a:off x="0" y="0"/>
          <a:ext cx="0" cy="0"/>
          <a:chOff x="0" y="0"/>
          <a:chExt cx="0" cy="0"/>
        </a:xfrm>
      </p:grpSpPr>
      <p:sp>
        <p:nvSpPr>
          <p:cNvPr id="2369" name="Google Shape;2369;p1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0" name="Google Shape;2370;p1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6" name="Shape 2376"/>
        <p:cNvGrpSpPr/>
        <p:nvPr/>
      </p:nvGrpSpPr>
      <p:grpSpPr>
        <a:xfrm>
          <a:off x="0" y="0"/>
          <a:ext cx="0" cy="0"/>
          <a:chOff x="0" y="0"/>
          <a:chExt cx="0" cy="0"/>
        </a:xfrm>
      </p:grpSpPr>
      <p:sp>
        <p:nvSpPr>
          <p:cNvPr id="2377" name="Google Shape;2377;p1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8" name="Google Shape;2378;p1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4" name="Shape 2384"/>
        <p:cNvGrpSpPr/>
        <p:nvPr/>
      </p:nvGrpSpPr>
      <p:grpSpPr>
        <a:xfrm>
          <a:off x="0" y="0"/>
          <a:ext cx="0" cy="0"/>
          <a:chOff x="0" y="0"/>
          <a:chExt cx="0" cy="0"/>
        </a:xfrm>
      </p:grpSpPr>
      <p:sp>
        <p:nvSpPr>
          <p:cNvPr id="2385" name="Google Shape;2385;p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6" name="Google Shape;2386;p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2" name="Shape 2392"/>
        <p:cNvGrpSpPr/>
        <p:nvPr/>
      </p:nvGrpSpPr>
      <p:grpSpPr>
        <a:xfrm>
          <a:off x="0" y="0"/>
          <a:ext cx="0" cy="0"/>
          <a:chOff x="0" y="0"/>
          <a:chExt cx="0" cy="0"/>
        </a:xfrm>
      </p:grpSpPr>
      <p:sp>
        <p:nvSpPr>
          <p:cNvPr id="2393" name="Google Shape;2393;p1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4" name="Google Shape;2394;p1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2" name="Shape 2402"/>
        <p:cNvGrpSpPr/>
        <p:nvPr/>
      </p:nvGrpSpPr>
      <p:grpSpPr>
        <a:xfrm>
          <a:off x="0" y="0"/>
          <a:ext cx="0" cy="0"/>
          <a:chOff x="0" y="0"/>
          <a:chExt cx="0" cy="0"/>
        </a:xfrm>
      </p:grpSpPr>
      <p:sp>
        <p:nvSpPr>
          <p:cNvPr id="2403" name="Google Shape;2403;p1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4" name="Google Shape;2404;p1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p1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7" name="Google Shape;2417;p1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5" name="Shape 2425"/>
        <p:cNvGrpSpPr/>
        <p:nvPr/>
      </p:nvGrpSpPr>
      <p:grpSpPr>
        <a:xfrm>
          <a:off x="0" y="0"/>
          <a:ext cx="0" cy="0"/>
          <a:chOff x="0" y="0"/>
          <a:chExt cx="0" cy="0"/>
        </a:xfrm>
      </p:grpSpPr>
      <p:sp>
        <p:nvSpPr>
          <p:cNvPr id="2426" name="Google Shape;2426;p1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7" name="Google Shape;2427;p1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2" name="Shape 2442"/>
        <p:cNvGrpSpPr/>
        <p:nvPr/>
      </p:nvGrpSpPr>
      <p:grpSpPr>
        <a:xfrm>
          <a:off x="0" y="0"/>
          <a:ext cx="0" cy="0"/>
          <a:chOff x="0" y="0"/>
          <a:chExt cx="0" cy="0"/>
        </a:xfrm>
      </p:grpSpPr>
      <p:sp>
        <p:nvSpPr>
          <p:cNvPr id="2443" name="Google Shape;2443;p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4" name="Google Shape;2444;p1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2" name="Shape 2452"/>
        <p:cNvGrpSpPr/>
        <p:nvPr/>
      </p:nvGrpSpPr>
      <p:grpSpPr>
        <a:xfrm>
          <a:off x="0" y="0"/>
          <a:ext cx="0" cy="0"/>
          <a:chOff x="0" y="0"/>
          <a:chExt cx="0" cy="0"/>
        </a:xfrm>
      </p:grpSpPr>
      <p:sp>
        <p:nvSpPr>
          <p:cNvPr id="2453" name="Google Shape;2453;p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4" name="Google Shape;2454;p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p1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1" name="Google Shape;2461;p1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8" name="Shape 2468"/>
        <p:cNvGrpSpPr/>
        <p:nvPr/>
      </p:nvGrpSpPr>
      <p:grpSpPr>
        <a:xfrm>
          <a:off x="0" y="0"/>
          <a:ext cx="0" cy="0"/>
          <a:chOff x="0" y="0"/>
          <a:chExt cx="0" cy="0"/>
        </a:xfrm>
      </p:grpSpPr>
      <p:sp>
        <p:nvSpPr>
          <p:cNvPr id="2469" name="Google Shape;2469;p1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0" name="Google Shape;2470;p1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9" name="Shape 2479"/>
        <p:cNvGrpSpPr/>
        <p:nvPr/>
      </p:nvGrpSpPr>
      <p:grpSpPr>
        <a:xfrm>
          <a:off x="0" y="0"/>
          <a:ext cx="0" cy="0"/>
          <a:chOff x="0" y="0"/>
          <a:chExt cx="0" cy="0"/>
        </a:xfrm>
      </p:grpSpPr>
      <p:sp>
        <p:nvSpPr>
          <p:cNvPr id="2480" name="Google Shape;2480;p1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1" name="Google Shape;2481;p1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0" name="Shape 2490"/>
        <p:cNvGrpSpPr/>
        <p:nvPr/>
      </p:nvGrpSpPr>
      <p:grpSpPr>
        <a:xfrm>
          <a:off x="0" y="0"/>
          <a:ext cx="0" cy="0"/>
          <a:chOff x="0" y="0"/>
          <a:chExt cx="0" cy="0"/>
        </a:xfrm>
      </p:grpSpPr>
      <p:sp>
        <p:nvSpPr>
          <p:cNvPr id="2491" name="Google Shape;2491;p1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2" name="Google Shape;2492;p1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p1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1" name="Google Shape;2511;p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p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0" name="Google Shape;2520;p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6" name="Shape 2526"/>
        <p:cNvGrpSpPr/>
        <p:nvPr/>
      </p:nvGrpSpPr>
      <p:grpSpPr>
        <a:xfrm>
          <a:off x="0" y="0"/>
          <a:ext cx="0" cy="0"/>
          <a:chOff x="0" y="0"/>
          <a:chExt cx="0" cy="0"/>
        </a:xfrm>
      </p:grpSpPr>
      <p:sp>
        <p:nvSpPr>
          <p:cNvPr id="2527" name="Google Shape;2527;p1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8" name="Google Shape;2528;p1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4" name="Shape 2534"/>
        <p:cNvGrpSpPr/>
        <p:nvPr/>
      </p:nvGrpSpPr>
      <p:grpSpPr>
        <a:xfrm>
          <a:off x="0" y="0"/>
          <a:ext cx="0" cy="0"/>
          <a:chOff x="0" y="0"/>
          <a:chExt cx="0" cy="0"/>
        </a:xfrm>
      </p:grpSpPr>
      <p:sp>
        <p:nvSpPr>
          <p:cNvPr id="2535" name="Google Shape;2535;p1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6" name="Google Shape;2536;p1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2" name="Shape 2542"/>
        <p:cNvGrpSpPr/>
        <p:nvPr/>
      </p:nvGrpSpPr>
      <p:grpSpPr>
        <a:xfrm>
          <a:off x="0" y="0"/>
          <a:ext cx="0" cy="0"/>
          <a:chOff x="0" y="0"/>
          <a:chExt cx="0" cy="0"/>
        </a:xfrm>
      </p:grpSpPr>
      <p:sp>
        <p:nvSpPr>
          <p:cNvPr id="2543" name="Google Shape;2543;p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4" name="Google Shape;2544;p1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0" name="Shape 2550"/>
        <p:cNvGrpSpPr/>
        <p:nvPr/>
      </p:nvGrpSpPr>
      <p:grpSpPr>
        <a:xfrm>
          <a:off x="0" y="0"/>
          <a:ext cx="0" cy="0"/>
          <a:chOff x="0" y="0"/>
          <a:chExt cx="0" cy="0"/>
        </a:xfrm>
      </p:grpSpPr>
      <p:sp>
        <p:nvSpPr>
          <p:cNvPr id="2551" name="Google Shape;2551;p1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2" name="Google Shape;2552;p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7" name="Shape 2567"/>
        <p:cNvGrpSpPr/>
        <p:nvPr/>
      </p:nvGrpSpPr>
      <p:grpSpPr>
        <a:xfrm>
          <a:off x="0" y="0"/>
          <a:ext cx="0" cy="0"/>
          <a:chOff x="0" y="0"/>
          <a:chExt cx="0" cy="0"/>
        </a:xfrm>
      </p:grpSpPr>
      <p:sp>
        <p:nvSpPr>
          <p:cNvPr id="2568" name="Google Shape;2568;p1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9" name="Google Shape;2569;p1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p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7" name="Google Shape;2577;p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3" name="Shape 2583"/>
        <p:cNvGrpSpPr/>
        <p:nvPr/>
      </p:nvGrpSpPr>
      <p:grpSpPr>
        <a:xfrm>
          <a:off x="0" y="0"/>
          <a:ext cx="0" cy="0"/>
          <a:chOff x="0" y="0"/>
          <a:chExt cx="0" cy="0"/>
        </a:xfrm>
      </p:grpSpPr>
      <p:sp>
        <p:nvSpPr>
          <p:cNvPr id="2584" name="Google Shape;2584;p1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5" name="Google Shape;2585;p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p1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5" name="Google Shape;2595;p1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p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5" name="Google Shape;2605;p1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0" name="Shape 2620"/>
        <p:cNvGrpSpPr/>
        <p:nvPr/>
      </p:nvGrpSpPr>
      <p:grpSpPr>
        <a:xfrm>
          <a:off x="0" y="0"/>
          <a:ext cx="0" cy="0"/>
          <a:chOff x="0" y="0"/>
          <a:chExt cx="0" cy="0"/>
        </a:xfrm>
      </p:grpSpPr>
      <p:sp>
        <p:nvSpPr>
          <p:cNvPr id="2621" name="Google Shape;2621;p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2" name="Google Shape;2622;p1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9" name="Shape 2629"/>
        <p:cNvGrpSpPr/>
        <p:nvPr/>
      </p:nvGrpSpPr>
      <p:grpSpPr>
        <a:xfrm>
          <a:off x="0" y="0"/>
          <a:ext cx="0" cy="0"/>
          <a:chOff x="0" y="0"/>
          <a:chExt cx="0" cy="0"/>
        </a:xfrm>
      </p:grpSpPr>
      <p:sp>
        <p:nvSpPr>
          <p:cNvPr id="2630" name="Google Shape;2630;p1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1" name="Google Shape;2631;p1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0" name="Shape 2640"/>
        <p:cNvGrpSpPr/>
        <p:nvPr/>
      </p:nvGrpSpPr>
      <p:grpSpPr>
        <a:xfrm>
          <a:off x="0" y="0"/>
          <a:ext cx="0" cy="0"/>
          <a:chOff x="0" y="0"/>
          <a:chExt cx="0" cy="0"/>
        </a:xfrm>
      </p:grpSpPr>
      <p:sp>
        <p:nvSpPr>
          <p:cNvPr id="2641" name="Google Shape;2641;p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2" name="Google Shape;2642;p1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3" name="Shape 2653"/>
        <p:cNvGrpSpPr/>
        <p:nvPr/>
      </p:nvGrpSpPr>
      <p:grpSpPr>
        <a:xfrm>
          <a:off x="0" y="0"/>
          <a:ext cx="0" cy="0"/>
          <a:chOff x="0" y="0"/>
          <a:chExt cx="0" cy="0"/>
        </a:xfrm>
      </p:grpSpPr>
      <p:sp>
        <p:nvSpPr>
          <p:cNvPr id="2654" name="Google Shape;2654;p1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5" name="Google Shape;2655;p1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2" name="Shape 2662"/>
        <p:cNvGrpSpPr/>
        <p:nvPr/>
      </p:nvGrpSpPr>
      <p:grpSpPr>
        <a:xfrm>
          <a:off x="0" y="0"/>
          <a:ext cx="0" cy="0"/>
          <a:chOff x="0" y="0"/>
          <a:chExt cx="0" cy="0"/>
        </a:xfrm>
      </p:grpSpPr>
      <p:sp>
        <p:nvSpPr>
          <p:cNvPr id="2663" name="Google Shape;2663;p1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4" name="Google Shape;2664;p1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0" name="Shape 2670"/>
        <p:cNvGrpSpPr/>
        <p:nvPr/>
      </p:nvGrpSpPr>
      <p:grpSpPr>
        <a:xfrm>
          <a:off x="0" y="0"/>
          <a:ext cx="0" cy="0"/>
          <a:chOff x="0" y="0"/>
          <a:chExt cx="0" cy="0"/>
        </a:xfrm>
      </p:grpSpPr>
      <p:sp>
        <p:nvSpPr>
          <p:cNvPr id="2671" name="Google Shape;2671;p1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2" name="Google Shape;2672;p1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8" name="Shape 2678"/>
        <p:cNvGrpSpPr/>
        <p:nvPr/>
      </p:nvGrpSpPr>
      <p:grpSpPr>
        <a:xfrm>
          <a:off x="0" y="0"/>
          <a:ext cx="0" cy="0"/>
          <a:chOff x="0" y="0"/>
          <a:chExt cx="0" cy="0"/>
        </a:xfrm>
      </p:grpSpPr>
      <p:sp>
        <p:nvSpPr>
          <p:cNvPr id="2679" name="Google Shape;2679;p1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0" name="Google Shape;2680;p1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6" name="Shape 2686"/>
        <p:cNvGrpSpPr/>
        <p:nvPr/>
      </p:nvGrpSpPr>
      <p:grpSpPr>
        <a:xfrm>
          <a:off x="0" y="0"/>
          <a:ext cx="0" cy="0"/>
          <a:chOff x="0" y="0"/>
          <a:chExt cx="0" cy="0"/>
        </a:xfrm>
      </p:grpSpPr>
      <p:sp>
        <p:nvSpPr>
          <p:cNvPr id="2687" name="Google Shape;2687;p1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8" name="Google Shape;2688;p1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5" name="Shape 2695"/>
        <p:cNvGrpSpPr/>
        <p:nvPr/>
      </p:nvGrpSpPr>
      <p:grpSpPr>
        <a:xfrm>
          <a:off x="0" y="0"/>
          <a:ext cx="0" cy="0"/>
          <a:chOff x="0" y="0"/>
          <a:chExt cx="0" cy="0"/>
        </a:xfrm>
      </p:grpSpPr>
      <p:sp>
        <p:nvSpPr>
          <p:cNvPr id="2696" name="Google Shape;2696;p1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7" name="Google Shape;2697;p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3" name="Shape 2713"/>
        <p:cNvGrpSpPr/>
        <p:nvPr/>
      </p:nvGrpSpPr>
      <p:grpSpPr>
        <a:xfrm>
          <a:off x="0" y="0"/>
          <a:ext cx="0" cy="0"/>
          <a:chOff x="0" y="0"/>
          <a:chExt cx="0" cy="0"/>
        </a:xfrm>
      </p:grpSpPr>
      <p:sp>
        <p:nvSpPr>
          <p:cNvPr id="2714" name="Google Shape;2714;p1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5" name="Google Shape;2715;p1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1" name="Shape 2721"/>
        <p:cNvGrpSpPr/>
        <p:nvPr/>
      </p:nvGrpSpPr>
      <p:grpSpPr>
        <a:xfrm>
          <a:off x="0" y="0"/>
          <a:ext cx="0" cy="0"/>
          <a:chOff x="0" y="0"/>
          <a:chExt cx="0" cy="0"/>
        </a:xfrm>
      </p:grpSpPr>
      <p:sp>
        <p:nvSpPr>
          <p:cNvPr id="2722" name="Google Shape;2722;p1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3" name="Google Shape;2723;p1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7" name="Shape 2737"/>
        <p:cNvGrpSpPr/>
        <p:nvPr/>
      </p:nvGrpSpPr>
      <p:grpSpPr>
        <a:xfrm>
          <a:off x="0" y="0"/>
          <a:ext cx="0" cy="0"/>
          <a:chOff x="0" y="0"/>
          <a:chExt cx="0" cy="0"/>
        </a:xfrm>
      </p:grpSpPr>
      <p:sp>
        <p:nvSpPr>
          <p:cNvPr id="2738" name="Google Shape;2738;p1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9" name="Google Shape;2739;p1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5" name="Shape 2745"/>
        <p:cNvGrpSpPr/>
        <p:nvPr/>
      </p:nvGrpSpPr>
      <p:grpSpPr>
        <a:xfrm>
          <a:off x="0" y="0"/>
          <a:ext cx="0" cy="0"/>
          <a:chOff x="0" y="0"/>
          <a:chExt cx="0" cy="0"/>
        </a:xfrm>
      </p:grpSpPr>
      <p:sp>
        <p:nvSpPr>
          <p:cNvPr id="2746" name="Google Shape;2746;p1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7" name="Google Shape;2747;p1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3" name="Shape 2753"/>
        <p:cNvGrpSpPr/>
        <p:nvPr/>
      </p:nvGrpSpPr>
      <p:grpSpPr>
        <a:xfrm>
          <a:off x="0" y="0"/>
          <a:ext cx="0" cy="0"/>
          <a:chOff x="0" y="0"/>
          <a:chExt cx="0" cy="0"/>
        </a:xfrm>
      </p:grpSpPr>
      <p:sp>
        <p:nvSpPr>
          <p:cNvPr id="2754" name="Google Shape;2754;p1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5" name="Google Shape;2755;p1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1" name="Shape 2761"/>
        <p:cNvGrpSpPr/>
        <p:nvPr/>
      </p:nvGrpSpPr>
      <p:grpSpPr>
        <a:xfrm>
          <a:off x="0" y="0"/>
          <a:ext cx="0" cy="0"/>
          <a:chOff x="0" y="0"/>
          <a:chExt cx="0" cy="0"/>
        </a:xfrm>
      </p:grpSpPr>
      <p:sp>
        <p:nvSpPr>
          <p:cNvPr id="2762" name="Google Shape;2762;p1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3" name="Google Shape;2763;p1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0" name="Shape 2770"/>
        <p:cNvGrpSpPr/>
        <p:nvPr/>
      </p:nvGrpSpPr>
      <p:grpSpPr>
        <a:xfrm>
          <a:off x="0" y="0"/>
          <a:ext cx="0" cy="0"/>
          <a:chOff x="0" y="0"/>
          <a:chExt cx="0" cy="0"/>
        </a:xfrm>
      </p:grpSpPr>
      <p:sp>
        <p:nvSpPr>
          <p:cNvPr id="2771" name="Google Shape;2771;p1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2" name="Google Shape;2772;p1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0" name="Shape 2780"/>
        <p:cNvGrpSpPr/>
        <p:nvPr/>
      </p:nvGrpSpPr>
      <p:grpSpPr>
        <a:xfrm>
          <a:off x="0" y="0"/>
          <a:ext cx="0" cy="0"/>
          <a:chOff x="0" y="0"/>
          <a:chExt cx="0" cy="0"/>
        </a:xfrm>
      </p:grpSpPr>
      <p:sp>
        <p:nvSpPr>
          <p:cNvPr id="2781" name="Google Shape;2781;p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2" name="Google Shape;2782;p1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8" name="Shape 2788"/>
        <p:cNvGrpSpPr/>
        <p:nvPr/>
      </p:nvGrpSpPr>
      <p:grpSpPr>
        <a:xfrm>
          <a:off x="0" y="0"/>
          <a:ext cx="0" cy="0"/>
          <a:chOff x="0" y="0"/>
          <a:chExt cx="0" cy="0"/>
        </a:xfrm>
      </p:grpSpPr>
      <p:sp>
        <p:nvSpPr>
          <p:cNvPr id="2789" name="Google Shape;2789;p1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0" name="Google Shape;2790;p1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6" name="Shape 2796"/>
        <p:cNvGrpSpPr/>
        <p:nvPr/>
      </p:nvGrpSpPr>
      <p:grpSpPr>
        <a:xfrm>
          <a:off x="0" y="0"/>
          <a:ext cx="0" cy="0"/>
          <a:chOff x="0" y="0"/>
          <a:chExt cx="0" cy="0"/>
        </a:xfrm>
      </p:grpSpPr>
      <p:sp>
        <p:nvSpPr>
          <p:cNvPr id="2797" name="Google Shape;2797;p1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8" name="Google Shape;2798;p1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4" name="Shape 2804"/>
        <p:cNvGrpSpPr/>
        <p:nvPr/>
      </p:nvGrpSpPr>
      <p:grpSpPr>
        <a:xfrm>
          <a:off x="0" y="0"/>
          <a:ext cx="0" cy="0"/>
          <a:chOff x="0" y="0"/>
          <a:chExt cx="0" cy="0"/>
        </a:xfrm>
      </p:grpSpPr>
      <p:sp>
        <p:nvSpPr>
          <p:cNvPr id="2805" name="Google Shape;2805;p1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6" name="Google Shape;2806;p1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203"/>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Arial"/>
              <a:buNone/>
              <a:defRPr b="1" sz="5600">
                <a:solidFill>
                  <a:srgbClr val="4CE0EA"/>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03"/>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20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0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0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20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0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20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0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20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05"/>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 name="Google Shape;46;p205"/>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7" name="Google Shape;47;p20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0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50" name="Shape 50"/>
        <p:cNvGrpSpPr/>
        <p:nvPr/>
      </p:nvGrpSpPr>
      <p:grpSpPr>
        <a:xfrm>
          <a:off x="0" y="0"/>
          <a:ext cx="0" cy="0"/>
          <a:chOff x="0" y="0"/>
          <a:chExt cx="0" cy="0"/>
        </a:xfrm>
      </p:grpSpPr>
      <p:sp>
        <p:nvSpPr>
          <p:cNvPr id="51" name="Google Shape;51;p206"/>
          <p:cNvSpPr txBox="1"/>
          <p:nvPr>
            <p:ph type="title"/>
          </p:nvPr>
        </p:nvSpPr>
        <p:spPr>
          <a:xfrm>
            <a:off x="1150938" y="214313"/>
            <a:ext cx="7793037" cy="1462087"/>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6"/>
          <p:cNvSpPr txBox="1"/>
          <p:nvPr>
            <p:ph idx="1" type="body"/>
          </p:nvPr>
        </p:nvSpPr>
        <p:spPr>
          <a:xfrm>
            <a:off x="1182688" y="2017713"/>
            <a:ext cx="3810000" cy="4114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 name="Google Shape;53;p206"/>
          <p:cNvSpPr txBox="1"/>
          <p:nvPr>
            <p:ph idx="2" type="body"/>
          </p:nvPr>
        </p:nvSpPr>
        <p:spPr>
          <a:xfrm>
            <a:off x="5145088" y="2017713"/>
            <a:ext cx="3810000" cy="4114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4" name="Google Shape;54;p20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0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spcBef>
                <a:spcPts val="0"/>
              </a:spcBef>
              <a:buNone/>
              <a:defRPr sz="1200">
                <a:solidFill>
                  <a:srgbClr val="035C75"/>
                </a:solidFill>
                <a:latin typeface="Arial"/>
                <a:ea typeface="Arial"/>
                <a:cs typeface="Arial"/>
                <a:sym typeface="Arial"/>
              </a:defRPr>
            </a:lvl1pPr>
            <a:lvl2pPr indent="0" lvl="1" marL="0" marR="0" algn="r">
              <a:spcBef>
                <a:spcPts val="0"/>
              </a:spcBef>
              <a:buNone/>
              <a:defRPr sz="1200">
                <a:solidFill>
                  <a:srgbClr val="035C75"/>
                </a:solidFill>
                <a:latin typeface="Arial"/>
                <a:ea typeface="Arial"/>
                <a:cs typeface="Arial"/>
                <a:sym typeface="Arial"/>
              </a:defRPr>
            </a:lvl2pPr>
            <a:lvl3pPr indent="0" lvl="2" marL="0" marR="0" algn="r">
              <a:spcBef>
                <a:spcPts val="0"/>
              </a:spcBef>
              <a:buNone/>
              <a:defRPr sz="1200">
                <a:solidFill>
                  <a:srgbClr val="035C75"/>
                </a:solidFill>
                <a:latin typeface="Arial"/>
                <a:ea typeface="Arial"/>
                <a:cs typeface="Arial"/>
                <a:sym typeface="Arial"/>
              </a:defRPr>
            </a:lvl3pPr>
            <a:lvl4pPr indent="0" lvl="3" marL="0" marR="0" algn="r">
              <a:spcBef>
                <a:spcPts val="0"/>
              </a:spcBef>
              <a:buNone/>
              <a:defRPr sz="1200">
                <a:solidFill>
                  <a:srgbClr val="035C75"/>
                </a:solidFill>
                <a:latin typeface="Arial"/>
                <a:ea typeface="Arial"/>
                <a:cs typeface="Arial"/>
                <a:sym typeface="Arial"/>
              </a:defRPr>
            </a:lvl4pPr>
            <a:lvl5pPr indent="0" lvl="4" marL="0" marR="0" algn="r">
              <a:spcBef>
                <a:spcPts val="0"/>
              </a:spcBef>
              <a:buNone/>
              <a:defRPr sz="1200">
                <a:solidFill>
                  <a:srgbClr val="035C75"/>
                </a:solidFill>
                <a:latin typeface="Arial"/>
                <a:ea typeface="Arial"/>
                <a:cs typeface="Arial"/>
                <a:sym typeface="Arial"/>
              </a:defRPr>
            </a:lvl5pPr>
            <a:lvl6pPr indent="0" lvl="5" marL="0" marR="0" algn="r">
              <a:spcBef>
                <a:spcPts val="0"/>
              </a:spcBef>
              <a:buNone/>
              <a:defRPr sz="1200">
                <a:solidFill>
                  <a:srgbClr val="035C75"/>
                </a:solidFill>
                <a:latin typeface="Arial"/>
                <a:ea typeface="Arial"/>
                <a:cs typeface="Arial"/>
                <a:sym typeface="Arial"/>
              </a:defRPr>
            </a:lvl6pPr>
            <a:lvl7pPr indent="0" lvl="6" marL="0" marR="0" algn="r">
              <a:spcBef>
                <a:spcPts val="0"/>
              </a:spcBef>
              <a:buNone/>
              <a:defRPr sz="1200">
                <a:solidFill>
                  <a:srgbClr val="035C75"/>
                </a:solidFill>
                <a:latin typeface="Arial"/>
                <a:ea typeface="Arial"/>
                <a:cs typeface="Arial"/>
                <a:sym typeface="Arial"/>
              </a:defRPr>
            </a:lvl7pPr>
            <a:lvl8pPr indent="0" lvl="7" marL="0" marR="0" algn="r">
              <a:spcBef>
                <a:spcPts val="0"/>
              </a:spcBef>
              <a:buNone/>
              <a:defRPr sz="1200">
                <a:solidFill>
                  <a:srgbClr val="035C75"/>
                </a:solidFill>
                <a:latin typeface="Arial"/>
                <a:ea typeface="Arial"/>
                <a:cs typeface="Arial"/>
                <a:sym typeface="Arial"/>
              </a:defRPr>
            </a:lvl8pPr>
            <a:lvl9pPr indent="0" lvl="8" marL="0" marR="0" algn="r">
              <a:spcBef>
                <a:spcPts val="0"/>
              </a:spcBef>
              <a:buNone/>
              <a:defRPr sz="1200">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0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0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1" name="Shape 61"/>
        <p:cNvGrpSpPr/>
        <p:nvPr/>
      </p:nvGrpSpPr>
      <p:grpSpPr>
        <a:xfrm>
          <a:off x="0" y="0"/>
          <a:ext cx="0" cy="0"/>
          <a:chOff x="0" y="0"/>
          <a:chExt cx="0" cy="0"/>
        </a:xfrm>
      </p:grpSpPr>
      <p:sp>
        <p:nvSpPr>
          <p:cNvPr id="62" name="Google Shape;62;p208"/>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 name="Google Shape;63;p208"/>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 name="Google Shape;64;p208"/>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Arial"/>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08"/>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Arial"/>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20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08"/>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9" name="Google Shape;69;p208"/>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Arial"/>
                <a:ea typeface="Arial"/>
                <a:cs typeface="Arial"/>
                <a:sym typeface="Arial"/>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Arial"/>
                <a:ea typeface="Arial"/>
                <a:cs typeface="Arial"/>
                <a:sym typeface="Arial"/>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Arial"/>
                <a:ea typeface="Arial"/>
                <a:cs typeface="Arial"/>
                <a:sym typeface="Arial"/>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Arial"/>
                <a:ea typeface="Arial"/>
                <a:cs typeface="Arial"/>
                <a:sym typeface="Arial"/>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Arial"/>
                <a:ea typeface="Arial"/>
                <a:cs typeface="Arial"/>
                <a:sym typeface="Arial"/>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Arial"/>
                <a:ea typeface="Arial"/>
                <a:cs typeface="Arial"/>
                <a:sym typeface="Arial"/>
              </a:defRPr>
            </a:lvl7pPr>
            <a:lvl8pPr lvl="7"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lvl="8" marR="0" rtl="0" algn="l">
              <a:spcBef>
                <a:spcPts val="28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70" name="Google Shape;70;p208"/>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208"/>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72" name="Shape 72"/>
        <p:cNvGrpSpPr/>
        <p:nvPr/>
      </p:nvGrpSpPr>
      <p:grpSpPr>
        <a:xfrm>
          <a:off x="0" y="0"/>
          <a:ext cx="0" cy="0"/>
          <a:chOff x="0" y="0"/>
          <a:chExt cx="0" cy="0"/>
        </a:xfrm>
      </p:grpSpPr>
      <p:sp>
        <p:nvSpPr>
          <p:cNvPr id="73" name="Google Shape;73;p20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Arial"/>
              <a:buNone/>
              <a:defRPr b="1" sz="5600">
                <a:solidFill>
                  <a:srgbClr val="4CE0EA"/>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0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75" name="Google Shape;75;p20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0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0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78" name="Shape 78"/>
        <p:cNvGrpSpPr/>
        <p:nvPr/>
      </p:nvGrpSpPr>
      <p:grpSpPr>
        <a:xfrm>
          <a:off x="0" y="0"/>
          <a:ext cx="0" cy="0"/>
          <a:chOff x="0" y="0"/>
          <a:chExt cx="0" cy="0"/>
        </a:xfrm>
      </p:grpSpPr>
      <p:sp>
        <p:nvSpPr>
          <p:cNvPr id="79" name="Google Shape;79;p249"/>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Arial"/>
              <a:buNone/>
              <a:defRPr b="1" sz="5600" cap="none">
                <a:solidFill>
                  <a:srgbClr val="4AE3A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49"/>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1" name="Google Shape;81;p24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4" name="Shape 84"/>
        <p:cNvGrpSpPr/>
        <p:nvPr/>
      </p:nvGrpSpPr>
      <p:grpSpPr>
        <a:xfrm>
          <a:off x="0" y="0"/>
          <a:ext cx="0" cy="0"/>
          <a:chOff x="0" y="0"/>
          <a:chExt cx="0" cy="0"/>
        </a:xfrm>
      </p:grpSpPr>
      <p:sp>
        <p:nvSpPr>
          <p:cNvPr id="85" name="Google Shape;85;p25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50"/>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7" name="Google Shape;87;p250"/>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8" name="Google Shape;88;p250"/>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9" name="Google Shape;89;p250"/>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25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5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5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sp>
        <p:nvSpPr>
          <p:cNvPr id="94" name="Google Shape;94;p251"/>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Arial"/>
              <a:buNone/>
              <a:defRPr b="0" sz="5000">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5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5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5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8" name="Shape 98"/>
        <p:cNvGrpSpPr/>
        <p:nvPr/>
      </p:nvGrpSpPr>
      <p:grpSpPr>
        <a:xfrm>
          <a:off x="0" y="0"/>
          <a:ext cx="0" cy="0"/>
          <a:chOff x="0" y="0"/>
          <a:chExt cx="0" cy="0"/>
        </a:xfrm>
      </p:grpSpPr>
      <p:sp>
        <p:nvSpPr>
          <p:cNvPr id="99" name="Google Shape;99;p252"/>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Arial"/>
              <a:buNone/>
              <a:defRPr b="0" sz="2600">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252"/>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252"/>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2" name="Google Shape;102;p25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5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5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5" name="Shape 105"/>
        <p:cNvGrpSpPr/>
        <p:nvPr/>
      </p:nvGrpSpPr>
      <p:grpSpPr>
        <a:xfrm>
          <a:off x="0" y="0"/>
          <a:ext cx="0" cy="0"/>
          <a:chOff x="0" y="0"/>
          <a:chExt cx="0" cy="0"/>
        </a:xfrm>
      </p:grpSpPr>
      <p:sp>
        <p:nvSpPr>
          <p:cNvPr id="106" name="Google Shape;106;p25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253"/>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8" name="Google Shape;108;p25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5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5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1" name="Shape 111"/>
        <p:cNvGrpSpPr/>
        <p:nvPr/>
      </p:nvGrpSpPr>
      <p:grpSpPr>
        <a:xfrm>
          <a:off x="0" y="0"/>
          <a:ext cx="0" cy="0"/>
          <a:chOff x="0" y="0"/>
          <a:chExt cx="0" cy="0"/>
        </a:xfrm>
      </p:grpSpPr>
      <p:sp>
        <p:nvSpPr>
          <p:cNvPr id="112" name="Google Shape;112;p254"/>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54"/>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4" name="Google Shape;114;p25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5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5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5" name="Shape 125"/>
        <p:cNvGrpSpPr/>
        <p:nvPr/>
      </p:nvGrpSpPr>
      <p:grpSpPr>
        <a:xfrm>
          <a:off x="0" y="0"/>
          <a:ext cx="0" cy="0"/>
          <a:chOff x="0" y="0"/>
          <a:chExt cx="0" cy="0"/>
        </a:xfrm>
      </p:grpSpPr>
      <p:sp>
        <p:nvSpPr>
          <p:cNvPr id="126" name="Google Shape;126;p210"/>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210"/>
          <p:cNvSpPr txBox="1"/>
          <p:nvPr>
            <p:ph idx="1" type="body"/>
          </p:nvPr>
        </p:nvSpPr>
        <p:spPr>
          <a:xfrm>
            <a:off x="502920" y="530352"/>
            <a:ext cx="8183880" cy="4187952"/>
          </a:xfrm>
          <a:prstGeom prst="rect">
            <a:avLst/>
          </a:prstGeom>
          <a:noFill/>
          <a:ln>
            <a:noFill/>
          </a:ln>
        </p:spPr>
        <p:txBody>
          <a:bodyPr anchorCtr="0" anchor="t" bIns="45700" lIns="182875" spcFirstLastPara="1" rIns="91425" wrap="square" tIns="91425">
            <a:norm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30"/>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28" name="Google Shape;128;p210"/>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10"/>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10"/>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31" name="Shape 131"/>
        <p:cNvGrpSpPr/>
        <p:nvPr/>
      </p:nvGrpSpPr>
      <p:grpSpPr>
        <a:xfrm>
          <a:off x="0" y="0"/>
          <a:ext cx="0" cy="0"/>
          <a:chOff x="0" y="0"/>
          <a:chExt cx="0" cy="0"/>
        </a:xfrm>
      </p:grpSpPr>
      <p:sp>
        <p:nvSpPr>
          <p:cNvPr id="132" name="Google Shape;132;p220"/>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33" name="Google Shape;133;p220"/>
          <p:cNvSpPr/>
          <p:nvPr/>
        </p:nvSpPr>
        <p:spPr>
          <a:xfrm>
            <a:off x="418596" y="434162"/>
            <a:ext cx="8306809" cy="3108960"/>
          </a:xfrm>
          <a:prstGeom prst="roundRect">
            <a:avLst>
              <a:gd fmla="val 4578" name="adj"/>
            </a:avLst>
          </a:prstGeom>
          <a:gradFill>
            <a:gsLst>
              <a:gs pos="0">
                <a:schemeClr val="lt1"/>
              </a:gs>
              <a:gs pos="55000">
                <a:srgbClr val="DFDFDF"/>
              </a:gs>
              <a:gs pos="100000">
                <a:srgbClr val="9E9E9E"/>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34" name="Google Shape;134;p220"/>
          <p:cNvSpPr txBox="1"/>
          <p:nvPr>
            <p:ph type="ctrTitle"/>
          </p:nvPr>
        </p:nvSpPr>
        <p:spPr>
          <a:xfrm>
            <a:off x="722376" y="1820206"/>
            <a:ext cx="7772400" cy="1828800"/>
          </a:xfrm>
          <a:prstGeom prst="rect">
            <a:avLst/>
          </a:prstGeom>
          <a:noFill/>
          <a:ln>
            <a:noFill/>
          </a:ln>
        </p:spPr>
        <p:txBody>
          <a:bodyPr anchorCtr="0" anchor="b" bIns="45700" lIns="45700" spcFirstLastPara="1" rIns="45700" wrap="square" tIns="45700">
            <a:normAutofit/>
          </a:bodyPr>
          <a:lstStyle>
            <a:lvl1pPr lvl="0" algn="r">
              <a:spcBef>
                <a:spcPts val="0"/>
              </a:spcBef>
              <a:spcAft>
                <a:spcPts val="0"/>
              </a:spcAft>
              <a:buClr>
                <a:srgbClr val="FF8C3C"/>
              </a:buClr>
              <a:buSzPts val="4500"/>
              <a:buFont typeface="Verdana"/>
              <a:buNone/>
              <a:defRPr b="1" sz="4500">
                <a:solidFill>
                  <a:srgbClr val="FF8C3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220"/>
          <p:cNvSpPr txBox="1"/>
          <p:nvPr>
            <p:ph idx="1" type="subTitle"/>
          </p:nvPr>
        </p:nvSpPr>
        <p:spPr>
          <a:xfrm>
            <a:off x="722376" y="3685032"/>
            <a:ext cx="7772400" cy="914400"/>
          </a:xfrm>
          <a:prstGeom prst="rect">
            <a:avLst/>
          </a:prstGeom>
          <a:noFill/>
          <a:ln>
            <a:noFill/>
          </a:ln>
        </p:spPr>
        <p:txBody>
          <a:bodyPr anchorCtr="0" anchor="t" bIns="45700" lIns="182875" spcFirstLastPara="1" rIns="91425" wrap="square" tIns="0">
            <a:normAutofit/>
          </a:bodyPr>
          <a:lstStyle>
            <a:lvl1pPr lvl="0" algn="r">
              <a:spcBef>
                <a:spcPts val="0"/>
              </a:spcBef>
              <a:spcAft>
                <a:spcPts val="0"/>
              </a:spcAft>
              <a:buSzPts val="1600"/>
              <a:buNone/>
              <a:defRPr sz="2000">
                <a:solidFill>
                  <a:srgbClr val="78766F"/>
                </a:solidFill>
              </a:defRPr>
            </a:lvl1pPr>
            <a:lvl2pPr lvl="1" algn="ctr">
              <a:spcBef>
                <a:spcPts val="250"/>
              </a:spcBef>
              <a:spcAft>
                <a:spcPts val="0"/>
              </a:spcAft>
              <a:buSzPts val="1800"/>
              <a:buNone/>
              <a:defRPr/>
            </a:lvl2pPr>
            <a:lvl3pPr lvl="2" algn="ctr">
              <a:spcBef>
                <a:spcPts val="250"/>
              </a:spcBef>
              <a:spcAft>
                <a:spcPts val="0"/>
              </a:spcAft>
              <a:buSzPts val="1800"/>
              <a:buNone/>
              <a:defRPr/>
            </a:lvl3pPr>
            <a:lvl4pPr lvl="3" algn="ctr">
              <a:spcBef>
                <a:spcPts val="230"/>
              </a:spcBef>
              <a:spcAft>
                <a:spcPts val="0"/>
              </a:spcAft>
              <a:buSzPts val="2016"/>
              <a:buNone/>
              <a:defRPr/>
            </a:lvl4pPr>
            <a:lvl5pPr lvl="4" algn="ctr">
              <a:spcBef>
                <a:spcPts val="250"/>
              </a:spcBef>
              <a:spcAft>
                <a:spcPts val="0"/>
              </a:spcAft>
              <a:buSzPts val="1800"/>
              <a:buNone/>
              <a:defRPr/>
            </a:lvl5pPr>
            <a:lvl6pPr lvl="5" algn="ctr">
              <a:spcBef>
                <a:spcPts val="250"/>
              </a:spcBef>
              <a:spcAft>
                <a:spcPts val="0"/>
              </a:spcAft>
              <a:buSzPts val="1800"/>
              <a:buNone/>
              <a:defRPr/>
            </a:lvl6pPr>
            <a:lvl7pPr lvl="6" algn="ctr">
              <a:spcBef>
                <a:spcPts val="255"/>
              </a:spcBef>
              <a:spcAft>
                <a:spcPts val="0"/>
              </a:spcAft>
              <a:buSzPts val="1800"/>
              <a:buNone/>
              <a:defRPr/>
            </a:lvl7pPr>
            <a:lvl8pPr lvl="7" algn="ctr">
              <a:spcBef>
                <a:spcPts val="257"/>
              </a:spcBef>
              <a:spcAft>
                <a:spcPts val="0"/>
              </a:spcAft>
              <a:buSzPts val="1800"/>
              <a:buNone/>
              <a:defRPr/>
            </a:lvl8pPr>
            <a:lvl9pPr lvl="8" algn="ctr">
              <a:spcBef>
                <a:spcPts val="255"/>
              </a:spcBef>
              <a:spcAft>
                <a:spcPts val="0"/>
              </a:spcAft>
              <a:buSzPts val="1800"/>
              <a:buNone/>
              <a:defRPr/>
            </a:lvl9pPr>
          </a:lstStyle>
          <a:p/>
        </p:txBody>
      </p:sp>
      <p:sp>
        <p:nvSpPr>
          <p:cNvPr id="136" name="Google Shape;136;p220"/>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20"/>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20"/>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139" name="Shape 139"/>
        <p:cNvGrpSpPr/>
        <p:nvPr/>
      </p:nvGrpSpPr>
      <p:grpSpPr>
        <a:xfrm>
          <a:off x="0" y="0"/>
          <a:ext cx="0" cy="0"/>
          <a:chOff x="0" y="0"/>
          <a:chExt cx="0" cy="0"/>
        </a:xfrm>
      </p:grpSpPr>
      <p:sp>
        <p:nvSpPr>
          <p:cNvPr id="140" name="Google Shape;140;p221"/>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1" name="Google Shape;141;p221"/>
          <p:cNvSpPr/>
          <p:nvPr/>
        </p:nvSpPr>
        <p:spPr>
          <a:xfrm>
            <a:off x="418596" y="434162"/>
            <a:ext cx="8306809" cy="4341329"/>
          </a:xfrm>
          <a:prstGeom prst="roundRect">
            <a:avLst>
              <a:gd fmla="val 2127" name="adj"/>
            </a:avLst>
          </a:prstGeom>
          <a:gradFill>
            <a:gsLst>
              <a:gs pos="0">
                <a:schemeClr val="lt1"/>
              </a:gs>
              <a:gs pos="55000">
                <a:srgbClr val="DFDFDF"/>
              </a:gs>
              <a:gs pos="100000">
                <a:srgbClr val="9E9E9E"/>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42" name="Google Shape;142;p221"/>
          <p:cNvSpPr txBox="1"/>
          <p:nvPr>
            <p:ph type="title"/>
          </p:nvPr>
        </p:nvSpPr>
        <p:spPr>
          <a:xfrm>
            <a:off x="468344" y="4928616"/>
            <a:ext cx="8183880" cy="676656"/>
          </a:xfrm>
          <a:prstGeom prst="rect">
            <a:avLst/>
          </a:prstGeom>
          <a:noFill/>
          <a:ln>
            <a:noFill/>
          </a:ln>
        </p:spPr>
        <p:txBody>
          <a:bodyPr anchorCtr="0" anchor="b" bIns="0" lIns="91425" spcFirstLastPara="1" rIns="91425" wrap="square" tIns="45700">
            <a:normAutofit/>
          </a:bodyPr>
          <a:lstStyle>
            <a:lvl1pPr lvl="0" algn="l">
              <a:spcBef>
                <a:spcPts val="0"/>
              </a:spcBef>
              <a:spcAft>
                <a:spcPts val="0"/>
              </a:spcAft>
              <a:buClr>
                <a:srgbClr val="78766F"/>
              </a:buClr>
              <a:buSzPts val="3600"/>
              <a:buFont typeface="Verdana"/>
              <a:buNone/>
              <a:defRPr b="0" sz="3600" cap="none">
                <a:solidFill>
                  <a:srgbClr val="78766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21"/>
          <p:cNvSpPr txBox="1"/>
          <p:nvPr>
            <p:ph idx="1" type="body"/>
          </p:nvPr>
        </p:nvSpPr>
        <p:spPr>
          <a:xfrm>
            <a:off x="468344" y="5624484"/>
            <a:ext cx="8183880" cy="420624"/>
          </a:xfrm>
          <a:prstGeom prst="rect">
            <a:avLst/>
          </a:prstGeom>
          <a:noFill/>
          <a:ln>
            <a:noFill/>
          </a:ln>
        </p:spPr>
        <p:txBody>
          <a:bodyPr anchorCtr="0" anchor="t" bIns="45700" lIns="118850" spcFirstLastPara="1" rIns="91425" wrap="square" tIns="0">
            <a:normAutofit/>
          </a:bodyPr>
          <a:lstStyle>
            <a:lvl1pPr indent="-228600" lvl="0" marL="457200" marR="36576" algn="l">
              <a:spcBef>
                <a:spcPts val="0"/>
              </a:spcBef>
              <a:spcAft>
                <a:spcPts val="0"/>
              </a:spcAft>
              <a:buSzPts val="1440"/>
              <a:buNone/>
              <a:defRPr b="0" sz="1800">
                <a:solidFill>
                  <a:srgbClr val="B75C00"/>
                </a:solidFill>
              </a:defRPr>
            </a:lvl1pPr>
            <a:lvl2pPr indent="-228600" lvl="1" marL="914400" algn="l">
              <a:spcBef>
                <a:spcPts val="250"/>
              </a:spcBef>
              <a:spcAft>
                <a:spcPts val="0"/>
              </a:spcAft>
              <a:buSzPts val="1800"/>
              <a:buNone/>
              <a:defRPr sz="1800">
                <a:solidFill>
                  <a:srgbClr val="888888"/>
                </a:solidFill>
              </a:defRPr>
            </a:lvl2pPr>
            <a:lvl3pPr indent="-228600" lvl="2" marL="1371600" algn="l">
              <a:spcBef>
                <a:spcPts val="250"/>
              </a:spcBef>
              <a:spcAft>
                <a:spcPts val="0"/>
              </a:spcAft>
              <a:buSzPts val="1600"/>
              <a:buNone/>
              <a:defRPr sz="1600">
                <a:solidFill>
                  <a:srgbClr val="888888"/>
                </a:solidFill>
              </a:defRPr>
            </a:lvl3pPr>
            <a:lvl4pPr indent="-228600" lvl="3" marL="1828800" algn="l">
              <a:spcBef>
                <a:spcPts val="230"/>
              </a:spcBef>
              <a:spcAft>
                <a:spcPts val="0"/>
              </a:spcAft>
              <a:buSzPts val="1568"/>
              <a:buNone/>
              <a:defRPr sz="1400">
                <a:solidFill>
                  <a:srgbClr val="888888"/>
                </a:solidFill>
              </a:defRPr>
            </a:lvl4pPr>
            <a:lvl5pPr indent="-228600" lvl="4" marL="2286000" algn="l">
              <a:spcBef>
                <a:spcPts val="250"/>
              </a:spcBef>
              <a:spcAft>
                <a:spcPts val="0"/>
              </a:spcAft>
              <a:buSzPts val="1400"/>
              <a:buNone/>
              <a:defRPr sz="1400">
                <a:solidFill>
                  <a:srgbClr val="888888"/>
                </a:solidFill>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44" name="Google Shape;144;p221"/>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21"/>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221"/>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7" name="Shape 147"/>
        <p:cNvGrpSpPr/>
        <p:nvPr/>
      </p:nvGrpSpPr>
      <p:grpSpPr>
        <a:xfrm>
          <a:off x="0" y="0"/>
          <a:ext cx="0" cy="0"/>
          <a:chOff x="0" y="0"/>
          <a:chExt cx="0" cy="0"/>
        </a:xfrm>
      </p:grpSpPr>
      <p:sp>
        <p:nvSpPr>
          <p:cNvPr id="148" name="Google Shape;148;p222"/>
          <p:cNvSpPr txBox="1"/>
          <p:nvPr>
            <p:ph type="title"/>
          </p:nvPr>
        </p:nvSpPr>
        <p:spPr>
          <a:xfrm>
            <a:off x="502920" y="498559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222"/>
          <p:cNvSpPr txBox="1"/>
          <p:nvPr>
            <p:ph idx="1" type="body"/>
          </p:nvPr>
        </p:nvSpPr>
        <p:spPr>
          <a:xfrm>
            <a:off x="514352" y="530352"/>
            <a:ext cx="3931920" cy="4389120"/>
          </a:xfrm>
          <a:prstGeom prst="rect">
            <a:avLst/>
          </a:prstGeom>
          <a:noFill/>
          <a:ln>
            <a:noFill/>
          </a:ln>
        </p:spPr>
        <p:txBody>
          <a:bodyPr anchorCtr="0" anchor="t" bIns="45700" lIns="182875" spcFirstLastPara="1" rIns="91425" wrap="square" tIns="91425">
            <a:normAutofit/>
          </a:bodyPr>
          <a:lstStyle>
            <a:lvl1pPr indent="-360680" lvl="0" marL="457200" algn="l">
              <a:spcBef>
                <a:spcPts val="250"/>
              </a:spcBef>
              <a:spcAft>
                <a:spcPts val="0"/>
              </a:spcAft>
              <a:buSzPts val="2080"/>
              <a:buChar char="⚫"/>
              <a:defRPr sz="2600"/>
            </a:lvl1pPr>
            <a:lvl2pPr indent="-368300" lvl="1" marL="914400" algn="l">
              <a:spcBef>
                <a:spcPts val="250"/>
              </a:spcBef>
              <a:spcAft>
                <a:spcPts val="0"/>
              </a:spcAft>
              <a:buSzPts val="2200"/>
              <a:buChar char="◦"/>
              <a:defRPr sz="2200"/>
            </a:lvl2pPr>
            <a:lvl3pPr indent="-355600" lvl="2" marL="1371600" algn="l">
              <a:spcBef>
                <a:spcPts val="250"/>
              </a:spcBef>
              <a:spcAft>
                <a:spcPts val="0"/>
              </a:spcAft>
              <a:buSzPts val="2000"/>
              <a:buChar char="●"/>
              <a:defRPr sz="2000"/>
            </a:lvl3pPr>
            <a:lvl4pPr indent="-356616" lvl="3" marL="1828800" algn="l">
              <a:spcBef>
                <a:spcPts val="230"/>
              </a:spcBef>
              <a:spcAft>
                <a:spcPts val="0"/>
              </a:spcAft>
              <a:buSzPts val="2016"/>
              <a:buChar char="◦"/>
              <a:defRPr sz="1800"/>
            </a:lvl4pPr>
            <a:lvl5pPr indent="-342900" lvl="4" marL="2286000" algn="l">
              <a:spcBef>
                <a:spcPts val="250"/>
              </a:spcBef>
              <a:spcAft>
                <a:spcPts val="0"/>
              </a:spcAft>
              <a:buSzPts val="1800"/>
              <a:buChar char="●"/>
              <a:defRPr sz="18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50" name="Google Shape;150;p222"/>
          <p:cNvSpPr txBox="1"/>
          <p:nvPr>
            <p:ph idx="2" type="body"/>
          </p:nvPr>
        </p:nvSpPr>
        <p:spPr>
          <a:xfrm>
            <a:off x="4755360" y="530352"/>
            <a:ext cx="3931920" cy="4389120"/>
          </a:xfrm>
          <a:prstGeom prst="rect">
            <a:avLst/>
          </a:prstGeom>
          <a:noFill/>
          <a:ln>
            <a:noFill/>
          </a:ln>
        </p:spPr>
        <p:txBody>
          <a:bodyPr anchorCtr="0" anchor="t" bIns="45700" lIns="182875" spcFirstLastPara="1" rIns="91425" wrap="square" tIns="91425">
            <a:normAutofit/>
          </a:bodyPr>
          <a:lstStyle>
            <a:lvl1pPr indent="-360680" lvl="0" marL="457200" algn="l">
              <a:spcBef>
                <a:spcPts val="250"/>
              </a:spcBef>
              <a:spcAft>
                <a:spcPts val="0"/>
              </a:spcAft>
              <a:buSzPts val="2080"/>
              <a:buChar char="⚫"/>
              <a:defRPr sz="2600"/>
            </a:lvl1pPr>
            <a:lvl2pPr indent="-368300" lvl="1" marL="914400" algn="l">
              <a:spcBef>
                <a:spcPts val="250"/>
              </a:spcBef>
              <a:spcAft>
                <a:spcPts val="0"/>
              </a:spcAft>
              <a:buSzPts val="2200"/>
              <a:buChar char="◦"/>
              <a:defRPr sz="2200"/>
            </a:lvl2pPr>
            <a:lvl3pPr indent="-355600" lvl="2" marL="1371600" algn="l">
              <a:spcBef>
                <a:spcPts val="250"/>
              </a:spcBef>
              <a:spcAft>
                <a:spcPts val="0"/>
              </a:spcAft>
              <a:buSzPts val="2000"/>
              <a:buChar char="●"/>
              <a:defRPr sz="2000"/>
            </a:lvl3pPr>
            <a:lvl4pPr indent="-356616" lvl="3" marL="1828800" algn="l">
              <a:spcBef>
                <a:spcPts val="230"/>
              </a:spcBef>
              <a:spcAft>
                <a:spcPts val="0"/>
              </a:spcAft>
              <a:buSzPts val="2016"/>
              <a:buChar char="◦"/>
              <a:defRPr sz="1800"/>
            </a:lvl4pPr>
            <a:lvl5pPr indent="-342900" lvl="4" marL="2286000" algn="l">
              <a:spcBef>
                <a:spcPts val="250"/>
              </a:spcBef>
              <a:spcAft>
                <a:spcPts val="0"/>
              </a:spcAft>
              <a:buSzPts val="1800"/>
              <a:buChar char="●"/>
              <a:defRPr sz="18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51" name="Google Shape;151;p222"/>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22"/>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22"/>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4" name="Shape 154"/>
        <p:cNvGrpSpPr/>
        <p:nvPr/>
      </p:nvGrpSpPr>
      <p:grpSpPr>
        <a:xfrm>
          <a:off x="0" y="0"/>
          <a:ext cx="0" cy="0"/>
          <a:chOff x="0" y="0"/>
          <a:chExt cx="0" cy="0"/>
        </a:xfrm>
      </p:grpSpPr>
      <p:sp>
        <p:nvSpPr>
          <p:cNvPr id="155" name="Google Shape;155;p223"/>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3600"/>
              <a:buFont typeface="Verdana"/>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223"/>
          <p:cNvSpPr txBox="1"/>
          <p:nvPr>
            <p:ph idx="1" type="body"/>
          </p:nvPr>
        </p:nvSpPr>
        <p:spPr>
          <a:xfrm>
            <a:off x="607224" y="579438"/>
            <a:ext cx="3931920" cy="792162"/>
          </a:xfrm>
          <a:prstGeom prst="rect">
            <a:avLst/>
          </a:prstGeom>
          <a:noFill/>
          <a:ln>
            <a:noFill/>
          </a:ln>
        </p:spPr>
        <p:txBody>
          <a:bodyPr anchorCtr="0" anchor="ctr" bIns="45700" lIns="146300" spcFirstLastPara="1" rIns="91425" wrap="square" tIns="91425">
            <a:normAutofit/>
          </a:bodyPr>
          <a:lstStyle>
            <a:lvl1pPr indent="-228600" lvl="0" marL="457200" algn="l">
              <a:spcBef>
                <a:spcPts val="250"/>
              </a:spcBef>
              <a:spcAft>
                <a:spcPts val="0"/>
              </a:spcAft>
              <a:buSzPts val="1920"/>
              <a:buNone/>
              <a:defRPr b="1" sz="2400">
                <a:solidFill>
                  <a:schemeClr val="dk1"/>
                </a:solidFill>
              </a:defRPr>
            </a:lvl1pPr>
            <a:lvl2pPr indent="-228600" lvl="1" marL="914400" algn="l">
              <a:spcBef>
                <a:spcPts val="250"/>
              </a:spcBef>
              <a:spcAft>
                <a:spcPts val="0"/>
              </a:spcAft>
              <a:buSzPts val="2000"/>
              <a:buNone/>
              <a:defRPr b="1" sz="2000"/>
            </a:lvl2pPr>
            <a:lvl3pPr indent="-228600" lvl="2" marL="1371600" algn="l">
              <a:spcBef>
                <a:spcPts val="250"/>
              </a:spcBef>
              <a:spcAft>
                <a:spcPts val="0"/>
              </a:spcAft>
              <a:buSzPts val="1800"/>
              <a:buNone/>
              <a:defRPr b="1" sz="1800"/>
            </a:lvl3pPr>
            <a:lvl4pPr indent="-228600" lvl="3" marL="1828800" algn="l">
              <a:spcBef>
                <a:spcPts val="230"/>
              </a:spcBef>
              <a:spcAft>
                <a:spcPts val="0"/>
              </a:spcAft>
              <a:buSzPts val="1792"/>
              <a:buNone/>
              <a:defRPr b="1" sz="1600"/>
            </a:lvl4pPr>
            <a:lvl5pPr indent="-228600" lvl="4" marL="2286000" algn="l">
              <a:spcBef>
                <a:spcPts val="250"/>
              </a:spcBef>
              <a:spcAft>
                <a:spcPts val="0"/>
              </a:spcAft>
              <a:buSzPts val="1600"/>
              <a:buNone/>
              <a:defRPr b="1"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57" name="Google Shape;157;p223"/>
          <p:cNvSpPr txBox="1"/>
          <p:nvPr>
            <p:ph idx="2" type="body"/>
          </p:nvPr>
        </p:nvSpPr>
        <p:spPr>
          <a:xfrm>
            <a:off x="4652169" y="579438"/>
            <a:ext cx="3931920" cy="792162"/>
          </a:xfrm>
          <a:prstGeom prst="rect">
            <a:avLst/>
          </a:prstGeom>
          <a:noFill/>
          <a:ln>
            <a:noFill/>
          </a:ln>
        </p:spPr>
        <p:txBody>
          <a:bodyPr anchorCtr="0" anchor="ctr" bIns="45700" lIns="137150" spcFirstLastPara="1" rIns="91425" wrap="square" tIns="91425">
            <a:normAutofit/>
          </a:bodyPr>
          <a:lstStyle>
            <a:lvl1pPr indent="-228600" lvl="0" marL="457200" algn="l">
              <a:spcBef>
                <a:spcPts val="250"/>
              </a:spcBef>
              <a:spcAft>
                <a:spcPts val="0"/>
              </a:spcAft>
              <a:buSzPts val="1920"/>
              <a:buNone/>
              <a:defRPr b="1" sz="2400">
                <a:solidFill>
                  <a:schemeClr val="dk1"/>
                </a:solidFill>
              </a:defRPr>
            </a:lvl1pPr>
            <a:lvl2pPr indent="-228600" lvl="1" marL="914400" algn="l">
              <a:spcBef>
                <a:spcPts val="250"/>
              </a:spcBef>
              <a:spcAft>
                <a:spcPts val="0"/>
              </a:spcAft>
              <a:buSzPts val="2000"/>
              <a:buNone/>
              <a:defRPr b="1" sz="2000"/>
            </a:lvl2pPr>
            <a:lvl3pPr indent="-228600" lvl="2" marL="1371600" algn="l">
              <a:spcBef>
                <a:spcPts val="250"/>
              </a:spcBef>
              <a:spcAft>
                <a:spcPts val="0"/>
              </a:spcAft>
              <a:buSzPts val="1800"/>
              <a:buNone/>
              <a:defRPr b="1" sz="1800"/>
            </a:lvl3pPr>
            <a:lvl4pPr indent="-228600" lvl="3" marL="1828800" algn="l">
              <a:spcBef>
                <a:spcPts val="230"/>
              </a:spcBef>
              <a:spcAft>
                <a:spcPts val="0"/>
              </a:spcAft>
              <a:buSzPts val="1792"/>
              <a:buNone/>
              <a:defRPr b="1" sz="1600"/>
            </a:lvl4pPr>
            <a:lvl5pPr indent="-228600" lvl="4" marL="2286000" algn="l">
              <a:spcBef>
                <a:spcPts val="250"/>
              </a:spcBef>
              <a:spcAft>
                <a:spcPts val="0"/>
              </a:spcAft>
              <a:buSzPts val="1600"/>
              <a:buNone/>
              <a:defRPr b="1"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58" name="Google Shape;158;p223"/>
          <p:cNvSpPr txBox="1"/>
          <p:nvPr>
            <p:ph idx="3" type="body"/>
          </p:nvPr>
        </p:nvSpPr>
        <p:spPr>
          <a:xfrm>
            <a:off x="607224" y="1447800"/>
            <a:ext cx="3931920" cy="3489960"/>
          </a:xfrm>
          <a:prstGeom prst="rect">
            <a:avLst/>
          </a:prstGeom>
          <a:noFill/>
          <a:ln>
            <a:noFill/>
          </a:ln>
        </p:spPr>
        <p:txBody>
          <a:bodyPr anchorCtr="0" anchor="t" bIns="45700" lIns="182875" spcFirstLastPara="1" rIns="91425" wrap="square" tIns="91425">
            <a:normAutofit/>
          </a:bodyPr>
          <a:lstStyle>
            <a:lvl1pPr indent="-350520" lvl="0" marL="457200" algn="l">
              <a:spcBef>
                <a:spcPts val="250"/>
              </a:spcBef>
              <a:spcAft>
                <a:spcPts val="0"/>
              </a:spcAft>
              <a:buSzPts val="1920"/>
              <a:buChar char="⚫"/>
              <a:defRPr sz="2400"/>
            </a:lvl1pPr>
            <a:lvl2pPr indent="-355600" lvl="1" marL="914400" algn="l">
              <a:spcBef>
                <a:spcPts val="250"/>
              </a:spcBef>
              <a:spcAft>
                <a:spcPts val="0"/>
              </a:spcAft>
              <a:buSzPts val="2000"/>
              <a:buChar char="◦"/>
              <a:defRPr sz="2000"/>
            </a:lvl2pPr>
            <a:lvl3pPr indent="-342900" lvl="2" marL="1371600" algn="l">
              <a:spcBef>
                <a:spcPts val="250"/>
              </a:spcBef>
              <a:spcAft>
                <a:spcPts val="0"/>
              </a:spcAft>
              <a:buSzPts val="1800"/>
              <a:buChar char="●"/>
              <a:defRPr sz="1800"/>
            </a:lvl3pPr>
            <a:lvl4pPr indent="-342392" lvl="3" marL="1828800" algn="l">
              <a:spcBef>
                <a:spcPts val="230"/>
              </a:spcBef>
              <a:spcAft>
                <a:spcPts val="0"/>
              </a:spcAft>
              <a:buSzPts val="1792"/>
              <a:buChar char="◦"/>
              <a:defRPr sz="1600"/>
            </a:lvl4pPr>
            <a:lvl5pPr indent="-330200" lvl="4" marL="2286000" algn="l">
              <a:spcBef>
                <a:spcPts val="250"/>
              </a:spcBef>
              <a:spcAft>
                <a:spcPts val="0"/>
              </a:spcAft>
              <a:buSzPts val="1600"/>
              <a:buChar char="●"/>
              <a:defRPr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59" name="Google Shape;159;p223"/>
          <p:cNvSpPr txBox="1"/>
          <p:nvPr>
            <p:ph idx="4" type="body"/>
          </p:nvPr>
        </p:nvSpPr>
        <p:spPr>
          <a:xfrm>
            <a:off x="4652169" y="1447800"/>
            <a:ext cx="3931920" cy="3489960"/>
          </a:xfrm>
          <a:prstGeom prst="rect">
            <a:avLst/>
          </a:prstGeom>
          <a:noFill/>
          <a:ln>
            <a:noFill/>
          </a:ln>
        </p:spPr>
        <p:txBody>
          <a:bodyPr anchorCtr="0" anchor="t" bIns="45700" lIns="182875" spcFirstLastPara="1" rIns="91425" wrap="square" tIns="91425">
            <a:normAutofit/>
          </a:bodyPr>
          <a:lstStyle>
            <a:lvl1pPr indent="-350520" lvl="0" marL="457200" algn="l">
              <a:spcBef>
                <a:spcPts val="250"/>
              </a:spcBef>
              <a:spcAft>
                <a:spcPts val="0"/>
              </a:spcAft>
              <a:buSzPts val="1920"/>
              <a:buChar char="⚫"/>
              <a:defRPr sz="2400"/>
            </a:lvl1pPr>
            <a:lvl2pPr indent="-355600" lvl="1" marL="914400" algn="l">
              <a:spcBef>
                <a:spcPts val="250"/>
              </a:spcBef>
              <a:spcAft>
                <a:spcPts val="0"/>
              </a:spcAft>
              <a:buSzPts val="2000"/>
              <a:buChar char="◦"/>
              <a:defRPr sz="2000"/>
            </a:lvl2pPr>
            <a:lvl3pPr indent="-342900" lvl="2" marL="1371600" algn="l">
              <a:spcBef>
                <a:spcPts val="250"/>
              </a:spcBef>
              <a:spcAft>
                <a:spcPts val="0"/>
              </a:spcAft>
              <a:buSzPts val="1800"/>
              <a:buChar char="●"/>
              <a:defRPr sz="1800"/>
            </a:lvl3pPr>
            <a:lvl4pPr indent="-342392" lvl="3" marL="1828800" algn="l">
              <a:spcBef>
                <a:spcPts val="230"/>
              </a:spcBef>
              <a:spcAft>
                <a:spcPts val="0"/>
              </a:spcAft>
              <a:buSzPts val="1792"/>
              <a:buChar char="◦"/>
              <a:defRPr sz="1600"/>
            </a:lvl4pPr>
            <a:lvl5pPr indent="-330200" lvl="4" marL="2286000" algn="l">
              <a:spcBef>
                <a:spcPts val="250"/>
              </a:spcBef>
              <a:spcAft>
                <a:spcPts val="0"/>
              </a:spcAft>
              <a:buSzPts val="1600"/>
              <a:buChar char="●"/>
              <a:defRPr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60" name="Google Shape;160;p223"/>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223"/>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223"/>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p224"/>
          <p:cNvSpPr txBox="1"/>
          <p:nvPr>
            <p:ph type="title"/>
          </p:nvPr>
        </p:nvSpPr>
        <p:spPr>
          <a:xfrm>
            <a:off x="502920" y="498559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224"/>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24"/>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224"/>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68" name="Shape 168"/>
        <p:cNvGrpSpPr/>
        <p:nvPr/>
      </p:nvGrpSpPr>
      <p:grpSpPr>
        <a:xfrm>
          <a:off x="0" y="0"/>
          <a:ext cx="0" cy="0"/>
          <a:chOff x="0" y="0"/>
          <a:chExt cx="0" cy="0"/>
        </a:xfrm>
      </p:grpSpPr>
      <p:sp>
        <p:nvSpPr>
          <p:cNvPr id="169" name="Google Shape;169;p225"/>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70" name="Google Shape;170;p225"/>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225"/>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225"/>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3" name="Shape 173"/>
        <p:cNvGrpSpPr/>
        <p:nvPr/>
      </p:nvGrpSpPr>
      <p:grpSpPr>
        <a:xfrm>
          <a:off x="0" y="0"/>
          <a:ext cx="0" cy="0"/>
          <a:chOff x="0" y="0"/>
          <a:chExt cx="0" cy="0"/>
        </a:xfrm>
      </p:grpSpPr>
      <p:sp>
        <p:nvSpPr>
          <p:cNvPr id="174" name="Google Shape;174;p226"/>
          <p:cNvSpPr txBox="1"/>
          <p:nvPr>
            <p:ph type="title"/>
          </p:nvPr>
        </p:nvSpPr>
        <p:spPr>
          <a:xfrm>
            <a:off x="5538784" y="533400"/>
            <a:ext cx="29718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200"/>
              <a:buFont typeface="Verdana"/>
              <a:buNone/>
              <a:defRPr b="1" sz="2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226"/>
          <p:cNvSpPr txBox="1"/>
          <p:nvPr>
            <p:ph idx="1" type="body"/>
          </p:nvPr>
        </p:nvSpPr>
        <p:spPr>
          <a:xfrm>
            <a:off x="5538847" y="1447802"/>
            <a:ext cx="2971800" cy="4206112"/>
          </a:xfrm>
          <a:prstGeom prst="rect">
            <a:avLst/>
          </a:prstGeom>
          <a:noFill/>
          <a:ln>
            <a:noFill/>
          </a:ln>
        </p:spPr>
        <p:txBody>
          <a:bodyPr anchorCtr="0" anchor="t" bIns="45700" lIns="91425" spcFirstLastPara="1" rIns="91425" wrap="square" tIns="91425">
            <a:normAutofit/>
          </a:bodyPr>
          <a:lstStyle>
            <a:lvl1pPr indent="-228600" lvl="0" marL="457200" marR="18288" algn="l">
              <a:spcBef>
                <a:spcPts val="0"/>
              </a:spcBef>
              <a:spcAft>
                <a:spcPts val="0"/>
              </a:spcAft>
              <a:buSzPts val="1120"/>
              <a:buNone/>
              <a:defRPr sz="1400">
                <a:solidFill>
                  <a:schemeClr val="dk1"/>
                </a:solidFill>
              </a:defRPr>
            </a:lvl1pPr>
            <a:lvl2pPr indent="-228600" lvl="1" marL="914400" algn="l">
              <a:spcBef>
                <a:spcPts val="250"/>
              </a:spcBef>
              <a:spcAft>
                <a:spcPts val="0"/>
              </a:spcAft>
              <a:buSzPts val="1200"/>
              <a:buNone/>
              <a:defRPr sz="1200">
                <a:solidFill>
                  <a:schemeClr val="dk1"/>
                </a:solidFill>
              </a:defRPr>
            </a:lvl2pPr>
            <a:lvl3pPr indent="-228600" lvl="2" marL="1371600" algn="l">
              <a:spcBef>
                <a:spcPts val="250"/>
              </a:spcBef>
              <a:spcAft>
                <a:spcPts val="0"/>
              </a:spcAft>
              <a:buSzPts val="1000"/>
              <a:buNone/>
              <a:defRPr sz="1000">
                <a:solidFill>
                  <a:schemeClr val="dk1"/>
                </a:solidFill>
              </a:defRPr>
            </a:lvl3pPr>
            <a:lvl4pPr indent="-228600" lvl="3" marL="1828800" algn="l">
              <a:spcBef>
                <a:spcPts val="230"/>
              </a:spcBef>
              <a:spcAft>
                <a:spcPts val="0"/>
              </a:spcAft>
              <a:buSzPts val="1008"/>
              <a:buNone/>
              <a:defRPr sz="900">
                <a:solidFill>
                  <a:schemeClr val="dk1"/>
                </a:solidFill>
              </a:defRPr>
            </a:lvl4pPr>
            <a:lvl5pPr indent="-228600" lvl="4" marL="2286000" algn="l">
              <a:spcBef>
                <a:spcPts val="250"/>
              </a:spcBef>
              <a:spcAft>
                <a:spcPts val="0"/>
              </a:spcAft>
              <a:buSzPts val="900"/>
              <a:buNone/>
              <a:defRPr sz="900">
                <a:solidFill>
                  <a:schemeClr val="dk1"/>
                </a:solidFill>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76" name="Google Shape;176;p226"/>
          <p:cNvSpPr txBox="1"/>
          <p:nvPr>
            <p:ph idx="2" type="body"/>
          </p:nvPr>
        </p:nvSpPr>
        <p:spPr>
          <a:xfrm>
            <a:off x="761372" y="930144"/>
            <a:ext cx="4626159" cy="4724402"/>
          </a:xfrm>
          <a:prstGeom prst="rect">
            <a:avLst/>
          </a:prstGeom>
          <a:noFill/>
          <a:ln>
            <a:noFill/>
          </a:ln>
        </p:spPr>
        <p:txBody>
          <a:bodyPr anchorCtr="0" anchor="t" bIns="45700" lIns="182875" spcFirstLastPara="1" rIns="91425" wrap="square" tIns="91425">
            <a:normAutofit/>
          </a:bodyPr>
          <a:lstStyle>
            <a:lvl1pPr indent="-370840" lvl="0" marL="457200" algn="l">
              <a:spcBef>
                <a:spcPts val="250"/>
              </a:spcBef>
              <a:spcAft>
                <a:spcPts val="0"/>
              </a:spcAft>
              <a:buSzPts val="2240"/>
              <a:buChar char="⚫"/>
              <a:defRPr sz="2800">
                <a:solidFill>
                  <a:schemeClr val="dk1"/>
                </a:solidFill>
              </a:defRPr>
            </a:lvl1pPr>
            <a:lvl2pPr indent="-393700" lvl="1" marL="914400" algn="l">
              <a:spcBef>
                <a:spcPts val="250"/>
              </a:spcBef>
              <a:spcAft>
                <a:spcPts val="0"/>
              </a:spcAft>
              <a:buSzPts val="2600"/>
              <a:buChar char="◦"/>
              <a:defRPr sz="2600">
                <a:solidFill>
                  <a:schemeClr val="dk1"/>
                </a:solidFill>
              </a:defRPr>
            </a:lvl2pPr>
            <a:lvl3pPr indent="-381000" lvl="2" marL="1371600" algn="l">
              <a:spcBef>
                <a:spcPts val="250"/>
              </a:spcBef>
              <a:spcAft>
                <a:spcPts val="0"/>
              </a:spcAft>
              <a:buSzPts val="2400"/>
              <a:buChar char="●"/>
              <a:defRPr sz="2400">
                <a:solidFill>
                  <a:schemeClr val="dk1"/>
                </a:solidFill>
              </a:defRPr>
            </a:lvl3pPr>
            <a:lvl4pPr indent="-370839" lvl="3" marL="1828800" algn="l">
              <a:spcBef>
                <a:spcPts val="230"/>
              </a:spcBef>
              <a:spcAft>
                <a:spcPts val="0"/>
              </a:spcAft>
              <a:buSzPts val="2240"/>
              <a:buChar char="◦"/>
              <a:defRPr sz="2000">
                <a:solidFill>
                  <a:schemeClr val="dk1"/>
                </a:solidFill>
              </a:defRPr>
            </a:lvl4pPr>
            <a:lvl5pPr indent="-355600" lvl="4" marL="2286000" algn="l">
              <a:spcBef>
                <a:spcPts val="250"/>
              </a:spcBef>
              <a:spcAft>
                <a:spcPts val="0"/>
              </a:spcAft>
              <a:buSzPts val="2000"/>
              <a:buChar char="●"/>
              <a:defRPr sz="2000">
                <a:solidFill>
                  <a:schemeClr val="dk1"/>
                </a:solidFill>
              </a:defRPr>
            </a:lvl5pPr>
            <a:lvl6pPr indent="-228600" lvl="5" marL="2743200" algn="l">
              <a:spcBef>
                <a:spcPts val="250"/>
              </a:spcBef>
              <a:spcAft>
                <a:spcPts val="0"/>
              </a:spcAft>
              <a:buSzPts val="1700"/>
              <a:buNone/>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77" name="Google Shape;177;p226"/>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26"/>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226"/>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80" name="Shape 180"/>
        <p:cNvGrpSpPr/>
        <p:nvPr/>
      </p:nvGrpSpPr>
      <p:grpSpPr>
        <a:xfrm>
          <a:off x="0" y="0"/>
          <a:ext cx="0" cy="0"/>
          <a:chOff x="0" y="0"/>
          <a:chExt cx="0" cy="0"/>
        </a:xfrm>
      </p:grpSpPr>
      <p:sp>
        <p:nvSpPr>
          <p:cNvPr id="181" name="Google Shape;181;p227"/>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2" name="Google Shape;182;p227"/>
          <p:cNvSpPr/>
          <p:nvPr/>
        </p:nvSpPr>
        <p:spPr>
          <a:xfrm>
            <a:off x="6400800" y="434162"/>
            <a:ext cx="2324605" cy="4343400"/>
          </a:xfrm>
          <a:prstGeom prst="round1Rect">
            <a:avLst>
              <a:gd fmla="val 2748" name="adj"/>
            </a:avLst>
          </a:prstGeom>
          <a:solidFill>
            <a:srgbClr val="1C1C1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83" name="Google Shape;183;p227"/>
          <p:cNvSpPr txBox="1"/>
          <p:nvPr>
            <p:ph type="title"/>
          </p:nvPr>
        </p:nvSpPr>
        <p:spPr>
          <a:xfrm>
            <a:off x="457200" y="5012056"/>
            <a:ext cx="8229600" cy="105156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78766F"/>
              </a:buClr>
              <a:buSzPts val="3600"/>
              <a:buFont typeface="Verdana"/>
              <a:buNone/>
              <a:defRPr b="0" sz="3600">
                <a:solidFill>
                  <a:srgbClr val="78766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227"/>
          <p:cNvSpPr txBox="1"/>
          <p:nvPr>
            <p:ph idx="1" type="body"/>
          </p:nvPr>
        </p:nvSpPr>
        <p:spPr>
          <a:xfrm>
            <a:off x="6462712" y="533400"/>
            <a:ext cx="2240280" cy="4211480"/>
          </a:xfrm>
          <a:prstGeom prst="rect">
            <a:avLst/>
          </a:prstGeom>
          <a:noFill/>
          <a:ln>
            <a:noFill/>
          </a:ln>
        </p:spPr>
        <p:txBody>
          <a:bodyPr anchorCtr="0" anchor="t" bIns="45700" lIns="91425" spcFirstLastPara="1" rIns="91425" wrap="square" tIns="91425">
            <a:normAutofit/>
          </a:bodyPr>
          <a:lstStyle>
            <a:lvl1pPr indent="-228600" lvl="0" marL="457200" algn="l">
              <a:spcBef>
                <a:spcPts val="0"/>
              </a:spcBef>
              <a:spcAft>
                <a:spcPts val="0"/>
              </a:spcAft>
              <a:buSzPts val="1120"/>
              <a:buNone/>
              <a:defRPr sz="1400">
                <a:solidFill>
                  <a:srgbClr val="FFFFFF"/>
                </a:solidFill>
              </a:defRPr>
            </a:lvl1pPr>
            <a:lvl2pPr indent="-304800" lvl="1" marL="914400" algn="l">
              <a:spcBef>
                <a:spcPts val="250"/>
              </a:spcBef>
              <a:spcAft>
                <a:spcPts val="0"/>
              </a:spcAft>
              <a:buSzPts val="1200"/>
              <a:buChar char="◦"/>
              <a:defRPr sz="1200">
                <a:solidFill>
                  <a:srgbClr val="FFFFFF"/>
                </a:solidFill>
              </a:defRPr>
            </a:lvl2pPr>
            <a:lvl3pPr indent="-292100" lvl="2" marL="1371600" algn="l">
              <a:spcBef>
                <a:spcPts val="250"/>
              </a:spcBef>
              <a:spcAft>
                <a:spcPts val="0"/>
              </a:spcAft>
              <a:buSzPts val="1000"/>
              <a:buChar char="●"/>
              <a:defRPr sz="1000">
                <a:solidFill>
                  <a:srgbClr val="FFFFFF"/>
                </a:solidFill>
              </a:defRPr>
            </a:lvl3pPr>
            <a:lvl4pPr indent="-292608" lvl="3" marL="1828800" algn="l">
              <a:spcBef>
                <a:spcPts val="230"/>
              </a:spcBef>
              <a:spcAft>
                <a:spcPts val="0"/>
              </a:spcAft>
              <a:buSzPts val="1008"/>
              <a:buChar char="◦"/>
              <a:defRPr sz="900">
                <a:solidFill>
                  <a:srgbClr val="FFFFFF"/>
                </a:solidFill>
              </a:defRPr>
            </a:lvl4pPr>
            <a:lvl5pPr indent="-285750" lvl="4" marL="2286000" algn="l">
              <a:spcBef>
                <a:spcPts val="250"/>
              </a:spcBef>
              <a:spcAft>
                <a:spcPts val="0"/>
              </a:spcAft>
              <a:buSzPts val="900"/>
              <a:buChar char="●"/>
              <a:defRPr sz="900">
                <a:solidFill>
                  <a:srgbClr val="FFFFFF"/>
                </a:solidFill>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85" name="Google Shape;185;p227"/>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27"/>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27"/>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8" name="Google Shape;188;p227"/>
          <p:cNvSpPr/>
          <p:nvPr>
            <p:ph idx="2" type="pic"/>
          </p:nvPr>
        </p:nvSpPr>
        <p:spPr>
          <a:xfrm>
            <a:off x="421480" y="435768"/>
            <a:ext cx="5925312" cy="4343400"/>
          </a:xfrm>
          <a:prstGeom prst="snipRoundRect">
            <a:avLst>
              <a:gd fmla="val 1040" name="adj1"/>
              <a:gd fmla="val 0" name="adj2"/>
            </a:avLst>
          </a:prstGeom>
          <a:solidFill>
            <a:srgbClr val="4F4D49"/>
          </a:solidFill>
          <a:ln>
            <a:noFill/>
          </a:ln>
        </p:spPr>
        <p:txBody>
          <a:bodyPr anchorCtr="0" anchor="t" bIns="45700" lIns="182875" spcFirstLastPara="1" rIns="91425" wrap="square" tIns="91425">
            <a:normAutofit/>
          </a:bodyPr>
          <a:lstStyle>
            <a:lvl1pPr lvl="0" marR="0" rtl="0" algn="l">
              <a:spcBef>
                <a:spcPts val="250"/>
              </a:spcBef>
              <a:spcAft>
                <a:spcPts val="0"/>
              </a:spcAft>
              <a:buClr>
                <a:schemeClr val="accent1"/>
              </a:buClr>
              <a:buSzPts val="2560"/>
              <a:buFont typeface="Noto Sans Symbols"/>
              <a:buNone/>
              <a:defRPr b="0" i="0" sz="3200" u="none" cap="none" strike="noStrike">
                <a:solidFill>
                  <a:schemeClr val="dk1"/>
                </a:solidFill>
                <a:latin typeface="Verdana"/>
                <a:ea typeface="Verdana"/>
                <a:cs typeface="Verdana"/>
                <a:sym typeface="Verdana"/>
              </a:defRPr>
            </a:lvl1pPr>
            <a:lvl2pPr lvl="1" marR="0" rtl="0" algn="l">
              <a:spcBef>
                <a:spcPts val="250"/>
              </a:spcBef>
              <a:spcAft>
                <a:spcPts val="0"/>
              </a:spcAft>
              <a:buClr>
                <a:schemeClr val="accent1"/>
              </a:buClr>
              <a:buSzPts val="2400"/>
              <a:buFont typeface="Verdana"/>
              <a:buChar char="◦"/>
              <a:defRPr b="0" i="0" sz="2400" u="none" cap="none" strike="noStrike">
                <a:solidFill>
                  <a:schemeClr val="dk1"/>
                </a:solidFill>
                <a:latin typeface="Verdana"/>
                <a:ea typeface="Verdana"/>
                <a:cs typeface="Verdana"/>
                <a:sym typeface="Verdana"/>
              </a:defRPr>
            </a:lvl2pPr>
            <a:lvl3pPr lvl="2" marR="0" rtl="0" algn="l">
              <a:spcBef>
                <a:spcPts val="250"/>
              </a:spcBef>
              <a:spcAft>
                <a:spcPts val="0"/>
              </a:spcAft>
              <a:buClr>
                <a:srgbClr val="EF323E"/>
              </a:buClr>
              <a:buSzPts val="2200"/>
              <a:buFont typeface="Noto Sans Symbols"/>
              <a:buChar char="●"/>
              <a:defRPr b="0" i="0" sz="2200" u="none" cap="none" strike="noStrike">
                <a:solidFill>
                  <a:schemeClr val="dk1"/>
                </a:solidFill>
                <a:latin typeface="Verdana"/>
                <a:ea typeface="Verdana"/>
                <a:cs typeface="Verdana"/>
                <a:sym typeface="Verdana"/>
              </a:defRPr>
            </a:lvl3pPr>
            <a:lvl4pPr lvl="3" marR="0" rtl="0" algn="l">
              <a:spcBef>
                <a:spcPts val="230"/>
              </a:spcBef>
              <a:spcAft>
                <a:spcPts val="0"/>
              </a:spcAft>
              <a:buClr>
                <a:srgbClr val="EF323E"/>
              </a:buClr>
              <a:buSzPts val="2128"/>
              <a:buFont typeface="Verdana"/>
              <a:buChar char="◦"/>
              <a:defRPr b="0" i="0" sz="1900" u="none" cap="none" strike="noStrike">
                <a:solidFill>
                  <a:schemeClr val="dk1"/>
                </a:solidFill>
                <a:latin typeface="Verdana"/>
                <a:ea typeface="Verdana"/>
                <a:cs typeface="Verdana"/>
                <a:sym typeface="Verdana"/>
              </a:defRPr>
            </a:lvl4pPr>
            <a:lvl5pPr lvl="4" marR="0" rtl="0" algn="l">
              <a:spcBef>
                <a:spcPts val="250"/>
              </a:spcBef>
              <a:spcAft>
                <a:spcPts val="0"/>
              </a:spcAft>
              <a:buClr>
                <a:srgbClr val="4882BE"/>
              </a:buClr>
              <a:buSzPts val="1800"/>
              <a:buFont typeface="Noto Sans Symbols"/>
              <a:buChar char="●"/>
              <a:defRPr b="0" i="0" sz="1800" u="none" cap="none" strike="noStrike">
                <a:solidFill>
                  <a:schemeClr val="dk1"/>
                </a:solidFill>
                <a:latin typeface="Verdana"/>
                <a:ea typeface="Verdana"/>
                <a:cs typeface="Verdana"/>
                <a:sym typeface="Verdana"/>
              </a:defRPr>
            </a:lvl5pPr>
            <a:lvl6pPr lvl="5" marR="0" rtl="0" algn="l">
              <a:spcBef>
                <a:spcPts val="250"/>
              </a:spcBef>
              <a:spcAft>
                <a:spcPts val="0"/>
              </a:spcAft>
              <a:buClr>
                <a:srgbClr val="4882BE"/>
              </a:buClr>
              <a:buSzPts val="1700"/>
              <a:buFont typeface="Verdana"/>
              <a:buChar char="◦"/>
              <a:defRPr b="0" i="0" sz="1700" u="none" cap="none" strike="noStrike">
                <a:solidFill>
                  <a:schemeClr val="dk1"/>
                </a:solidFill>
                <a:latin typeface="Verdana"/>
                <a:ea typeface="Verdana"/>
                <a:cs typeface="Verdana"/>
                <a:sym typeface="Verdana"/>
              </a:defRPr>
            </a:lvl6pPr>
            <a:lvl7pPr lvl="6"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7pPr>
            <a:lvl8pPr lvl="7" marR="0" rtl="0" algn="l">
              <a:spcBef>
                <a:spcPts val="257"/>
              </a:spcBef>
              <a:spcAft>
                <a:spcPts val="0"/>
              </a:spcAft>
              <a:buClr>
                <a:srgbClr val="4882BE"/>
              </a:buClr>
              <a:buSzPts val="1500"/>
              <a:buFont typeface="Verdana"/>
              <a:buChar char="◦"/>
              <a:defRPr b="0" i="0" sz="1500" u="none" cap="none" strike="noStrike">
                <a:solidFill>
                  <a:schemeClr val="dk1"/>
                </a:solidFill>
                <a:latin typeface="Verdana"/>
                <a:ea typeface="Verdana"/>
                <a:cs typeface="Verdana"/>
                <a:sym typeface="Verdana"/>
              </a:defRPr>
            </a:lvl8pPr>
            <a:lvl9pPr lvl="8"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9" name="Shape 189"/>
        <p:cNvGrpSpPr/>
        <p:nvPr/>
      </p:nvGrpSpPr>
      <p:grpSpPr>
        <a:xfrm>
          <a:off x="0" y="0"/>
          <a:ext cx="0" cy="0"/>
          <a:chOff x="0" y="0"/>
          <a:chExt cx="0" cy="0"/>
        </a:xfrm>
      </p:grpSpPr>
      <p:sp>
        <p:nvSpPr>
          <p:cNvPr id="190" name="Google Shape;190;p228"/>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228"/>
          <p:cNvSpPr txBox="1"/>
          <p:nvPr>
            <p:ph idx="1" type="body"/>
          </p:nvPr>
        </p:nvSpPr>
        <p:spPr>
          <a:xfrm rot="5400000">
            <a:off x="2500884" y="-1467612"/>
            <a:ext cx="4187952" cy="8183880"/>
          </a:xfrm>
          <a:prstGeom prst="rect">
            <a:avLst/>
          </a:prstGeom>
          <a:noFill/>
          <a:ln>
            <a:noFill/>
          </a:ln>
        </p:spPr>
        <p:txBody>
          <a:bodyPr anchorCtr="0" anchor="t" bIns="45700" lIns="182875" spcFirstLastPara="1" rIns="91425" wrap="square" tIns="91425">
            <a:norm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30"/>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92" name="Google Shape;192;p228"/>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228"/>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228"/>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5" name="Shape 195"/>
        <p:cNvGrpSpPr/>
        <p:nvPr/>
      </p:nvGrpSpPr>
      <p:grpSpPr>
        <a:xfrm>
          <a:off x="0" y="0"/>
          <a:ext cx="0" cy="0"/>
          <a:chOff x="0" y="0"/>
          <a:chExt cx="0" cy="0"/>
        </a:xfrm>
      </p:grpSpPr>
      <p:sp>
        <p:nvSpPr>
          <p:cNvPr id="196" name="Google Shape;196;p229"/>
          <p:cNvSpPr txBox="1"/>
          <p:nvPr>
            <p:ph type="title"/>
          </p:nvPr>
        </p:nvSpPr>
        <p:spPr>
          <a:xfrm rot="5400000">
            <a:off x="4991100" y="2171704"/>
            <a:ext cx="5257799" cy="1981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8C3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229"/>
          <p:cNvSpPr txBox="1"/>
          <p:nvPr>
            <p:ph idx="1" type="body"/>
          </p:nvPr>
        </p:nvSpPr>
        <p:spPr>
          <a:xfrm rot="5400000">
            <a:off x="876300" y="190503"/>
            <a:ext cx="5257801" cy="5943600"/>
          </a:xfrm>
          <a:prstGeom prst="rect">
            <a:avLst/>
          </a:prstGeom>
          <a:noFill/>
          <a:ln>
            <a:noFill/>
          </a:ln>
        </p:spPr>
        <p:txBody>
          <a:bodyPr anchorCtr="0" anchor="t" bIns="45700" lIns="182875" spcFirstLastPara="1" rIns="91425" wrap="square" tIns="91425">
            <a:norm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30"/>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198" name="Google Shape;198;p229"/>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229"/>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229"/>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2" name="Shape 212"/>
        <p:cNvGrpSpPr/>
        <p:nvPr/>
      </p:nvGrpSpPr>
      <p:grpSpPr>
        <a:xfrm>
          <a:off x="0" y="0"/>
          <a:ext cx="0" cy="0"/>
          <a:chOff x="0" y="0"/>
          <a:chExt cx="0" cy="0"/>
        </a:xfrm>
      </p:grpSpPr>
      <p:sp>
        <p:nvSpPr>
          <p:cNvPr id="213" name="Google Shape;213;p212"/>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12"/>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15" name="Google Shape;215;p21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21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21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8" name="Shape 218"/>
        <p:cNvGrpSpPr/>
        <p:nvPr/>
      </p:nvGrpSpPr>
      <p:grpSpPr>
        <a:xfrm>
          <a:off x="0" y="0"/>
          <a:ext cx="0" cy="0"/>
          <a:chOff x="0" y="0"/>
          <a:chExt cx="0" cy="0"/>
        </a:xfrm>
      </p:grpSpPr>
      <p:sp>
        <p:nvSpPr>
          <p:cNvPr id="219" name="Google Shape;219;p265"/>
          <p:cNvSpPr txBox="1"/>
          <p:nvPr>
            <p:ph type="ctrTitle"/>
          </p:nvPr>
        </p:nvSpPr>
        <p:spPr>
          <a:xfrm>
            <a:off x="1432560" y="359898"/>
            <a:ext cx="7406640" cy="147218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62214"/>
              </a:buClr>
              <a:buSzPts val="43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265"/>
          <p:cNvSpPr txBox="1"/>
          <p:nvPr>
            <p:ph idx="1" type="subTitle"/>
          </p:nvPr>
        </p:nvSpPr>
        <p:spPr>
          <a:xfrm>
            <a:off x="1432560" y="1850064"/>
            <a:ext cx="7406640" cy="1752600"/>
          </a:xfrm>
          <a:prstGeom prst="rect">
            <a:avLst/>
          </a:prstGeom>
          <a:noFill/>
          <a:ln>
            <a:noFill/>
          </a:ln>
        </p:spPr>
        <p:txBody>
          <a:bodyPr anchorCtr="0" anchor="t" bIns="45700" lIns="91425" spcFirstLastPara="1" rIns="91425" wrap="square" tIns="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221" name="Google Shape;221;p265"/>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265"/>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265"/>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24" name="Google Shape;224;p265"/>
          <p:cNvSpPr/>
          <p:nvPr/>
        </p:nvSpPr>
        <p:spPr>
          <a:xfrm>
            <a:off x="921433" y="1413802"/>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265"/>
          <p:cNvSpPr/>
          <p:nvPr/>
        </p:nvSpPr>
        <p:spPr>
          <a:xfrm>
            <a:off x="1157176" y="1345016"/>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26" name="Shape 226"/>
        <p:cNvGrpSpPr/>
        <p:nvPr/>
      </p:nvGrpSpPr>
      <p:grpSpPr>
        <a:xfrm>
          <a:off x="0" y="0"/>
          <a:ext cx="0" cy="0"/>
          <a:chOff x="0" y="0"/>
          <a:chExt cx="0" cy="0"/>
        </a:xfrm>
      </p:grpSpPr>
      <p:sp>
        <p:nvSpPr>
          <p:cNvPr id="227" name="Google Shape;227;p266"/>
          <p:cNvSpPr/>
          <p:nvPr/>
        </p:nvSpPr>
        <p:spPr>
          <a:xfrm>
            <a:off x="2282890" y="-54"/>
            <a:ext cx="6858000"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 name="Google Shape;228;p266"/>
          <p:cNvSpPr txBox="1"/>
          <p:nvPr>
            <p:ph type="title"/>
          </p:nvPr>
        </p:nvSpPr>
        <p:spPr>
          <a:xfrm>
            <a:off x="2578392" y="2600325"/>
            <a:ext cx="6400800" cy="2286000"/>
          </a:xfrm>
          <a:prstGeom prst="rect">
            <a:avLst/>
          </a:prstGeom>
          <a:noFill/>
          <a:ln>
            <a:noFill/>
          </a:ln>
        </p:spPr>
        <p:txBody>
          <a:bodyPr anchorCtr="0" anchor="t" bIns="45700" lIns="91425" spcFirstLastPara="1" rIns="91425" wrap="square" tIns="45700">
            <a:normAutofit/>
          </a:bodyPr>
          <a:lstStyle>
            <a:lvl1pPr lvl="0" algn="l">
              <a:lnSpc>
                <a:spcPct val="112500"/>
              </a:lnSpc>
              <a:spcBef>
                <a:spcPts val="0"/>
              </a:spcBef>
              <a:spcAft>
                <a:spcPts val="0"/>
              </a:spcAft>
              <a:buClr>
                <a:srgbClr val="562214"/>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266"/>
          <p:cNvSpPr txBox="1"/>
          <p:nvPr>
            <p:ph idx="1" type="body"/>
          </p:nvPr>
        </p:nvSpPr>
        <p:spPr>
          <a:xfrm>
            <a:off x="2578392" y="1066800"/>
            <a:ext cx="6400800" cy="1509712"/>
          </a:xfrm>
          <a:prstGeom prst="rect">
            <a:avLst/>
          </a:prstGeom>
          <a:noFill/>
          <a:ln>
            <a:noFill/>
          </a:ln>
        </p:spPr>
        <p:txBody>
          <a:bodyPr anchorCtr="0" anchor="b" bIns="45700" lIns="91425" spcFirstLastPara="1" rIns="91425" wrap="square" tIns="45700">
            <a:normAutofit/>
          </a:bodyPr>
          <a:lstStyle>
            <a:lvl1pPr indent="-228600" lvl="0" marL="457200" algn="l">
              <a:lnSpc>
                <a:spcPct val="115000"/>
              </a:lnSpc>
              <a:spcBef>
                <a:spcPts val="0"/>
              </a:spcBef>
              <a:spcAft>
                <a:spcPts val="0"/>
              </a:spcAft>
              <a:buSzPts val="1600"/>
              <a:buNone/>
              <a:defRPr sz="2000">
                <a:solidFill>
                  <a:srgbClr val="341108"/>
                </a:solidFill>
              </a:defRPr>
            </a:lvl1pPr>
            <a:lvl2pPr indent="-228600" lvl="1" marL="914400" algn="l">
              <a:lnSpc>
                <a:spcPct val="100000"/>
              </a:lnSpc>
              <a:spcBef>
                <a:spcPts val="550"/>
              </a:spcBef>
              <a:spcAft>
                <a:spcPts val="0"/>
              </a:spcAft>
              <a:buSzPts val="1800"/>
              <a:buNone/>
              <a:defRPr sz="1800">
                <a:solidFill>
                  <a:srgbClr val="888888"/>
                </a:solidFill>
              </a:defRPr>
            </a:lvl2pPr>
            <a:lvl3pPr indent="-228600" lvl="2" marL="1371600" algn="l">
              <a:lnSpc>
                <a:spcPct val="100000"/>
              </a:lnSpc>
              <a:spcBef>
                <a:spcPts val="320"/>
              </a:spcBef>
              <a:spcAft>
                <a:spcPts val="0"/>
              </a:spcAft>
              <a:buSzPts val="1600"/>
              <a:buNone/>
              <a:defRPr sz="1600">
                <a:solidFill>
                  <a:srgbClr val="888888"/>
                </a:solidFill>
              </a:defRPr>
            </a:lvl3pPr>
            <a:lvl4pPr indent="-228600" lvl="3" marL="1828800" algn="l">
              <a:lnSpc>
                <a:spcPct val="100000"/>
              </a:lnSpc>
              <a:spcBef>
                <a:spcPts val="280"/>
              </a:spcBef>
              <a:spcAft>
                <a:spcPts val="0"/>
              </a:spcAft>
              <a:buSzPts val="1400"/>
              <a:buNone/>
              <a:defRPr sz="1400">
                <a:solidFill>
                  <a:srgbClr val="888888"/>
                </a:solidFill>
              </a:defRPr>
            </a:lvl4pPr>
            <a:lvl5pPr indent="-228600" lvl="4" marL="2286000" algn="l">
              <a:lnSpc>
                <a:spcPct val="100000"/>
              </a:lnSpc>
              <a:spcBef>
                <a:spcPts val="280"/>
              </a:spcBef>
              <a:spcAft>
                <a:spcPts val="0"/>
              </a:spcAft>
              <a:buSzPts val="1400"/>
              <a:buNone/>
              <a:defRPr sz="1400">
                <a:solidFill>
                  <a:srgbClr val="888888"/>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30" name="Google Shape;230;p266"/>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266"/>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266"/>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33" name="Google Shape;233;p266"/>
          <p:cNvSpPr/>
          <p:nvPr/>
        </p:nvSpPr>
        <p:spPr>
          <a:xfrm>
            <a:off x="2286000" y="0"/>
            <a:ext cx="76200"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266"/>
          <p:cNvSpPr/>
          <p:nvPr/>
        </p:nvSpPr>
        <p:spPr>
          <a:xfrm>
            <a:off x="2172321" y="2814656"/>
            <a:ext cx="210312" cy="210312"/>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b="100%" r="100%"/>
            </a:path>
            <a:tileRect l="-100%" t="-100%"/>
          </a:gradFill>
          <a:ln cap="rnd" cmpd="sng" w="9525">
            <a:solidFill>
              <a:srgbClr val="2F8DA4">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5" name="Google Shape;235;p266"/>
          <p:cNvSpPr/>
          <p:nvPr/>
        </p:nvSpPr>
        <p:spPr>
          <a:xfrm>
            <a:off x="2408064" y="2745870"/>
            <a:ext cx="64008" cy="64008"/>
          </a:xfrm>
          <a:prstGeom prst="ellipse">
            <a:avLst/>
          </a:prstGeom>
          <a:noFill/>
          <a:ln cap="rnd" cmpd="sng" w="12700">
            <a:solidFill>
              <a:srgbClr val="317F92">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6" name="Shape 236"/>
        <p:cNvGrpSpPr/>
        <p:nvPr/>
      </p:nvGrpSpPr>
      <p:grpSpPr>
        <a:xfrm>
          <a:off x="0" y="0"/>
          <a:ext cx="0" cy="0"/>
          <a:chOff x="0" y="0"/>
          <a:chExt cx="0" cy="0"/>
        </a:xfrm>
      </p:grpSpPr>
      <p:sp>
        <p:nvSpPr>
          <p:cNvPr id="237" name="Google Shape;237;p267"/>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267"/>
          <p:cNvSpPr txBox="1"/>
          <p:nvPr>
            <p:ph idx="1" type="body"/>
          </p:nvPr>
        </p:nvSpPr>
        <p:spPr>
          <a:xfrm>
            <a:off x="143560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39" name="Google Shape;239;p267"/>
          <p:cNvSpPr txBox="1"/>
          <p:nvPr>
            <p:ph idx="2" type="body"/>
          </p:nvPr>
        </p:nvSpPr>
        <p:spPr>
          <a:xfrm>
            <a:off x="5276088" y="1524000"/>
            <a:ext cx="3657600" cy="4663440"/>
          </a:xfrm>
          <a:prstGeom prst="rect">
            <a:avLst/>
          </a:prstGeom>
          <a:noFill/>
          <a:ln>
            <a:noFill/>
          </a:ln>
        </p:spPr>
        <p:txBody>
          <a:bodyPr anchorCtr="0" anchor="t" bIns="45700" lIns="91425" spcFirstLastPara="1" rIns="91425" wrap="square" tIns="45700">
            <a:normAutofit/>
          </a:bodyPr>
          <a:lstStyle>
            <a:lvl1pPr indent="-370840" lvl="0" marL="457200" algn="l">
              <a:lnSpc>
                <a:spcPct val="100000"/>
              </a:lnSpc>
              <a:spcBef>
                <a:spcPts val="600"/>
              </a:spcBef>
              <a:spcAft>
                <a:spcPts val="0"/>
              </a:spcAft>
              <a:buSzPts val="2240"/>
              <a:buChar char="⚫"/>
              <a:defRPr sz="2800"/>
            </a:lvl1pPr>
            <a:lvl2pPr indent="-381000" lvl="1" marL="914400" algn="l">
              <a:lnSpc>
                <a:spcPct val="100000"/>
              </a:lnSpc>
              <a:spcBef>
                <a:spcPts val="550"/>
              </a:spcBef>
              <a:spcAft>
                <a:spcPts val="0"/>
              </a:spcAft>
              <a:buSzPts val="2400"/>
              <a:buChar char="◦"/>
              <a:defRPr sz="2400"/>
            </a:lvl2pPr>
            <a:lvl3pPr indent="-355600" lvl="2" marL="1371600" algn="l">
              <a:lnSpc>
                <a:spcPct val="100000"/>
              </a:lnSpc>
              <a:spcBef>
                <a:spcPts val="400"/>
              </a:spcBef>
              <a:spcAft>
                <a:spcPts val="0"/>
              </a:spcAft>
              <a:buSzPts val="2000"/>
              <a:buChar char="●"/>
              <a:defRPr sz="2000"/>
            </a:lvl3pPr>
            <a:lvl4pPr indent="-342900" lvl="3" marL="1828800" algn="l">
              <a:lnSpc>
                <a:spcPct val="100000"/>
              </a:lnSpc>
              <a:spcBef>
                <a:spcPts val="360"/>
              </a:spcBef>
              <a:spcAft>
                <a:spcPts val="0"/>
              </a:spcAft>
              <a:buSzPts val="1800"/>
              <a:buChar char="●"/>
              <a:defRPr sz="1800"/>
            </a:lvl4pPr>
            <a:lvl5pPr indent="-342900" lvl="4" marL="2286000" algn="l">
              <a:lnSpc>
                <a:spcPct val="100000"/>
              </a:lnSpc>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40" name="Google Shape;240;p267"/>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267"/>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267"/>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243" name="Shape 243"/>
        <p:cNvGrpSpPr/>
        <p:nvPr/>
      </p:nvGrpSpPr>
      <p:grpSpPr>
        <a:xfrm>
          <a:off x="0" y="0"/>
          <a:ext cx="0" cy="0"/>
          <a:chOff x="0" y="0"/>
          <a:chExt cx="0" cy="0"/>
        </a:xfrm>
      </p:grpSpPr>
      <p:sp>
        <p:nvSpPr>
          <p:cNvPr id="244" name="Google Shape;244;p268"/>
          <p:cNvSpPr txBox="1"/>
          <p:nvPr>
            <p:ph type="title"/>
          </p:nvPr>
        </p:nvSpPr>
        <p:spPr>
          <a:xfrm>
            <a:off x="457200" y="5160336"/>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62214"/>
              </a:buClr>
              <a:buSzPts val="4500"/>
              <a:buFont typeface="Arial"/>
              <a:buNone/>
              <a:defRPr b="1" sz="45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268"/>
          <p:cNvSpPr txBox="1"/>
          <p:nvPr>
            <p:ph idx="1" type="body"/>
          </p:nvPr>
        </p:nvSpPr>
        <p:spPr>
          <a:xfrm>
            <a:off x="45720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46" name="Google Shape;246;p268"/>
          <p:cNvSpPr txBox="1"/>
          <p:nvPr>
            <p:ph idx="2" type="body"/>
          </p:nvPr>
        </p:nvSpPr>
        <p:spPr>
          <a:xfrm>
            <a:off x="4663440" y="328278"/>
            <a:ext cx="4023360" cy="640080"/>
          </a:xfrm>
          <a:prstGeom prst="rect">
            <a:avLst/>
          </a:prstGeom>
          <a:solidFill>
            <a:schemeClr val="lt1"/>
          </a:solidFill>
          <a:ln cap="flat" cmpd="sng" w="10775">
            <a:solidFill>
              <a:schemeClr val="lt1"/>
            </a:solidFill>
            <a:prstDash val="solid"/>
            <a:miter lim="800000"/>
            <a:headEnd len="sm" w="sm" type="none"/>
            <a:tailEnd len="sm" w="sm" type="none"/>
          </a:ln>
        </p:spPr>
        <p:txBody>
          <a:bodyPr anchorCtr="0" anchor="ctr" bIns="45700" lIns="91425" spcFirstLastPara="1" rIns="91425" wrap="square" tIns="45700">
            <a:normAutofit/>
          </a:bodyPr>
          <a:lstStyle>
            <a:lvl1pPr indent="-228600" lvl="0" marL="457200" algn="l">
              <a:lnSpc>
                <a:spcPct val="100000"/>
              </a:lnSpc>
              <a:spcBef>
                <a:spcPts val="100"/>
              </a:spcBef>
              <a:spcAft>
                <a:spcPts val="0"/>
              </a:spcAft>
              <a:buSzPts val="1520"/>
              <a:buNone/>
              <a:defRPr b="0" sz="1900">
                <a:solidFill>
                  <a:schemeClr val="dk1"/>
                </a:solidFill>
              </a:defRPr>
            </a:lvl1pPr>
            <a:lvl2pPr indent="-228600" lvl="1" marL="914400" algn="l">
              <a:lnSpc>
                <a:spcPct val="100000"/>
              </a:lnSpc>
              <a:spcBef>
                <a:spcPts val="550"/>
              </a:spcBef>
              <a:spcAft>
                <a:spcPts val="0"/>
              </a:spcAft>
              <a:buSzPts val="2000"/>
              <a:buNone/>
              <a:defRPr b="1" sz="2000"/>
            </a:lvl2pPr>
            <a:lvl3pPr indent="-228600" lvl="2" marL="1371600" algn="l">
              <a:lnSpc>
                <a:spcPct val="100000"/>
              </a:lnSpc>
              <a:spcBef>
                <a:spcPts val="360"/>
              </a:spcBef>
              <a:spcAft>
                <a:spcPts val="0"/>
              </a:spcAft>
              <a:buSzPts val="1800"/>
              <a:buNone/>
              <a:defRPr b="1" sz="1800"/>
            </a:lvl3pPr>
            <a:lvl4pPr indent="-228600" lvl="3" marL="1828800" algn="l">
              <a:lnSpc>
                <a:spcPct val="100000"/>
              </a:lnSpc>
              <a:spcBef>
                <a:spcPts val="320"/>
              </a:spcBef>
              <a:spcAft>
                <a:spcPts val="0"/>
              </a:spcAft>
              <a:buSzPts val="1600"/>
              <a:buNone/>
              <a:defRPr b="1" sz="1600"/>
            </a:lvl4pPr>
            <a:lvl5pPr indent="-228600" lvl="4" marL="2286000" algn="l">
              <a:lnSpc>
                <a:spcPct val="100000"/>
              </a:lnSpc>
              <a:spcBef>
                <a:spcPts val="320"/>
              </a:spcBef>
              <a:spcAft>
                <a:spcPts val="0"/>
              </a:spcAft>
              <a:buSzPts val="1600"/>
              <a:buNone/>
              <a:defRPr b="1"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47" name="Google Shape;247;p268"/>
          <p:cNvSpPr txBox="1"/>
          <p:nvPr>
            <p:ph idx="3" type="body"/>
          </p:nvPr>
        </p:nvSpPr>
        <p:spPr>
          <a:xfrm>
            <a:off x="45720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48" name="Google Shape;248;p268"/>
          <p:cNvSpPr txBox="1"/>
          <p:nvPr>
            <p:ph idx="4" type="body"/>
          </p:nvPr>
        </p:nvSpPr>
        <p:spPr>
          <a:xfrm>
            <a:off x="4663440" y="969336"/>
            <a:ext cx="4023360" cy="4114800"/>
          </a:xfrm>
          <a:prstGeom prst="rect">
            <a:avLst/>
          </a:prstGeom>
          <a:noFill/>
          <a:ln cap="flat" cmpd="sng" w="10775">
            <a:solidFill>
              <a:schemeClr val="lt1"/>
            </a:solidFill>
            <a:prstDash val="dash"/>
            <a:miter lim="800000"/>
            <a:headEnd len="sm" w="sm" type="none"/>
            <a:tailEnd len="sm" w="sm" type="none"/>
          </a:ln>
        </p:spPr>
        <p:txBody>
          <a:bodyPr anchorCtr="0" anchor="t" bIns="45700" lIns="91425" spcFirstLastPara="1" rIns="91425" wrap="square" tIns="45700">
            <a:normAutofit/>
          </a:bodyPr>
          <a:lstStyle>
            <a:lvl1pPr indent="-350520" lvl="0" marL="457200" algn="l">
              <a:lnSpc>
                <a:spcPct val="100000"/>
              </a:lnSpc>
              <a:spcBef>
                <a:spcPts val="700"/>
              </a:spcBef>
              <a:spcAft>
                <a:spcPts val="0"/>
              </a:spcAft>
              <a:buSzPts val="1920"/>
              <a:buChar char="⚫"/>
              <a:defRPr sz="2400"/>
            </a:lvl1pPr>
            <a:lvl2pPr indent="-355600" lvl="1" marL="914400" algn="l">
              <a:lnSpc>
                <a:spcPct val="100000"/>
              </a:lnSpc>
              <a:spcBef>
                <a:spcPts val="700"/>
              </a:spcBef>
              <a:spcAft>
                <a:spcPts val="0"/>
              </a:spcAft>
              <a:buSzPts val="2000"/>
              <a:buChar char="◦"/>
              <a:defRPr sz="2000"/>
            </a:lvl2pPr>
            <a:lvl3pPr indent="-342900" lvl="2" marL="1371600" algn="l">
              <a:lnSpc>
                <a:spcPct val="100000"/>
              </a:lnSpc>
              <a:spcBef>
                <a:spcPts val="700"/>
              </a:spcBef>
              <a:spcAft>
                <a:spcPts val="0"/>
              </a:spcAft>
              <a:buSzPts val="1800"/>
              <a:buChar char="●"/>
              <a:defRPr sz="1800"/>
            </a:lvl3pPr>
            <a:lvl4pPr indent="-330200" lvl="3" marL="1828800" algn="l">
              <a:lnSpc>
                <a:spcPct val="100000"/>
              </a:lnSpc>
              <a:spcBef>
                <a:spcPts val="700"/>
              </a:spcBef>
              <a:spcAft>
                <a:spcPts val="0"/>
              </a:spcAft>
              <a:buSzPts val="1600"/>
              <a:buChar char="●"/>
              <a:defRPr sz="1600"/>
            </a:lvl4pPr>
            <a:lvl5pPr indent="-330200" lvl="4" marL="2286000" algn="l">
              <a:lnSpc>
                <a:spcPct val="100000"/>
              </a:lnSpc>
              <a:spcBef>
                <a:spcPts val="700"/>
              </a:spcBef>
              <a:spcAft>
                <a:spcPts val="0"/>
              </a:spcAft>
              <a:buSzPts val="1600"/>
              <a:buChar char="●"/>
              <a:defRPr sz="16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49" name="Google Shape;249;p268"/>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268"/>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268"/>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2" name="Shape 252"/>
        <p:cNvGrpSpPr/>
        <p:nvPr/>
      </p:nvGrpSpPr>
      <p:grpSpPr>
        <a:xfrm>
          <a:off x="0" y="0"/>
          <a:ext cx="0" cy="0"/>
          <a:chOff x="0" y="0"/>
          <a:chExt cx="0" cy="0"/>
        </a:xfrm>
      </p:grpSpPr>
      <p:sp>
        <p:nvSpPr>
          <p:cNvPr id="253" name="Google Shape;253;p269"/>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269"/>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p269"/>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269"/>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57" name="Shape 257"/>
        <p:cNvGrpSpPr/>
        <p:nvPr/>
      </p:nvGrpSpPr>
      <p:grpSpPr>
        <a:xfrm>
          <a:off x="0" y="0"/>
          <a:ext cx="0" cy="0"/>
          <a:chOff x="0" y="0"/>
          <a:chExt cx="0" cy="0"/>
        </a:xfrm>
      </p:grpSpPr>
      <p:sp>
        <p:nvSpPr>
          <p:cNvPr id="258" name="Google Shape;258;p270"/>
          <p:cNvSpPr/>
          <p:nvPr/>
        </p:nvSpPr>
        <p:spPr>
          <a:xfrm>
            <a:off x="1014984" y="0"/>
            <a:ext cx="8129016"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 name="Google Shape;259;p270"/>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270"/>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p270"/>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62" name="Google Shape;262;p270"/>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263" name="Shape 263"/>
        <p:cNvGrpSpPr/>
        <p:nvPr/>
      </p:nvGrpSpPr>
      <p:grpSpPr>
        <a:xfrm>
          <a:off x="0" y="0"/>
          <a:ext cx="0" cy="0"/>
          <a:chOff x="0" y="0"/>
          <a:chExt cx="0" cy="0"/>
        </a:xfrm>
      </p:grpSpPr>
      <p:sp>
        <p:nvSpPr>
          <p:cNvPr id="264" name="Google Shape;264;p271"/>
          <p:cNvSpPr txBox="1"/>
          <p:nvPr>
            <p:ph type="title"/>
          </p:nvPr>
        </p:nvSpPr>
        <p:spPr>
          <a:xfrm>
            <a:off x="457200" y="216778"/>
            <a:ext cx="3810000" cy="1162050"/>
          </a:xfrm>
          <a:prstGeom prst="rect">
            <a:avLst/>
          </a:prstGeom>
          <a:noFill/>
          <a:ln>
            <a:noFill/>
          </a:ln>
        </p:spPr>
        <p:txBody>
          <a:bodyPr anchorCtr="0" anchor="b" bIns="45700" lIns="91425" spcFirstLastPara="1" rIns="91425" wrap="square" tIns="45700">
            <a:normAutofit/>
          </a:bodyPr>
          <a:lstStyle>
            <a:lvl1pPr lvl="0" algn="l">
              <a:lnSpc>
                <a:spcPct val="90909"/>
              </a:lnSpc>
              <a:spcBef>
                <a:spcPts val="0"/>
              </a:spcBef>
              <a:spcAft>
                <a:spcPts val="0"/>
              </a:spcAft>
              <a:buClr>
                <a:srgbClr val="562214"/>
              </a:buClr>
              <a:buSzPts val="2200"/>
              <a:buFont typeface="Arial"/>
              <a:buNone/>
              <a:defRPr b="1" sz="2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271"/>
          <p:cNvSpPr txBox="1"/>
          <p:nvPr>
            <p:ph idx="1" type="body"/>
          </p:nvPr>
        </p:nvSpPr>
        <p:spPr>
          <a:xfrm>
            <a:off x="457200" y="1406964"/>
            <a:ext cx="3810000" cy="698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120"/>
              <a:buNone/>
              <a:defRPr sz="1400"/>
            </a:lvl1pPr>
            <a:lvl2pPr indent="-228600" lvl="1" marL="914400" algn="l">
              <a:lnSpc>
                <a:spcPct val="100000"/>
              </a:lnSpc>
              <a:spcBef>
                <a:spcPts val="550"/>
              </a:spcBef>
              <a:spcAft>
                <a:spcPts val="0"/>
              </a:spcAft>
              <a:buSzPts val="1200"/>
              <a:buNone/>
              <a:defRPr sz="1200"/>
            </a:lvl2pPr>
            <a:lvl3pPr indent="-228600" lvl="2" marL="1371600" algn="l">
              <a:lnSpc>
                <a:spcPct val="100000"/>
              </a:lnSpc>
              <a:spcBef>
                <a:spcPts val="200"/>
              </a:spcBef>
              <a:spcAft>
                <a:spcPts val="0"/>
              </a:spcAft>
              <a:buSzPts val="1000"/>
              <a:buNone/>
              <a:defRPr sz="1000"/>
            </a:lvl3pPr>
            <a:lvl4pPr indent="-228600" lvl="3" marL="1828800" algn="l">
              <a:lnSpc>
                <a:spcPct val="100000"/>
              </a:lnSpc>
              <a:spcBef>
                <a:spcPts val="180"/>
              </a:spcBef>
              <a:spcAft>
                <a:spcPts val="0"/>
              </a:spcAft>
              <a:buSzPts val="900"/>
              <a:buNone/>
              <a:defRPr sz="900"/>
            </a:lvl4pPr>
            <a:lvl5pPr indent="-228600" lvl="4" marL="2286000" algn="l">
              <a:lnSpc>
                <a:spcPct val="100000"/>
              </a:lnSpc>
              <a:spcBef>
                <a:spcPts val="180"/>
              </a:spcBef>
              <a:spcAft>
                <a:spcPts val="0"/>
              </a:spcAft>
              <a:buSzPts val="900"/>
              <a:buNone/>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66" name="Google Shape;266;p271"/>
          <p:cNvSpPr txBox="1"/>
          <p:nvPr>
            <p:ph idx="2" type="body"/>
          </p:nvPr>
        </p:nvSpPr>
        <p:spPr>
          <a:xfrm>
            <a:off x="457200" y="2133600"/>
            <a:ext cx="8153400" cy="3992563"/>
          </a:xfrm>
          <a:prstGeom prst="rect">
            <a:avLst/>
          </a:prstGeom>
          <a:noFill/>
          <a:ln>
            <a:noFill/>
          </a:ln>
        </p:spPr>
        <p:txBody>
          <a:bodyPr anchorCtr="0" anchor="t" bIns="45700" lIns="91425" spcFirstLastPara="1" rIns="91425" wrap="square" tIns="45700">
            <a:normAutofit/>
          </a:bodyPr>
          <a:lstStyle>
            <a:lvl1pPr indent="-391160" lvl="0" marL="457200" algn="l">
              <a:lnSpc>
                <a:spcPct val="100000"/>
              </a:lnSpc>
              <a:spcBef>
                <a:spcPts val="600"/>
              </a:spcBef>
              <a:spcAft>
                <a:spcPts val="0"/>
              </a:spcAft>
              <a:buSzPts val="2560"/>
              <a:buChar char="⚫"/>
              <a:defRPr sz="3200"/>
            </a:lvl1pPr>
            <a:lvl2pPr indent="-406400" lvl="1" marL="914400" algn="l">
              <a:lnSpc>
                <a:spcPct val="100000"/>
              </a:lnSpc>
              <a:spcBef>
                <a:spcPts val="550"/>
              </a:spcBef>
              <a:spcAft>
                <a:spcPts val="0"/>
              </a:spcAft>
              <a:buSzPts val="2800"/>
              <a:buChar char="◦"/>
              <a:defRPr sz="2800"/>
            </a:lvl2pPr>
            <a:lvl3pPr indent="-381000" lvl="2" marL="1371600" algn="l">
              <a:lnSpc>
                <a:spcPct val="100000"/>
              </a:lnSpc>
              <a:spcBef>
                <a:spcPts val="480"/>
              </a:spcBef>
              <a:spcAft>
                <a:spcPts val="0"/>
              </a:spcAft>
              <a:buSzPts val="2400"/>
              <a:buChar char="●"/>
              <a:defRPr sz="2400"/>
            </a:lvl3pPr>
            <a:lvl4pPr indent="-355600" lvl="3" marL="1828800" algn="l">
              <a:lnSpc>
                <a:spcPct val="100000"/>
              </a:lnSpc>
              <a:spcBef>
                <a:spcPts val="400"/>
              </a:spcBef>
              <a:spcAft>
                <a:spcPts val="0"/>
              </a:spcAft>
              <a:buSzPts val="2000"/>
              <a:buChar char="●"/>
              <a:defRPr sz="2000"/>
            </a:lvl4pPr>
            <a:lvl5pPr indent="-355600" lvl="4" marL="2286000" algn="l">
              <a:lnSpc>
                <a:spcPct val="100000"/>
              </a:lnSpc>
              <a:spcBef>
                <a:spcPts val="400"/>
              </a:spcBef>
              <a:spcAft>
                <a:spcPts val="0"/>
              </a:spcAft>
              <a:buSzPts val="2000"/>
              <a:buChar char="●"/>
              <a:defRPr sz="20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67" name="Google Shape;267;p27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p27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27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270" name="Shape 270"/>
        <p:cNvGrpSpPr/>
        <p:nvPr/>
      </p:nvGrpSpPr>
      <p:grpSpPr>
        <a:xfrm>
          <a:off x="0" y="0"/>
          <a:ext cx="0" cy="0"/>
          <a:chOff x="0" y="0"/>
          <a:chExt cx="0" cy="0"/>
        </a:xfrm>
      </p:grpSpPr>
      <p:sp>
        <p:nvSpPr>
          <p:cNvPr id="271" name="Google Shape;271;p272"/>
          <p:cNvSpPr txBox="1"/>
          <p:nvPr>
            <p:ph type="title"/>
          </p:nvPr>
        </p:nvSpPr>
        <p:spPr>
          <a:xfrm>
            <a:off x="5886896" y="1066800"/>
            <a:ext cx="2743200" cy="1981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562214"/>
              </a:buClr>
              <a:buSzPts val="2100"/>
              <a:buFont typeface="Arial"/>
              <a:buNone/>
              <a:defRPr b="1" sz="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27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27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272"/>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75" name="Google Shape;275;p272"/>
          <p:cNvSpPr/>
          <p:nvPr/>
        </p:nvSpPr>
        <p:spPr>
          <a:xfrm>
            <a:off x="762000" y="1066800"/>
            <a:ext cx="4572000" cy="4572000"/>
          </a:xfrm>
          <a:prstGeom prst="rect">
            <a:avLst/>
          </a:prstGeom>
          <a:solidFill>
            <a:srgbClr val="FFFFFF"/>
          </a:solidFill>
          <a:ln cap="sq" cmpd="sng" w="88900">
            <a:solidFill>
              <a:srgbClr val="FFFFFF"/>
            </a:solidFill>
            <a:prstDash val="solid"/>
            <a:miter lim="800000"/>
            <a:headEnd len="sm" w="sm" type="none"/>
            <a:tailEnd len="sm" w="sm" type="none"/>
          </a:ln>
          <a:effectLst>
            <a:outerShdw blurRad="55500" rotWithShape="0" algn="tl" dir="5400000" dist="18500">
              <a:srgbClr val="000000">
                <a:alpha val="34901"/>
              </a:srgbClr>
            </a:outerShdw>
          </a:effectLst>
        </p:spPr>
        <p:txBody>
          <a:bodyPr anchorCtr="0" anchor="t" bIns="45700" lIns="91425" spcFirstLastPara="1" rIns="91425" wrap="square" tIns="274300">
            <a:normAutofit/>
          </a:bodyPr>
          <a:lstStyle/>
          <a:p>
            <a:pPr indent="0" lvl="0" marL="0" marR="0" rtl="0" algn="l">
              <a:lnSpc>
                <a:spcPct val="93750"/>
              </a:lnSpc>
              <a:spcBef>
                <a:spcPts val="0"/>
              </a:spcBef>
              <a:spcAft>
                <a:spcPts val="0"/>
              </a:spcAft>
              <a:buClr>
                <a:schemeClr val="accent1"/>
              </a:buClr>
              <a:buSzPts val="2560"/>
              <a:buFont typeface="Noto Sans Symbols"/>
              <a:buNone/>
            </a:pPr>
            <a:r>
              <a:t/>
            </a:r>
            <a:endParaRPr sz="3200">
              <a:solidFill>
                <a:schemeClr val="dk1"/>
              </a:solidFill>
              <a:latin typeface="Arial"/>
              <a:ea typeface="Arial"/>
              <a:cs typeface="Arial"/>
              <a:sym typeface="Arial"/>
            </a:endParaRPr>
          </a:p>
        </p:txBody>
      </p:sp>
      <p:sp>
        <p:nvSpPr>
          <p:cNvPr id="276" name="Google Shape;276;p272"/>
          <p:cNvSpPr/>
          <p:nvPr>
            <p:ph idx="2" type="pic"/>
          </p:nvPr>
        </p:nvSpPr>
        <p:spPr>
          <a:xfrm>
            <a:off x="838200" y="1143003"/>
            <a:ext cx="4419600" cy="3514531"/>
          </a:xfrm>
          <a:prstGeom prst="roundRect">
            <a:avLst>
              <a:gd fmla="val 783" name="adj"/>
            </a:avLst>
          </a:prstGeom>
          <a:solidFill>
            <a:schemeClr val="lt2"/>
          </a:solidFill>
          <a:ln>
            <a:noFill/>
          </a:ln>
        </p:spPr>
        <p:txBody>
          <a:bodyPr anchorCtr="0" anchor="t" bIns="45700" lIns="91425" spcFirstLastPara="1" rIns="91425" wrap="square" tIns="274300">
            <a:normAutofit/>
          </a:bodyPr>
          <a:lstStyle>
            <a:lvl1pPr lvl="0" marR="0" rtl="0" algn="l">
              <a:lnSpc>
                <a:spcPct val="100000"/>
              </a:lnSpc>
              <a:spcBef>
                <a:spcPts val="600"/>
              </a:spcBef>
              <a:spcAft>
                <a:spcPts val="0"/>
              </a:spcAft>
              <a:buClr>
                <a:schemeClr val="accent1"/>
              </a:buClr>
              <a:buSzPts val="2560"/>
              <a:buFont typeface="Noto Sans Symbols"/>
              <a:buNone/>
              <a:defRPr b="0" i="0" sz="3200" u="none" cap="none" strike="noStrike">
                <a:solidFill>
                  <a:schemeClr val="dk1"/>
                </a:solidFill>
                <a:latin typeface="Arial"/>
                <a:ea typeface="Arial"/>
                <a:cs typeface="Arial"/>
                <a:sym typeface="Arial"/>
              </a:defRPr>
            </a:lvl1pPr>
            <a:lvl2pPr lvl="1"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Arial"/>
                <a:ea typeface="Arial"/>
                <a:cs typeface="Arial"/>
                <a:sym typeface="Arial"/>
              </a:defRPr>
            </a:lvl2pPr>
            <a:lvl3pPr lvl="2"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Arial"/>
                <a:ea typeface="Arial"/>
                <a:cs typeface="Arial"/>
                <a:sym typeface="Arial"/>
              </a:defRPr>
            </a:lvl3pPr>
            <a:lvl4pPr lvl="3"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Arial"/>
                <a:ea typeface="Arial"/>
                <a:cs typeface="Arial"/>
                <a:sym typeface="Arial"/>
              </a:defRPr>
            </a:lvl4pPr>
            <a:lvl5pPr lvl="4"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Arial"/>
                <a:ea typeface="Arial"/>
                <a:cs typeface="Arial"/>
                <a:sym typeface="Arial"/>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7" name="Google Shape;277;p272"/>
          <p:cNvSpPr/>
          <p:nvPr/>
        </p:nvSpPr>
        <p:spPr>
          <a:xfrm rot="-2131329">
            <a:off x="396725" y="954341"/>
            <a:ext cx="685800"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rgbClr val="EAD8B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8" name="Google Shape;278;p272"/>
          <p:cNvSpPr/>
          <p:nvPr/>
        </p:nvSpPr>
        <p:spPr>
          <a:xfrm flipH="1" rot="2103354">
            <a:off x="5003667" y="936786"/>
            <a:ext cx="649224" cy="204310"/>
          </a:xfrm>
          <a:prstGeom prst="flowChartProcess">
            <a:avLst/>
          </a:prstGeom>
          <a:solidFill>
            <a:srgbClr val="FBFBFB">
              <a:alpha val="44705"/>
            </a:srgbClr>
          </a:solidFill>
          <a:ln cap="rnd" cmpd="sng" w="9525">
            <a:solidFill>
              <a:srgbClr val="FFFFFF"/>
            </a:solidFill>
            <a:prstDash val="solid"/>
            <a:round/>
            <a:headEnd len="sm" w="sm" type="none"/>
            <a:tailEnd len="sm" w="sm" type="none"/>
          </a:ln>
          <a:effectLst>
            <a:outerShdw blurRad="25400" sx="96000" rotWithShape="0" algn="tl" dir="3300000" dist="25400" sy="96000">
              <a:schemeClr val="lt2">
                <a:alpha val="2000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 name="Google Shape;279;p272"/>
          <p:cNvSpPr txBox="1"/>
          <p:nvPr>
            <p:ph idx="1" type="body"/>
          </p:nvPr>
        </p:nvSpPr>
        <p:spPr>
          <a:xfrm>
            <a:off x="838200" y="4800600"/>
            <a:ext cx="4419600" cy="762000"/>
          </a:xfrm>
          <a:prstGeom prst="rect">
            <a:avLst/>
          </a:prstGeom>
          <a:noFill/>
          <a:ln>
            <a:noFill/>
          </a:ln>
        </p:spPr>
        <p:txBody>
          <a:bodyPr anchorCtr="0" anchor="ctr" bIns="45700" lIns="91425" spcFirstLastPara="1" rIns="91425" wrap="square" tIns="45700">
            <a:normAutofit/>
          </a:bodyPr>
          <a:lstStyle>
            <a:lvl1pPr indent="-228600" lvl="0" marL="457200" algn="l">
              <a:lnSpc>
                <a:spcPct val="114285"/>
              </a:lnSpc>
              <a:spcBef>
                <a:spcPts val="0"/>
              </a:spcBef>
              <a:spcAft>
                <a:spcPts val="0"/>
              </a:spcAft>
              <a:buSzPts val="1120"/>
              <a:buNone/>
              <a:defRPr sz="1400">
                <a:solidFill>
                  <a:srgbClr val="777777"/>
                </a:solidFill>
              </a:defRPr>
            </a:lvl1pPr>
            <a:lvl2pPr indent="-304800" lvl="1" marL="914400" algn="l">
              <a:lnSpc>
                <a:spcPct val="100000"/>
              </a:lnSpc>
              <a:spcBef>
                <a:spcPts val="550"/>
              </a:spcBef>
              <a:spcAft>
                <a:spcPts val="0"/>
              </a:spcAft>
              <a:buSzPts val="1200"/>
              <a:buChar char="◦"/>
              <a:defRPr sz="1200"/>
            </a:lvl2pPr>
            <a:lvl3pPr indent="-292100" lvl="2" marL="1371600" algn="l">
              <a:lnSpc>
                <a:spcPct val="100000"/>
              </a:lnSpc>
              <a:spcBef>
                <a:spcPts val="200"/>
              </a:spcBef>
              <a:spcAft>
                <a:spcPts val="0"/>
              </a:spcAft>
              <a:buSzPts val="1000"/>
              <a:buChar char="●"/>
              <a:defRPr sz="1000"/>
            </a:lvl3pPr>
            <a:lvl4pPr indent="-285750" lvl="3" marL="1828800" algn="l">
              <a:lnSpc>
                <a:spcPct val="100000"/>
              </a:lnSpc>
              <a:spcBef>
                <a:spcPts val="180"/>
              </a:spcBef>
              <a:spcAft>
                <a:spcPts val="0"/>
              </a:spcAft>
              <a:buSzPts val="900"/>
              <a:buChar char="●"/>
              <a:defRPr sz="900"/>
            </a:lvl4pPr>
            <a:lvl5pPr indent="-285750" lvl="4" marL="2286000" algn="l">
              <a:lnSpc>
                <a:spcPct val="100000"/>
              </a:lnSpc>
              <a:spcBef>
                <a:spcPts val="180"/>
              </a:spcBef>
              <a:spcAft>
                <a:spcPts val="0"/>
              </a:spcAft>
              <a:buSzPts val="900"/>
              <a:buChar char="●"/>
              <a:defRPr sz="9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80" name="Shape 280"/>
        <p:cNvGrpSpPr/>
        <p:nvPr/>
      </p:nvGrpSpPr>
      <p:grpSpPr>
        <a:xfrm>
          <a:off x="0" y="0"/>
          <a:ext cx="0" cy="0"/>
          <a:chOff x="0" y="0"/>
          <a:chExt cx="0" cy="0"/>
        </a:xfrm>
      </p:grpSpPr>
      <p:sp>
        <p:nvSpPr>
          <p:cNvPr id="281" name="Google Shape;281;p273"/>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273"/>
          <p:cNvSpPr txBox="1"/>
          <p:nvPr>
            <p:ph idx="1" type="body"/>
          </p:nvPr>
        </p:nvSpPr>
        <p:spPr>
          <a:xfrm rot="5400000">
            <a:off x="2784348" y="99060"/>
            <a:ext cx="4800600" cy="749808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83" name="Google Shape;283;p273"/>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p273"/>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273"/>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86" name="Shape 286"/>
        <p:cNvGrpSpPr/>
        <p:nvPr/>
      </p:nvGrpSpPr>
      <p:grpSpPr>
        <a:xfrm>
          <a:off x="0" y="0"/>
          <a:ext cx="0" cy="0"/>
          <a:chOff x="0" y="0"/>
          <a:chExt cx="0" cy="0"/>
        </a:xfrm>
      </p:grpSpPr>
      <p:sp>
        <p:nvSpPr>
          <p:cNvPr id="287" name="Google Shape;287;p274"/>
          <p:cNvSpPr txBox="1"/>
          <p:nvPr>
            <p:ph type="title"/>
          </p:nvPr>
        </p:nvSpPr>
        <p:spPr>
          <a:xfrm rot="5400000">
            <a:off x="4846637" y="2286002"/>
            <a:ext cx="5851525" cy="18288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274"/>
          <p:cNvSpPr txBox="1"/>
          <p:nvPr>
            <p:ph idx="1" type="body"/>
          </p:nvPr>
        </p:nvSpPr>
        <p:spPr>
          <a:xfrm rot="5400000">
            <a:off x="998537" y="419103"/>
            <a:ext cx="5851525" cy="5562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600"/>
              </a:spcBef>
              <a:spcAft>
                <a:spcPts val="0"/>
              </a:spcAft>
              <a:buSzPts val="1440"/>
              <a:buChar char="⚫"/>
              <a:defRPr/>
            </a:lvl1pPr>
            <a:lvl2pPr indent="-342900" lvl="1" marL="914400" algn="l">
              <a:lnSpc>
                <a:spcPct val="100000"/>
              </a:lnSpc>
              <a:spcBef>
                <a:spcPts val="55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89" name="Google Shape;289;p274"/>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0" name="Google Shape;290;p274"/>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274"/>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4" name="Shape 304"/>
        <p:cNvGrpSpPr/>
        <p:nvPr/>
      </p:nvGrpSpPr>
      <p:grpSpPr>
        <a:xfrm>
          <a:off x="0" y="0"/>
          <a:ext cx="0" cy="0"/>
          <a:chOff x="0" y="0"/>
          <a:chExt cx="0" cy="0"/>
        </a:xfrm>
      </p:grpSpPr>
      <p:sp>
        <p:nvSpPr>
          <p:cNvPr id="305" name="Google Shape;305;p21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21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07" name="Google Shape;307;p214"/>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8" name="Google Shape;308;p21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09" name="Google Shape;309;p214"/>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310" name="Shape 310"/>
        <p:cNvGrpSpPr/>
        <p:nvPr/>
      </p:nvGrpSpPr>
      <p:grpSpPr>
        <a:xfrm>
          <a:off x="0" y="0"/>
          <a:ext cx="0" cy="0"/>
          <a:chOff x="0" y="0"/>
          <a:chExt cx="0" cy="0"/>
        </a:xfrm>
      </p:grpSpPr>
      <p:sp>
        <p:nvSpPr>
          <p:cNvPr id="311" name="Google Shape;311;p219"/>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Arial"/>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219"/>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313" name="Google Shape;313;p219"/>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4" name="Google Shape;314;p219"/>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5" name="Google Shape;315;p219"/>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6" name="Google Shape;316;p219"/>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 name="Google Shape;317;p219"/>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8" name="Google Shape;318;p219"/>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19" name="Google Shape;319;p219"/>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320" name="Google Shape;320;p219"/>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321" name="Google Shape;321;p219"/>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322" name="Google Shape;322;p219"/>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323" name="Google Shape;323;p219"/>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324" name="Google Shape;324;p219"/>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325" name="Google Shape;325;p219"/>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6" name="Google Shape;326;p219"/>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7" name="Google Shape;327;p219"/>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8" name="Google Shape;328;p219"/>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9" name="Google Shape;329;p219"/>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0" name="Google Shape;330;p219"/>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1" name="Google Shape;331;p219"/>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332" name="Shape 332"/>
        <p:cNvGrpSpPr/>
        <p:nvPr/>
      </p:nvGrpSpPr>
      <p:grpSpPr>
        <a:xfrm>
          <a:off x="0" y="0"/>
          <a:ext cx="0" cy="0"/>
          <a:chOff x="0" y="0"/>
          <a:chExt cx="0" cy="0"/>
        </a:xfrm>
      </p:grpSpPr>
      <p:sp>
        <p:nvSpPr>
          <p:cNvPr id="333" name="Google Shape;333;p230"/>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Arial"/>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230"/>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35" name="Google Shape;335;p230"/>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230"/>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230"/>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8" name="Google Shape;338;p230"/>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9" name="Google Shape;339;p230"/>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 name="Google Shape;340;p230"/>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41" name="Google Shape;341;p230"/>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342" name="Google Shape;342;p230"/>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343" name="Google Shape;343;p230"/>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344" name="Google Shape;344;p230"/>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345" name="Google Shape;345;p230"/>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346" name="Google Shape;346;p230"/>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7" name="Google Shape;347;p230"/>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8" name="Google Shape;348;p230"/>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9" name="Google Shape;349;p230"/>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0" name="Google Shape;350;p230"/>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p230"/>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52" name="Google Shape;352;p230"/>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353" name="Google Shape;353;p230"/>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4" name="Shape 354"/>
        <p:cNvGrpSpPr/>
        <p:nvPr/>
      </p:nvGrpSpPr>
      <p:grpSpPr>
        <a:xfrm>
          <a:off x="0" y="0"/>
          <a:ext cx="0" cy="0"/>
          <a:chOff x="0" y="0"/>
          <a:chExt cx="0" cy="0"/>
        </a:xfrm>
      </p:grpSpPr>
      <p:sp>
        <p:nvSpPr>
          <p:cNvPr id="355" name="Google Shape;355;p23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6" name="Google Shape;356;p23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7" name="Google Shape;357;p23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p23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59" name="Google Shape;359;p231"/>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60" name="Google Shape;360;p231"/>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1" name="Shape 361"/>
        <p:cNvGrpSpPr/>
        <p:nvPr/>
      </p:nvGrpSpPr>
      <p:grpSpPr>
        <a:xfrm>
          <a:off x="0" y="0"/>
          <a:ext cx="0" cy="0"/>
          <a:chOff x="0" y="0"/>
          <a:chExt cx="0" cy="0"/>
        </a:xfrm>
      </p:grpSpPr>
      <p:sp>
        <p:nvSpPr>
          <p:cNvPr id="362" name="Google Shape;362;p232"/>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3" name="Google Shape;363;p23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4" name="Google Shape;364;p23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5" name="Google Shape;365;p23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66" name="Google Shape;366;p232"/>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67" name="Google Shape;367;p232"/>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68" name="Google Shape;368;p232"/>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Arial"/>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69" name="Google Shape;369;p232"/>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Arial"/>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0" name="Shape 370"/>
        <p:cNvGrpSpPr/>
        <p:nvPr/>
      </p:nvGrpSpPr>
      <p:grpSpPr>
        <a:xfrm>
          <a:off x="0" y="0"/>
          <a:ext cx="0" cy="0"/>
          <a:chOff x="0" y="0"/>
          <a:chExt cx="0" cy="0"/>
        </a:xfrm>
      </p:grpSpPr>
      <p:sp>
        <p:nvSpPr>
          <p:cNvPr id="371" name="Google Shape;371;p23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2" name="Google Shape;372;p23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3" name="Google Shape;373;p23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74" name="Google Shape;374;p23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5" name="Shape 375"/>
        <p:cNvGrpSpPr/>
        <p:nvPr/>
      </p:nvGrpSpPr>
      <p:grpSpPr>
        <a:xfrm>
          <a:off x="0" y="0"/>
          <a:ext cx="0" cy="0"/>
          <a:chOff x="0" y="0"/>
          <a:chExt cx="0" cy="0"/>
        </a:xfrm>
      </p:grpSpPr>
      <p:sp>
        <p:nvSpPr>
          <p:cNvPr id="376" name="Google Shape;376;p234"/>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7" name="Google Shape;377;p234"/>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8" name="Google Shape;378;p23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379" name="Shape 379"/>
        <p:cNvGrpSpPr/>
        <p:nvPr/>
      </p:nvGrpSpPr>
      <p:grpSpPr>
        <a:xfrm>
          <a:off x="0" y="0"/>
          <a:ext cx="0" cy="0"/>
          <a:chOff x="0" y="0"/>
          <a:chExt cx="0" cy="0"/>
        </a:xfrm>
      </p:grpSpPr>
      <p:cxnSp>
        <p:nvCxnSpPr>
          <p:cNvPr id="380" name="Google Shape;380;p235"/>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381" name="Google Shape;381;p235"/>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Arial"/>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2" name="Google Shape;382;p235"/>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383" name="Google Shape;383;p235"/>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384" name="Google Shape;384;p235"/>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385" name="Google Shape;385;p235"/>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386" name="Google Shape;386;p235"/>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87" name="Google Shape;387;p235"/>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388" name="Google Shape;388;p235"/>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9" name="Google Shape;389;p235"/>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90" name="Google Shape;390;p23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1" name="Google Shape;391;p23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92" name="Google Shape;392;p23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393" name="Shape 393"/>
        <p:cNvGrpSpPr/>
        <p:nvPr/>
      </p:nvGrpSpPr>
      <p:grpSpPr>
        <a:xfrm>
          <a:off x="0" y="0"/>
          <a:ext cx="0" cy="0"/>
          <a:chOff x="0" y="0"/>
          <a:chExt cx="0" cy="0"/>
        </a:xfrm>
      </p:grpSpPr>
      <p:cxnSp>
        <p:nvCxnSpPr>
          <p:cNvPr id="394" name="Google Shape;394;p236"/>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395" name="Google Shape;395;p236"/>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6" name="Google Shape;396;p236"/>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7" name="Google Shape;397;p236"/>
          <p:cNvSpPr/>
          <p:nvPr>
            <p:ph idx="2" type="pic"/>
          </p:nvPr>
        </p:nvSpPr>
        <p:spPr>
          <a:xfrm>
            <a:off x="0" y="0"/>
            <a:ext cx="6172200" cy="6858000"/>
          </a:xfrm>
          <a:prstGeom prst="rect">
            <a:avLst/>
          </a:prstGeom>
          <a:solidFill>
            <a:schemeClr val="lt2"/>
          </a:solidFill>
          <a:ln>
            <a:noFill/>
          </a:ln>
        </p:spPr>
        <p:txBody>
          <a:bodyPr anchorCtr="0" anchor="t" bIns="45700" lIns="91425" spcFirstLastPara="1" rIns="91425" wrap="square" tIns="45700">
            <a:normAutofit/>
          </a:bodyPr>
          <a:lstStyle>
            <a:lvl1pPr lvl="0" marR="0" rtl="0" algn="l">
              <a:spcBef>
                <a:spcPts val="600"/>
              </a:spcBef>
              <a:spcAft>
                <a:spcPts val="0"/>
              </a:spcAft>
              <a:buClr>
                <a:schemeClr val="accent1"/>
              </a:buClr>
              <a:buSzPts val="2240"/>
              <a:buFont typeface="Noto Sans Symbols"/>
              <a:buNone/>
              <a:defRPr b="0" i="0" sz="3200" u="none" cap="none" strike="noStrike">
                <a:solidFill>
                  <a:schemeClr val="dk1"/>
                </a:solidFill>
                <a:latin typeface="Arial"/>
                <a:ea typeface="Arial"/>
                <a:cs typeface="Arial"/>
                <a:sym typeface="Arial"/>
              </a:defRPr>
            </a:lvl1pPr>
            <a:lvl2pPr lvl="1"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Arial"/>
                <a:ea typeface="Arial"/>
                <a:cs typeface="Arial"/>
                <a:sym typeface="Arial"/>
              </a:defRPr>
            </a:lvl2pPr>
            <a:lvl3pPr lvl="2"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Arial"/>
                <a:ea typeface="Arial"/>
                <a:cs typeface="Arial"/>
                <a:sym typeface="Arial"/>
              </a:defRPr>
            </a:lvl3pPr>
            <a:lvl4pPr lvl="3"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Arial"/>
                <a:ea typeface="Arial"/>
                <a:cs typeface="Arial"/>
                <a:sym typeface="Arial"/>
              </a:defRPr>
            </a:lvl4pPr>
            <a:lvl5pPr lvl="4"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Arial"/>
                <a:ea typeface="Arial"/>
                <a:cs typeface="Arial"/>
                <a:sym typeface="Arial"/>
              </a:defRPr>
            </a:lvl5pPr>
            <a:lvl6pPr lvl="5" marR="0" rtl="0" algn="l">
              <a:spcBef>
                <a:spcPts val="320"/>
              </a:spcBef>
              <a:spcAft>
                <a:spcPts val="0"/>
              </a:spcAft>
              <a:buClr>
                <a:schemeClr val="accent1"/>
              </a:buClr>
              <a:buSzPts val="1600"/>
              <a:buFont typeface="Arial"/>
              <a:buChar char="•"/>
              <a:defRPr b="0" i="0" sz="1600" u="none" cap="none" strike="noStrike">
                <a:solidFill>
                  <a:schemeClr val="dk2"/>
                </a:solidFill>
                <a:latin typeface="Arial"/>
                <a:ea typeface="Arial"/>
                <a:cs typeface="Arial"/>
                <a:sym typeface="Arial"/>
              </a:defRPr>
            </a:lvl6pPr>
            <a:lvl7pPr lvl="6" marR="0" rtl="0" algn="l">
              <a:spcBef>
                <a:spcPts val="280"/>
              </a:spcBef>
              <a:spcAft>
                <a:spcPts val="0"/>
              </a:spcAft>
              <a:buClr>
                <a:srgbClr val="FEC2AC"/>
              </a:buClr>
              <a:buSzPts val="840"/>
              <a:buFont typeface="Noto Sans Symbols"/>
              <a:buChar char="⚪"/>
              <a:defRPr b="0" i="0" sz="1400" u="none" cap="none" strike="noStrike">
                <a:solidFill>
                  <a:schemeClr val="dk2"/>
                </a:solidFill>
                <a:latin typeface="Arial"/>
                <a:ea typeface="Arial"/>
                <a:cs typeface="Arial"/>
                <a:sym typeface="Arial"/>
              </a:defRPr>
            </a:lvl7pPr>
            <a:lvl8pPr lvl="7" marR="0" rtl="0" algn="l">
              <a:spcBef>
                <a:spcPts val="280"/>
              </a:spcBef>
              <a:spcAft>
                <a:spcPts val="0"/>
              </a:spcAft>
              <a:buClr>
                <a:schemeClr val="accent2"/>
              </a:buClr>
              <a:buSzPts val="1400"/>
              <a:buFont typeface="Arial"/>
              <a:buChar char="•"/>
              <a:defRPr b="0" i="0" sz="1400" u="none" cap="small" strike="noStrike">
                <a:solidFill>
                  <a:schemeClr val="dk2"/>
                </a:solidFill>
                <a:latin typeface="Arial"/>
                <a:ea typeface="Arial"/>
                <a:cs typeface="Arial"/>
                <a:sym typeface="Arial"/>
              </a:defRPr>
            </a:lvl8pPr>
            <a:lvl9pPr lvl="8" marR="0" rtl="0" algn="l">
              <a:spcBef>
                <a:spcPts val="280"/>
              </a:spcBef>
              <a:spcAft>
                <a:spcPts val="0"/>
              </a:spcAft>
              <a:buClr>
                <a:srgbClr val="DE7530"/>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398" name="Google Shape;398;p236"/>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Arial"/>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399" name="Google Shape;399;p236"/>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400" name="Google Shape;400;p236"/>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01" name="Google Shape;401;p236"/>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402" name="Google Shape;402;p236"/>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403" name="Google Shape;403;p236"/>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404" name="Google Shape;404;p23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5" name="Google Shape;405;p23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06" name="Google Shape;406;p23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7" name="Shape 407"/>
        <p:cNvGrpSpPr/>
        <p:nvPr/>
      </p:nvGrpSpPr>
      <p:grpSpPr>
        <a:xfrm>
          <a:off x="0" y="0"/>
          <a:ext cx="0" cy="0"/>
          <a:chOff x="0" y="0"/>
          <a:chExt cx="0" cy="0"/>
        </a:xfrm>
      </p:grpSpPr>
      <p:sp>
        <p:nvSpPr>
          <p:cNvPr id="408" name="Google Shape;408;p23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237"/>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10" name="Google Shape;410;p23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1" name="Google Shape;411;p23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2" name="Google Shape;412;p23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13" name="Shape 413"/>
        <p:cNvGrpSpPr/>
        <p:nvPr/>
      </p:nvGrpSpPr>
      <p:grpSpPr>
        <a:xfrm>
          <a:off x="0" y="0"/>
          <a:ext cx="0" cy="0"/>
          <a:chOff x="0" y="0"/>
          <a:chExt cx="0" cy="0"/>
        </a:xfrm>
      </p:grpSpPr>
      <p:sp>
        <p:nvSpPr>
          <p:cNvPr id="414" name="Google Shape;414;p238"/>
          <p:cNvSpPr txBox="1"/>
          <p:nvPr>
            <p:ph type="title"/>
          </p:nvPr>
        </p:nvSpPr>
        <p:spPr>
          <a:xfrm rot="5400000">
            <a:off x="4541837"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238"/>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16" name="Google Shape;416;p23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7" name="Google Shape;417;p23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8" name="Google Shape;418;p23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25" name="Shape 425"/>
        <p:cNvGrpSpPr/>
        <p:nvPr/>
      </p:nvGrpSpPr>
      <p:grpSpPr>
        <a:xfrm>
          <a:off x="0" y="0"/>
          <a:ext cx="0" cy="0"/>
          <a:chOff x="0" y="0"/>
          <a:chExt cx="0" cy="0"/>
        </a:xfrm>
      </p:grpSpPr>
      <p:sp>
        <p:nvSpPr>
          <p:cNvPr id="426" name="Google Shape;426;p2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7" name="Google Shape;427;p2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8" name="Google Shape;428;p2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9" name="Google Shape;429;p2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2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1" name="Shape 431"/>
        <p:cNvGrpSpPr/>
        <p:nvPr/>
      </p:nvGrpSpPr>
      <p:grpSpPr>
        <a:xfrm>
          <a:off x="0" y="0"/>
          <a:ext cx="0" cy="0"/>
          <a:chOff x="0" y="0"/>
          <a:chExt cx="0" cy="0"/>
        </a:xfrm>
      </p:grpSpPr>
      <p:sp>
        <p:nvSpPr>
          <p:cNvPr id="432" name="Google Shape;432;p23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3" name="Google Shape;433;p23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434" name="Google Shape;434;p2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5" name="Google Shape;435;p2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6" name="Google Shape;436;p2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7" name="Shape 437"/>
        <p:cNvGrpSpPr/>
        <p:nvPr/>
      </p:nvGrpSpPr>
      <p:grpSpPr>
        <a:xfrm>
          <a:off x="0" y="0"/>
          <a:ext cx="0" cy="0"/>
          <a:chOff x="0" y="0"/>
          <a:chExt cx="0" cy="0"/>
        </a:xfrm>
      </p:grpSpPr>
      <p:sp>
        <p:nvSpPr>
          <p:cNvPr id="438" name="Google Shape;438;p2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2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40" name="Google Shape;440;p2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1" name="Google Shape;441;p2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2" name="Google Shape;442;p2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3" name="Shape 443"/>
        <p:cNvGrpSpPr/>
        <p:nvPr/>
      </p:nvGrpSpPr>
      <p:grpSpPr>
        <a:xfrm>
          <a:off x="0" y="0"/>
          <a:ext cx="0" cy="0"/>
          <a:chOff x="0" y="0"/>
          <a:chExt cx="0" cy="0"/>
        </a:xfrm>
      </p:grpSpPr>
      <p:sp>
        <p:nvSpPr>
          <p:cNvPr id="444" name="Google Shape;444;p2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2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6" name="Google Shape;446;p2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7" name="Google Shape;447;p2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8" name="Google Shape;448;p2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9" name="Google Shape;449;p2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0" name="Shape 450"/>
        <p:cNvGrpSpPr/>
        <p:nvPr/>
      </p:nvGrpSpPr>
      <p:grpSpPr>
        <a:xfrm>
          <a:off x="0" y="0"/>
          <a:ext cx="0" cy="0"/>
          <a:chOff x="0" y="0"/>
          <a:chExt cx="0" cy="0"/>
        </a:xfrm>
      </p:grpSpPr>
      <p:sp>
        <p:nvSpPr>
          <p:cNvPr id="451" name="Google Shape;451;p2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2" name="Google Shape;452;p2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3" name="Google Shape;453;p2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4" name="Google Shape;454;p2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5" name="Google Shape;455;p2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6" name="Google Shape;456;p2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7" name="Google Shape;457;p2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8" name="Google Shape;458;p2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9" name="Shape 459"/>
        <p:cNvGrpSpPr/>
        <p:nvPr/>
      </p:nvGrpSpPr>
      <p:grpSpPr>
        <a:xfrm>
          <a:off x="0" y="0"/>
          <a:ext cx="0" cy="0"/>
          <a:chOff x="0" y="0"/>
          <a:chExt cx="0" cy="0"/>
        </a:xfrm>
      </p:grpSpPr>
      <p:sp>
        <p:nvSpPr>
          <p:cNvPr id="460" name="Google Shape;460;p2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2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2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3" name="Google Shape;463;p2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4" name="Shape 464"/>
        <p:cNvGrpSpPr/>
        <p:nvPr/>
      </p:nvGrpSpPr>
      <p:grpSpPr>
        <a:xfrm>
          <a:off x="0" y="0"/>
          <a:ext cx="0" cy="0"/>
          <a:chOff x="0" y="0"/>
          <a:chExt cx="0" cy="0"/>
        </a:xfrm>
      </p:grpSpPr>
      <p:sp>
        <p:nvSpPr>
          <p:cNvPr id="465" name="Google Shape;465;p2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6" name="Google Shape;466;p2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7" name="Google Shape;467;p2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8" name="Shape 468"/>
        <p:cNvGrpSpPr/>
        <p:nvPr/>
      </p:nvGrpSpPr>
      <p:grpSpPr>
        <a:xfrm>
          <a:off x="0" y="0"/>
          <a:ext cx="0" cy="0"/>
          <a:chOff x="0" y="0"/>
          <a:chExt cx="0" cy="0"/>
        </a:xfrm>
      </p:grpSpPr>
      <p:sp>
        <p:nvSpPr>
          <p:cNvPr id="469" name="Google Shape;469;p24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0" name="Google Shape;470;p24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71" name="Google Shape;471;p24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72" name="Google Shape;472;p2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3" name="Google Shape;473;p2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4" name="Google Shape;474;p2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75" name="Shape 475"/>
        <p:cNvGrpSpPr/>
        <p:nvPr/>
      </p:nvGrpSpPr>
      <p:grpSpPr>
        <a:xfrm>
          <a:off x="0" y="0"/>
          <a:ext cx="0" cy="0"/>
          <a:chOff x="0" y="0"/>
          <a:chExt cx="0" cy="0"/>
        </a:xfrm>
      </p:grpSpPr>
      <p:sp>
        <p:nvSpPr>
          <p:cNvPr id="476" name="Google Shape;476;p24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7" name="Google Shape;477;p246"/>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478" name="Google Shape;478;p24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79" name="Google Shape;479;p2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0" name="Google Shape;480;p2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1" name="Google Shape;481;p2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82" name="Shape 482"/>
        <p:cNvGrpSpPr/>
        <p:nvPr/>
      </p:nvGrpSpPr>
      <p:grpSpPr>
        <a:xfrm>
          <a:off x="0" y="0"/>
          <a:ext cx="0" cy="0"/>
          <a:chOff x="0" y="0"/>
          <a:chExt cx="0" cy="0"/>
        </a:xfrm>
      </p:grpSpPr>
      <p:sp>
        <p:nvSpPr>
          <p:cNvPr id="483" name="Google Shape;483;p2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4" name="Google Shape;484;p247"/>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85" name="Google Shape;485;p2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6" name="Google Shape;486;p2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7" name="Google Shape;487;p2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88" name="Shape 488"/>
        <p:cNvGrpSpPr/>
        <p:nvPr/>
      </p:nvGrpSpPr>
      <p:grpSpPr>
        <a:xfrm>
          <a:off x="0" y="0"/>
          <a:ext cx="0" cy="0"/>
          <a:chOff x="0" y="0"/>
          <a:chExt cx="0" cy="0"/>
        </a:xfrm>
      </p:grpSpPr>
      <p:sp>
        <p:nvSpPr>
          <p:cNvPr id="489" name="Google Shape;489;p248"/>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0" name="Google Shape;490;p248"/>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1" name="Google Shape;491;p2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2" name="Google Shape;492;p2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3" name="Google Shape;493;p2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3" name="Shape 503"/>
        <p:cNvGrpSpPr/>
        <p:nvPr/>
      </p:nvGrpSpPr>
      <p:grpSpPr>
        <a:xfrm>
          <a:off x="0" y="0"/>
          <a:ext cx="0" cy="0"/>
          <a:chOff x="0" y="0"/>
          <a:chExt cx="0" cy="0"/>
        </a:xfrm>
      </p:grpSpPr>
      <p:sp>
        <p:nvSpPr>
          <p:cNvPr id="504" name="Google Shape;504;p218"/>
          <p:cNvSpPr txBox="1"/>
          <p:nvPr>
            <p:ph type="title"/>
          </p:nvPr>
        </p:nvSpPr>
        <p:spPr>
          <a:xfrm>
            <a:off x="457200" y="267494"/>
            <a:ext cx="8229600" cy="139903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599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5" name="Google Shape;505;p218"/>
          <p:cNvSpPr txBox="1"/>
          <p:nvPr>
            <p:ph idx="1" type="body"/>
          </p:nvPr>
        </p:nvSpPr>
        <p:spPr>
          <a:xfrm>
            <a:off x="457200" y="1882808"/>
            <a:ext cx="8229600" cy="45720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37185" lvl="1" marL="914400" algn="l">
              <a:spcBef>
                <a:spcPts val="360"/>
              </a:spcBef>
              <a:spcAft>
                <a:spcPts val="0"/>
              </a:spcAft>
              <a:buSzPts val="171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06" name="Google Shape;506;p218"/>
          <p:cNvSpPr txBox="1"/>
          <p:nvPr>
            <p:ph idx="10" type="dt"/>
          </p:nvPr>
        </p:nvSpPr>
        <p:spPr>
          <a:xfrm>
            <a:off x="4791456" y="6480048"/>
            <a:ext cx="2133600"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7" name="Google Shape;507;p218"/>
          <p:cNvSpPr txBox="1"/>
          <p:nvPr>
            <p:ph idx="11" type="ftr"/>
          </p:nvPr>
        </p:nvSpPr>
        <p:spPr>
          <a:xfrm>
            <a:off x="457200" y="6480969"/>
            <a:ext cx="4260056" cy="300831"/>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8" name="Google Shape;508;p218"/>
          <p:cNvSpPr txBox="1"/>
          <p:nvPr>
            <p:ph idx="12" type="sldNum"/>
          </p:nvPr>
        </p:nvSpPr>
        <p:spPr>
          <a:xfrm>
            <a:off x="7589520" y="6480969"/>
            <a:ext cx="50292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09" name="Shape 509"/>
        <p:cNvGrpSpPr/>
        <p:nvPr/>
      </p:nvGrpSpPr>
      <p:grpSpPr>
        <a:xfrm>
          <a:off x="0" y="0"/>
          <a:ext cx="0" cy="0"/>
          <a:chOff x="0" y="0"/>
          <a:chExt cx="0" cy="0"/>
        </a:xfrm>
      </p:grpSpPr>
      <p:sp>
        <p:nvSpPr>
          <p:cNvPr id="510" name="Google Shape;510;p255"/>
          <p:cNvSpPr/>
          <p:nvPr/>
        </p:nvSpPr>
        <p:spPr>
          <a:xfrm rot="-5400000">
            <a:off x="7554353" y="5254283"/>
            <a:ext cx="1892949" cy="1294228"/>
          </a:xfrm>
          <a:prstGeom prst="triangle">
            <a:avLst>
              <a:gd fmla="val 51323" name="adj"/>
            </a:avLst>
          </a:prstGeom>
          <a:gradFill>
            <a:gsLst>
              <a:gs pos="0">
                <a:srgbClr val="B2004A"/>
              </a:gs>
              <a:gs pos="60000">
                <a:srgbClr val="FF0082"/>
              </a:gs>
              <a:gs pos="100000">
                <a:srgbClr val="FF66A4"/>
              </a:gs>
            </a:gsLst>
            <a:lin ang="15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1" name="Google Shape;511;p255"/>
          <p:cNvSpPr txBox="1"/>
          <p:nvPr>
            <p:ph type="ctrTitle"/>
          </p:nvPr>
        </p:nvSpPr>
        <p:spPr>
          <a:xfrm>
            <a:off x="540544" y="776288"/>
            <a:ext cx="8062912" cy="1470025"/>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rgbClr val="FF599C"/>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2" name="Google Shape;512;p255"/>
          <p:cNvSpPr txBox="1"/>
          <p:nvPr>
            <p:ph idx="1" type="subTitle"/>
          </p:nvPr>
        </p:nvSpPr>
        <p:spPr>
          <a:xfrm>
            <a:off x="540544" y="2250280"/>
            <a:ext cx="8062912" cy="1752600"/>
          </a:xfrm>
          <a:prstGeom prst="rect">
            <a:avLst/>
          </a:prstGeom>
          <a:noFill/>
          <a:ln>
            <a:noFill/>
          </a:ln>
        </p:spPr>
        <p:txBody>
          <a:bodyPr anchorCtr="0" anchor="t" bIns="45700" lIns="91425" spcFirstLastPara="1" rIns="91425" wrap="square" tIns="45700">
            <a:normAutofit/>
          </a:bodyPr>
          <a:lstStyle>
            <a:lvl1pPr lvl="0" marR="36576" algn="r">
              <a:spcBef>
                <a:spcPts val="0"/>
              </a:spcBef>
              <a:spcAft>
                <a:spcPts val="0"/>
              </a:spcAft>
              <a:buSzPts val="2400"/>
              <a:buNone/>
              <a:defRPr>
                <a:solidFill>
                  <a:schemeClr val="lt1"/>
                </a:solidFill>
              </a:defRPr>
            </a:lvl1pPr>
            <a:lvl2pPr lvl="1" algn="ctr">
              <a:spcBef>
                <a:spcPts val="360"/>
              </a:spcBef>
              <a:spcAft>
                <a:spcPts val="0"/>
              </a:spcAft>
              <a:buSzPts val="1710"/>
              <a:buNone/>
              <a:defRPr/>
            </a:lvl2pPr>
            <a:lvl3pPr lvl="2" algn="ctr">
              <a:spcBef>
                <a:spcPts val="360"/>
              </a:spcBef>
              <a:spcAft>
                <a:spcPts val="0"/>
              </a:spcAft>
              <a:buSzPts val="180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513" name="Google Shape;513;p255"/>
          <p:cNvSpPr txBox="1"/>
          <p:nvPr>
            <p:ph idx="10" type="dt"/>
          </p:nvPr>
        </p:nvSpPr>
        <p:spPr>
          <a:xfrm>
            <a:off x="1371600" y="6012656"/>
            <a:ext cx="5791200" cy="365125"/>
          </a:xfrm>
          <a:prstGeom prst="rect">
            <a:avLst/>
          </a:prstGeom>
          <a:noFill/>
          <a:ln>
            <a:noFill/>
          </a:ln>
        </p:spPr>
        <p:txBody>
          <a:bodyPr anchorCtr="0" anchor="t" bIns="0" lIns="91425" spcFirstLastPara="1" rIns="91425" wrap="square" tIns="0">
            <a:noAutofit/>
          </a:bodyPr>
          <a:lstStyle>
            <a:lvl1pPr lvl="0" algn="r">
              <a:spcBef>
                <a:spcPts val="0"/>
              </a:spcBef>
              <a:spcAft>
                <a:spcPts val="0"/>
              </a:spcAft>
              <a:buSzPts val="1400"/>
              <a:buNone/>
              <a:defRPr sz="1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4" name="Google Shape;514;p255"/>
          <p:cNvSpPr txBox="1"/>
          <p:nvPr>
            <p:ph idx="11" type="ftr"/>
          </p:nvPr>
        </p:nvSpPr>
        <p:spPr>
          <a:xfrm>
            <a:off x="1371600" y="5650704"/>
            <a:ext cx="5791200" cy="365125"/>
          </a:xfrm>
          <a:prstGeom prst="rect">
            <a:avLst/>
          </a:prstGeom>
          <a:noFill/>
          <a:ln>
            <a:noFill/>
          </a:ln>
        </p:spPr>
        <p:txBody>
          <a:bodyPr anchorCtr="0" anchor="b" bIns="0" lIns="91425" spcFirstLastPara="1" rIns="91425" wrap="square" tIns="0">
            <a:noAutofit/>
          </a:bodyPr>
          <a:lstStyle>
            <a:lvl1pPr lvl="0" algn="r">
              <a:spcBef>
                <a:spcPts val="0"/>
              </a:spcBef>
              <a:spcAft>
                <a:spcPts val="0"/>
              </a:spcAft>
              <a:buSzPts val="1400"/>
              <a:buNone/>
              <a:defRPr sz="11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5" name="Google Shape;515;p255"/>
          <p:cNvSpPr txBox="1"/>
          <p:nvPr>
            <p:ph idx="12" type="sldNum"/>
          </p:nvPr>
        </p:nvSpPr>
        <p:spPr>
          <a:xfrm>
            <a:off x="8392247" y="5752307"/>
            <a:ext cx="502920"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sz="1300">
                <a:solidFill>
                  <a:srgbClr val="FFFFFF"/>
                </a:solidFill>
                <a:latin typeface="Arial"/>
                <a:ea typeface="Arial"/>
                <a:cs typeface="Arial"/>
                <a:sym typeface="Arial"/>
              </a:defRPr>
            </a:lvl1pPr>
            <a:lvl2pPr indent="0" lvl="1" marL="0" algn="ctr">
              <a:spcBef>
                <a:spcPts val="0"/>
              </a:spcBef>
              <a:buNone/>
              <a:defRPr sz="1300">
                <a:solidFill>
                  <a:srgbClr val="FFFFFF"/>
                </a:solidFill>
                <a:latin typeface="Arial"/>
                <a:ea typeface="Arial"/>
                <a:cs typeface="Arial"/>
                <a:sym typeface="Arial"/>
              </a:defRPr>
            </a:lvl2pPr>
            <a:lvl3pPr indent="0" lvl="2" marL="0" algn="ctr">
              <a:spcBef>
                <a:spcPts val="0"/>
              </a:spcBef>
              <a:buNone/>
              <a:defRPr sz="1300">
                <a:solidFill>
                  <a:srgbClr val="FFFFFF"/>
                </a:solidFill>
                <a:latin typeface="Arial"/>
                <a:ea typeface="Arial"/>
                <a:cs typeface="Arial"/>
                <a:sym typeface="Arial"/>
              </a:defRPr>
            </a:lvl3pPr>
            <a:lvl4pPr indent="0" lvl="3" marL="0" algn="ctr">
              <a:spcBef>
                <a:spcPts val="0"/>
              </a:spcBef>
              <a:buNone/>
              <a:defRPr sz="1300">
                <a:solidFill>
                  <a:srgbClr val="FFFFFF"/>
                </a:solidFill>
                <a:latin typeface="Arial"/>
                <a:ea typeface="Arial"/>
                <a:cs typeface="Arial"/>
                <a:sym typeface="Arial"/>
              </a:defRPr>
            </a:lvl4pPr>
            <a:lvl5pPr indent="0" lvl="4" marL="0" algn="ctr">
              <a:spcBef>
                <a:spcPts val="0"/>
              </a:spcBef>
              <a:buNone/>
              <a:defRPr sz="1300">
                <a:solidFill>
                  <a:srgbClr val="FFFFFF"/>
                </a:solidFill>
                <a:latin typeface="Arial"/>
                <a:ea typeface="Arial"/>
                <a:cs typeface="Arial"/>
                <a:sym typeface="Arial"/>
              </a:defRPr>
            </a:lvl5pPr>
            <a:lvl6pPr indent="0" lvl="5" marL="0" algn="ctr">
              <a:spcBef>
                <a:spcPts val="0"/>
              </a:spcBef>
              <a:buNone/>
              <a:defRPr sz="1300">
                <a:solidFill>
                  <a:srgbClr val="FFFFFF"/>
                </a:solidFill>
                <a:latin typeface="Arial"/>
                <a:ea typeface="Arial"/>
                <a:cs typeface="Arial"/>
                <a:sym typeface="Arial"/>
              </a:defRPr>
            </a:lvl6pPr>
            <a:lvl7pPr indent="0" lvl="6" marL="0" algn="ctr">
              <a:spcBef>
                <a:spcPts val="0"/>
              </a:spcBef>
              <a:buNone/>
              <a:defRPr sz="1300">
                <a:solidFill>
                  <a:srgbClr val="FFFFFF"/>
                </a:solidFill>
                <a:latin typeface="Arial"/>
                <a:ea typeface="Arial"/>
                <a:cs typeface="Arial"/>
                <a:sym typeface="Arial"/>
              </a:defRPr>
            </a:lvl7pPr>
            <a:lvl8pPr indent="0" lvl="7" marL="0" algn="ctr">
              <a:spcBef>
                <a:spcPts val="0"/>
              </a:spcBef>
              <a:buNone/>
              <a:defRPr sz="1300">
                <a:solidFill>
                  <a:srgbClr val="FFFFFF"/>
                </a:solidFill>
                <a:latin typeface="Arial"/>
                <a:ea typeface="Arial"/>
                <a:cs typeface="Arial"/>
                <a:sym typeface="Arial"/>
              </a:defRPr>
            </a:lvl8pPr>
            <a:lvl9pPr indent="0" lvl="8" marL="0" algn="ctr">
              <a:spcBef>
                <a:spcPts val="0"/>
              </a:spcBef>
              <a:buNone/>
              <a:defRPr sz="1300">
                <a:solidFill>
                  <a:srgbClr val="FFFFFF"/>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dk1"/>
            </a:gs>
            <a:gs pos="60000">
              <a:schemeClr val="dk1"/>
            </a:gs>
            <a:gs pos="100000">
              <a:srgbClr val="6C6C6C"/>
            </a:gs>
          </a:gsLst>
          <a:lin ang="5400000" scaled="0"/>
        </a:gradFill>
      </p:bgPr>
    </p:bg>
    <p:spTree>
      <p:nvGrpSpPr>
        <p:cNvPr id="516" name="Shape 516"/>
        <p:cNvGrpSpPr/>
        <p:nvPr/>
      </p:nvGrpSpPr>
      <p:grpSpPr>
        <a:xfrm>
          <a:off x="0" y="0"/>
          <a:ext cx="0" cy="0"/>
          <a:chOff x="0" y="0"/>
          <a:chExt cx="0" cy="0"/>
        </a:xfrm>
      </p:grpSpPr>
      <p:sp>
        <p:nvSpPr>
          <p:cNvPr id="517" name="Google Shape;517;p256"/>
          <p:cNvSpPr/>
          <p:nvPr/>
        </p:nvSpPr>
        <p:spPr>
          <a:xfrm flipH="1" rot="10800000">
            <a:off x="7034" y="7034"/>
            <a:ext cx="9129932" cy="6836899"/>
          </a:xfrm>
          <a:prstGeom prst="rtTriangle">
            <a:avLst/>
          </a:prstGeom>
          <a:gradFill>
            <a:gsLst>
              <a:gs pos="0">
                <a:srgbClr val="D2D2D2">
                  <a:alpha val="9803"/>
                </a:srgbClr>
              </a:gs>
              <a:gs pos="70000">
                <a:srgbClr val="D2D2D2">
                  <a:alpha val="7843"/>
                </a:srgbClr>
              </a:gs>
              <a:gs pos="100000">
                <a:srgbClr val="D2D2D2">
                  <a:alpha val="784"/>
                </a:srgbClr>
              </a:gs>
            </a:gsLst>
            <a:lin ang="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8" name="Google Shape;518;p256"/>
          <p:cNvSpPr/>
          <p:nvPr/>
        </p:nvSpPr>
        <p:spPr>
          <a:xfrm flipH="1" rot="-5400000">
            <a:off x="7554353" y="309490"/>
            <a:ext cx="1892949" cy="1294228"/>
          </a:xfrm>
          <a:prstGeom prst="triangle">
            <a:avLst>
              <a:gd fmla="val 51323" name="adj"/>
            </a:avLst>
          </a:prstGeom>
          <a:gradFill>
            <a:gsLst>
              <a:gs pos="0">
                <a:srgbClr val="B2004A"/>
              </a:gs>
              <a:gs pos="60000">
                <a:srgbClr val="FF0082"/>
              </a:gs>
              <a:gs pos="100000">
                <a:srgbClr val="FF66A4"/>
              </a:gs>
            </a:gsLst>
            <a:lin ang="155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9" name="Google Shape;519;p256"/>
          <p:cNvSpPr txBox="1"/>
          <p:nvPr>
            <p:ph idx="10" type="dt"/>
          </p:nvPr>
        </p:nvSpPr>
        <p:spPr>
          <a:xfrm>
            <a:off x="6955632" y="6477000"/>
            <a:ext cx="2133600" cy="304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0" name="Google Shape;520;p256"/>
          <p:cNvSpPr txBox="1"/>
          <p:nvPr>
            <p:ph idx="11" type="ftr"/>
          </p:nvPr>
        </p:nvSpPr>
        <p:spPr>
          <a:xfrm>
            <a:off x="2619376" y="6480969"/>
            <a:ext cx="4260056" cy="300831"/>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1" name="Google Shape;521;p256"/>
          <p:cNvSpPr txBox="1"/>
          <p:nvPr>
            <p:ph idx="12" type="sldNum"/>
          </p:nvPr>
        </p:nvSpPr>
        <p:spPr>
          <a:xfrm>
            <a:off x="8451056" y="809624"/>
            <a:ext cx="502920" cy="300831"/>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cxnSp>
        <p:nvCxnSpPr>
          <p:cNvPr id="522" name="Google Shape;522;p256"/>
          <p:cNvCxnSpPr/>
          <p:nvPr/>
        </p:nvCxnSpPr>
        <p:spPr>
          <a:xfrm rot="10800000">
            <a:off x="6468794" y="9381"/>
            <a:ext cx="2672861" cy="1900210"/>
          </a:xfrm>
          <a:prstGeom prst="straightConnector1">
            <a:avLst/>
          </a:prstGeom>
          <a:noFill/>
          <a:ln cap="rnd" cmpd="sng" w="9525">
            <a:solidFill>
              <a:srgbClr val="C5C5C5">
                <a:alpha val="44705"/>
              </a:srgbClr>
            </a:solidFill>
            <a:prstDash val="solid"/>
            <a:round/>
            <a:headEnd len="sm" w="sm" type="none"/>
            <a:tailEnd len="sm" w="sm" type="none"/>
          </a:ln>
        </p:spPr>
      </p:cxnSp>
      <p:cxnSp>
        <p:nvCxnSpPr>
          <p:cNvPr id="523" name="Google Shape;523;p256"/>
          <p:cNvCxnSpPr/>
          <p:nvPr/>
        </p:nvCxnSpPr>
        <p:spPr>
          <a:xfrm flipH="1" rot="10800000">
            <a:off x="0" y="7034"/>
            <a:ext cx="9136966" cy="6843933"/>
          </a:xfrm>
          <a:prstGeom prst="straightConnector1">
            <a:avLst/>
          </a:prstGeom>
          <a:noFill/>
          <a:ln cap="rnd" cmpd="sng" w="9525">
            <a:solidFill>
              <a:srgbClr val="BEBEBE">
                <a:alpha val="34901"/>
              </a:srgbClr>
            </a:solidFill>
            <a:prstDash val="solid"/>
            <a:round/>
            <a:headEnd len="sm" w="sm" type="none"/>
            <a:tailEnd len="sm" w="sm" type="none"/>
          </a:ln>
        </p:spPr>
      </p:cxnSp>
      <p:sp>
        <p:nvSpPr>
          <p:cNvPr id="524" name="Google Shape;524;p256"/>
          <p:cNvSpPr txBox="1"/>
          <p:nvPr>
            <p:ph type="title"/>
          </p:nvPr>
        </p:nvSpPr>
        <p:spPr>
          <a:xfrm>
            <a:off x="381000" y="271464"/>
            <a:ext cx="7239000" cy="1362075"/>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599C"/>
              </a:buClr>
              <a:buSzPts val="3600"/>
              <a:buFont typeface="Arial"/>
              <a:buNone/>
              <a:defRPr b="1" sz="3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5" name="Google Shape;525;p256"/>
          <p:cNvSpPr txBox="1"/>
          <p:nvPr>
            <p:ph idx="1" type="body"/>
          </p:nvPr>
        </p:nvSpPr>
        <p:spPr>
          <a:xfrm>
            <a:off x="381000" y="1633536"/>
            <a:ext cx="3886200" cy="228600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1600"/>
              <a:buNone/>
              <a:defRPr sz="2000">
                <a:solidFill>
                  <a:schemeClr val="lt1"/>
                </a:solidFill>
              </a:defRPr>
            </a:lvl1pPr>
            <a:lvl2pPr indent="-228600" lvl="1" marL="914400" algn="l">
              <a:spcBef>
                <a:spcPts val="360"/>
              </a:spcBef>
              <a:spcAft>
                <a:spcPts val="0"/>
              </a:spcAft>
              <a:buSzPts val="1710"/>
              <a:buNone/>
              <a:defRPr sz="1800">
                <a:solidFill>
                  <a:schemeClr val="lt1"/>
                </a:solidFill>
              </a:defRPr>
            </a:lvl2pPr>
            <a:lvl3pPr indent="-228600" lvl="2" marL="1371600" algn="l">
              <a:spcBef>
                <a:spcPts val="320"/>
              </a:spcBef>
              <a:spcAft>
                <a:spcPts val="0"/>
              </a:spcAft>
              <a:buSzPts val="160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6" name="Shape 526"/>
        <p:cNvGrpSpPr/>
        <p:nvPr/>
      </p:nvGrpSpPr>
      <p:grpSpPr>
        <a:xfrm>
          <a:off x="0" y="0"/>
          <a:ext cx="0" cy="0"/>
          <a:chOff x="0" y="0"/>
          <a:chExt cx="0" cy="0"/>
        </a:xfrm>
      </p:grpSpPr>
      <p:sp>
        <p:nvSpPr>
          <p:cNvPr id="527" name="Google Shape;527;p257"/>
          <p:cNvSpPr txBox="1"/>
          <p:nvPr>
            <p:ph type="title"/>
          </p:nvPr>
        </p:nvSpPr>
        <p:spPr>
          <a:xfrm>
            <a:off x="457200" y="267494"/>
            <a:ext cx="8229600" cy="139903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599C"/>
              </a:buClr>
              <a:buSzPts val="42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8" name="Google Shape;528;p257"/>
          <p:cNvSpPr txBox="1"/>
          <p:nvPr>
            <p:ph idx="1" type="body"/>
          </p:nvPr>
        </p:nvSpPr>
        <p:spPr>
          <a:xfrm>
            <a:off x="457200" y="1722437"/>
            <a:ext cx="4038600" cy="4525963"/>
          </a:xfrm>
          <a:prstGeom prst="rect">
            <a:avLst/>
          </a:prstGeom>
          <a:noFill/>
          <a:ln>
            <a:noFill/>
          </a:ln>
        </p:spPr>
        <p:txBody>
          <a:bodyPr anchorCtr="0" anchor="t" bIns="45700" lIns="91425" spcFirstLastPara="1" rIns="91425" wrap="square" tIns="45700">
            <a:normAutofit/>
          </a:bodyPr>
          <a:lstStyle>
            <a:lvl1pPr indent="-360680" lvl="0" marL="457200" algn="l">
              <a:spcBef>
                <a:spcPts val="520"/>
              </a:spcBef>
              <a:spcAft>
                <a:spcPts val="0"/>
              </a:spcAft>
              <a:buSzPts val="2080"/>
              <a:buChar char="⦿"/>
              <a:defRPr sz="2600"/>
            </a:lvl1pPr>
            <a:lvl2pPr indent="-373380" lvl="1" marL="914400" algn="l">
              <a:spcBef>
                <a:spcPts val="480"/>
              </a:spcBef>
              <a:spcAft>
                <a:spcPts val="0"/>
              </a:spcAft>
              <a:buSzPts val="228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9" name="Google Shape;529;p257"/>
          <p:cNvSpPr txBox="1"/>
          <p:nvPr>
            <p:ph idx="2" type="body"/>
          </p:nvPr>
        </p:nvSpPr>
        <p:spPr>
          <a:xfrm>
            <a:off x="4648200" y="1722437"/>
            <a:ext cx="4038600" cy="4525963"/>
          </a:xfrm>
          <a:prstGeom prst="rect">
            <a:avLst/>
          </a:prstGeom>
          <a:noFill/>
          <a:ln>
            <a:noFill/>
          </a:ln>
        </p:spPr>
        <p:txBody>
          <a:bodyPr anchorCtr="0" anchor="t" bIns="45700" lIns="91425" spcFirstLastPara="1" rIns="91425" wrap="square" tIns="45700">
            <a:normAutofit/>
          </a:bodyPr>
          <a:lstStyle>
            <a:lvl1pPr indent="-360680" lvl="0" marL="457200" algn="l">
              <a:spcBef>
                <a:spcPts val="520"/>
              </a:spcBef>
              <a:spcAft>
                <a:spcPts val="0"/>
              </a:spcAft>
              <a:buSzPts val="2080"/>
              <a:buChar char="⦿"/>
              <a:defRPr sz="2600"/>
            </a:lvl1pPr>
            <a:lvl2pPr indent="-373380" lvl="1" marL="914400" algn="l">
              <a:spcBef>
                <a:spcPts val="480"/>
              </a:spcBef>
              <a:spcAft>
                <a:spcPts val="0"/>
              </a:spcAft>
              <a:buSzPts val="228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0" name="Google Shape;530;p257"/>
          <p:cNvSpPr txBox="1"/>
          <p:nvPr>
            <p:ph idx="10" type="dt"/>
          </p:nvPr>
        </p:nvSpPr>
        <p:spPr>
          <a:xfrm>
            <a:off x="4791456" y="6480969"/>
            <a:ext cx="2133600"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1" name="Google Shape;531;p257"/>
          <p:cNvSpPr txBox="1"/>
          <p:nvPr>
            <p:ph idx="11" type="ftr"/>
          </p:nvPr>
        </p:nvSpPr>
        <p:spPr>
          <a:xfrm>
            <a:off x="457200" y="6480969"/>
            <a:ext cx="4260056" cy="30175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2" name="Google Shape;532;p257"/>
          <p:cNvSpPr txBox="1"/>
          <p:nvPr>
            <p:ph idx="12" type="sldNum"/>
          </p:nvPr>
        </p:nvSpPr>
        <p:spPr>
          <a:xfrm>
            <a:off x="7589520" y="6480969"/>
            <a:ext cx="50292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bg>
      <p:bgPr>
        <a:gradFill>
          <a:gsLst>
            <a:gs pos="0">
              <a:srgbClr val="494949"/>
            </a:gs>
            <a:gs pos="60000">
              <a:srgbClr val="626262"/>
            </a:gs>
            <a:gs pos="100000">
              <a:srgbClr val="8B8B8B"/>
            </a:gs>
          </a:gsLst>
          <a:lin ang="5400000" scaled="0"/>
        </a:gradFill>
      </p:bgPr>
    </p:bg>
    <p:spTree>
      <p:nvGrpSpPr>
        <p:cNvPr id="533" name="Shape 533"/>
        <p:cNvGrpSpPr/>
        <p:nvPr/>
      </p:nvGrpSpPr>
      <p:grpSpPr>
        <a:xfrm>
          <a:off x="0" y="0"/>
          <a:ext cx="0" cy="0"/>
          <a:chOff x="0" y="0"/>
          <a:chExt cx="0" cy="0"/>
        </a:xfrm>
      </p:grpSpPr>
      <p:sp>
        <p:nvSpPr>
          <p:cNvPr id="534" name="Google Shape;534;p258"/>
          <p:cNvSpPr txBox="1"/>
          <p:nvPr>
            <p:ph type="title"/>
          </p:nvPr>
        </p:nvSpPr>
        <p:spPr>
          <a:xfrm rot="-5400000">
            <a:off x="-2295358" y="2834288"/>
            <a:ext cx="6153912" cy="10668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lt1"/>
              </a:buClr>
              <a:buSzPts val="3300"/>
              <a:buFont typeface="Arial"/>
              <a:buNone/>
              <a:defRPr b="1" sz="33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5" name="Google Shape;535;p258"/>
          <p:cNvSpPr txBox="1"/>
          <p:nvPr>
            <p:ph idx="1" type="body"/>
          </p:nvPr>
        </p:nvSpPr>
        <p:spPr>
          <a:xfrm rot="-5400000">
            <a:off x="146758" y="1508980"/>
            <a:ext cx="3017520" cy="581024"/>
          </a:xfrm>
          <a:prstGeom prst="rect">
            <a:avLst/>
          </a:prstGeom>
          <a:solidFill>
            <a:schemeClr val="dk1"/>
          </a:solid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1280"/>
              <a:buNone/>
              <a:defRPr b="0" sz="1600">
                <a:solidFill>
                  <a:schemeClr val="lt1"/>
                </a:solidFill>
              </a:defRPr>
            </a:lvl1pPr>
            <a:lvl2pPr indent="-228600" lvl="1" marL="914400" algn="l">
              <a:spcBef>
                <a:spcPts val="400"/>
              </a:spcBef>
              <a:spcAft>
                <a:spcPts val="0"/>
              </a:spcAft>
              <a:buSzPts val="19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6" name="Google Shape;536;p258"/>
          <p:cNvSpPr txBox="1"/>
          <p:nvPr>
            <p:ph idx="2" type="body"/>
          </p:nvPr>
        </p:nvSpPr>
        <p:spPr>
          <a:xfrm rot="-5400000">
            <a:off x="146758" y="4645372"/>
            <a:ext cx="3017520" cy="581024"/>
          </a:xfrm>
          <a:prstGeom prst="rect">
            <a:avLst/>
          </a:prstGeom>
          <a:solidFill>
            <a:schemeClr val="dk1"/>
          </a:solid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1280"/>
              <a:buNone/>
              <a:defRPr b="0" sz="1600">
                <a:solidFill>
                  <a:schemeClr val="lt1"/>
                </a:solidFill>
              </a:defRPr>
            </a:lvl1pPr>
            <a:lvl2pPr indent="-228600" lvl="1" marL="914400" algn="l">
              <a:spcBef>
                <a:spcPts val="400"/>
              </a:spcBef>
              <a:spcAft>
                <a:spcPts val="0"/>
              </a:spcAft>
              <a:buSzPts val="19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7" name="Google Shape;537;p258"/>
          <p:cNvSpPr txBox="1"/>
          <p:nvPr>
            <p:ph idx="3" type="body"/>
          </p:nvPr>
        </p:nvSpPr>
        <p:spPr>
          <a:xfrm>
            <a:off x="2022230" y="290732"/>
            <a:ext cx="6858000" cy="3017520"/>
          </a:xfrm>
          <a:prstGeom prst="rect">
            <a:avLst/>
          </a:prstGeom>
          <a:noFill/>
          <a:ln>
            <a:noFill/>
          </a:ln>
        </p:spPr>
        <p:txBody>
          <a:bodyPr anchorCtr="0" anchor="t" bIns="45700" lIns="91425" spcFirstLastPara="1" rIns="91425" wrap="square" tIns="45700">
            <a:normAutofit/>
          </a:bodyPr>
          <a:lstStyle>
            <a:lvl1pPr indent="-350520" lvl="0" marL="457200" algn="l">
              <a:spcBef>
                <a:spcPts val="480"/>
              </a:spcBef>
              <a:spcAft>
                <a:spcPts val="0"/>
              </a:spcAft>
              <a:buSzPts val="1920"/>
              <a:buChar char="⦿"/>
              <a:defRPr sz="2400"/>
            </a:lvl1pPr>
            <a:lvl2pPr indent="-349250" lvl="1" marL="914400" algn="l">
              <a:spcBef>
                <a:spcPts val="400"/>
              </a:spcBef>
              <a:spcAft>
                <a:spcPts val="0"/>
              </a:spcAft>
              <a:buSzPts val="19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8" name="Google Shape;538;p258"/>
          <p:cNvSpPr txBox="1"/>
          <p:nvPr>
            <p:ph idx="4" type="body"/>
          </p:nvPr>
        </p:nvSpPr>
        <p:spPr>
          <a:xfrm>
            <a:off x="2022230" y="3427124"/>
            <a:ext cx="6858000" cy="3017520"/>
          </a:xfrm>
          <a:prstGeom prst="rect">
            <a:avLst/>
          </a:prstGeom>
          <a:noFill/>
          <a:ln>
            <a:noFill/>
          </a:ln>
        </p:spPr>
        <p:txBody>
          <a:bodyPr anchorCtr="0" anchor="t" bIns="45700" lIns="91425" spcFirstLastPara="1" rIns="91425" wrap="square" tIns="45700">
            <a:normAutofit/>
          </a:bodyPr>
          <a:lstStyle>
            <a:lvl1pPr indent="-350520" lvl="0" marL="457200" algn="l">
              <a:spcBef>
                <a:spcPts val="480"/>
              </a:spcBef>
              <a:spcAft>
                <a:spcPts val="0"/>
              </a:spcAft>
              <a:buSzPts val="1920"/>
              <a:buChar char="⦿"/>
              <a:defRPr sz="2400"/>
            </a:lvl1pPr>
            <a:lvl2pPr indent="-349250" lvl="1" marL="914400" algn="l">
              <a:spcBef>
                <a:spcPts val="400"/>
              </a:spcBef>
              <a:spcAft>
                <a:spcPts val="0"/>
              </a:spcAft>
              <a:buSzPts val="19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39" name="Google Shape;539;p258"/>
          <p:cNvSpPr txBox="1"/>
          <p:nvPr>
            <p:ph idx="10" type="dt"/>
          </p:nvPr>
        </p:nvSpPr>
        <p:spPr>
          <a:xfrm>
            <a:off x="4791456" y="6480969"/>
            <a:ext cx="2130552"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0" name="Google Shape;540;p258"/>
          <p:cNvSpPr txBox="1"/>
          <p:nvPr>
            <p:ph idx="11" type="ftr"/>
          </p:nvPr>
        </p:nvSpPr>
        <p:spPr>
          <a:xfrm>
            <a:off x="457200" y="6480969"/>
            <a:ext cx="4261104" cy="30175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1" name="Google Shape;541;p258"/>
          <p:cNvSpPr txBox="1"/>
          <p:nvPr>
            <p:ph idx="12" type="sldNum"/>
          </p:nvPr>
        </p:nvSpPr>
        <p:spPr>
          <a:xfrm>
            <a:off x="7589520" y="6483096"/>
            <a:ext cx="50292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sz="1200">
                <a:solidFill>
                  <a:schemeClr val="lt1"/>
                </a:solidFill>
                <a:latin typeface="Arial"/>
                <a:ea typeface="Arial"/>
                <a:cs typeface="Arial"/>
                <a:sym typeface="Arial"/>
              </a:defRPr>
            </a:lvl1pPr>
            <a:lvl2pPr indent="0" lvl="1" marL="0" algn="ctr">
              <a:spcBef>
                <a:spcPts val="0"/>
              </a:spcBef>
              <a:buNone/>
              <a:defRPr sz="1200">
                <a:solidFill>
                  <a:schemeClr val="lt1"/>
                </a:solidFill>
                <a:latin typeface="Arial"/>
                <a:ea typeface="Arial"/>
                <a:cs typeface="Arial"/>
                <a:sym typeface="Arial"/>
              </a:defRPr>
            </a:lvl2pPr>
            <a:lvl3pPr indent="0" lvl="2" marL="0" algn="ctr">
              <a:spcBef>
                <a:spcPts val="0"/>
              </a:spcBef>
              <a:buNone/>
              <a:defRPr sz="1200">
                <a:solidFill>
                  <a:schemeClr val="lt1"/>
                </a:solidFill>
                <a:latin typeface="Arial"/>
                <a:ea typeface="Arial"/>
                <a:cs typeface="Arial"/>
                <a:sym typeface="Arial"/>
              </a:defRPr>
            </a:lvl3pPr>
            <a:lvl4pPr indent="0" lvl="3" marL="0" algn="ctr">
              <a:spcBef>
                <a:spcPts val="0"/>
              </a:spcBef>
              <a:buNone/>
              <a:defRPr sz="1200">
                <a:solidFill>
                  <a:schemeClr val="lt1"/>
                </a:solidFill>
                <a:latin typeface="Arial"/>
                <a:ea typeface="Arial"/>
                <a:cs typeface="Arial"/>
                <a:sym typeface="Arial"/>
              </a:defRPr>
            </a:lvl4pPr>
            <a:lvl5pPr indent="0" lvl="4" marL="0" algn="ctr">
              <a:spcBef>
                <a:spcPts val="0"/>
              </a:spcBef>
              <a:buNone/>
              <a:defRPr sz="1200">
                <a:solidFill>
                  <a:schemeClr val="lt1"/>
                </a:solidFill>
                <a:latin typeface="Arial"/>
                <a:ea typeface="Arial"/>
                <a:cs typeface="Arial"/>
                <a:sym typeface="Arial"/>
              </a:defRPr>
            </a:lvl5pPr>
            <a:lvl6pPr indent="0" lvl="5" marL="0" algn="ctr">
              <a:spcBef>
                <a:spcPts val="0"/>
              </a:spcBef>
              <a:buNone/>
              <a:defRPr sz="1200">
                <a:solidFill>
                  <a:schemeClr val="lt1"/>
                </a:solidFill>
                <a:latin typeface="Arial"/>
                <a:ea typeface="Arial"/>
                <a:cs typeface="Arial"/>
                <a:sym typeface="Arial"/>
              </a:defRPr>
            </a:lvl6pPr>
            <a:lvl7pPr indent="0" lvl="6" marL="0" algn="ctr">
              <a:spcBef>
                <a:spcPts val="0"/>
              </a:spcBef>
              <a:buNone/>
              <a:defRPr sz="1200">
                <a:solidFill>
                  <a:schemeClr val="lt1"/>
                </a:solidFill>
                <a:latin typeface="Arial"/>
                <a:ea typeface="Arial"/>
                <a:cs typeface="Arial"/>
                <a:sym typeface="Arial"/>
              </a:defRPr>
            </a:lvl7pPr>
            <a:lvl8pPr indent="0" lvl="7" marL="0" algn="ctr">
              <a:spcBef>
                <a:spcPts val="0"/>
              </a:spcBef>
              <a:buNone/>
              <a:defRPr sz="1200">
                <a:solidFill>
                  <a:schemeClr val="lt1"/>
                </a:solidFill>
                <a:latin typeface="Arial"/>
                <a:ea typeface="Arial"/>
                <a:cs typeface="Arial"/>
                <a:sym typeface="Arial"/>
              </a:defRPr>
            </a:lvl8pPr>
            <a:lvl9pPr indent="0" lvl="8" marL="0" algn="ctr">
              <a:spcBef>
                <a:spcPts val="0"/>
              </a:spcBef>
              <a:buNone/>
              <a:defRPr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2" name="Shape 542"/>
        <p:cNvGrpSpPr/>
        <p:nvPr/>
      </p:nvGrpSpPr>
      <p:grpSpPr>
        <a:xfrm>
          <a:off x="0" y="0"/>
          <a:ext cx="0" cy="0"/>
          <a:chOff x="0" y="0"/>
          <a:chExt cx="0" cy="0"/>
        </a:xfrm>
      </p:grpSpPr>
      <p:sp>
        <p:nvSpPr>
          <p:cNvPr id="543" name="Google Shape;543;p259"/>
          <p:cNvSpPr txBox="1"/>
          <p:nvPr>
            <p:ph type="title"/>
          </p:nvPr>
        </p:nvSpPr>
        <p:spPr>
          <a:xfrm>
            <a:off x="457200" y="267494"/>
            <a:ext cx="8229600" cy="139903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599C"/>
              </a:buClr>
              <a:buSzPts val="4200"/>
              <a:buFont typeface="Arial"/>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4" name="Google Shape;544;p259"/>
          <p:cNvSpPr txBox="1"/>
          <p:nvPr>
            <p:ph idx="10" type="dt"/>
          </p:nvPr>
        </p:nvSpPr>
        <p:spPr>
          <a:xfrm>
            <a:off x="4791456" y="6480969"/>
            <a:ext cx="2133600"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5" name="Google Shape;545;p259"/>
          <p:cNvSpPr txBox="1"/>
          <p:nvPr>
            <p:ph idx="11" type="ftr"/>
          </p:nvPr>
        </p:nvSpPr>
        <p:spPr>
          <a:xfrm>
            <a:off x="457200" y="6481890"/>
            <a:ext cx="4260056" cy="300831"/>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6" name="Google Shape;546;p259"/>
          <p:cNvSpPr txBox="1"/>
          <p:nvPr>
            <p:ph idx="12" type="sldNum"/>
          </p:nvPr>
        </p:nvSpPr>
        <p:spPr>
          <a:xfrm>
            <a:off x="7589520" y="6480969"/>
            <a:ext cx="50292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7" name="Shape 547"/>
        <p:cNvGrpSpPr/>
        <p:nvPr/>
      </p:nvGrpSpPr>
      <p:grpSpPr>
        <a:xfrm>
          <a:off x="0" y="0"/>
          <a:ext cx="0" cy="0"/>
          <a:chOff x="0" y="0"/>
          <a:chExt cx="0" cy="0"/>
        </a:xfrm>
      </p:grpSpPr>
      <p:sp>
        <p:nvSpPr>
          <p:cNvPr id="548" name="Google Shape;548;p260"/>
          <p:cNvSpPr txBox="1"/>
          <p:nvPr>
            <p:ph idx="10" type="dt"/>
          </p:nvPr>
        </p:nvSpPr>
        <p:spPr>
          <a:xfrm>
            <a:off x="4791456" y="6480969"/>
            <a:ext cx="2133600"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9" name="Google Shape;549;p260"/>
          <p:cNvSpPr txBox="1"/>
          <p:nvPr>
            <p:ph idx="11" type="ftr"/>
          </p:nvPr>
        </p:nvSpPr>
        <p:spPr>
          <a:xfrm>
            <a:off x="457200" y="6481890"/>
            <a:ext cx="4260056" cy="300831"/>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0" name="Google Shape;550;p260"/>
          <p:cNvSpPr txBox="1"/>
          <p:nvPr>
            <p:ph idx="12" type="sldNum"/>
          </p:nvPr>
        </p:nvSpPr>
        <p:spPr>
          <a:xfrm>
            <a:off x="7589520" y="6480969"/>
            <a:ext cx="50292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rgbClr val="494949"/>
            </a:gs>
            <a:gs pos="60000">
              <a:srgbClr val="626262"/>
            </a:gs>
            <a:gs pos="100000">
              <a:srgbClr val="8B8B8B"/>
            </a:gs>
          </a:gsLst>
          <a:lin ang="5400000" scaled="0"/>
        </a:gradFill>
      </p:bgPr>
    </p:bg>
    <p:spTree>
      <p:nvGrpSpPr>
        <p:cNvPr id="551" name="Shape 551"/>
        <p:cNvGrpSpPr/>
        <p:nvPr/>
      </p:nvGrpSpPr>
      <p:grpSpPr>
        <a:xfrm>
          <a:off x="0" y="0"/>
          <a:ext cx="0" cy="0"/>
          <a:chOff x="0" y="0"/>
          <a:chExt cx="0" cy="0"/>
        </a:xfrm>
      </p:grpSpPr>
      <p:sp>
        <p:nvSpPr>
          <p:cNvPr id="552" name="Google Shape;552;p261"/>
          <p:cNvSpPr txBox="1"/>
          <p:nvPr>
            <p:ph type="title"/>
          </p:nvPr>
        </p:nvSpPr>
        <p:spPr>
          <a:xfrm rot="-5400000">
            <a:off x="-2295144" y="2882264"/>
            <a:ext cx="5943600" cy="914400"/>
          </a:xfrm>
          <a:prstGeom prst="rect">
            <a:avLst/>
          </a:prstGeom>
          <a:noFill/>
          <a:ln>
            <a:noFill/>
          </a:ln>
        </p:spPr>
        <p:txBody>
          <a:bodyPr anchorCtr="0" anchor="b" bIns="45700" lIns="91425" spcFirstLastPara="1" rIns="91425" wrap="square" tIns="45700">
            <a:normAutofit/>
          </a:bodyPr>
          <a:lstStyle>
            <a:lvl1pPr lvl="0" marR="18288" algn="r">
              <a:spcBef>
                <a:spcPts val="0"/>
              </a:spcBef>
              <a:spcAft>
                <a:spcPts val="0"/>
              </a:spcAft>
              <a:buClr>
                <a:srgbClr val="FF599C"/>
              </a:buClr>
              <a:buSzPts val="2900"/>
              <a:buFont typeface="Arial"/>
              <a:buNone/>
              <a:defRPr b="0" sz="29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3" name="Google Shape;553;p261"/>
          <p:cNvSpPr txBox="1"/>
          <p:nvPr>
            <p:ph idx="1" type="body"/>
          </p:nvPr>
        </p:nvSpPr>
        <p:spPr>
          <a:xfrm>
            <a:off x="1135856" y="367664"/>
            <a:ext cx="2438400" cy="5943600"/>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120"/>
              <a:buNone/>
              <a:defRPr sz="1400"/>
            </a:lvl1pPr>
            <a:lvl2pPr indent="-228600" lvl="1" marL="914400" algn="l">
              <a:spcBef>
                <a:spcPts val="240"/>
              </a:spcBef>
              <a:spcAft>
                <a:spcPts val="0"/>
              </a:spcAft>
              <a:buSzPts val="114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54" name="Google Shape;554;p261"/>
          <p:cNvSpPr txBox="1"/>
          <p:nvPr>
            <p:ph idx="2" type="body"/>
          </p:nvPr>
        </p:nvSpPr>
        <p:spPr>
          <a:xfrm>
            <a:off x="3651250" y="320040"/>
            <a:ext cx="5276088" cy="5989320"/>
          </a:xfrm>
          <a:prstGeom prst="rect">
            <a:avLst/>
          </a:prstGeom>
          <a:noFill/>
          <a:ln>
            <a:noFill/>
          </a:ln>
        </p:spPr>
        <p:txBody>
          <a:bodyPr anchorCtr="0" anchor="t" bIns="45700" lIns="91425" spcFirstLastPara="1" rIns="91425" wrap="square" tIns="45700">
            <a:normAutofit/>
          </a:bodyPr>
          <a:lstStyle>
            <a:lvl1pPr indent="-381000" lvl="0" marL="457200" algn="l">
              <a:spcBef>
                <a:spcPts val="0"/>
              </a:spcBef>
              <a:spcAft>
                <a:spcPts val="0"/>
              </a:spcAft>
              <a:buSzPts val="2400"/>
              <a:buChar char="⦿"/>
              <a:defRPr sz="3000"/>
            </a:lvl1pPr>
            <a:lvl2pPr indent="-385444" lvl="1" marL="914400" algn="l">
              <a:spcBef>
                <a:spcPts val="520"/>
              </a:spcBef>
              <a:spcAft>
                <a:spcPts val="0"/>
              </a:spcAft>
              <a:buSzPts val="2470"/>
              <a:buChar char="›"/>
              <a:defRPr sz="2600"/>
            </a:lvl2pPr>
            <a:lvl3pPr indent="-381000" lvl="2" marL="1371600" algn="l">
              <a:spcBef>
                <a:spcPts val="48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55" name="Google Shape;555;p261"/>
          <p:cNvSpPr txBox="1"/>
          <p:nvPr>
            <p:ph idx="10" type="dt"/>
          </p:nvPr>
        </p:nvSpPr>
        <p:spPr>
          <a:xfrm>
            <a:off x="6278976" y="6556248"/>
            <a:ext cx="2133600"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6" name="Google Shape;556;p261"/>
          <p:cNvSpPr txBox="1"/>
          <p:nvPr>
            <p:ph idx="11" type="ftr"/>
          </p:nvPr>
        </p:nvSpPr>
        <p:spPr>
          <a:xfrm>
            <a:off x="1135856" y="6556248"/>
            <a:ext cx="5143120" cy="30175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7" name="Google Shape;557;p261"/>
          <p:cNvSpPr txBox="1"/>
          <p:nvPr>
            <p:ph idx="12" type="sldNum"/>
          </p:nvPr>
        </p:nvSpPr>
        <p:spPr>
          <a:xfrm>
            <a:off x="8410576" y="6556248"/>
            <a:ext cx="50292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sz="900">
                <a:solidFill>
                  <a:schemeClr val="lt1"/>
                </a:solidFill>
                <a:latin typeface="Arial"/>
                <a:ea typeface="Arial"/>
                <a:cs typeface="Arial"/>
                <a:sym typeface="Arial"/>
              </a:defRPr>
            </a:lvl1pPr>
            <a:lvl2pPr indent="0" lvl="1" marL="0" algn="ctr">
              <a:spcBef>
                <a:spcPts val="0"/>
              </a:spcBef>
              <a:buNone/>
              <a:defRPr sz="900">
                <a:solidFill>
                  <a:schemeClr val="lt1"/>
                </a:solidFill>
                <a:latin typeface="Arial"/>
                <a:ea typeface="Arial"/>
                <a:cs typeface="Arial"/>
                <a:sym typeface="Arial"/>
              </a:defRPr>
            </a:lvl2pPr>
            <a:lvl3pPr indent="0" lvl="2" marL="0" algn="ctr">
              <a:spcBef>
                <a:spcPts val="0"/>
              </a:spcBef>
              <a:buNone/>
              <a:defRPr sz="900">
                <a:solidFill>
                  <a:schemeClr val="lt1"/>
                </a:solidFill>
                <a:latin typeface="Arial"/>
                <a:ea typeface="Arial"/>
                <a:cs typeface="Arial"/>
                <a:sym typeface="Arial"/>
              </a:defRPr>
            </a:lvl3pPr>
            <a:lvl4pPr indent="0" lvl="3" marL="0" algn="ctr">
              <a:spcBef>
                <a:spcPts val="0"/>
              </a:spcBef>
              <a:buNone/>
              <a:defRPr sz="900">
                <a:solidFill>
                  <a:schemeClr val="lt1"/>
                </a:solidFill>
                <a:latin typeface="Arial"/>
                <a:ea typeface="Arial"/>
                <a:cs typeface="Arial"/>
                <a:sym typeface="Arial"/>
              </a:defRPr>
            </a:lvl4pPr>
            <a:lvl5pPr indent="0" lvl="4" marL="0" algn="ctr">
              <a:spcBef>
                <a:spcPts val="0"/>
              </a:spcBef>
              <a:buNone/>
              <a:defRPr sz="900">
                <a:solidFill>
                  <a:schemeClr val="lt1"/>
                </a:solidFill>
                <a:latin typeface="Arial"/>
                <a:ea typeface="Arial"/>
                <a:cs typeface="Arial"/>
                <a:sym typeface="Arial"/>
              </a:defRPr>
            </a:lvl5pPr>
            <a:lvl6pPr indent="0" lvl="5" marL="0" algn="ctr">
              <a:spcBef>
                <a:spcPts val="0"/>
              </a:spcBef>
              <a:buNone/>
              <a:defRPr sz="900">
                <a:solidFill>
                  <a:schemeClr val="lt1"/>
                </a:solidFill>
                <a:latin typeface="Arial"/>
                <a:ea typeface="Arial"/>
                <a:cs typeface="Arial"/>
                <a:sym typeface="Arial"/>
              </a:defRPr>
            </a:lvl6pPr>
            <a:lvl7pPr indent="0" lvl="6" marL="0" algn="ctr">
              <a:spcBef>
                <a:spcPts val="0"/>
              </a:spcBef>
              <a:buNone/>
              <a:defRPr sz="900">
                <a:solidFill>
                  <a:schemeClr val="lt1"/>
                </a:solidFill>
                <a:latin typeface="Arial"/>
                <a:ea typeface="Arial"/>
                <a:cs typeface="Arial"/>
                <a:sym typeface="Arial"/>
              </a:defRPr>
            </a:lvl7pPr>
            <a:lvl8pPr indent="0" lvl="7" marL="0" algn="ctr">
              <a:spcBef>
                <a:spcPts val="0"/>
              </a:spcBef>
              <a:buNone/>
              <a:defRPr sz="900">
                <a:solidFill>
                  <a:schemeClr val="lt1"/>
                </a:solidFill>
                <a:latin typeface="Arial"/>
                <a:ea typeface="Arial"/>
                <a:cs typeface="Arial"/>
                <a:sym typeface="Arial"/>
              </a:defRPr>
            </a:lvl8pPr>
            <a:lvl9pPr indent="0" lvl="8" marL="0" algn="ctr">
              <a:spcBef>
                <a:spcPts val="0"/>
              </a:spcBef>
              <a:buNone/>
              <a:defRPr sz="9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dk1"/>
            </a:gs>
            <a:gs pos="60000">
              <a:schemeClr val="dk1"/>
            </a:gs>
            <a:gs pos="100000">
              <a:srgbClr val="6C6C6C"/>
            </a:gs>
          </a:gsLst>
          <a:lin ang="5400000" scaled="0"/>
        </a:gradFill>
      </p:bgPr>
    </p:bg>
    <p:spTree>
      <p:nvGrpSpPr>
        <p:cNvPr id="558" name="Shape 558"/>
        <p:cNvGrpSpPr/>
        <p:nvPr/>
      </p:nvGrpSpPr>
      <p:grpSpPr>
        <a:xfrm>
          <a:off x="0" y="0"/>
          <a:ext cx="0" cy="0"/>
          <a:chOff x="0" y="0"/>
          <a:chExt cx="0" cy="0"/>
        </a:xfrm>
      </p:grpSpPr>
      <p:sp>
        <p:nvSpPr>
          <p:cNvPr id="559" name="Google Shape;559;p262"/>
          <p:cNvSpPr txBox="1"/>
          <p:nvPr>
            <p:ph type="title"/>
          </p:nvPr>
        </p:nvSpPr>
        <p:spPr>
          <a:xfrm rot="-5400000">
            <a:off x="-2523744" y="2894096"/>
            <a:ext cx="64008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599C"/>
              </a:buClr>
              <a:buSzPts val="3000"/>
              <a:buFont typeface="Arial"/>
              <a:buNone/>
              <a:defRPr b="0" sz="3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0" name="Google Shape;560;p262"/>
          <p:cNvSpPr/>
          <p:nvPr>
            <p:ph idx="2" type="pic"/>
          </p:nvPr>
        </p:nvSpPr>
        <p:spPr>
          <a:xfrm>
            <a:off x="1138237" y="373966"/>
            <a:ext cx="7333488" cy="5486400"/>
          </a:xfrm>
          <a:prstGeom prst="rect">
            <a:avLst/>
          </a:prstGeom>
          <a:solidFill>
            <a:srgbClr val="4A4A4A"/>
          </a:solidFill>
          <a:ln>
            <a:noFill/>
          </a:ln>
        </p:spPr>
        <p:txBody>
          <a:bodyPr anchorCtr="0" anchor="t" bIns="45700" lIns="91425" spcFirstLastPara="1" rIns="91425" wrap="square" tIns="45700">
            <a:normAutofit/>
          </a:bodyPr>
          <a:lstStyle>
            <a:lvl1pPr lvl="0" marR="0" rtl="0" algn="l">
              <a:spcBef>
                <a:spcPts val="640"/>
              </a:spcBef>
              <a:spcAft>
                <a:spcPts val="0"/>
              </a:spcAft>
              <a:buClr>
                <a:schemeClr val="accent1"/>
              </a:buClr>
              <a:buSzPts val="2560"/>
              <a:buFont typeface="Noto Sans Symbols"/>
              <a:buNone/>
              <a:defRPr b="0" i="0" sz="3200" u="none" cap="none" strike="noStrike">
                <a:solidFill>
                  <a:schemeClr val="lt1"/>
                </a:solidFill>
                <a:latin typeface="Arial"/>
                <a:ea typeface="Arial"/>
                <a:cs typeface="Arial"/>
                <a:sym typeface="Arial"/>
              </a:defRPr>
            </a:lvl1pPr>
            <a:lvl2pPr lvl="1" marR="0" rtl="0" algn="l">
              <a:spcBef>
                <a:spcPts val="520"/>
              </a:spcBef>
              <a:spcAft>
                <a:spcPts val="0"/>
              </a:spcAft>
              <a:buClr>
                <a:schemeClr val="accent1"/>
              </a:buClr>
              <a:buSzPts val="2470"/>
              <a:buFont typeface="Verdana"/>
              <a:buChar char="›"/>
              <a:defRPr b="0" i="0" sz="2600" u="none" cap="none" strike="noStrike">
                <a:solidFill>
                  <a:schemeClr val="lt1"/>
                </a:solidFill>
                <a:latin typeface="Arial"/>
                <a:ea typeface="Arial"/>
                <a:cs typeface="Arial"/>
                <a:sym typeface="Arial"/>
              </a:defRPr>
            </a:lvl2pPr>
            <a:lvl3pPr lvl="2" marR="0" rtl="0" algn="l">
              <a:spcBef>
                <a:spcPts val="480"/>
              </a:spcBef>
              <a:spcAft>
                <a:spcPts val="0"/>
              </a:spcAft>
              <a:buClr>
                <a:schemeClr val="accent1"/>
              </a:buClr>
              <a:buSzPts val="2400"/>
              <a:buFont typeface="Noto Sans Symbols"/>
              <a:buChar char="●"/>
              <a:defRPr b="0" i="0" sz="2400" u="none" cap="none" strike="noStrike">
                <a:solidFill>
                  <a:schemeClr val="lt1"/>
                </a:solidFill>
                <a:latin typeface="Arial"/>
                <a:ea typeface="Arial"/>
                <a:cs typeface="Arial"/>
                <a:sym typeface="Arial"/>
              </a:defRPr>
            </a:lvl3pPr>
            <a:lvl4pPr lvl="3" marR="0" rtl="0" algn="l">
              <a:spcBef>
                <a:spcPts val="400"/>
              </a:spcBef>
              <a:spcAft>
                <a:spcPts val="0"/>
              </a:spcAft>
              <a:buClr>
                <a:schemeClr val="accent1"/>
              </a:buClr>
              <a:buSzPts val="2000"/>
              <a:buFont typeface="Noto Sans Symbols"/>
              <a:buChar char="●"/>
              <a:defRPr b="0" i="0" sz="2000" u="none" cap="none" strike="noStrike">
                <a:solidFill>
                  <a:schemeClr val="lt1"/>
                </a:solidFill>
                <a:latin typeface="Arial"/>
                <a:ea typeface="Arial"/>
                <a:cs typeface="Arial"/>
                <a:sym typeface="Arial"/>
              </a:defRPr>
            </a:lvl4pPr>
            <a:lvl5pPr lvl="4" marR="0" rtl="0" algn="l">
              <a:spcBef>
                <a:spcPts val="380"/>
              </a:spcBef>
              <a:spcAft>
                <a:spcPts val="0"/>
              </a:spcAft>
              <a:buClr>
                <a:srgbClr val="FF8EB1"/>
              </a:buClr>
              <a:buSzPts val="1900"/>
              <a:buFont typeface="Noto Sans Symbols"/>
              <a:buChar char="●"/>
              <a:defRPr b="0" i="0" sz="1900" u="none" cap="none" strike="noStrike">
                <a:solidFill>
                  <a:schemeClr val="lt1"/>
                </a:solidFill>
                <a:latin typeface="Arial"/>
                <a:ea typeface="Arial"/>
                <a:cs typeface="Arial"/>
                <a:sym typeface="Arial"/>
              </a:defRPr>
            </a:lvl5pPr>
            <a:lvl6pPr lvl="5" marR="0" rtl="0" algn="l">
              <a:spcBef>
                <a:spcPts val="360"/>
              </a:spcBef>
              <a:spcAft>
                <a:spcPts val="0"/>
              </a:spcAft>
              <a:buClr>
                <a:srgbClr val="FF8EB1"/>
              </a:buClr>
              <a:buSzPts val="1800"/>
              <a:buFont typeface="Noto Sans Symbols"/>
              <a:buChar char="●"/>
              <a:defRPr b="0" i="0" sz="1800" u="none" cap="none" strike="noStrike">
                <a:solidFill>
                  <a:schemeClr val="lt1"/>
                </a:solidFill>
                <a:latin typeface="Arial"/>
                <a:ea typeface="Arial"/>
                <a:cs typeface="Arial"/>
                <a:sym typeface="Arial"/>
              </a:defRPr>
            </a:lvl6pPr>
            <a:lvl7pPr lvl="6" marR="0" rtl="0" algn="l">
              <a:spcBef>
                <a:spcPts val="320"/>
              </a:spcBef>
              <a:spcAft>
                <a:spcPts val="0"/>
              </a:spcAft>
              <a:buClr>
                <a:srgbClr val="FF8EB1"/>
              </a:buClr>
              <a:buSzPts val="1600"/>
              <a:buFont typeface="Noto Sans Symbols"/>
              <a:buChar char="●"/>
              <a:defRPr b="0" i="0" sz="1600" u="none" cap="none" strike="noStrike">
                <a:solidFill>
                  <a:schemeClr val="lt1"/>
                </a:solidFill>
                <a:latin typeface="Arial"/>
                <a:ea typeface="Arial"/>
                <a:cs typeface="Arial"/>
                <a:sym typeface="Arial"/>
              </a:defRPr>
            </a:lvl7pPr>
            <a:lvl8pPr lvl="7" marR="0" rtl="0" algn="l">
              <a:spcBef>
                <a:spcPts val="320"/>
              </a:spcBef>
              <a:spcAft>
                <a:spcPts val="0"/>
              </a:spcAft>
              <a:buClr>
                <a:srgbClr val="FF8EB1"/>
              </a:buClr>
              <a:buSzPts val="1600"/>
              <a:buFont typeface="Noto Sans Symbols"/>
              <a:buChar char="●"/>
              <a:defRPr b="0" i="0" sz="1600" u="none" cap="none" strike="noStrike">
                <a:solidFill>
                  <a:schemeClr val="lt1"/>
                </a:solidFill>
                <a:latin typeface="Arial"/>
                <a:ea typeface="Arial"/>
                <a:cs typeface="Arial"/>
                <a:sym typeface="Arial"/>
              </a:defRPr>
            </a:lvl8pPr>
            <a:lvl9pPr lvl="8" marR="0" rtl="0" algn="l">
              <a:spcBef>
                <a:spcPts val="320"/>
              </a:spcBef>
              <a:spcAft>
                <a:spcPts val="0"/>
              </a:spcAft>
              <a:buClr>
                <a:srgbClr val="FF8EB1"/>
              </a:buClr>
              <a:buSzPts val="1600"/>
              <a:buFont typeface="Noto Sans Symbols"/>
              <a:buChar char="●"/>
              <a:defRPr b="0" i="0" sz="1600" u="none" cap="none" strike="noStrike">
                <a:solidFill>
                  <a:schemeClr val="lt1"/>
                </a:solidFill>
                <a:latin typeface="Arial"/>
                <a:ea typeface="Arial"/>
                <a:cs typeface="Arial"/>
                <a:sym typeface="Arial"/>
              </a:defRPr>
            </a:lvl9pPr>
          </a:lstStyle>
          <a:p/>
        </p:txBody>
      </p:sp>
      <p:sp>
        <p:nvSpPr>
          <p:cNvPr id="561" name="Google Shape;561;p262"/>
          <p:cNvSpPr txBox="1"/>
          <p:nvPr>
            <p:ph idx="1" type="body"/>
          </p:nvPr>
        </p:nvSpPr>
        <p:spPr>
          <a:xfrm>
            <a:off x="1143000" y="5867400"/>
            <a:ext cx="7333488" cy="685800"/>
          </a:xfrm>
          <a:prstGeom prst="rect">
            <a:avLst/>
          </a:prstGeom>
          <a:solidFill>
            <a:schemeClr val="accent1">
              <a:alpha val="14901"/>
            </a:schemeClr>
          </a:soli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normAutofit/>
          </a:bodyPr>
          <a:lstStyle>
            <a:lvl1pPr indent="-228600" lvl="0" marL="457200" algn="l">
              <a:spcBef>
                <a:spcPts val="0"/>
              </a:spcBef>
              <a:spcAft>
                <a:spcPts val="0"/>
              </a:spcAft>
              <a:buSzPts val="1120"/>
              <a:buNone/>
              <a:defRPr sz="1400"/>
            </a:lvl1pPr>
            <a:lvl2pPr indent="-300990" lvl="1" marL="914400" algn="l">
              <a:spcBef>
                <a:spcPts val="240"/>
              </a:spcBef>
              <a:spcAft>
                <a:spcPts val="0"/>
              </a:spcAft>
              <a:buSzPts val="1140"/>
              <a:buChar char="›"/>
              <a:defRPr sz="1200"/>
            </a:lvl2pPr>
            <a:lvl3pPr indent="-292100" lvl="2" marL="1371600" algn="l">
              <a:spcBef>
                <a:spcPts val="200"/>
              </a:spcBef>
              <a:spcAft>
                <a:spcPts val="0"/>
              </a:spcAft>
              <a:buSzPts val="1000"/>
              <a:buChar char="●"/>
              <a:defRPr sz="1000"/>
            </a:lvl3pPr>
            <a:lvl4pPr indent="-285750" lvl="3" marL="1828800" algn="l">
              <a:spcBef>
                <a:spcPts val="180"/>
              </a:spcBef>
              <a:spcAft>
                <a:spcPts val="0"/>
              </a:spcAft>
              <a:buSzPts val="900"/>
              <a:buChar char="●"/>
              <a:defRPr sz="900"/>
            </a:lvl4pPr>
            <a:lvl5pPr indent="-285750" lvl="4" marL="2286000" algn="l">
              <a:spcBef>
                <a:spcPts val="180"/>
              </a:spcBef>
              <a:spcAft>
                <a:spcPts val="0"/>
              </a:spcAft>
              <a:buSzPts val="900"/>
              <a:buChar char="●"/>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62" name="Google Shape;562;p262"/>
          <p:cNvSpPr txBox="1"/>
          <p:nvPr>
            <p:ph idx="10" type="dt"/>
          </p:nvPr>
        </p:nvSpPr>
        <p:spPr>
          <a:xfrm>
            <a:off x="6108192" y="6556248"/>
            <a:ext cx="2103120"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3" name="Google Shape;563;p262"/>
          <p:cNvSpPr txBox="1"/>
          <p:nvPr>
            <p:ph idx="11" type="ftr"/>
          </p:nvPr>
        </p:nvSpPr>
        <p:spPr>
          <a:xfrm>
            <a:off x="1170432" y="6557169"/>
            <a:ext cx="4948072" cy="30175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9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4" name="Google Shape;564;p262"/>
          <p:cNvSpPr txBox="1"/>
          <p:nvPr>
            <p:ph idx="12" type="sldNum"/>
          </p:nvPr>
        </p:nvSpPr>
        <p:spPr>
          <a:xfrm>
            <a:off x="8217192" y="6556248"/>
            <a:ext cx="36576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sz="900">
                <a:solidFill>
                  <a:schemeClr val="lt1"/>
                </a:solidFill>
                <a:latin typeface="Arial"/>
                <a:ea typeface="Arial"/>
                <a:cs typeface="Arial"/>
                <a:sym typeface="Arial"/>
              </a:defRPr>
            </a:lvl1pPr>
            <a:lvl2pPr indent="0" lvl="1" marL="0" algn="ctr">
              <a:spcBef>
                <a:spcPts val="0"/>
              </a:spcBef>
              <a:buNone/>
              <a:defRPr sz="900">
                <a:solidFill>
                  <a:schemeClr val="lt1"/>
                </a:solidFill>
                <a:latin typeface="Arial"/>
                <a:ea typeface="Arial"/>
                <a:cs typeface="Arial"/>
                <a:sym typeface="Arial"/>
              </a:defRPr>
            </a:lvl2pPr>
            <a:lvl3pPr indent="0" lvl="2" marL="0" algn="ctr">
              <a:spcBef>
                <a:spcPts val="0"/>
              </a:spcBef>
              <a:buNone/>
              <a:defRPr sz="900">
                <a:solidFill>
                  <a:schemeClr val="lt1"/>
                </a:solidFill>
                <a:latin typeface="Arial"/>
                <a:ea typeface="Arial"/>
                <a:cs typeface="Arial"/>
                <a:sym typeface="Arial"/>
              </a:defRPr>
            </a:lvl3pPr>
            <a:lvl4pPr indent="0" lvl="3" marL="0" algn="ctr">
              <a:spcBef>
                <a:spcPts val="0"/>
              </a:spcBef>
              <a:buNone/>
              <a:defRPr sz="900">
                <a:solidFill>
                  <a:schemeClr val="lt1"/>
                </a:solidFill>
                <a:latin typeface="Arial"/>
                <a:ea typeface="Arial"/>
                <a:cs typeface="Arial"/>
                <a:sym typeface="Arial"/>
              </a:defRPr>
            </a:lvl4pPr>
            <a:lvl5pPr indent="0" lvl="4" marL="0" algn="ctr">
              <a:spcBef>
                <a:spcPts val="0"/>
              </a:spcBef>
              <a:buNone/>
              <a:defRPr sz="900">
                <a:solidFill>
                  <a:schemeClr val="lt1"/>
                </a:solidFill>
                <a:latin typeface="Arial"/>
                <a:ea typeface="Arial"/>
                <a:cs typeface="Arial"/>
                <a:sym typeface="Arial"/>
              </a:defRPr>
            </a:lvl5pPr>
            <a:lvl6pPr indent="0" lvl="5" marL="0" algn="ctr">
              <a:spcBef>
                <a:spcPts val="0"/>
              </a:spcBef>
              <a:buNone/>
              <a:defRPr sz="900">
                <a:solidFill>
                  <a:schemeClr val="lt1"/>
                </a:solidFill>
                <a:latin typeface="Arial"/>
                <a:ea typeface="Arial"/>
                <a:cs typeface="Arial"/>
                <a:sym typeface="Arial"/>
              </a:defRPr>
            </a:lvl6pPr>
            <a:lvl7pPr indent="0" lvl="6" marL="0" algn="ctr">
              <a:spcBef>
                <a:spcPts val="0"/>
              </a:spcBef>
              <a:buNone/>
              <a:defRPr sz="900">
                <a:solidFill>
                  <a:schemeClr val="lt1"/>
                </a:solidFill>
                <a:latin typeface="Arial"/>
                <a:ea typeface="Arial"/>
                <a:cs typeface="Arial"/>
                <a:sym typeface="Arial"/>
              </a:defRPr>
            </a:lvl7pPr>
            <a:lvl8pPr indent="0" lvl="7" marL="0" algn="ctr">
              <a:spcBef>
                <a:spcPts val="0"/>
              </a:spcBef>
              <a:buNone/>
              <a:defRPr sz="900">
                <a:solidFill>
                  <a:schemeClr val="lt1"/>
                </a:solidFill>
                <a:latin typeface="Arial"/>
                <a:ea typeface="Arial"/>
                <a:cs typeface="Arial"/>
                <a:sym typeface="Arial"/>
              </a:defRPr>
            </a:lvl8pPr>
            <a:lvl9pPr indent="0" lvl="8" marL="0" algn="ctr">
              <a:spcBef>
                <a:spcPts val="0"/>
              </a:spcBef>
              <a:buNone/>
              <a:defRPr sz="9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65" name="Shape 565"/>
        <p:cNvGrpSpPr/>
        <p:nvPr/>
      </p:nvGrpSpPr>
      <p:grpSpPr>
        <a:xfrm>
          <a:off x="0" y="0"/>
          <a:ext cx="0" cy="0"/>
          <a:chOff x="0" y="0"/>
          <a:chExt cx="0" cy="0"/>
        </a:xfrm>
      </p:grpSpPr>
      <p:sp>
        <p:nvSpPr>
          <p:cNvPr id="566" name="Google Shape;566;p263"/>
          <p:cNvSpPr txBox="1"/>
          <p:nvPr>
            <p:ph type="title"/>
          </p:nvPr>
        </p:nvSpPr>
        <p:spPr>
          <a:xfrm>
            <a:off x="457200" y="267494"/>
            <a:ext cx="8229600" cy="1399032"/>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599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7" name="Google Shape;567;p263"/>
          <p:cNvSpPr txBox="1"/>
          <p:nvPr>
            <p:ph idx="1" type="body"/>
          </p:nvPr>
        </p:nvSpPr>
        <p:spPr>
          <a:xfrm rot="5400000">
            <a:off x="2286000" y="54008"/>
            <a:ext cx="4572000" cy="82296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37185" lvl="1" marL="914400" algn="l">
              <a:spcBef>
                <a:spcPts val="360"/>
              </a:spcBef>
              <a:spcAft>
                <a:spcPts val="0"/>
              </a:spcAft>
              <a:buSzPts val="171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68" name="Google Shape;568;p263"/>
          <p:cNvSpPr txBox="1"/>
          <p:nvPr>
            <p:ph idx="10" type="dt"/>
          </p:nvPr>
        </p:nvSpPr>
        <p:spPr>
          <a:xfrm>
            <a:off x="4791456" y="6480969"/>
            <a:ext cx="2133600"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9" name="Google Shape;569;p263"/>
          <p:cNvSpPr txBox="1"/>
          <p:nvPr>
            <p:ph idx="11" type="ftr"/>
          </p:nvPr>
        </p:nvSpPr>
        <p:spPr>
          <a:xfrm>
            <a:off x="457200" y="6481890"/>
            <a:ext cx="4260056" cy="300831"/>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0" name="Google Shape;570;p263"/>
          <p:cNvSpPr txBox="1"/>
          <p:nvPr>
            <p:ph idx="12" type="sldNum"/>
          </p:nvPr>
        </p:nvSpPr>
        <p:spPr>
          <a:xfrm>
            <a:off x="7589520" y="6480969"/>
            <a:ext cx="50292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71" name="Shape 571"/>
        <p:cNvGrpSpPr/>
        <p:nvPr/>
      </p:nvGrpSpPr>
      <p:grpSpPr>
        <a:xfrm>
          <a:off x="0" y="0"/>
          <a:ext cx="0" cy="0"/>
          <a:chOff x="0" y="0"/>
          <a:chExt cx="0" cy="0"/>
        </a:xfrm>
      </p:grpSpPr>
      <p:sp>
        <p:nvSpPr>
          <p:cNvPr id="572" name="Google Shape;572;p264"/>
          <p:cNvSpPr txBox="1"/>
          <p:nvPr>
            <p:ph type="title"/>
          </p:nvPr>
        </p:nvSpPr>
        <p:spPr>
          <a:xfrm rot="5400000">
            <a:off x="4991100" y="2171700"/>
            <a:ext cx="5486400" cy="1905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F599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3" name="Google Shape;573;p264"/>
          <p:cNvSpPr txBox="1"/>
          <p:nvPr>
            <p:ph idx="1" type="body"/>
          </p:nvPr>
        </p:nvSpPr>
        <p:spPr>
          <a:xfrm rot="5400000">
            <a:off x="838200" y="0"/>
            <a:ext cx="5486400" cy="6248400"/>
          </a:xfrm>
          <a:prstGeom prst="rect">
            <a:avLst/>
          </a:prstGeom>
          <a:noFill/>
          <a:ln>
            <a:noFill/>
          </a:ln>
        </p:spPr>
        <p:txBody>
          <a:bodyPr anchorCtr="0" anchor="t" bIns="45700" lIns="91425" spcFirstLastPara="1" rIns="91425" wrap="square" tIns="45700">
            <a:normAutofit/>
          </a:bodyPr>
          <a:lstStyle>
            <a:lvl1pPr indent="-320040" lvl="0" marL="457200" algn="l">
              <a:spcBef>
                <a:spcPts val="360"/>
              </a:spcBef>
              <a:spcAft>
                <a:spcPts val="0"/>
              </a:spcAft>
              <a:buSzPts val="1440"/>
              <a:buChar char="⦿"/>
              <a:defRPr/>
            </a:lvl1pPr>
            <a:lvl2pPr indent="-337185" lvl="1" marL="914400" algn="l">
              <a:spcBef>
                <a:spcPts val="360"/>
              </a:spcBef>
              <a:spcAft>
                <a:spcPts val="0"/>
              </a:spcAft>
              <a:buSzPts val="171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74" name="Google Shape;574;p264"/>
          <p:cNvSpPr txBox="1"/>
          <p:nvPr>
            <p:ph idx="10" type="dt"/>
          </p:nvPr>
        </p:nvSpPr>
        <p:spPr>
          <a:xfrm>
            <a:off x="4791456" y="6480969"/>
            <a:ext cx="2133600" cy="30175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5" name="Google Shape;575;p264"/>
          <p:cNvSpPr txBox="1"/>
          <p:nvPr>
            <p:ph idx="11" type="ftr"/>
          </p:nvPr>
        </p:nvSpPr>
        <p:spPr>
          <a:xfrm>
            <a:off x="457200" y="6481890"/>
            <a:ext cx="4260056" cy="300831"/>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6" name="Google Shape;576;p264"/>
          <p:cNvSpPr txBox="1"/>
          <p:nvPr>
            <p:ph idx="12" type="sldNum"/>
          </p:nvPr>
        </p:nvSpPr>
        <p:spPr>
          <a:xfrm>
            <a:off x="7589520" y="6480969"/>
            <a:ext cx="502920" cy="301752"/>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7.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theme" Target="../theme/theme4.xml"/><Relationship Id="rId12" Type="http://schemas.openxmlformats.org/officeDocument/2006/relationships/slideLayout" Target="../slideLayouts/slideLayout35.xml"/><Relationship Id="rId1" Type="http://schemas.openxmlformats.org/officeDocument/2006/relationships/image" Target="../media/image3.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2" Type="http://schemas.openxmlformats.org/officeDocument/2006/relationships/theme" Target="../theme/theme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57.xml"/><Relationship Id="rId10" Type="http://schemas.openxmlformats.org/officeDocument/2006/relationships/slideLayout" Target="../slideLayouts/slideLayout56.xml"/><Relationship Id="rId12" Type="http://schemas.openxmlformats.org/officeDocument/2006/relationships/theme" Target="../theme/theme5.xml"/><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9" Type="http://schemas.openxmlformats.org/officeDocument/2006/relationships/slideLayout" Target="../slideLayouts/slideLayout55.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68.xml"/><Relationship Id="rId10" Type="http://schemas.openxmlformats.org/officeDocument/2006/relationships/slideLayout" Target="../slideLayouts/slideLayout67.xml"/><Relationship Id="rId12" Type="http://schemas.openxmlformats.org/officeDocument/2006/relationships/theme" Target="../theme/theme6.xml"/><Relationship Id="rId1" Type="http://schemas.openxmlformats.org/officeDocument/2006/relationships/slideLayout" Target="../slideLayouts/slideLayout58.xml"/><Relationship Id="rId2" Type="http://schemas.openxmlformats.org/officeDocument/2006/relationships/slideLayout" Target="../slideLayouts/slideLayout59.xml"/><Relationship Id="rId3" Type="http://schemas.openxmlformats.org/officeDocument/2006/relationships/slideLayout" Target="../slideLayouts/slideLayout60.xml"/><Relationship Id="rId4" Type="http://schemas.openxmlformats.org/officeDocument/2006/relationships/slideLayout" Target="../slideLayouts/slideLayout61.xml"/><Relationship Id="rId9" Type="http://schemas.openxmlformats.org/officeDocument/2006/relationships/slideLayout" Target="../slideLayouts/slideLayout66.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201"/>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201"/>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 name="Google Shape;12;p20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Arial"/>
              <a:buNone/>
              <a:defRPr b="0" i="0" sz="5000" u="none" cap="none" strike="noStrike">
                <a:solidFill>
                  <a:schemeClr val="lt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0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Arial"/>
                <a:ea typeface="Arial"/>
                <a:cs typeface="Arial"/>
                <a:sym typeface="Arial"/>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Arial"/>
                <a:ea typeface="Arial"/>
                <a:cs typeface="Arial"/>
                <a:sym typeface="Arial"/>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Arial"/>
                <a:ea typeface="Arial"/>
                <a:cs typeface="Arial"/>
                <a:sym typeface="Arial"/>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Arial"/>
                <a:ea typeface="Arial"/>
                <a:cs typeface="Arial"/>
                <a:sym typeface="Arial"/>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Arial"/>
                <a:ea typeface="Arial"/>
                <a:cs typeface="Arial"/>
                <a:sym typeface="Arial"/>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Arial"/>
                <a:ea typeface="Arial"/>
                <a:cs typeface="Arial"/>
                <a:sym typeface="Arial"/>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Arial"/>
                <a:ea typeface="Arial"/>
                <a:cs typeface="Arial"/>
                <a:sym typeface="Arial"/>
              </a:defRPr>
            </a:lvl7pPr>
            <a:lvl8pPr indent="-330200" lvl="7" marL="3657600" marR="0" rtl="0" algn="l">
              <a:spcBef>
                <a:spcPts val="320"/>
              </a:spcBef>
              <a:spcAft>
                <a:spcPts val="0"/>
              </a:spcAft>
              <a:buClr>
                <a:schemeClr val="lt2"/>
              </a:buClr>
              <a:buSzPts val="1600"/>
              <a:buFont typeface="Arial"/>
              <a:buChar char="•"/>
              <a:defRPr b="0" i="0" sz="1600" u="none" cap="none" strike="noStrike">
                <a:solidFill>
                  <a:schemeClr val="lt1"/>
                </a:solidFill>
                <a:latin typeface="Arial"/>
                <a:ea typeface="Arial"/>
                <a:cs typeface="Arial"/>
                <a:sym typeface="Arial"/>
              </a:defRPr>
            </a:lvl8pPr>
            <a:lvl9pPr indent="-317500" lvl="8" marL="4114800" marR="0" rtl="0" algn="l">
              <a:spcBef>
                <a:spcPts val="280"/>
              </a:spcBef>
              <a:spcAft>
                <a:spcPts val="0"/>
              </a:spcAft>
              <a:buClr>
                <a:schemeClr val="lt2"/>
              </a:buClr>
              <a:buSzPts val="1400"/>
              <a:buFont typeface="Arial"/>
              <a:buChar char="•"/>
              <a:defRPr b="0" i="0" sz="1400" u="none" cap="none" strike="noStrike">
                <a:solidFill>
                  <a:schemeClr val="lt1"/>
                </a:solidFill>
                <a:latin typeface="Arial"/>
                <a:ea typeface="Arial"/>
                <a:cs typeface="Arial"/>
                <a:sym typeface="Arial"/>
              </a:defRPr>
            </a:lvl9pPr>
          </a:lstStyle>
          <a:p/>
        </p:txBody>
      </p:sp>
      <p:sp>
        <p:nvSpPr>
          <p:cNvPr id="14" name="Google Shape;14;p20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5" name="Google Shape;15;p20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6" name="Google Shape;16;p20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Arial"/>
                <a:ea typeface="Arial"/>
                <a:cs typeface="Arial"/>
                <a:sym typeface="Arial"/>
              </a:defRPr>
            </a:lvl1pPr>
            <a:lvl2pPr indent="0" lvl="1" marL="0" marR="0" rtl="0" algn="r">
              <a:spcBef>
                <a:spcPts val="0"/>
              </a:spcBef>
              <a:buNone/>
              <a:defRPr b="0" i="0" sz="1200" u="none" cap="none" strike="noStrike">
                <a:solidFill>
                  <a:srgbClr val="D0E9ED"/>
                </a:solidFill>
                <a:latin typeface="Arial"/>
                <a:ea typeface="Arial"/>
                <a:cs typeface="Arial"/>
                <a:sym typeface="Arial"/>
              </a:defRPr>
            </a:lvl2pPr>
            <a:lvl3pPr indent="0" lvl="2" marL="0" marR="0" rtl="0" algn="r">
              <a:spcBef>
                <a:spcPts val="0"/>
              </a:spcBef>
              <a:buNone/>
              <a:defRPr b="0" i="0" sz="1200" u="none" cap="none" strike="noStrike">
                <a:solidFill>
                  <a:srgbClr val="D0E9ED"/>
                </a:solidFill>
                <a:latin typeface="Arial"/>
                <a:ea typeface="Arial"/>
                <a:cs typeface="Arial"/>
                <a:sym typeface="Arial"/>
              </a:defRPr>
            </a:lvl3pPr>
            <a:lvl4pPr indent="0" lvl="3" marL="0" marR="0" rtl="0" algn="r">
              <a:spcBef>
                <a:spcPts val="0"/>
              </a:spcBef>
              <a:buNone/>
              <a:defRPr b="0" i="0" sz="1200" u="none" cap="none" strike="noStrike">
                <a:solidFill>
                  <a:srgbClr val="D0E9ED"/>
                </a:solidFill>
                <a:latin typeface="Arial"/>
                <a:ea typeface="Arial"/>
                <a:cs typeface="Arial"/>
                <a:sym typeface="Arial"/>
              </a:defRPr>
            </a:lvl4pPr>
            <a:lvl5pPr indent="0" lvl="4" marL="0" marR="0" rtl="0" algn="r">
              <a:spcBef>
                <a:spcPts val="0"/>
              </a:spcBef>
              <a:buNone/>
              <a:defRPr b="0" i="0" sz="1200" u="none" cap="none" strike="noStrike">
                <a:solidFill>
                  <a:srgbClr val="D0E9ED"/>
                </a:solidFill>
                <a:latin typeface="Arial"/>
                <a:ea typeface="Arial"/>
                <a:cs typeface="Arial"/>
                <a:sym typeface="Arial"/>
              </a:defRPr>
            </a:lvl5pPr>
            <a:lvl6pPr indent="0" lvl="5" marL="0" marR="0" rtl="0" algn="r">
              <a:spcBef>
                <a:spcPts val="0"/>
              </a:spcBef>
              <a:buNone/>
              <a:defRPr b="0" i="0" sz="1200" u="none" cap="none" strike="noStrike">
                <a:solidFill>
                  <a:srgbClr val="D0E9ED"/>
                </a:solidFill>
                <a:latin typeface="Arial"/>
                <a:ea typeface="Arial"/>
                <a:cs typeface="Arial"/>
                <a:sym typeface="Arial"/>
              </a:defRPr>
            </a:lvl6pPr>
            <a:lvl7pPr indent="0" lvl="6" marL="0" marR="0" rtl="0" algn="r">
              <a:spcBef>
                <a:spcPts val="0"/>
              </a:spcBef>
              <a:buNone/>
              <a:defRPr b="0" i="0" sz="1200" u="none" cap="none" strike="noStrike">
                <a:solidFill>
                  <a:srgbClr val="D0E9ED"/>
                </a:solidFill>
                <a:latin typeface="Arial"/>
                <a:ea typeface="Arial"/>
                <a:cs typeface="Arial"/>
                <a:sym typeface="Arial"/>
              </a:defRPr>
            </a:lvl7pPr>
            <a:lvl8pPr indent="0" lvl="7" marL="0" marR="0" rtl="0" algn="r">
              <a:spcBef>
                <a:spcPts val="0"/>
              </a:spcBef>
              <a:buNone/>
              <a:defRPr b="0" i="0" sz="1200" u="none" cap="none" strike="noStrike">
                <a:solidFill>
                  <a:srgbClr val="D0E9ED"/>
                </a:solidFill>
                <a:latin typeface="Arial"/>
                <a:ea typeface="Arial"/>
                <a:cs typeface="Arial"/>
                <a:sym typeface="Arial"/>
              </a:defRPr>
            </a:lvl8pPr>
            <a:lvl9pPr indent="0" lvl="8" marL="0" marR="0" rtl="0" algn="r">
              <a:spcBef>
                <a:spcPts val="0"/>
              </a:spcBef>
              <a:buNone/>
              <a:defRPr b="0" i="0" sz="1200" u="none" cap="none" strike="noStrike">
                <a:solidFill>
                  <a:srgbClr val="D0E9ED"/>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201"/>
          <p:cNvGrpSpPr/>
          <p:nvPr/>
        </p:nvGrpSpPr>
        <p:grpSpPr>
          <a:xfrm>
            <a:off x="-29294" y="-16113"/>
            <a:ext cx="9198255" cy="1086266"/>
            <a:chOff x="-29322" y="-1971"/>
            <a:chExt cx="9198255" cy="1086266"/>
          </a:xfrm>
        </p:grpSpPr>
        <p:sp>
          <p:nvSpPr>
            <p:cNvPr id="18" name="Google Shape;18;p20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9" name="Google Shape;19;p20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200"/>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200"/>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20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Arial"/>
              <a:buNone/>
              <a:defRPr b="0" i="0" sz="5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20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Arial"/>
                <a:ea typeface="Arial"/>
                <a:cs typeface="Arial"/>
                <a:sym typeface="Arial"/>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Arial"/>
                <a:ea typeface="Arial"/>
                <a:cs typeface="Arial"/>
                <a:sym typeface="Arial"/>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Arial"/>
                <a:ea typeface="Arial"/>
                <a:cs typeface="Arial"/>
                <a:sym typeface="Arial"/>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Arial"/>
                <a:ea typeface="Arial"/>
                <a:cs typeface="Arial"/>
                <a:sym typeface="Arial"/>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Arial"/>
                <a:ea typeface="Arial"/>
                <a:cs typeface="Arial"/>
                <a:sym typeface="Arial"/>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Arial"/>
                <a:ea typeface="Arial"/>
                <a:cs typeface="Arial"/>
                <a:sym typeface="Arial"/>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2"/>
              </a:buClr>
              <a:buSzPts val="1600"/>
              <a:buFont typeface="Arial"/>
              <a:buChar char="•"/>
              <a:defRPr b="0" i="0" sz="1600" u="none" cap="none" strike="noStrike">
                <a:solidFill>
                  <a:schemeClr val="dk1"/>
                </a:solidFill>
                <a:latin typeface="Arial"/>
                <a:ea typeface="Arial"/>
                <a:cs typeface="Arial"/>
                <a:sym typeface="Arial"/>
              </a:defRPr>
            </a:lvl8pPr>
            <a:lvl9pPr indent="-317500" lvl="8" marL="4114800" marR="0" rtl="0" algn="l">
              <a:spcBef>
                <a:spcPts val="28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31" name="Google Shape;31;p20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 name="Google Shape;32;p20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 name="Google Shape;33;p20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Arial"/>
                <a:ea typeface="Arial"/>
                <a:cs typeface="Arial"/>
                <a:sym typeface="Arial"/>
              </a:defRPr>
            </a:lvl1pPr>
            <a:lvl2pPr indent="0" lvl="1" marL="0" marR="0" rtl="0" algn="r">
              <a:spcBef>
                <a:spcPts val="0"/>
              </a:spcBef>
              <a:buNone/>
              <a:defRPr b="0" sz="1200" u="none">
                <a:solidFill>
                  <a:srgbClr val="035C75"/>
                </a:solidFill>
                <a:latin typeface="Arial"/>
                <a:ea typeface="Arial"/>
                <a:cs typeface="Arial"/>
                <a:sym typeface="Arial"/>
              </a:defRPr>
            </a:lvl2pPr>
            <a:lvl3pPr indent="0" lvl="2" marL="0" marR="0" rtl="0" algn="r">
              <a:spcBef>
                <a:spcPts val="0"/>
              </a:spcBef>
              <a:buNone/>
              <a:defRPr b="0" sz="1200" u="none">
                <a:solidFill>
                  <a:srgbClr val="035C75"/>
                </a:solidFill>
                <a:latin typeface="Arial"/>
                <a:ea typeface="Arial"/>
                <a:cs typeface="Arial"/>
                <a:sym typeface="Arial"/>
              </a:defRPr>
            </a:lvl3pPr>
            <a:lvl4pPr indent="0" lvl="3" marL="0" marR="0" rtl="0" algn="r">
              <a:spcBef>
                <a:spcPts val="0"/>
              </a:spcBef>
              <a:buNone/>
              <a:defRPr b="0" sz="1200" u="none">
                <a:solidFill>
                  <a:srgbClr val="035C75"/>
                </a:solidFill>
                <a:latin typeface="Arial"/>
                <a:ea typeface="Arial"/>
                <a:cs typeface="Arial"/>
                <a:sym typeface="Arial"/>
              </a:defRPr>
            </a:lvl4pPr>
            <a:lvl5pPr indent="0" lvl="4" marL="0" marR="0" rtl="0" algn="r">
              <a:spcBef>
                <a:spcPts val="0"/>
              </a:spcBef>
              <a:buNone/>
              <a:defRPr b="0" sz="1200" u="none">
                <a:solidFill>
                  <a:srgbClr val="035C75"/>
                </a:solidFill>
                <a:latin typeface="Arial"/>
                <a:ea typeface="Arial"/>
                <a:cs typeface="Arial"/>
                <a:sym typeface="Arial"/>
              </a:defRPr>
            </a:lvl5pPr>
            <a:lvl6pPr indent="0" lvl="5" marL="0" marR="0" rtl="0" algn="r">
              <a:spcBef>
                <a:spcPts val="0"/>
              </a:spcBef>
              <a:buNone/>
              <a:defRPr b="0" sz="1200" u="none">
                <a:solidFill>
                  <a:srgbClr val="035C75"/>
                </a:solidFill>
                <a:latin typeface="Arial"/>
                <a:ea typeface="Arial"/>
                <a:cs typeface="Arial"/>
                <a:sym typeface="Arial"/>
              </a:defRPr>
            </a:lvl6pPr>
            <a:lvl7pPr indent="0" lvl="6" marL="0" marR="0" rtl="0" algn="r">
              <a:spcBef>
                <a:spcPts val="0"/>
              </a:spcBef>
              <a:buNone/>
              <a:defRPr b="0" sz="1200" u="none">
                <a:solidFill>
                  <a:srgbClr val="035C75"/>
                </a:solidFill>
                <a:latin typeface="Arial"/>
                <a:ea typeface="Arial"/>
                <a:cs typeface="Arial"/>
                <a:sym typeface="Arial"/>
              </a:defRPr>
            </a:lvl7pPr>
            <a:lvl8pPr indent="0" lvl="7" marL="0" marR="0" rtl="0" algn="r">
              <a:spcBef>
                <a:spcPts val="0"/>
              </a:spcBef>
              <a:buNone/>
              <a:defRPr b="0" sz="1200" u="none">
                <a:solidFill>
                  <a:srgbClr val="035C75"/>
                </a:solidFill>
                <a:latin typeface="Arial"/>
                <a:ea typeface="Arial"/>
                <a:cs typeface="Arial"/>
                <a:sym typeface="Arial"/>
              </a:defRPr>
            </a:lvl8pPr>
            <a:lvl9pPr indent="0" lvl="8" marL="0" marR="0" rtl="0" algn="r">
              <a:spcBef>
                <a:spcPts val="0"/>
              </a:spcBef>
              <a:buNone/>
              <a:defRPr b="0" sz="1200" u="none">
                <a:solidFill>
                  <a:srgbClr val="035C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200"/>
          <p:cNvGrpSpPr/>
          <p:nvPr/>
        </p:nvGrpSpPr>
        <p:grpSpPr>
          <a:xfrm>
            <a:off x="-29294" y="-16113"/>
            <a:ext cx="9198255" cy="1086266"/>
            <a:chOff x="-29322" y="-1971"/>
            <a:chExt cx="9198255" cy="1086266"/>
          </a:xfrm>
        </p:grpSpPr>
        <p:sp>
          <p:nvSpPr>
            <p:cNvPr id="35" name="Google Shape;35;p200"/>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 name="Google Shape;36;p200"/>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7" name="Shape 117"/>
        <p:cNvGrpSpPr/>
        <p:nvPr/>
      </p:nvGrpSpPr>
      <p:grpSpPr>
        <a:xfrm>
          <a:off x="0" y="0"/>
          <a:ext cx="0" cy="0"/>
          <a:chOff x="0" y="0"/>
          <a:chExt cx="0" cy="0"/>
        </a:xfrm>
      </p:grpSpPr>
      <p:sp>
        <p:nvSpPr>
          <p:cNvPr id="118" name="Google Shape;118;p209"/>
          <p:cNvSpPr/>
          <p:nvPr/>
        </p:nvSpPr>
        <p:spPr>
          <a:xfrm>
            <a:off x="304800" y="329184"/>
            <a:ext cx="8532055" cy="6196819"/>
          </a:xfrm>
          <a:prstGeom prst="roundRect">
            <a:avLst>
              <a:gd fmla="val 2081" name="adj"/>
            </a:avLst>
          </a:prstGeom>
          <a:gradFill>
            <a:gsLst>
              <a:gs pos="0">
                <a:srgbClr val="FFFFFF"/>
              </a:gs>
              <a:gs pos="98000">
                <a:srgbClr val="FFFFFF"/>
              </a:gs>
              <a:gs pos="99055">
                <a:srgbClr val="F6F6F6"/>
              </a:gs>
              <a:gs pos="100000">
                <a:srgbClr val="D8D8D8"/>
              </a:gs>
            </a:gsLst>
            <a:lin ang="5400000" scaled="0"/>
          </a:gradFill>
          <a:ln cap="rnd" cmpd="sng" w="9525">
            <a:solidFill>
              <a:srgbClr val="A2A0A0"/>
            </a:solidFill>
            <a:prstDash val="solid"/>
            <a:round/>
            <a:headEnd len="sm" w="sm" type="none"/>
            <a:tailEnd len="sm" w="sm" type="none"/>
          </a:ln>
          <a:effectLst>
            <a:outerShdw blurRad="76200" rotWithShape="0" algn="tl" dir="5400000" dist="5080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19" name="Google Shape;119;p209"/>
          <p:cNvSpPr/>
          <p:nvPr/>
        </p:nvSpPr>
        <p:spPr>
          <a:xfrm>
            <a:off x="418596" y="434162"/>
            <a:ext cx="8306809" cy="5486400"/>
          </a:xfrm>
          <a:prstGeom prst="roundRect">
            <a:avLst>
              <a:gd fmla="val 2127" name="adj"/>
            </a:avLst>
          </a:prstGeom>
          <a:gradFill>
            <a:gsLst>
              <a:gs pos="0">
                <a:schemeClr val="lt1"/>
              </a:gs>
              <a:gs pos="55000">
                <a:srgbClr val="DFDFDF"/>
              </a:gs>
              <a:gs pos="100000">
                <a:srgbClr val="9E9E9E"/>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Verdana"/>
              <a:ea typeface="Verdana"/>
              <a:cs typeface="Verdana"/>
              <a:sym typeface="Verdana"/>
            </a:endParaRPr>
          </a:p>
        </p:txBody>
      </p:sp>
      <p:sp>
        <p:nvSpPr>
          <p:cNvPr id="120" name="Google Shape;120;p209"/>
          <p:cNvSpPr txBox="1"/>
          <p:nvPr>
            <p:ph type="title"/>
          </p:nvPr>
        </p:nvSpPr>
        <p:spPr>
          <a:xfrm>
            <a:off x="502920" y="4985590"/>
            <a:ext cx="8183880" cy="105156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rgbClr val="FF8C3C"/>
              </a:buClr>
              <a:buSzPts val="3600"/>
              <a:buFont typeface="Verdana"/>
              <a:buNone/>
              <a:defRPr b="1" i="0" sz="3600" u="none" cap="none" strike="noStrike">
                <a:solidFill>
                  <a:srgbClr val="FF8C3C"/>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1" name="Google Shape;121;p209"/>
          <p:cNvSpPr txBox="1"/>
          <p:nvPr>
            <p:ph idx="1" type="body"/>
          </p:nvPr>
        </p:nvSpPr>
        <p:spPr>
          <a:xfrm>
            <a:off x="502920" y="530352"/>
            <a:ext cx="8183880" cy="4187952"/>
          </a:xfrm>
          <a:prstGeom prst="rect">
            <a:avLst/>
          </a:prstGeom>
          <a:noFill/>
          <a:ln>
            <a:noFill/>
          </a:ln>
        </p:spPr>
        <p:txBody>
          <a:bodyPr anchorCtr="0" anchor="t" bIns="45700" lIns="182875" spcFirstLastPara="1" rIns="91425" wrap="square" tIns="91425">
            <a:normAutofit/>
          </a:bodyPr>
          <a:lstStyle>
            <a:lvl1pPr indent="-370840" lvl="0" marL="457200" marR="0" rtl="0" algn="l">
              <a:spcBef>
                <a:spcPts val="250"/>
              </a:spcBef>
              <a:spcAft>
                <a:spcPts val="0"/>
              </a:spcAft>
              <a:buClr>
                <a:schemeClr val="accent1"/>
              </a:buClr>
              <a:buSzPts val="2240"/>
              <a:buFont typeface="Noto Sans Symbols"/>
              <a:buChar char="⚫"/>
              <a:defRPr b="0" i="0" sz="2800" u="none" cap="none" strike="noStrike">
                <a:solidFill>
                  <a:schemeClr val="dk1"/>
                </a:solidFill>
                <a:latin typeface="Verdana"/>
                <a:ea typeface="Verdana"/>
                <a:cs typeface="Verdana"/>
                <a:sym typeface="Verdana"/>
              </a:defRPr>
            </a:lvl1pPr>
            <a:lvl2pPr indent="-381000" lvl="1" marL="914400" marR="0" rtl="0" algn="l">
              <a:spcBef>
                <a:spcPts val="250"/>
              </a:spcBef>
              <a:spcAft>
                <a:spcPts val="0"/>
              </a:spcAft>
              <a:buClr>
                <a:schemeClr val="accent1"/>
              </a:buClr>
              <a:buSzPts val="2400"/>
              <a:buFont typeface="Verdana"/>
              <a:buChar char="◦"/>
              <a:defRPr b="0" i="0" sz="2400" u="none" cap="none" strike="noStrike">
                <a:solidFill>
                  <a:schemeClr val="dk1"/>
                </a:solidFill>
                <a:latin typeface="Verdana"/>
                <a:ea typeface="Verdana"/>
                <a:cs typeface="Verdana"/>
                <a:sym typeface="Verdana"/>
              </a:defRPr>
            </a:lvl2pPr>
            <a:lvl3pPr indent="-368300" lvl="2" marL="1371600" marR="0" rtl="0" algn="l">
              <a:spcBef>
                <a:spcPts val="250"/>
              </a:spcBef>
              <a:spcAft>
                <a:spcPts val="0"/>
              </a:spcAft>
              <a:buClr>
                <a:srgbClr val="EF323E"/>
              </a:buClr>
              <a:buSzPts val="2200"/>
              <a:buFont typeface="Noto Sans Symbols"/>
              <a:buChar char="●"/>
              <a:defRPr b="0" i="0" sz="2200" u="none" cap="none" strike="noStrike">
                <a:solidFill>
                  <a:schemeClr val="dk1"/>
                </a:solidFill>
                <a:latin typeface="Verdana"/>
                <a:ea typeface="Verdana"/>
                <a:cs typeface="Verdana"/>
                <a:sym typeface="Verdana"/>
              </a:defRPr>
            </a:lvl3pPr>
            <a:lvl4pPr indent="-363728" lvl="3" marL="1828800" marR="0" rtl="0" algn="l">
              <a:spcBef>
                <a:spcPts val="230"/>
              </a:spcBef>
              <a:spcAft>
                <a:spcPts val="0"/>
              </a:spcAft>
              <a:buClr>
                <a:srgbClr val="EF323E"/>
              </a:buClr>
              <a:buSzPts val="2128"/>
              <a:buFont typeface="Verdana"/>
              <a:buChar char="◦"/>
              <a:defRPr b="0" i="0" sz="1900" u="none" cap="none" strike="noStrike">
                <a:solidFill>
                  <a:schemeClr val="dk1"/>
                </a:solidFill>
                <a:latin typeface="Verdana"/>
                <a:ea typeface="Verdana"/>
                <a:cs typeface="Verdana"/>
                <a:sym typeface="Verdana"/>
              </a:defRPr>
            </a:lvl4pPr>
            <a:lvl5pPr indent="-342900" lvl="4" marL="2286000" marR="0" rtl="0" algn="l">
              <a:spcBef>
                <a:spcPts val="250"/>
              </a:spcBef>
              <a:spcAft>
                <a:spcPts val="0"/>
              </a:spcAft>
              <a:buClr>
                <a:srgbClr val="4882BE"/>
              </a:buClr>
              <a:buSzPts val="1800"/>
              <a:buFont typeface="Noto Sans Symbols"/>
              <a:buChar char="●"/>
              <a:defRPr b="0" i="0" sz="1800" u="none" cap="none" strike="noStrike">
                <a:solidFill>
                  <a:schemeClr val="dk1"/>
                </a:solidFill>
                <a:latin typeface="Verdana"/>
                <a:ea typeface="Verdana"/>
                <a:cs typeface="Verdana"/>
                <a:sym typeface="Verdana"/>
              </a:defRPr>
            </a:lvl5pPr>
            <a:lvl6pPr indent="-336550" lvl="5" marL="2743200" marR="0" rtl="0" algn="l">
              <a:spcBef>
                <a:spcPts val="250"/>
              </a:spcBef>
              <a:spcAft>
                <a:spcPts val="0"/>
              </a:spcAft>
              <a:buClr>
                <a:srgbClr val="4882BE"/>
              </a:buClr>
              <a:buSzPts val="1700"/>
              <a:buFont typeface="Verdana"/>
              <a:buChar char="◦"/>
              <a:defRPr b="0" i="0" sz="1700" u="none" cap="none" strike="noStrike">
                <a:solidFill>
                  <a:schemeClr val="dk1"/>
                </a:solidFill>
                <a:latin typeface="Verdana"/>
                <a:ea typeface="Verdana"/>
                <a:cs typeface="Verdana"/>
                <a:sym typeface="Verdana"/>
              </a:defRPr>
            </a:lvl6pPr>
            <a:lvl7pPr indent="-323850" lvl="6" marL="3200400"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7pPr>
            <a:lvl8pPr indent="-323850" lvl="7" marL="3657600" marR="0" rtl="0" algn="l">
              <a:spcBef>
                <a:spcPts val="257"/>
              </a:spcBef>
              <a:spcAft>
                <a:spcPts val="0"/>
              </a:spcAft>
              <a:buClr>
                <a:srgbClr val="4882BE"/>
              </a:buClr>
              <a:buSzPts val="1500"/>
              <a:buFont typeface="Verdana"/>
              <a:buChar char="◦"/>
              <a:defRPr b="0" i="0" sz="1500" u="none" cap="none" strike="noStrike">
                <a:solidFill>
                  <a:schemeClr val="dk1"/>
                </a:solidFill>
                <a:latin typeface="Verdana"/>
                <a:ea typeface="Verdana"/>
                <a:cs typeface="Verdana"/>
                <a:sym typeface="Verdana"/>
              </a:defRPr>
            </a:lvl8pPr>
            <a:lvl9pPr indent="-323850" lvl="8" marL="4114800"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9pPr>
          </a:lstStyle>
          <a:p/>
        </p:txBody>
      </p:sp>
      <p:sp>
        <p:nvSpPr>
          <p:cNvPr id="122" name="Google Shape;122;p209"/>
          <p:cNvSpPr txBox="1"/>
          <p:nvPr>
            <p:ph idx="10" type="dt"/>
          </p:nvPr>
        </p:nvSpPr>
        <p:spPr>
          <a:xfrm>
            <a:off x="3776328" y="6111875"/>
            <a:ext cx="2286000" cy="365125"/>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000">
                <a:solidFill>
                  <a:srgbClr val="A5A298"/>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3" name="Google Shape;123;p209"/>
          <p:cNvSpPr txBox="1"/>
          <p:nvPr>
            <p:ph idx="11" type="ftr"/>
          </p:nvPr>
        </p:nvSpPr>
        <p:spPr>
          <a:xfrm>
            <a:off x="6062328" y="6111875"/>
            <a:ext cx="2286000" cy="3651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000">
                <a:solidFill>
                  <a:srgbClr val="A5A298"/>
                </a:solidFill>
                <a:latin typeface="Verdana"/>
                <a:ea typeface="Verdana"/>
                <a:cs typeface="Verdana"/>
                <a:sym typeface="Verdana"/>
              </a:defRPr>
            </a:lvl1pPr>
            <a:lvl2pPr lvl="1"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2pPr>
            <a:lvl3pPr lvl="2"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3pPr>
            <a:lvl4pPr lvl="3"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4pPr>
            <a:lvl5pPr lvl="4"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5pPr>
            <a:lvl6pPr lvl="5"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6pPr>
            <a:lvl7pPr lvl="6"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7pPr>
            <a:lvl8pPr lvl="7"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8pPr>
            <a:lvl9pPr lvl="8" marR="0" rtl="0" algn="l">
              <a:spcBef>
                <a:spcPts val="0"/>
              </a:spcBef>
              <a:spcAft>
                <a:spcPts val="0"/>
              </a:spcAft>
              <a:buSzPts val="1400"/>
              <a:buNone/>
              <a:defRPr b="0" i="0" sz="1800" u="none" cap="none" strike="noStrike">
                <a:solidFill>
                  <a:schemeClr val="dk1"/>
                </a:solidFill>
                <a:latin typeface="Verdana"/>
                <a:ea typeface="Verdana"/>
                <a:cs typeface="Verdana"/>
                <a:sym typeface="Verdana"/>
              </a:defRPr>
            </a:lvl9pPr>
          </a:lstStyle>
          <a:p/>
        </p:txBody>
      </p:sp>
      <p:sp>
        <p:nvSpPr>
          <p:cNvPr id="124" name="Google Shape;124;p209"/>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buNone/>
              <a:defRPr sz="1000">
                <a:solidFill>
                  <a:srgbClr val="A5A298"/>
                </a:solidFill>
                <a:latin typeface="Verdana"/>
                <a:ea typeface="Verdana"/>
                <a:cs typeface="Verdana"/>
                <a:sym typeface="Verdana"/>
              </a:defRPr>
            </a:lvl1pPr>
            <a:lvl2pPr indent="0" lvl="1" marL="0" marR="0" rtl="0" algn="r">
              <a:spcBef>
                <a:spcPts val="0"/>
              </a:spcBef>
              <a:buNone/>
              <a:defRPr sz="1000">
                <a:solidFill>
                  <a:srgbClr val="A5A298"/>
                </a:solidFill>
                <a:latin typeface="Verdana"/>
                <a:ea typeface="Verdana"/>
                <a:cs typeface="Verdana"/>
                <a:sym typeface="Verdana"/>
              </a:defRPr>
            </a:lvl2pPr>
            <a:lvl3pPr indent="0" lvl="2" marL="0" marR="0" rtl="0" algn="r">
              <a:spcBef>
                <a:spcPts val="0"/>
              </a:spcBef>
              <a:buNone/>
              <a:defRPr sz="1000">
                <a:solidFill>
                  <a:srgbClr val="A5A298"/>
                </a:solidFill>
                <a:latin typeface="Verdana"/>
                <a:ea typeface="Verdana"/>
                <a:cs typeface="Verdana"/>
                <a:sym typeface="Verdana"/>
              </a:defRPr>
            </a:lvl3pPr>
            <a:lvl4pPr indent="0" lvl="3" marL="0" marR="0" rtl="0" algn="r">
              <a:spcBef>
                <a:spcPts val="0"/>
              </a:spcBef>
              <a:buNone/>
              <a:defRPr sz="1000">
                <a:solidFill>
                  <a:srgbClr val="A5A298"/>
                </a:solidFill>
                <a:latin typeface="Verdana"/>
                <a:ea typeface="Verdana"/>
                <a:cs typeface="Verdana"/>
                <a:sym typeface="Verdana"/>
              </a:defRPr>
            </a:lvl4pPr>
            <a:lvl5pPr indent="0" lvl="4" marL="0" marR="0" rtl="0" algn="r">
              <a:spcBef>
                <a:spcPts val="0"/>
              </a:spcBef>
              <a:buNone/>
              <a:defRPr sz="1000">
                <a:solidFill>
                  <a:srgbClr val="A5A298"/>
                </a:solidFill>
                <a:latin typeface="Verdana"/>
                <a:ea typeface="Verdana"/>
                <a:cs typeface="Verdana"/>
                <a:sym typeface="Verdana"/>
              </a:defRPr>
            </a:lvl5pPr>
            <a:lvl6pPr indent="0" lvl="5" marL="0" marR="0" rtl="0" algn="r">
              <a:spcBef>
                <a:spcPts val="0"/>
              </a:spcBef>
              <a:buNone/>
              <a:defRPr sz="1000">
                <a:solidFill>
                  <a:srgbClr val="A5A298"/>
                </a:solidFill>
                <a:latin typeface="Verdana"/>
                <a:ea typeface="Verdana"/>
                <a:cs typeface="Verdana"/>
                <a:sym typeface="Verdana"/>
              </a:defRPr>
            </a:lvl6pPr>
            <a:lvl7pPr indent="0" lvl="6" marL="0" marR="0" rtl="0" algn="r">
              <a:spcBef>
                <a:spcPts val="0"/>
              </a:spcBef>
              <a:buNone/>
              <a:defRPr sz="1000">
                <a:solidFill>
                  <a:srgbClr val="A5A298"/>
                </a:solidFill>
                <a:latin typeface="Verdana"/>
                <a:ea typeface="Verdana"/>
                <a:cs typeface="Verdana"/>
                <a:sym typeface="Verdana"/>
              </a:defRPr>
            </a:lvl7pPr>
            <a:lvl8pPr indent="0" lvl="7" marL="0" marR="0" rtl="0" algn="r">
              <a:spcBef>
                <a:spcPts val="0"/>
              </a:spcBef>
              <a:buNone/>
              <a:defRPr sz="1000">
                <a:solidFill>
                  <a:srgbClr val="A5A298"/>
                </a:solidFill>
                <a:latin typeface="Verdana"/>
                <a:ea typeface="Verdana"/>
                <a:cs typeface="Verdana"/>
                <a:sym typeface="Verdana"/>
              </a:defRPr>
            </a:lvl8pPr>
            <a:lvl9pPr indent="0" lvl="8" marL="0" marR="0" rtl="0" algn="r">
              <a:spcBef>
                <a:spcPts val="0"/>
              </a:spcBef>
              <a:buNone/>
              <a:defRPr sz="1000">
                <a:solidFill>
                  <a:srgbClr val="A5A29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xy" tx="0" sx="90000" ty="0" sy="90000"/>
        </a:blipFill>
      </p:bgPr>
    </p:bg>
    <p:spTree>
      <p:nvGrpSpPr>
        <p:cNvPr id="201" name="Shape 201"/>
        <p:cNvGrpSpPr/>
        <p:nvPr/>
      </p:nvGrpSpPr>
      <p:grpSpPr>
        <a:xfrm>
          <a:off x="0" y="0"/>
          <a:ext cx="0" cy="0"/>
          <a:chOff x="0" y="0"/>
          <a:chExt cx="0" cy="0"/>
        </a:xfrm>
      </p:grpSpPr>
      <p:sp>
        <p:nvSpPr>
          <p:cNvPr id="202" name="Google Shape;202;p211"/>
          <p:cNvSpPr/>
          <p:nvPr/>
        </p:nvSpPr>
        <p:spPr>
          <a:xfrm>
            <a:off x="-815927" y="-815922"/>
            <a:ext cx="1638887" cy="1638887"/>
          </a:xfrm>
          <a:prstGeom prst="pie">
            <a:avLst>
              <a:gd fmla="val 0" name="adj1"/>
              <a:gd fmla="val 5402120" name="adj2"/>
            </a:avLst>
          </a:prstGeom>
          <a:solidFill>
            <a:srgbClr val="FEF9F3">
              <a:alpha val="32941"/>
            </a:srgbClr>
          </a:solidFill>
          <a:ln cap="rnd" cmpd="sng" w="9525">
            <a:solidFill>
              <a:srgbClr val="D1C19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 name="Google Shape;203;p211"/>
          <p:cNvSpPr/>
          <p:nvPr/>
        </p:nvSpPr>
        <p:spPr>
          <a:xfrm>
            <a:off x="168816" y="21102"/>
            <a:ext cx="1702191" cy="1702191"/>
          </a:xfrm>
          <a:prstGeom prst="ellipse">
            <a:avLst/>
          </a:prstGeom>
          <a:noFill/>
          <a:ln cap="rnd" cmpd="sng" w="27300">
            <a:solidFill>
              <a:srgbClr val="FFF5DB"/>
            </a:solidFill>
            <a:prstDash val="solid"/>
            <a:round/>
            <a:headEnd len="sm" w="sm" type="none"/>
            <a:tailEnd len="sm" w="sm" type="none"/>
          </a:ln>
          <a:effectLst>
            <a:outerShdw blurRad="25400" rotWithShape="0" algn="tl" dir="5400000" dist="25400">
              <a:srgbClr val="ADA48C">
                <a:alpha val="8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 name="Google Shape;204;p211"/>
          <p:cNvSpPr/>
          <p:nvPr/>
        </p:nvSpPr>
        <p:spPr>
          <a:xfrm rot="2315675">
            <a:off x="182881" y="1055077"/>
            <a:ext cx="1125717" cy="1102624"/>
          </a:xfrm>
          <a:prstGeom prst="donut">
            <a:avLst>
              <a:gd fmla="val 11833" name="adj"/>
            </a:avLst>
          </a:prstGeom>
          <a:gradFill>
            <a:gsLst>
              <a:gs pos="0">
                <a:srgbClr val="FEFBF4">
                  <a:alpha val="69803"/>
                </a:srgbClr>
              </a:gs>
              <a:gs pos="70000">
                <a:srgbClr val="FFFDF8">
                  <a:alpha val="54901"/>
                </a:srgbClr>
              </a:gs>
              <a:gs pos="100000">
                <a:srgbClr val="EDCF8C">
                  <a:alpha val="60000"/>
                </a:srgbClr>
              </a:gs>
            </a:gsLst>
            <a:path path="circle">
              <a:fillToRect b="100%" r="100%"/>
            </a:path>
            <a:tileRect l="-100%" t="-100%"/>
          </a:gradFill>
          <a:ln cap="rnd" cmpd="sng" w="9525">
            <a:solidFill>
              <a:srgbClr val="C5B390"/>
            </a:solidFill>
            <a:prstDash val="solid"/>
            <a:round/>
            <a:headEnd len="sm" w="sm" type="none"/>
            <a:tailEnd len="sm" w="sm" type="none"/>
          </a:ln>
          <a:effectLst>
            <a:outerShdw blurRad="12700" rotWithShape="0" algn="tl" dir="4500000" dist="15000">
              <a:srgbClr val="564E4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 name="Google Shape;205;p211"/>
          <p:cNvSpPr/>
          <p:nvPr/>
        </p:nvSpPr>
        <p:spPr>
          <a:xfrm>
            <a:off x="1012873" y="-54"/>
            <a:ext cx="8131127" cy="68580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 name="Google Shape;206;p211"/>
          <p:cNvSpPr txBox="1"/>
          <p:nvPr>
            <p:ph type="title"/>
          </p:nvPr>
        </p:nvSpPr>
        <p:spPr>
          <a:xfrm>
            <a:off x="1435608" y="274638"/>
            <a:ext cx="749808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62214"/>
              </a:buClr>
              <a:buSzPts val="4300"/>
              <a:buFont typeface="Arial"/>
              <a:buNone/>
              <a:defRPr b="0" i="0" sz="4300" u="none" cap="none" strike="noStrike">
                <a:solidFill>
                  <a:srgbClr val="562214"/>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 name="Google Shape;207;p211"/>
          <p:cNvSpPr txBox="1"/>
          <p:nvPr>
            <p:ph idx="1" type="body"/>
          </p:nvPr>
        </p:nvSpPr>
        <p:spPr>
          <a:xfrm>
            <a:off x="1435608" y="1447800"/>
            <a:ext cx="7498080" cy="4800600"/>
          </a:xfrm>
          <a:prstGeom prst="rect">
            <a:avLst/>
          </a:prstGeom>
          <a:noFill/>
          <a:ln>
            <a:noFill/>
          </a:ln>
        </p:spPr>
        <p:txBody>
          <a:bodyPr anchorCtr="0" anchor="t" bIns="45700" lIns="91425" spcFirstLastPara="1" rIns="91425" wrap="square" tIns="45700">
            <a:normAutofit/>
          </a:bodyPr>
          <a:lstStyle>
            <a:lvl1pPr indent="-391160" lvl="0" marL="457200" marR="0" rtl="0" algn="l">
              <a:lnSpc>
                <a:spcPct val="100000"/>
              </a:lnSpc>
              <a:spcBef>
                <a:spcPts val="600"/>
              </a:spcBef>
              <a:spcAft>
                <a:spcPts val="0"/>
              </a:spcAft>
              <a:buClr>
                <a:schemeClr val="accent1"/>
              </a:buClr>
              <a:buSzPts val="2560"/>
              <a:buFont typeface="Noto Sans Symbols"/>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50"/>
              </a:spcBef>
              <a:spcAft>
                <a:spcPts val="0"/>
              </a:spcAft>
              <a:buClr>
                <a:schemeClr val="accent1"/>
              </a:buClr>
              <a:buSzPts val="2800"/>
              <a:buFont typeface="Verdana"/>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accent2"/>
              </a:buClr>
              <a:buSzPts val="2400"/>
              <a:buFont typeface="Noto Sans Symbols"/>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accent3"/>
              </a:buClr>
              <a:buSzPts val="2000"/>
              <a:buFont typeface="Noto Sans Symbols"/>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accent4"/>
              </a:buClr>
              <a:buSzPts val="2000"/>
              <a:buFont typeface="Noto Sans Symbols"/>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08" name="Google Shape;208;p21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200">
                <a:solidFill>
                  <a:srgbClr val="B3A787"/>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9" name="Google Shape;209;p21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sz="1200">
                <a:solidFill>
                  <a:srgbClr val="B3A787"/>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0" name="Google Shape;210;p211"/>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sz="1200">
                <a:solidFill>
                  <a:srgbClr val="B3A787"/>
                </a:solidFill>
                <a:latin typeface="Arial"/>
                <a:ea typeface="Arial"/>
                <a:cs typeface="Arial"/>
                <a:sym typeface="Arial"/>
              </a:defRPr>
            </a:lvl1pPr>
            <a:lvl2pPr indent="0" lvl="1" marL="0" marR="0" rtl="0" algn="ctr">
              <a:spcBef>
                <a:spcPts val="0"/>
              </a:spcBef>
              <a:buNone/>
              <a:defRPr sz="1200">
                <a:solidFill>
                  <a:srgbClr val="B3A787"/>
                </a:solidFill>
                <a:latin typeface="Arial"/>
                <a:ea typeface="Arial"/>
                <a:cs typeface="Arial"/>
                <a:sym typeface="Arial"/>
              </a:defRPr>
            </a:lvl2pPr>
            <a:lvl3pPr indent="0" lvl="2" marL="0" marR="0" rtl="0" algn="ctr">
              <a:spcBef>
                <a:spcPts val="0"/>
              </a:spcBef>
              <a:buNone/>
              <a:defRPr sz="1200">
                <a:solidFill>
                  <a:srgbClr val="B3A787"/>
                </a:solidFill>
                <a:latin typeface="Arial"/>
                <a:ea typeface="Arial"/>
                <a:cs typeface="Arial"/>
                <a:sym typeface="Arial"/>
              </a:defRPr>
            </a:lvl3pPr>
            <a:lvl4pPr indent="0" lvl="3" marL="0" marR="0" rtl="0" algn="ctr">
              <a:spcBef>
                <a:spcPts val="0"/>
              </a:spcBef>
              <a:buNone/>
              <a:defRPr sz="1200">
                <a:solidFill>
                  <a:srgbClr val="B3A787"/>
                </a:solidFill>
                <a:latin typeface="Arial"/>
                <a:ea typeface="Arial"/>
                <a:cs typeface="Arial"/>
                <a:sym typeface="Arial"/>
              </a:defRPr>
            </a:lvl4pPr>
            <a:lvl5pPr indent="0" lvl="4" marL="0" marR="0" rtl="0" algn="ctr">
              <a:spcBef>
                <a:spcPts val="0"/>
              </a:spcBef>
              <a:buNone/>
              <a:defRPr sz="1200">
                <a:solidFill>
                  <a:srgbClr val="B3A787"/>
                </a:solidFill>
                <a:latin typeface="Arial"/>
                <a:ea typeface="Arial"/>
                <a:cs typeface="Arial"/>
                <a:sym typeface="Arial"/>
              </a:defRPr>
            </a:lvl5pPr>
            <a:lvl6pPr indent="0" lvl="5" marL="0" marR="0" rtl="0" algn="ctr">
              <a:spcBef>
                <a:spcPts val="0"/>
              </a:spcBef>
              <a:buNone/>
              <a:defRPr sz="1200">
                <a:solidFill>
                  <a:srgbClr val="B3A787"/>
                </a:solidFill>
                <a:latin typeface="Arial"/>
                <a:ea typeface="Arial"/>
                <a:cs typeface="Arial"/>
                <a:sym typeface="Arial"/>
              </a:defRPr>
            </a:lvl6pPr>
            <a:lvl7pPr indent="0" lvl="6" marL="0" marR="0" rtl="0" algn="ctr">
              <a:spcBef>
                <a:spcPts val="0"/>
              </a:spcBef>
              <a:buNone/>
              <a:defRPr sz="1200">
                <a:solidFill>
                  <a:srgbClr val="B3A787"/>
                </a:solidFill>
                <a:latin typeface="Arial"/>
                <a:ea typeface="Arial"/>
                <a:cs typeface="Arial"/>
                <a:sym typeface="Arial"/>
              </a:defRPr>
            </a:lvl7pPr>
            <a:lvl8pPr indent="0" lvl="7" marL="0" marR="0" rtl="0" algn="ctr">
              <a:spcBef>
                <a:spcPts val="0"/>
              </a:spcBef>
              <a:buNone/>
              <a:defRPr sz="1200">
                <a:solidFill>
                  <a:srgbClr val="B3A787"/>
                </a:solidFill>
                <a:latin typeface="Arial"/>
                <a:ea typeface="Arial"/>
                <a:cs typeface="Arial"/>
                <a:sym typeface="Arial"/>
              </a:defRPr>
            </a:lvl8pPr>
            <a:lvl9pPr indent="0" lvl="8" marL="0" marR="0" rtl="0" algn="ctr">
              <a:spcBef>
                <a:spcPts val="0"/>
              </a:spcBef>
              <a:buNone/>
              <a:defRPr sz="1200">
                <a:solidFill>
                  <a:srgbClr val="B3A787"/>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211" name="Google Shape;211;p211"/>
          <p:cNvSpPr/>
          <p:nvPr/>
        </p:nvSpPr>
        <p:spPr>
          <a:xfrm>
            <a:off x="1014984" y="-54"/>
            <a:ext cx="73152" cy="6858054"/>
          </a:xfrm>
          <a:prstGeom prst="rect">
            <a:avLst/>
          </a:prstGeom>
          <a:solidFill>
            <a:schemeClr val="lt1"/>
          </a:solidFill>
          <a:ln>
            <a:noFill/>
          </a:ln>
          <a:effectLst>
            <a:outerShdw blurRad="38550" rotWithShape="0" algn="tl" dir="10800000" dist="38000">
              <a:srgbClr val="6F6A5F">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cxnSp>
        <p:nvCxnSpPr>
          <p:cNvPr id="293" name="Google Shape;293;p213"/>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294" name="Google Shape;294;p21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Arial"/>
              <a:buNone/>
              <a:defRPr b="0" i="0" sz="3000" u="none" cap="small"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5" name="Google Shape;295;p21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Arial"/>
                <a:ea typeface="Arial"/>
                <a:cs typeface="Arial"/>
                <a:sym typeface="Arial"/>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Arial"/>
                <a:ea typeface="Arial"/>
                <a:cs typeface="Arial"/>
                <a:sym typeface="Arial"/>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Arial"/>
                <a:ea typeface="Arial"/>
                <a:cs typeface="Arial"/>
                <a:sym typeface="Arial"/>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Arial"/>
                <a:ea typeface="Arial"/>
                <a:cs typeface="Arial"/>
                <a:sym typeface="Arial"/>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accent1"/>
              </a:buClr>
              <a:buSzPts val="1600"/>
              <a:buFont typeface="Arial"/>
              <a:buChar char="•"/>
              <a:defRPr b="0" i="0" sz="1600" u="none" cap="none" strike="noStrike">
                <a:solidFill>
                  <a:schemeClr val="dk2"/>
                </a:solidFill>
                <a:latin typeface="Arial"/>
                <a:ea typeface="Arial"/>
                <a:cs typeface="Arial"/>
                <a:sym typeface="Arial"/>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Arial"/>
                <a:ea typeface="Arial"/>
                <a:cs typeface="Arial"/>
                <a:sym typeface="Arial"/>
              </a:defRPr>
            </a:lvl7pPr>
            <a:lvl8pPr indent="-317500" lvl="7" marL="3657600" marR="0" rtl="0" algn="l">
              <a:spcBef>
                <a:spcPts val="280"/>
              </a:spcBef>
              <a:spcAft>
                <a:spcPts val="0"/>
              </a:spcAft>
              <a:buClr>
                <a:schemeClr val="accent2"/>
              </a:buClr>
              <a:buSzPts val="1400"/>
              <a:buFont typeface="Arial"/>
              <a:buChar char="•"/>
              <a:defRPr b="0" i="0" sz="1400" u="none" cap="small" strike="noStrike">
                <a:solidFill>
                  <a:schemeClr val="dk2"/>
                </a:solidFill>
                <a:latin typeface="Arial"/>
                <a:ea typeface="Arial"/>
                <a:cs typeface="Arial"/>
                <a:sym typeface="Arial"/>
              </a:defRPr>
            </a:lvl8pPr>
            <a:lvl9pPr indent="-317500" lvl="8" marL="4114800" marR="0" rtl="0" algn="l">
              <a:spcBef>
                <a:spcPts val="280"/>
              </a:spcBef>
              <a:spcAft>
                <a:spcPts val="0"/>
              </a:spcAft>
              <a:buClr>
                <a:srgbClr val="DE7530"/>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296" name="Google Shape;296;p21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200">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7" name="Google Shape;297;p21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298" name="Google Shape;298;p213"/>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299" name="Google Shape;299;p213"/>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300" name="Google Shape;300;p213"/>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01" name="Google Shape;301;p213"/>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302" name="Google Shape;302;p213"/>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3" name="Google Shape;303;p21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sz="1400">
                <a:solidFill>
                  <a:srgbClr val="FFFFFF"/>
                </a:solidFill>
                <a:latin typeface="Arial"/>
                <a:ea typeface="Arial"/>
                <a:cs typeface="Arial"/>
                <a:sym typeface="Arial"/>
              </a:defRPr>
            </a:lvl1pPr>
            <a:lvl2pPr indent="0" lvl="1" marL="0" marR="0" rtl="0" algn="ctr">
              <a:spcBef>
                <a:spcPts val="0"/>
              </a:spcBef>
              <a:buNone/>
              <a:defRPr b="1" sz="1400">
                <a:solidFill>
                  <a:srgbClr val="FFFFFF"/>
                </a:solidFill>
                <a:latin typeface="Arial"/>
                <a:ea typeface="Arial"/>
                <a:cs typeface="Arial"/>
                <a:sym typeface="Arial"/>
              </a:defRPr>
            </a:lvl2pPr>
            <a:lvl3pPr indent="0" lvl="2" marL="0" marR="0" rtl="0" algn="ctr">
              <a:spcBef>
                <a:spcPts val="0"/>
              </a:spcBef>
              <a:buNone/>
              <a:defRPr b="1" sz="1400">
                <a:solidFill>
                  <a:srgbClr val="FFFFFF"/>
                </a:solidFill>
                <a:latin typeface="Arial"/>
                <a:ea typeface="Arial"/>
                <a:cs typeface="Arial"/>
                <a:sym typeface="Arial"/>
              </a:defRPr>
            </a:lvl3pPr>
            <a:lvl4pPr indent="0" lvl="3" marL="0" marR="0" rtl="0" algn="ctr">
              <a:spcBef>
                <a:spcPts val="0"/>
              </a:spcBef>
              <a:buNone/>
              <a:defRPr b="1" sz="1400">
                <a:solidFill>
                  <a:srgbClr val="FFFFFF"/>
                </a:solidFill>
                <a:latin typeface="Arial"/>
                <a:ea typeface="Arial"/>
                <a:cs typeface="Arial"/>
                <a:sym typeface="Arial"/>
              </a:defRPr>
            </a:lvl4pPr>
            <a:lvl5pPr indent="0" lvl="4" marL="0" marR="0" rtl="0" algn="ctr">
              <a:spcBef>
                <a:spcPts val="0"/>
              </a:spcBef>
              <a:buNone/>
              <a:defRPr b="1" sz="1400">
                <a:solidFill>
                  <a:srgbClr val="FFFFFF"/>
                </a:solidFill>
                <a:latin typeface="Arial"/>
                <a:ea typeface="Arial"/>
                <a:cs typeface="Arial"/>
                <a:sym typeface="Arial"/>
              </a:defRPr>
            </a:lvl5pPr>
            <a:lvl6pPr indent="0" lvl="5" marL="0" marR="0" rtl="0" algn="ctr">
              <a:spcBef>
                <a:spcPts val="0"/>
              </a:spcBef>
              <a:buNone/>
              <a:defRPr b="1" sz="1400">
                <a:solidFill>
                  <a:srgbClr val="FFFFFF"/>
                </a:solidFill>
                <a:latin typeface="Arial"/>
                <a:ea typeface="Arial"/>
                <a:cs typeface="Arial"/>
                <a:sym typeface="Arial"/>
              </a:defRPr>
            </a:lvl6pPr>
            <a:lvl7pPr indent="0" lvl="6" marL="0" marR="0" rtl="0" algn="ctr">
              <a:spcBef>
                <a:spcPts val="0"/>
              </a:spcBef>
              <a:buNone/>
              <a:defRPr b="1" sz="1400">
                <a:solidFill>
                  <a:srgbClr val="FFFFFF"/>
                </a:solidFill>
                <a:latin typeface="Arial"/>
                <a:ea typeface="Arial"/>
                <a:cs typeface="Arial"/>
                <a:sym typeface="Arial"/>
              </a:defRPr>
            </a:lvl7pPr>
            <a:lvl8pPr indent="0" lvl="7" marL="0" marR="0" rtl="0" algn="ctr">
              <a:spcBef>
                <a:spcPts val="0"/>
              </a:spcBef>
              <a:buNone/>
              <a:defRPr b="1" sz="1400">
                <a:solidFill>
                  <a:srgbClr val="FFFFFF"/>
                </a:solidFill>
                <a:latin typeface="Arial"/>
                <a:ea typeface="Arial"/>
                <a:cs typeface="Arial"/>
                <a:sym typeface="Arial"/>
              </a:defRPr>
            </a:lvl8pPr>
            <a:lvl9pPr indent="0" lvl="8" marL="0" marR="0" rtl="0" algn="ctr">
              <a:spcBef>
                <a:spcPts val="0"/>
              </a:spcBef>
              <a:buNone/>
              <a:defRPr b="1" sz="1400">
                <a:solidFill>
                  <a:srgbClr val="FFFFFF"/>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9" name="Shape 419"/>
        <p:cNvGrpSpPr/>
        <p:nvPr/>
      </p:nvGrpSpPr>
      <p:grpSpPr>
        <a:xfrm>
          <a:off x="0" y="0"/>
          <a:ext cx="0" cy="0"/>
          <a:chOff x="0" y="0"/>
          <a:chExt cx="0" cy="0"/>
        </a:xfrm>
      </p:grpSpPr>
      <p:sp>
        <p:nvSpPr>
          <p:cNvPr id="420" name="Google Shape;420;p2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21" name="Google Shape;421;p2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22" name="Google Shape;422;p2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23" name="Google Shape;423;p2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24" name="Google Shape;424;p2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Arial"/>
                <a:ea typeface="Arial"/>
                <a:cs typeface="Arial"/>
                <a:sym typeface="Arial"/>
              </a:defRPr>
            </a:lvl1pPr>
            <a:lvl2pPr indent="0" lvl="1" marL="0" marR="0" rtl="0" algn="r">
              <a:spcBef>
                <a:spcPts val="0"/>
              </a:spcBef>
              <a:buNone/>
              <a:defRPr sz="1200">
                <a:solidFill>
                  <a:srgbClr val="888888"/>
                </a:solidFill>
                <a:latin typeface="Arial"/>
                <a:ea typeface="Arial"/>
                <a:cs typeface="Arial"/>
                <a:sym typeface="Arial"/>
              </a:defRPr>
            </a:lvl2pPr>
            <a:lvl3pPr indent="0" lvl="2" marL="0" marR="0" rtl="0" algn="r">
              <a:spcBef>
                <a:spcPts val="0"/>
              </a:spcBef>
              <a:buNone/>
              <a:defRPr sz="1200">
                <a:solidFill>
                  <a:srgbClr val="888888"/>
                </a:solidFill>
                <a:latin typeface="Arial"/>
                <a:ea typeface="Arial"/>
                <a:cs typeface="Arial"/>
                <a:sym typeface="Arial"/>
              </a:defRPr>
            </a:lvl3pPr>
            <a:lvl4pPr indent="0" lvl="3" marL="0" marR="0" rtl="0" algn="r">
              <a:spcBef>
                <a:spcPts val="0"/>
              </a:spcBef>
              <a:buNone/>
              <a:defRPr sz="1200">
                <a:solidFill>
                  <a:srgbClr val="888888"/>
                </a:solidFill>
                <a:latin typeface="Arial"/>
                <a:ea typeface="Arial"/>
                <a:cs typeface="Arial"/>
                <a:sym typeface="Arial"/>
              </a:defRPr>
            </a:lvl4pPr>
            <a:lvl5pPr indent="0" lvl="4" marL="0" marR="0" rtl="0" algn="r">
              <a:spcBef>
                <a:spcPts val="0"/>
              </a:spcBef>
              <a:buNone/>
              <a:defRPr sz="1200">
                <a:solidFill>
                  <a:srgbClr val="888888"/>
                </a:solidFill>
                <a:latin typeface="Arial"/>
                <a:ea typeface="Arial"/>
                <a:cs typeface="Arial"/>
                <a:sym typeface="Arial"/>
              </a:defRPr>
            </a:lvl5pPr>
            <a:lvl6pPr indent="0" lvl="5" marL="0" marR="0" rtl="0" algn="r">
              <a:spcBef>
                <a:spcPts val="0"/>
              </a:spcBef>
              <a:buNone/>
              <a:defRPr sz="1200">
                <a:solidFill>
                  <a:srgbClr val="888888"/>
                </a:solidFill>
                <a:latin typeface="Arial"/>
                <a:ea typeface="Arial"/>
                <a:cs typeface="Arial"/>
                <a:sym typeface="Arial"/>
              </a:defRPr>
            </a:lvl6pPr>
            <a:lvl7pPr indent="0" lvl="6" marL="0" marR="0" rtl="0" algn="r">
              <a:spcBef>
                <a:spcPts val="0"/>
              </a:spcBef>
              <a:buNone/>
              <a:defRPr sz="1200">
                <a:solidFill>
                  <a:srgbClr val="888888"/>
                </a:solidFill>
                <a:latin typeface="Arial"/>
                <a:ea typeface="Arial"/>
                <a:cs typeface="Arial"/>
                <a:sym typeface="Arial"/>
              </a:defRPr>
            </a:lvl7pPr>
            <a:lvl8pPr indent="0" lvl="7" marL="0" marR="0" rtl="0" algn="r">
              <a:spcBef>
                <a:spcPts val="0"/>
              </a:spcBef>
              <a:buNone/>
              <a:defRPr sz="1200">
                <a:solidFill>
                  <a:srgbClr val="888888"/>
                </a:solidFill>
                <a:latin typeface="Arial"/>
                <a:ea typeface="Arial"/>
                <a:cs typeface="Arial"/>
                <a:sym typeface="Arial"/>
              </a:defRPr>
            </a:lvl8pPr>
            <a:lvl9pPr indent="0" lvl="8" marL="0" marR="0" rtl="0" algn="r">
              <a:spcBef>
                <a:spcPts val="0"/>
              </a:spcBef>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94949"/>
            </a:gs>
            <a:gs pos="60000">
              <a:srgbClr val="626262"/>
            </a:gs>
            <a:gs pos="100000">
              <a:srgbClr val="8B8B8B"/>
            </a:gs>
          </a:gsLst>
          <a:lin ang="5400000" scaled="0"/>
        </a:gradFill>
      </p:bgPr>
    </p:bg>
    <p:spTree>
      <p:nvGrpSpPr>
        <p:cNvPr id="494" name="Shape 494"/>
        <p:cNvGrpSpPr/>
        <p:nvPr/>
      </p:nvGrpSpPr>
      <p:grpSpPr>
        <a:xfrm>
          <a:off x="0" y="0"/>
          <a:ext cx="0" cy="0"/>
          <a:chOff x="0" y="0"/>
          <a:chExt cx="0" cy="0"/>
        </a:xfrm>
      </p:grpSpPr>
      <p:sp>
        <p:nvSpPr>
          <p:cNvPr id="495" name="Google Shape;495;p217"/>
          <p:cNvSpPr/>
          <p:nvPr/>
        </p:nvSpPr>
        <p:spPr>
          <a:xfrm>
            <a:off x="7034" y="14068"/>
            <a:ext cx="9129932" cy="6836899"/>
          </a:xfrm>
          <a:prstGeom prst="rtTriangle">
            <a:avLst/>
          </a:prstGeom>
          <a:gradFill>
            <a:gsLst>
              <a:gs pos="0">
                <a:srgbClr val="D2D2D2">
                  <a:alpha val="9803"/>
                </a:srgbClr>
              </a:gs>
              <a:gs pos="70000">
                <a:srgbClr val="D2D2D2">
                  <a:alpha val="7843"/>
                </a:srgbClr>
              </a:gs>
              <a:gs pos="100000">
                <a:srgbClr val="D2D2D2">
                  <a:alpha val="784"/>
                </a:srgbClr>
              </a:gs>
            </a:gsLst>
            <a:lin ang="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96" name="Google Shape;496;p217"/>
          <p:cNvCxnSpPr/>
          <p:nvPr/>
        </p:nvCxnSpPr>
        <p:spPr>
          <a:xfrm>
            <a:off x="0" y="7034"/>
            <a:ext cx="9136966" cy="6843933"/>
          </a:xfrm>
          <a:prstGeom prst="straightConnector1">
            <a:avLst/>
          </a:prstGeom>
          <a:noFill/>
          <a:ln cap="rnd" cmpd="sng" w="9525">
            <a:solidFill>
              <a:srgbClr val="BEBEBE">
                <a:alpha val="34901"/>
              </a:srgbClr>
            </a:solidFill>
            <a:prstDash val="solid"/>
            <a:round/>
            <a:headEnd len="sm" w="sm" type="none"/>
            <a:tailEnd len="sm" w="sm" type="none"/>
          </a:ln>
        </p:spPr>
      </p:cxnSp>
      <p:cxnSp>
        <p:nvCxnSpPr>
          <p:cNvPr id="497" name="Google Shape;497;p217"/>
          <p:cNvCxnSpPr/>
          <p:nvPr/>
        </p:nvCxnSpPr>
        <p:spPr>
          <a:xfrm flipH="1">
            <a:off x="6468794" y="4948410"/>
            <a:ext cx="2672861" cy="1900210"/>
          </a:xfrm>
          <a:prstGeom prst="straightConnector1">
            <a:avLst/>
          </a:prstGeom>
          <a:noFill/>
          <a:ln cap="rnd" cmpd="sng" w="9525">
            <a:solidFill>
              <a:srgbClr val="C5C5C5">
                <a:alpha val="44705"/>
              </a:srgbClr>
            </a:solidFill>
            <a:prstDash val="solid"/>
            <a:round/>
            <a:headEnd len="sm" w="sm" type="none"/>
            <a:tailEnd len="sm" w="sm" type="none"/>
          </a:ln>
        </p:spPr>
      </p:cxnSp>
      <p:sp>
        <p:nvSpPr>
          <p:cNvPr id="498" name="Google Shape;498;p217"/>
          <p:cNvSpPr txBox="1"/>
          <p:nvPr>
            <p:ph type="title"/>
          </p:nvPr>
        </p:nvSpPr>
        <p:spPr>
          <a:xfrm>
            <a:off x="457200" y="267494"/>
            <a:ext cx="8229600" cy="1399032"/>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FF599C"/>
              </a:buClr>
              <a:buSzPts val="4200"/>
              <a:buFont typeface="Arial"/>
              <a:buNone/>
              <a:defRPr b="0" i="0" sz="4200" u="none" cap="none" strike="noStrike">
                <a:solidFill>
                  <a:srgbClr val="FF599C"/>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9" name="Google Shape;499;p217"/>
          <p:cNvSpPr txBox="1"/>
          <p:nvPr>
            <p:ph idx="1" type="body"/>
          </p:nvPr>
        </p:nvSpPr>
        <p:spPr>
          <a:xfrm>
            <a:off x="457200" y="1882808"/>
            <a:ext cx="8229600" cy="4572000"/>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600"/>
              </a:spcBef>
              <a:spcAft>
                <a:spcPts val="0"/>
              </a:spcAft>
              <a:buClr>
                <a:schemeClr val="accent1"/>
              </a:buClr>
              <a:buSzPts val="2400"/>
              <a:buFont typeface="Noto Sans Symbols"/>
              <a:buChar char="⦿"/>
              <a:defRPr b="0" i="0" sz="3000" u="none" cap="none" strike="noStrike">
                <a:solidFill>
                  <a:schemeClr val="lt1"/>
                </a:solidFill>
                <a:latin typeface="Arial"/>
                <a:ea typeface="Arial"/>
                <a:cs typeface="Arial"/>
                <a:sym typeface="Arial"/>
              </a:defRPr>
            </a:lvl1pPr>
            <a:lvl2pPr indent="-385444" lvl="1" marL="914400" marR="0" rtl="0" algn="l">
              <a:spcBef>
                <a:spcPts val="520"/>
              </a:spcBef>
              <a:spcAft>
                <a:spcPts val="0"/>
              </a:spcAft>
              <a:buClr>
                <a:schemeClr val="accent1"/>
              </a:buClr>
              <a:buSzPts val="2470"/>
              <a:buFont typeface="Verdana"/>
              <a:buChar char="›"/>
              <a:defRPr b="0" i="0" sz="2600" u="none" cap="none" strike="noStrike">
                <a:solidFill>
                  <a:schemeClr val="lt1"/>
                </a:solidFill>
                <a:latin typeface="Arial"/>
                <a:ea typeface="Arial"/>
                <a:cs typeface="Arial"/>
                <a:sym typeface="Arial"/>
              </a:defRPr>
            </a:lvl2pPr>
            <a:lvl3pPr indent="-381000" lvl="2" marL="1371600" marR="0" rtl="0" algn="l">
              <a:spcBef>
                <a:spcPts val="480"/>
              </a:spcBef>
              <a:spcAft>
                <a:spcPts val="0"/>
              </a:spcAft>
              <a:buClr>
                <a:schemeClr val="accent1"/>
              </a:buClr>
              <a:buSzPts val="2400"/>
              <a:buFont typeface="Noto Sans Symbols"/>
              <a:buChar char="●"/>
              <a:defRPr b="0" i="0" sz="2400" u="none" cap="none" strike="noStrike">
                <a:solidFill>
                  <a:schemeClr val="lt1"/>
                </a:solidFill>
                <a:latin typeface="Arial"/>
                <a:ea typeface="Arial"/>
                <a:cs typeface="Arial"/>
                <a:sym typeface="Arial"/>
              </a:defRPr>
            </a:lvl3pPr>
            <a:lvl4pPr indent="-355600" lvl="3" marL="1828800" marR="0" rtl="0" algn="l">
              <a:spcBef>
                <a:spcPts val="400"/>
              </a:spcBef>
              <a:spcAft>
                <a:spcPts val="0"/>
              </a:spcAft>
              <a:buClr>
                <a:schemeClr val="accent1"/>
              </a:buClr>
              <a:buSzPts val="2000"/>
              <a:buFont typeface="Noto Sans Symbols"/>
              <a:buChar char="●"/>
              <a:defRPr b="0" i="0" sz="2000" u="none" cap="none" strike="noStrike">
                <a:solidFill>
                  <a:schemeClr val="lt1"/>
                </a:solidFill>
                <a:latin typeface="Arial"/>
                <a:ea typeface="Arial"/>
                <a:cs typeface="Arial"/>
                <a:sym typeface="Arial"/>
              </a:defRPr>
            </a:lvl4pPr>
            <a:lvl5pPr indent="-349250" lvl="4" marL="2286000" marR="0" rtl="0" algn="l">
              <a:spcBef>
                <a:spcPts val="380"/>
              </a:spcBef>
              <a:spcAft>
                <a:spcPts val="0"/>
              </a:spcAft>
              <a:buClr>
                <a:srgbClr val="FF8EB1"/>
              </a:buClr>
              <a:buSzPts val="1900"/>
              <a:buFont typeface="Noto Sans Symbols"/>
              <a:buChar char="●"/>
              <a:defRPr b="0" i="0" sz="190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rgbClr val="FF8EB1"/>
              </a:buClr>
              <a:buSzPts val="1800"/>
              <a:buFont typeface="Noto Sans Symbols"/>
              <a:buChar char="●"/>
              <a:defRPr b="0" i="0" sz="1800" u="none" cap="none" strike="noStrike">
                <a:solidFill>
                  <a:schemeClr val="lt1"/>
                </a:solidFill>
                <a:latin typeface="Arial"/>
                <a:ea typeface="Arial"/>
                <a:cs typeface="Arial"/>
                <a:sym typeface="Arial"/>
              </a:defRPr>
            </a:lvl6pPr>
            <a:lvl7pPr indent="-330200" lvl="6" marL="3200400" marR="0" rtl="0" algn="l">
              <a:spcBef>
                <a:spcPts val="320"/>
              </a:spcBef>
              <a:spcAft>
                <a:spcPts val="0"/>
              </a:spcAft>
              <a:buClr>
                <a:srgbClr val="FF8EB1"/>
              </a:buClr>
              <a:buSzPts val="1600"/>
              <a:buFont typeface="Noto Sans Symbols"/>
              <a:buChar char="●"/>
              <a:defRPr b="0" i="0" sz="1600" u="none" cap="none" strike="noStrike">
                <a:solidFill>
                  <a:schemeClr val="lt1"/>
                </a:solidFill>
                <a:latin typeface="Arial"/>
                <a:ea typeface="Arial"/>
                <a:cs typeface="Arial"/>
                <a:sym typeface="Arial"/>
              </a:defRPr>
            </a:lvl7pPr>
            <a:lvl8pPr indent="-330200" lvl="7" marL="3657600" marR="0" rtl="0" algn="l">
              <a:spcBef>
                <a:spcPts val="320"/>
              </a:spcBef>
              <a:spcAft>
                <a:spcPts val="0"/>
              </a:spcAft>
              <a:buClr>
                <a:srgbClr val="FF8EB1"/>
              </a:buClr>
              <a:buSzPts val="1600"/>
              <a:buFont typeface="Noto Sans Symbols"/>
              <a:buChar char="●"/>
              <a:defRPr b="0" i="0" sz="1600" u="none" cap="none" strike="noStrike">
                <a:solidFill>
                  <a:schemeClr val="lt1"/>
                </a:solidFill>
                <a:latin typeface="Arial"/>
                <a:ea typeface="Arial"/>
                <a:cs typeface="Arial"/>
                <a:sym typeface="Arial"/>
              </a:defRPr>
            </a:lvl8pPr>
            <a:lvl9pPr indent="-330200" lvl="8" marL="4114800" marR="0" rtl="0" algn="l">
              <a:spcBef>
                <a:spcPts val="320"/>
              </a:spcBef>
              <a:spcAft>
                <a:spcPts val="0"/>
              </a:spcAft>
              <a:buClr>
                <a:srgbClr val="FF8EB1"/>
              </a:buClr>
              <a:buSzPts val="1600"/>
              <a:buFont typeface="Noto Sans Symbols"/>
              <a:buChar char="●"/>
              <a:defRPr b="0" i="0" sz="1600" u="none" cap="none" strike="noStrike">
                <a:solidFill>
                  <a:schemeClr val="lt1"/>
                </a:solidFill>
                <a:latin typeface="Arial"/>
                <a:ea typeface="Arial"/>
                <a:cs typeface="Arial"/>
                <a:sym typeface="Arial"/>
              </a:defRPr>
            </a:lvl9pPr>
          </a:lstStyle>
          <a:p/>
        </p:txBody>
      </p:sp>
      <p:sp>
        <p:nvSpPr>
          <p:cNvPr id="500" name="Google Shape;500;p217"/>
          <p:cNvSpPr txBox="1"/>
          <p:nvPr>
            <p:ph idx="10" type="dt"/>
          </p:nvPr>
        </p:nvSpPr>
        <p:spPr>
          <a:xfrm>
            <a:off x="4791456" y="6480969"/>
            <a:ext cx="2133600" cy="301752"/>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sz="10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501" name="Google Shape;501;p217"/>
          <p:cNvSpPr txBox="1"/>
          <p:nvPr>
            <p:ph idx="11" type="ftr"/>
          </p:nvPr>
        </p:nvSpPr>
        <p:spPr>
          <a:xfrm>
            <a:off x="457200" y="6481890"/>
            <a:ext cx="4260056" cy="300831"/>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sz="1000">
                <a:solidFill>
                  <a:schemeClr val="l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502" name="Google Shape;502;p217"/>
          <p:cNvSpPr txBox="1"/>
          <p:nvPr>
            <p:ph idx="12" type="sldNum"/>
          </p:nvPr>
        </p:nvSpPr>
        <p:spPr>
          <a:xfrm>
            <a:off x="7589520" y="6480969"/>
            <a:ext cx="502920" cy="301752"/>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sz="1200">
                <a:solidFill>
                  <a:schemeClr val="lt1"/>
                </a:solidFill>
                <a:latin typeface="Arial"/>
                <a:ea typeface="Arial"/>
                <a:cs typeface="Arial"/>
                <a:sym typeface="Arial"/>
              </a:defRPr>
            </a:lvl1pPr>
            <a:lvl2pPr indent="0" lvl="1" marL="0" marR="0" rtl="0" algn="ctr">
              <a:spcBef>
                <a:spcPts val="0"/>
              </a:spcBef>
              <a:buNone/>
              <a:defRPr sz="1200">
                <a:solidFill>
                  <a:schemeClr val="lt1"/>
                </a:solidFill>
                <a:latin typeface="Arial"/>
                <a:ea typeface="Arial"/>
                <a:cs typeface="Arial"/>
                <a:sym typeface="Arial"/>
              </a:defRPr>
            </a:lvl2pPr>
            <a:lvl3pPr indent="0" lvl="2" marL="0" marR="0" rtl="0" algn="ctr">
              <a:spcBef>
                <a:spcPts val="0"/>
              </a:spcBef>
              <a:buNone/>
              <a:defRPr sz="1200">
                <a:solidFill>
                  <a:schemeClr val="lt1"/>
                </a:solidFill>
                <a:latin typeface="Arial"/>
                <a:ea typeface="Arial"/>
                <a:cs typeface="Arial"/>
                <a:sym typeface="Arial"/>
              </a:defRPr>
            </a:lvl3pPr>
            <a:lvl4pPr indent="0" lvl="3" marL="0" marR="0" rtl="0" algn="ctr">
              <a:spcBef>
                <a:spcPts val="0"/>
              </a:spcBef>
              <a:buNone/>
              <a:defRPr sz="1200">
                <a:solidFill>
                  <a:schemeClr val="lt1"/>
                </a:solidFill>
                <a:latin typeface="Arial"/>
                <a:ea typeface="Arial"/>
                <a:cs typeface="Arial"/>
                <a:sym typeface="Arial"/>
              </a:defRPr>
            </a:lvl4pPr>
            <a:lvl5pPr indent="0" lvl="4" marL="0" marR="0" rtl="0" algn="ctr">
              <a:spcBef>
                <a:spcPts val="0"/>
              </a:spcBef>
              <a:buNone/>
              <a:defRPr sz="1200">
                <a:solidFill>
                  <a:schemeClr val="lt1"/>
                </a:solidFill>
                <a:latin typeface="Arial"/>
                <a:ea typeface="Arial"/>
                <a:cs typeface="Arial"/>
                <a:sym typeface="Arial"/>
              </a:defRPr>
            </a:lvl5pPr>
            <a:lvl6pPr indent="0" lvl="5" marL="0" marR="0" rtl="0" algn="ctr">
              <a:spcBef>
                <a:spcPts val="0"/>
              </a:spcBef>
              <a:buNone/>
              <a:defRPr sz="1200">
                <a:solidFill>
                  <a:schemeClr val="lt1"/>
                </a:solidFill>
                <a:latin typeface="Arial"/>
                <a:ea typeface="Arial"/>
                <a:cs typeface="Arial"/>
                <a:sym typeface="Arial"/>
              </a:defRPr>
            </a:lvl6pPr>
            <a:lvl7pPr indent="0" lvl="6" marL="0" marR="0" rtl="0" algn="ctr">
              <a:spcBef>
                <a:spcPts val="0"/>
              </a:spcBef>
              <a:buNone/>
              <a:defRPr sz="1200">
                <a:solidFill>
                  <a:schemeClr val="lt1"/>
                </a:solidFill>
                <a:latin typeface="Arial"/>
                <a:ea typeface="Arial"/>
                <a:cs typeface="Arial"/>
                <a:sym typeface="Arial"/>
              </a:defRPr>
            </a:lvl7pPr>
            <a:lvl8pPr indent="0" lvl="7" marL="0" marR="0" rtl="0" algn="ctr">
              <a:spcBef>
                <a:spcPts val="0"/>
              </a:spcBef>
              <a:buNone/>
              <a:defRPr sz="1200">
                <a:solidFill>
                  <a:schemeClr val="lt1"/>
                </a:solidFill>
                <a:latin typeface="Arial"/>
                <a:ea typeface="Arial"/>
                <a:cs typeface="Arial"/>
                <a:sym typeface="Arial"/>
              </a:defRPr>
            </a:lvl8pPr>
            <a:lvl9pPr indent="0" lvl="8" marL="0" marR="0" rtl="0" algn="ctr">
              <a:spcBef>
                <a:spcPts val="0"/>
              </a:spcBef>
              <a:buNone/>
              <a:defRPr sz="120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8.jpg"/><Relationship Id="rId5"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7.jpg"/><Relationship Id="rId5"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jp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jpg"/><Relationship Id="rId4" Type="http://schemas.openxmlformats.org/officeDocument/2006/relationships/image" Target="../media/image10.jpg"/><Relationship Id="rId5" Type="http://schemas.openxmlformats.org/officeDocument/2006/relationships/image" Target="../media/image20.jpg"/><Relationship Id="rId6"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jpg"/><Relationship Id="rId4" Type="http://schemas.openxmlformats.org/officeDocument/2006/relationships/image" Target="../media/image9.jpg"/><Relationship Id="rId5"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jpg"/><Relationship Id="rId4" Type="http://schemas.openxmlformats.org/officeDocument/2006/relationships/image" Target="../media/image4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9.jpg"/><Relationship Id="rId4" Type="http://schemas.openxmlformats.org/officeDocument/2006/relationships/image" Target="../media/image3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4.jpg"/><Relationship Id="rId4"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2.jpg"/><Relationship Id="rId4" Type="http://schemas.openxmlformats.org/officeDocument/2006/relationships/image" Target="../media/image25.jpg"/><Relationship Id="rId5" Type="http://schemas.openxmlformats.org/officeDocument/2006/relationships/image" Target="../media/image4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vi.wikipedia.org/wiki/H%C3%ACnh:Qianlong1.jpg" TargetMode="External"/><Relationship Id="rId4" Type="http://schemas.openxmlformats.org/officeDocument/2006/relationships/image" Target="../media/image2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en.wikipedia.org/wiki/Image:Adolf_Hitler_sitting.JPG" TargetMode="External"/><Relationship Id="rId4" Type="http://schemas.openxmlformats.org/officeDocument/2006/relationships/image" Target="../media/image3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hyperlink" Target="http://en.wikipedia.org/wiki/Image:Slaves_Zadib_Yemen_13th_century_BNF_Paris.jpg" TargetMode="External"/><Relationship Id="rId4" Type="http://schemas.openxmlformats.org/officeDocument/2006/relationships/image" Target="../media/image46.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9.jpg"/><Relationship Id="rId4" Type="http://schemas.openxmlformats.org/officeDocument/2006/relationships/image" Target="../media/image32.jpg"/><Relationship Id="rId5" Type="http://schemas.openxmlformats.org/officeDocument/2006/relationships/image" Target="../media/image37.jpg"/><Relationship Id="rId6" Type="http://schemas.openxmlformats.org/officeDocument/2006/relationships/image" Target="../media/image48.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5.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0.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4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vmlDrawing" Target="../drawings/vmlDrawing1.vml"/><Relationship Id="rId4" Type="http://schemas.openxmlformats.org/officeDocument/2006/relationships/image" Target="../media/image47.png"/><Relationship Id="rId5" Type="http://schemas.openxmlformats.org/officeDocument/2006/relationships/oleObject" Target="../embeddings/oleObject1.bin"/><Relationship Id="rId6" Type="http://schemas.openxmlformats.org/officeDocument/2006/relationships/oleObject" Target="../embeddings/oleObject1.bin"/><Relationship Id="rId7" Type="http://schemas.openxmlformats.org/officeDocument/2006/relationships/image" Target="../media/image4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5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7.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55.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0.xml"/><Relationship Id="rId3" Type="http://schemas.openxmlformats.org/officeDocument/2006/relationships/image" Target="../media/image5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6.jpg"/><Relationship Id="rId4" Type="http://schemas.openxmlformats.org/officeDocument/2006/relationships/image" Target="../media/image44.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54.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 Id="rId3" Type="http://schemas.openxmlformats.org/officeDocument/2006/relationships/image" Target="../media/image53.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48.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49.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37.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00.xml"/><Relationship Id="rId3" Type="http://schemas.openxmlformats.org/officeDocument/2006/relationships/image" Target="../media/image4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7.xml"/><Relationship Id="rId3" Type="http://schemas.openxmlformats.org/officeDocument/2006/relationships/image" Target="../media/image60.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5.xml"/><Relationship Id="rId3" Type="http://schemas.openxmlformats.org/officeDocument/2006/relationships/image" Target="../media/image52.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6.xml"/><Relationship Id="rId3" Type="http://schemas.openxmlformats.org/officeDocument/2006/relationships/image" Target="../media/image62.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8.xml"/><Relationship Id="rId3" Type="http://schemas.openxmlformats.org/officeDocument/2006/relationships/image" Target="../media/image75.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0.xml"/><Relationship Id="rId3" Type="http://schemas.openxmlformats.org/officeDocument/2006/relationships/image" Target="../media/image69.png"/><Relationship Id="rId4" Type="http://schemas.openxmlformats.org/officeDocument/2006/relationships/image" Target="../media/image56.png"/><Relationship Id="rId5" Type="http://schemas.openxmlformats.org/officeDocument/2006/relationships/image" Target="../media/image6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1.xml"/><Relationship Id="rId3" Type="http://schemas.openxmlformats.org/officeDocument/2006/relationships/image" Target="../media/image51.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4.xml"/><Relationship Id="rId3" Type="http://schemas.openxmlformats.org/officeDocument/2006/relationships/image" Target="../media/image59.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6.xml"/><Relationship Id="rId3" Type="http://schemas.openxmlformats.org/officeDocument/2006/relationships/image" Target="../media/image73.jpg"/><Relationship Id="rId4" Type="http://schemas.openxmlformats.org/officeDocument/2006/relationships/image" Target="../media/image76.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7.xml"/><Relationship Id="rId3" Type="http://schemas.openxmlformats.org/officeDocument/2006/relationships/image" Target="../media/image57.jpg"/><Relationship Id="rId4" Type="http://schemas.openxmlformats.org/officeDocument/2006/relationships/image" Target="../media/image63.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8.xml"/><Relationship Id="rId3" Type="http://schemas.openxmlformats.org/officeDocument/2006/relationships/image" Target="../media/image72.jpg"/><Relationship Id="rId4" Type="http://schemas.openxmlformats.org/officeDocument/2006/relationships/image" Target="../media/image67.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29.xml"/><Relationship Id="rId3" Type="http://schemas.openxmlformats.org/officeDocument/2006/relationships/image" Target="../media/image58.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5.xml"/><Relationship Id="rId3" Type="http://schemas.openxmlformats.org/officeDocument/2006/relationships/image" Target="../media/image4.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7.xml"/><Relationship Id="rId3" Type="http://schemas.openxmlformats.org/officeDocument/2006/relationships/image" Target="../media/image44.jpg"/><Relationship Id="rId4" Type="http://schemas.openxmlformats.org/officeDocument/2006/relationships/image" Target="../media/image68.jpg"/><Relationship Id="rId5" Type="http://schemas.openxmlformats.org/officeDocument/2006/relationships/image" Target="../media/image65.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9.xml"/><Relationship Id="rId3" Type="http://schemas.openxmlformats.org/officeDocument/2006/relationships/image" Target="../media/image37.jpg"/><Relationship Id="rId4" Type="http://schemas.openxmlformats.org/officeDocument/2006/relationships/image" Target="../media/image61.jp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0.xml"/><Relationship Id="rId3" Type="http://schemas.openxmlformats.org/officeDocument/2006/relationships/hyperlink" Target="http://vi.wikipedia.org/wiki/H%E1%BB%87_th%E1%BB%91ng_lu%E1%BA%ADt_ch%C3%A2u_%C3%82u_l%E1%BB%A5c_%C4%91%E1%BB%8Ba" TargetMode="External"/><Relationship Id="rId4" Type="http://schemas.openxmlformats.org/officeDocument/2006/relationships/hyperlink" Target="http://vi.wikipedia.org/wiki/H%E1%BB%87_th%E1%BB%91ng_lu%E1%BA%ADt_ch%C3%A2u_%C3%82u_l%E1%BB%A5c_%C4%91%E1%BB%8Ba" TargetMode="External"/><Relationship Id="rId5" Type="http://schemas.openxmlformats.org/officeDocument/2006/relationships/image" Target="../media/image78.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1.xml"/><Relationship Id="rId3" Type="http://schemas.openxmlformats.org/officeDocument/2006/relationships/image" Target="../media/image64.jpg"/><Relationship Id="rId4" Type="http://schemas.openxmlformats.org/officeDocument/2006/relationships/image" Target="../media/image44.jp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2.xml"/><Relationship Id="rId3" Type="http://schemas.openxmlformats.org/officeDocument/2006/relationships/image" Target="../media/image71.jpg"/><Relationship Id="rId4" Type="http://schemas.openxmlformats.org/officeDocument/2006/relationships/image" Target="../media/image74.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3.xml"/><Relationship Id="rId3" Type="http://schemas.openxmlformats.org/officeDocument/2006/relationships/image" Target="../media/image70.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5.xml"/><Relationship Id="rId3" Type="http://schemas.openxmlformats.org/officeDocument/2006/relationships/image" Target="../media/image39.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8.xml"/><Relationship Id="rId3" Type="http://schemas.openxmlformats.org/officeDocument/2006/relationships/image" Target="../media/image72.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9.xml"/><Relationship Id="rId3" Type="http://schemas.openxmlformats.org/officeDocument/2006/relationships/image" Target="../media/image77.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7.xml"/><Relationship Id="rId3" Type="http://schemas.openxmlformats.org/officeDocument/2006/relationships/hyperlink" Target="http://vi.wikipedia.org/wiki/H%E1%BB%87_th%E1%BB%91ng_lu%E1%BA%ADt_ch%C3%A2u_%C3%82u_l%E1%BB%A5c_%C4%91%E1%BB%8Ba" TargetMode="External"/><Relationship Id="rId4" Type="http://schemas.openxmlformats.org/officeDocument/2006/relationships/hyperlink" Target="http://vi.wikipedia.org/wiki/H%E1%BB%87_th%E1%BB%91ng_lu%E1%BA%ADt_ch%C3%A2u_%C3%82u_l%E1%BB%A5c_%C4%91%E1%BB%8Ba" TargetMode="Externa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1"/>
          <p:cNvSpPr txBox="1"/>
          <p:nvPr>
            <p:ph type="ctrTitle"/>
          </p:nvPr>
        </p:nvSpPr>
        <p:spPr>
          <a:xfrm>
            <a:off x="533400" y="990600"/>
            <a:ext cx="8610600" cy="1371600"/>
          </a:xfrm>
          <a:prstGeom prst="rect">
            <a:avLst/>
          </a:prstGeom>
          <a:noFill/>
          <a:ln>
            <a:noFill/>
          </a:ln>
        </p:spPr>
        <p:txBody>
          <a:bodyPr anchorCtr="0" anchor="b" bIns="0" lIns="0" spcFirstLastPara="1" rIns="18275" wrap="square" tIns="0">
            <a:normAutofit/>
          </a:bodyPr>
          <a:lstStyle/>
          <a:p>
            <a:pPr indent="0" lvl="0" marL="0" rtl="0" algn="ctr">
              <a:spcBef>
                <a:spcPts val="0"/>
              </a:spcBef>
              <a:spcAft>
                <a:spcPts val="0"/>
              </a:spcAft>
              <a:buClr>
                <a:srgbClr val="4CE0EA"/>
              </a:buClr>
              <a:buSzPts val="5600"/>
              <a:buFont typeface="Times New Roman"/>
              <a:buNone/>
            </a:pPr>
            <a:r>
              <a:rPr lang="en-US">
                <a:latin typeface="Times New Roman"/>
                <a:ea typeface="Times New Roman"/>
                <a:cs typeface="Times New Roman"/>
                <a:sym typeface="Times New Roman"/>
              </a:rPr>
              <a:t>PHÁP LUẬT ĐẠI CƯƠNG</a:t>
            </a:r>
            <a:endParaRPr>
              <a:latin typeface="Times New Roman"/>
              <a:ea typeface="Times New Roman"/>
              <a:cs typeface="Times New Roman"/>
              <a:sym typeface="Times New Roman"/>
            </a:endParaRPr>
          </a:p>
        </p:txBody>
      </p:sp>
      <p:sp>
        <p:nvSpPr>
          <p:cNvPr id="583" name="Google Shape;583;p1"/>
          <p:cNvSpPr txBox="1"/>
          <p:nvPr>
            <p:ph idx="1" type="subTitle"/>
          </p:nvPr>
        </p:nvSpPr>
        <p:spPr>
          <a:xfrm>
            <a:off x="685800" y="5257800"/>
            <a:ext cx="7854696" cy="9906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latin typeface="Times New Roman"/>
                <a:ea typeface="Times New Roman"/>
                <a:cs typeface="Times New Roman"/>
                <a:sym typeface="Times New Roman"/>
              </a:rPr>
              <a:t>Người soạn thảo: ThS. Nguyễn Thị Thúy Hằng</a:t>
            </a:r>
            <a:endParaRPr>
              <a:latin typeface="Times New Roman"/>
              <a:ea typeface="Times New Roman"/>
              <a:cs typeface="Times New Roman"/>
              <a:sym typeface="Times New Roman"/>
            </a:endParaRPr>
          </a:p>
        </p:txBody>
      </p:sp>
      <p:pic>
        <p:nvPicPr>
          <p:cNvPr descr="E:\Bai giang\PL DC\ImageHandlerLarge.ashx.jpg" id="584" name="Google Shape;584;p1"/>
          <p:cNvPicPr preferRelativeResize="0"/>
          <p:nvPr/>
        </p:nvPicPr>
        <p:blipFill rotWithShape="1">
          <a:blip r:embed="rId3">
            <a:alphaModFix/>
          </a:blip>
          <a:srcRect b="0" l="0" r="0" t="0"/>
          <a:stretch/>
        </p:blipFill>
        <p:spPr>
          <a:xfrm>
            <a:off x="3733800" y="2667000"/>
            <a:ext cx="1695450" cy="1905000"/>
          </a:xfrm>
          <a:prstGeom prst="rect">
            <a:avLst/>
          </a:prstGeom>
          <a:noFill/>
          <a:ln>
            <a:noFill/>
          </a:ln>
        </p:spPr>
      </p:pic>
      <p:sp>
        <p:nvSpPr>
          <p:cNvPr id="585" name="Google Shape;585;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2"/>
          <p:cNvSpPr txBox="1"/>
          <p:nvPr>
            <p:ph type="title"/>
          </p:nvPr>
        </p:nvSpPr>
        <p:spPr>
          <a:xfrm>
            <a:off x="457200" y="15240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Arial"/>
              <a:buNone/>
            </a:pPr>
            <a:r>
              <a:rPr lang="en-US" sz="3600"/>
              <a:t>Chương 1: Nhập môn Pháp luật đại cương</a:t>
            </a:r>
            <a:endParaRPr sz="3600"/>
          </a:p>
        </p:txBody>
      </p:sp>
      <p:sp>
        <p:nvSpPr>
          <p:cNvPr id="591" name="Google Shape;591;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Nghiên cứu giáo trình</a:t>
            </a:r>
            <a:endParaRPr/>
          </a:p>
        </p:txBody>
      </p:sp>
      <p:sp>
        <p:nvSpPr>
          <p:cNvPr id="592" name="Google Shape;592;p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593" name="Google Shape;593;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3"/>
          <p:cNvSpPr txBox="1"/>
          <p:nvPr>
            <p:ph type="title"/>
          </p:nvPr>
        </p:nvSpPr>
        <p:spPr>
          <a:xfrm>
            <a:off x="457200" y="3810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00"/>
              <a:buFont typeface="Times New Roman"/>
              <a:buNone/>
            </a:pPr>
            <a:r>
              <a:rPr b="1" lang="en-US" sz="2800">
                <a:latin typeface="Times New Roman"/>
                <a:ea typeface="Times New Roman"/>
                <a:cs typeface="Times New Roman"/>
                <a:sym typeface="Times New Roman"/>
              </a:rPr>
              <a:t>Chương 2: Những vấn đề chung về Nhà nước</a:t>
            </a:r>
            <a:endParaRPr b="1" sz="2800">
              <a:latin typeface="Times New Roman"/>
              <a:ea typeface="Times New Roman"/>
              <a:cs typeface="Times New Roman"/>
              <a:sym typeface="Times New Roman"/>
            </a:endParaRPr>
          </a:p>
        </p:txBody>
      </p:sp>
      <p:sp>
        <p:nvSpPr>
          <p:cNvPr id="600" name="Google Shape;600;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2470"/>
              <a:buNone/>
            </a:pPr>
            <a:r>
              <a:rPr lang="en-US">
                <a:latin typeface="Times New Roman"/>
                <a:ea typeface="Times New Roman"/>
                <a:cs typeface="Times New Roman"/>
                <a:sym typeface="Times New Roman"/>
              </a:rPr>
              <a:t>2.1 		Nguồn gốc Nhà nước</a:t>
            </a:r>
            <a:endParaRPr>
              <a:latin typeface="Times New Roman"/>
              <a:ea typeface="Times New Roman"/>
              <a:cs typeface="Times New Roman"/>
              <a:sym typeface="Times New Roman"/>
            </a:endParaRPr>
          </a:p>
          <a:p>
            <a:pPr indent="-514350" lvl="0" marL="514350" rtl="0" algn="l">
              <a:spcBef>
                <a:spcPts val="520"/>
              </a:spcBef>
              <a:spcAft>
                <a:spcPts val="0"/>
              </a:spcAft>
              <a:buSzPts val="2470"/>
              <a:buNone/>
            </a:pPr>
            <a:r>
              <a:rPr lang="en-US">
                <a:latin typeface="Times New Roman"/>
                <a:ea typeface="Times New Roman"/>
                <a:cs typeface="Times New Roman"/>
                <a:sym typeface="Times New Roman"/>
              </a:rPr>
              <a:t>2.2		Khái niệm và bản chất của Nhà nước</a:t>
            </a:r>
            <a:endParaRPr>
              <a:latin typeface="Times New Roman"/>
              <a:ea typeface="Times New Roman"/>
              <a:cs typeface="Times New Roman"/>
              <a:sym typeface="Times New Roman"/>
            </a:endParaRPr>
          </a:p>
          <a:p>
            <a:pPr indent="-514350" lvl="0" marL="514350" rtl="0" algn="l">
              <a:spcBef>
                <a:spcPts val="520"/>
              </a:spcBef>
              <a:spcAft>
                <a:spcPts val="0"/>
              </a:spcAft>
              <a:buSzPts val="2470"/>
              <a:buNone/>
            </a:pPr>
            <a:r>
              <a:rPr lang="en-US">
                <a:latin typeface="Times New Roman"/>
                <a:ea typeface="Times New Roman"/>
                <a:cs typeface="Times New Roman"/>
                <a:sym typeface="Times New Roman"/>
              </a:rPr>
              <a:t>2.3		Đặc điểm của Nhà nước</a:t>
            </a:r>
            <a:endParaRPr>
              <a:latin typeface="Times New Roman"/>
              <a:ea typeface="Times New Roman"/>
              <a:cs typeface="Times New Roman"/>
              <a:sym typeface="Times New Roman"/>
            </a:endParaRPr>
          </a:p>
          <a:p>
            <a:pPr indent="-514350" lvl="0" marL="514350" rtl="0" algn="l">
              <a:spcBef>
                <a:spcPts val="520"/>
              </a:spcBef>
              <a:spcAft>
                <a:spcPts val="0"/>
              </a:spcAft>
              <a:buSzPts val="2470"/>
              <a:buNone/>
            </a:pPr>
            <a:r>
              <a:rPr lang="en-US">
                <a:latin typeface="Times New Roman"/>
                <a:ea typeface="Times New Roman"/>
                <a:cs typeface="Times New Roman"/>
                <a:sym typeface="Times New Roman"/>
              </a:rPr>
              <a:t>2.4		Chức năng của Nhà nước</a:t>
            </a:r>
            <a:endParaRPr>
              <a:latin typeface="Times New Roman"/>
              <a:ea typeface="Times New Roman"/>
              <a:cs typeface="Times New Roman"/>
              <a:sym typeface="Times New Roman"/>
            </a:endParaRPr>
          </a:p>
          <a:p>
            <a:pPr indent="-514350" lvl="0" marL="514350" rtl="0" algn="l">
              <a:spcBef>
                <a:spcPts val="520"/>
              </a:spcBef>
              <a:spcAft>
                <a:spcPts val="0"/>
              </a:spcAft>
              <a:buSzPts val="2470"/>
              <a:buNone/>
            </a:pPr>
            <a:r>
              <a:rPr lang="en-US">
                <a:latin typeface="Times New Roman"/>
                <a:ea typeface="Times New Roman"/>
                <a:cs typeface="Times New Roman"/>
                <a:sym typeface="Times New Roman"/>
              </a:rPr>
              <a:t>2.5		Hình thức Nhà nước – Chế độ chính trị</a:t>
            </a:r>
            <a:endParaRPr>
              <a:latin typeface="Times New Roman"/>
              <a:ea typeface="Times New Roman"/>
              <a:cs typeface="Times New Roman"/>
              <a:sym typeface="Times New Roman"/>
            </a:endParaRPr>
          </a:p>
          <a:p>
            <a:pPr indent="-514350" lvl="0" marL="514350" rtl="0" algn="l">
              <a:spcBef>
                <a:spcPts val="520"/>
              </a:spcBef>
              <a:spcAft>
                <a:spcPts val="0"/>
              </a:spcAft>
              <a:buSzPts val="2470"/>
              <a:buNone/>
            </a:pPr>
            <a:r>
              <a:rPr lang="en-US">
                <a:latin typeface="Times New Roman"/>
                <a:ea typeface="Times New Roman"/>
                <a:cs typeface="Times New Roman"/>
                <a:sym typeface="Times New Roman"/>
              </a:rPr>
              <a:t>2.6		Các kiểu Nhà nước trong lịch sử</a:t>
            </a:r>
            <a:endParaRPr>
              <a:latin typeface="Times New Roman"/>
              <a:ea typeface="Times New Roman"/>
              <a:cs typeface="Times New Roman"/>
              <a:sym typeface="Times New Roman"/>
            </a:endParaRPr>
          </a:p>
          <a:p>
            <a:pPr indent="-514350" lvl="0" marL="514350" rtl="0" algn="l">
              <a:spcBef>
                <a:spcPts val="520"/>
              </a:spcBef>
              <a:spcAft>
                <a:spcPts val="0"/>
              </a:spcAft>
              <a:buSzPts val="2470"/>
              <a:buNone/>
            </a:pPr>
            <a:r>
              <a:rPr lang="en-US">
                <a:latin typeface="Times New Roman"/>
                <a:ea typeface="Times New Roman"/>
                <a:cs typeface="Times New Roman"/>
                <a:sym typeface="Times New Roman"/>
              </a:rPr>
              <a:t>2.7		Bộ máy Nhà nước</a:t>
            </a:r>
            <a:endParaRPr>
              <a:latin typeface="Times New Roman"/>
              <a:ea typeface="Times New Roman"/>
              <a:cs typeface="Times New Roman"/>
              <a:sym typeface="Times New Roman"/>
            </a:endParaRPr>
          </a:p>
        </p:txBody>
      </p:sp>
      <p:sp>
        <p:nvSpPr>
          <p:cNvPr id="601" name="Google Shape;601;p3"/>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602" name="Google Shape;602;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4"/>
          <p:cNvSpPr txBox="1"/>
          <p:nvPr>
            <p:ph type="title"/>
          </p:nvPr>
        </p:nvSpPr>
        <p:spPr>
          <a:xfrm>
            <a:off x="457200" y="457200"/>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Mối quan hệ hữu cơ giữa nhà nước và pháp luật</a:t>
            </a:r>
            <a:endParaRPr sz="3200">
              <a:latin typeface="Times New Roman"/>
              <a:ea typeface="Times New Roman"/>
              <a:cs typeface="Times New Roman"/>
              <a:sym typeface="Times New Roman"/>
            </a:endParaRPr>
          </a:p>
        </p:txBody>
      </p:sp>
      <p:sp>
        <p:nvSpPr>
          <p:cNvPr id="609" name="Google Shape;609;p4"/>
          <p:cNvSpPr txBox="1"/>
          <p:nvPr>
            <p:ph idx="1" type="body"/>
          </p:nvPr>
        </p:nvSpPr>
        <p:spPr>
          <a:xfrm>
            <a:off x="457200" y="14478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n-US">
                <a:latin typeface="Times New Roman"/>
                <a:ea typeface="Times New Roman"/>
                <a:cs typeface="Times New Roman"/>
                <a:sym typeface="Times New Roman"/>
              </a:rPr>
              <a:t> </a:t>
            </a:r>
            <a:endParaRPr/>
          </a:p>
          <a:p>
            <a:pPr indent="-274320" lvl="0" marL="274320" rtl="0" algn="l">
              <a:spcBef>
                <a:spcPts val="520"/>
              </a:spcBef>
              <a:spcAft>
                <a:spcPts val="0"/>
              </a:spcAft>
              <a:buSzPts val="2470"/>
              <a:buChar char="⚫"/>
            </a:pPr>
            <a:r>
              <a:rPr i="1" lang="en-US">
                <a:latin typeface="Times New Roman"/>
                <a:ea typeface="Times New Roman"/>
                <a:cs typeface="Times New Roman"/>
                <a:sym typeface="Times New Roman"/>
              </a:rPr>
              <a:t>Quan hệ qua lại</a:t>
            </a:r>
            <a:r>
              <a:rPr lang="en-US">
                <a:latin typeface="Times New Roman"/>
                <a:ea typeface="Times New Roman"/>
                <a:cs typeface="Times New Roman"/>
                <a:sym typeface="Times New Roman"/>
              </a:rPr>
              <a:t>: NN chỉ thực hiện quản lý xã hội theo đường lối của mình bằng hệ thống pháp luật. Pháp luật chỉ có ý nghĩa thực sự khi được nhà nước bảo đảm thực hiện bằng sức mạnh cưỡng chế, tổ chức…..</a:t>
            </a:r>
            <a:endParaRPr/>
          </a:p>
          <a:p>
            <a:pPr indent="-274320" lvl="0" marL="274320" rtl="0" algn="l">
              <a:spcBef>
                <a:spcPts val="520"/>
              </a:spcBef>
              <a:spcAft>
                <a:spcPts val="0"/>
              </a:spcAft>
              <a:buSzPts val="2470"/>
              <a:buChar char="⚫"/>
            </a:pPr>
            <a:r>
              <a:rPr i="1" lang="en-US">
                <a:latin typeface="Times New Roman"/>
                <a:ea typeface="Times New Roman"/>
                <a:cs typeface="Times New Roman"/>
                <a:sym typeface="Times New Roman"/>
              </a:rPr>
              <a:t>Quan hệ ràng buộc</a:t>
            </a:r>
            <a:r>
              <a:rPr lang="en-US">
                <a:latin typeface="Times New Roman"/>
                <a:ea typeface="Times New Roman"/>
                <a:cs typeface="Times New Roman"/>
                <a:sym typeface="Times New Roman"/>
              </a:rPr>
              <a:t>: Mặc dù pháp luật do Nhà nước đề ra nhưng khi được ban hành, pháp luật tác động trở lại đối với Nhà nước</a:t>
            </a:r>
            <a:endParaRPr>
              <a:latin typeface="Times New Roman"/>
              <a:ea typeface="Times New Roman"/>
              <a:cs typeface="Times New Roman"/>
              <a:sym typeface="Times New Roman"/>
            </a:endParaRPr>
          </a:p>
        </p:txBody>
      </p:sp>
      <p:pic>
        <p:nvPicPr>
          <p:cNvPr descr="E:\Bai giang\PL DC\LadyJusticeImage.jpg" id="610" name="Google Shape;610;p4"/>
          <p:cNvPicPr preferRelativeResize="0"/>
          <p:nvPr/>
        </p:nvPicPr>
        <p:blipFill rotWithShape="1">
          <a:blip r:embed="rId3">
            <a:alphaModFix/>
          </a:blip>
          <a:srcRect b="0" l="0" r="0" t="0"/>
          <a:stretch/>
        </p:blipFill>
        <p:spPr>
          <a:xfrm>
            <a:off x="5867400" y="4648200"/>
            <a:ext cx="3048000" cy="2038350"/>
          </a:xfrm>
          <a:prstGeom prst="rect">
            <a:avLst/>
          </a:prstGeom>
          <a:noFill/>
          <a:ln>
            <a:noFill/>
          </a:ln>
        </p:spPr>
      </p:pic>
      <p:sp>
        <p:nvSpPr>
          <p:cNvPr id="611" name="Google Shape;611;p4"/>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612" name="Google Shape;612;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xEl>
                                              <p:pRg end="0" st="0"/>
                                            </p:txEl>
                                          </p:spTgt>
                                        </p:tgtEl>
                                        <p:attrNameLst>
                                          <p:attrName>style.visibility</p:attrName>
                                        </p:attrNameLst>
                                      </p:cBhvr>
                                      <p:to>
                                        <p:strVal val="visible"/>
                                      </p:to>
                                    </p:set>
                                    <p:animEffect filter="fade" transition="in">
                                      <p:cBhvr>
                                        <p:cTn dur="500"/>
                                        <p:tgtEl>
                                          <p:spTgt spid="6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xEl>
                                              <p:pRg end="1" st="1"/>
                                            </p:txEl>
                                          </p:spTgt>
                                        </p:tgtEl>
                                        <p:attrNameLst>
                                          <p:attrName>style.visibility</p:attrName>
                                        </p:attrNameLst>
                                      </p:cBhvr>
                                      <p:to>
                                        <p:strVal val="visible"/>
                                      </p:to>
                                    </p:set>
                                    <p:animEffect filter="fade" transition="in">
                                      <p:cBhvr>
                                        <p:cTn dur="500"/>
                                        <p:tgtEl>
                                          <p:spTgt spid="6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xEl>
                                              <p:pRg end="2" st="2"/>
                                            </p:txEl>
                                          </p:spTgt>
                                        </p:tgtEl>
                                        <p:attrNameLst>
                                          <p:attrName>style.visibility</p:attrName>
                                        </p:attrNameLst>
                                      </p:cBhvr>
                                      <p:to>
                                        <p:strVal val="visible"/>
                                      </p:to>
                                    </p:set>
                                    <p:animEffect filter="fade" transition="in">
                                      <p:cBhvr>
                                        <p:cTn dur="500"/>
                                        <p:tgtEl>
                                          <p:spTgt spid="609">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5"/>
          <p:cNvSpPr txBox="1"/>
          <p:nvPr>
            <p:ph type="title"/>
          </p:nvPr>
        </p:nvSpPr>
        <p:spPr>
          <a:xfrm>
            <a:off x="533400" y="0"/>
            <a:ext cx="8610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2.1. NGUỒN GỐC NHÀ NƯỚC</a:t>
            </a:r>
            <a:br>
              <a:rPr lang="en-US" sz="3600">
                <a:latin typeface="Times New Roman"/>
                <a:ea typeface="Times New Roman"/>
                <a:cs typeface="Times New Roman"/>
                <a:sym typeface="Times New Roman"/>
              </a:rPr>
            </a:br>
            <a:r>
              <a:rPr lang="en-US" sz="2800">
                <a:latin typeface="Times New Roman"/>
                <a:ea typeface="Times New Roman"/>
                <a:cs typeface="Times New Roman"/>
                <a:sym typeface="Times New Roman"/>
              </a:rPr>
              <a:t>2.1.1 Các quan điểm giải thích nguồn gốc nhà nước</a:t>
            </a:r>
            <a:endParaRPr sz="2800"/>
          </a:p>
        </p:txBody>
      </p:sp>
      <p:sp>
        <p:nvSpPr>
          <p:cNvPr id="618" name="Google Shape;618;p5"/>
          <p:cNvSpPr/>
          <p:nvPr/>
        </p:nvSpPr>
        <p:spPr>
          <a:xfrm>
            <a:off x="457200" y="1143000"/>
            <a:ext cx="8229600" cy="5181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Nhà nước</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Thuyết thần quyền</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Thuyết tâm lý</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Thuyết gia trưởng</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Thuyết bạo lực</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Thuyết khế ước xã hội</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Học thuyết Mac- Lênin</a:t>
            </a:r>
            <a:endParaRPr b="0" i="0" sz="1800" u="none" cap="none" strike="noStrike">
              <a:solidFill>
                <a:schemeClr val="dk1"/>
              </a:solidFill>
              <a:latin typeface="Times New Roman"/>
              <a:ea typeface="Times New Roman"/>
              <a:cs typeface="Times New Roman"/>
              <a:sym typeface="Times New Roman"/>
            </a:endParaRPr>
          </a:p>
        </p:txBody>
      </p:sp>
      <p:sp>
        <p:nvSpPr>
          <p:cNvPr id="619" name="Google Shape;619;p5"/>
          <p:cNvSpPr/>
          <p:nvPr/>
        </p:nvSpPr>
        <p:spPr>
          <a:xfrm rot="-605830">
            <a:off x="6033079" y="994837"/>
            <a:ext cx="2216956" cy="4868328"/>
          </a:xfrm>
          <a:prstGeom prst="curvedLeftArrow">
            <a:avLst>
              <a:gd fmla="val 25000" name="adj1"/>
              <a:gd fmla="val 50000" name="adj2"/>
              <a:gd fmla="val 25000" name="adj3"/>
            </a:avLst>
          </a:prstGeom>
          <a:solidFill>
            <a:srgbClr val="FF33C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Quan điểm duy tâm</a:t>
            </a:r>
            <a:endParaRPr sz="1800">
              <a:solidFill>
                <a:srgbClr val="FF0000"/>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1800">
              <a:solidFill>
                <a:srgbClr val="FF0000"/>
              </a:solidFill>
              <a:latin typeface="Times New Roman"/>
              <a:ea typeface="Times New Roman"/>
              <a:cs typeface="Times New Roman"/>
              <a:sym typeface="Times New Roman"/>
            </a:endParaRPr>
          </a:p>
        </p:txBody>
      </p:sp>
      <p:sp>
        <p:nvSpPr>
          <p:cNvPr id="620" name="Google Shape;620;p5"/>
          <p:cNvSpPr/>
          <p:nvPr/>
        </p:nvSpPr>
        <p:spPr>
          <a:xfrm rot="-1152058">
            <a:off x="978063" y="1311321"/>
            <a:ext cx="3043493" cy="6462597"/>
          </a:xfrm>
          <a:prstGeom prst="curvedRightArrow">
            <a:avLst>
              <a:gd fmla="val 33468" name="adj1"/>
              <a:gd fmla="val 50000" name="adj2"/>
              <a:gd fmla="val 25000" name="adj3"/>
            </a:avLst>
          </a:prstGeom>
          <a:solidFill>
            <a:srgbClr val="66CCFF"/>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Quan điểm </a:t>
            </a:r>
            <a:endParaRPr/>
          </a:p>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duy vật </a:t>
            </a:r>
            <a:endParaRPr/>
          </a:p>
          <a:p>
            <a:pPr indent="0" lvl="0" marL="0" marR="0" rtl="0" algn="ctr">
              <a:spcBef>
                <a:spcPts val="0"/>
              </a:spcBef>
              <a:spcAft>
                <a:spcPts val="0"/>
              </a:spcAft>
              <a:buNone/>
            </a:pPr>
            <a:r>
              <a:t/>
            </a:r>
            <a:endParaRPr sz="1800">
              <a:solidFill>
                <a:srgbClr val="FF0000"/>
              </a:solidFill>
              <a:latin typeface="Arial"/>
              <a:ea typeface="Arial"/>
              <a:cs typeface="Arial"/>
              <a:sym typeface="Arial"/>
            </a:endParaRPr>
          </a:p>
          <a:p>
            <a:pPr indent="0" lvl="0" marL="0" marR="0" rtl="0" algn="ctr">
              <a:spcBef>
                <a:spcPts val="0"/>
              </a:spcBef>
              <a:spcAft>
                <a:spcPts val="0"/>
              </a:spcAft>
              <a:buNone/>
            </a:pPr>
            <a:r>
              <a:t/>
            </a:r>
            <a:endParaRPr sz="1800">
              <a:solidFill>
                <a:srgbClr val="FF0000"/>
              </a:solidFill>
              <a:latin typeface="Arial"/>
              <a:ea typeface="Arial"/>
              <a:cs typeface="Arial"/>
              <a:sym typeface="Arial"/>
            </a:endParaRPr>
          </a:p>
          <a:p>
            <a:pPr indent="0" lvl="0" marL="0" marR="0" rtl="0" algn="ctr">
              <a:spcBef>
                <a:spcPts val="0"/>
              </a:spcBef>
              <a:spcAft>
                <a:spcPts val="0"/>
              </a:spcAft>
              <a:buNone/>
            </a:pPr>
            <a:r>
              <a:t/>
            </a:r>
            <a:endParaRPr sz="1800">
              <a:solidFill>
                <a:srgbClr val="FF0000"/>
              </a:solidFill>
              <a:latin typeface="Arial"/>
              <a:ea typeface="Arial"/>
              <a:cs typeface="Arial"/>
              <a:sym typeface="Arial"/>
            </a:endParaRPr>
          </a:p>
          <a:p>
            <a:pPr indent="0" lvl="0" marL="0" marR="0" rtl="0" algn="ctr">
              <a:spcBef>
                <a:spcPts val="0"/>
              </a:spcBef>
              <a:spcAft>
                <a:spcPts val="0"/>
              </a:spcAft>
              <a:buNone/>
            </a:pPr>
            <a:r>
              <a:t/>
            </a:r>
            <a:endParaRPr sz="1800">
              <a:solidFill>
                <a:srgbClr val="FF0000"/>
              </a:solidFill>
              <a:latin typeface="Arial"/>
              <a:ea typeface="Arial"/>
              <a:cs typeface="Arial"/>
              <a:sym typeface="Arial"/>
            </a:endParaRPr>
          </a:p>
          <a:p>
            <a:pPr indent="0" lvl="0" marL="0" marR="0" rtl="0" algn="ctr">
              <a:spcBef>
                <a:spcPts val="0"/>
              </a:spcBef>
              <a:spcAft>
                <a:spcPts val="0"/>
              </a:spcAft>
              <a:buNone/>
            </a:pPr>
            <a:r>
              <a:t/>
            </a:r>
            <a:endParaRPr sz="1800">
              <a:solidFill>
                <a:srgbClr val="FF0000"/>
              </a:solidFill>
              <a:latin typeface="Arial"/>
              <a:ea typeface="Arial"/>
              <a:cs typeface="Arial"/>
              <a:sym typeface="Arial"/>
            </a:endParaRPr>
          </a:p>
          <a:p>
            <a:pPr indent="0" lvl="0" marL="0" marR="0" rtl="0" algn="ctr">
              <a:spcBef>
                <a:spcPts val="0"/>
              </a:spcBef>
              <a:spcAft>
                <a:spcPts val="0"/>
              </a:spcAft>
              <a:buNone/>
            </a:pPr>
            <a:r>
              <a:t/>
            </a:r>
            <a:endParaRPr sz="1800">
              <a:solidFill>
                <a:srgbClr val="FF0000"/>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21" name="Google Shape;621;p5"/>
          <p:cNvSpPr txBox="1"/>
          <p:nvPr>
            <p:ph idx="11" type="ftr"/>
          </p:nvPr>
        </p:nvSpPr>
        <p:spPr>
          <a:xfrm>
            <a:off x="62484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622" name="Google Shape;622;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
          <p:cNvSpPr txBox="1"/>
          <p:nvPr>
            <p:ph type="title"/>
          </p:nvPr>
        </p:nvSpPr>
        <p:spPr>
          <a:xfrm>
            <a:off x="609600" y="0"/>
            <a:ext cx="8229600" cy="762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00"/>
              <a:buFont typeface="Times New Roman"/>
              <a:buNone/>
            </a:pPr>
            <a:r>
              <a:rPr lang="en-US" sz="2800">
                <a:latin typeface="Times New Roman"/>
                <a:ea typeface="Times New Roman"/>
                <a:cs typeface="Times New Roman"/>
                <a:sym typeface="Times New Roman"/>
              </a:rPr>
              <a:t>2.1.1 	 Các quan điểm giải thích nguồn gốc nhà nước</a:t>
            </a:r>
            <a:endParaRPr sz="2800">
              <a:latin typeface="Times New Roman"/>
              <a:ea typeface="Times New Roman"/>
              <a:cs typeface="Times New Roman"/>
              <a:sym typeface="Times New Roman"/>
            </a:endParaRPr>
          </a:p>
        </p:txBody>
      </p:sp>
      <p:sp>
        <p:nvSpPr>
          <p:cNvPr id="628" name="Google Shape;628;p6"/>
          <p:cNvSpPr txBox="1"/>
          <p:nvPr>
            <p:ph idx="1" type="body"/>
          </p:nvPr>
        </p:nvSpPr>
        <p:spPr>
          <a:xfrm>
            <a:off x="457200" y="1066800"/>
            <a:ext cx="8229600" cy="5257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Thuyết thần quyền</a:t>
            </a:r>
            <a:endParaRPr/>
          </a:p>
        </p:txBody>
      </p:sp>
      <p:sp>
        <p:nvSpPr>
          <p:cNvPr id="629" name="Google Shape;629;p6"/>
          <p:cNvSpPr/>
          <p:nvPr/>
        </p:nvSpPr>
        <p:spPr>
          <a:xfrm>
            <a:off x="457200" y="1219200"/>
            <a:ext cx="8686800" cy="5638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Thượng đế là người sắp đặt trật tự xã hội</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Nhà nước là do thượng đế sáng tạo ra để bảo vệ trật tự chung </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Quyền lực nhà nước là vĩnh cửu</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630" name="Google Shape;630;p6"/>
          <p:cNvCxnSpPr/>
          <p:nvPr/>
        </p:nvCxnSpPr>
        <p:spPr>
          <a:xfrm flipH="1" rot="-5400000">
            <a:off x="2057400" y="5410200"/>
            <a:ext cx="381000" cy="76200"/>
          </a:xfrm>
          <a:prstGeom prst="straightConnector1">
            <a:avLst/>
          </a:prstGeom>
          <a:noFill/>
          <a:ln cap="flat" cmpd="sng" w="9525">
            <a:solidFill>
              <a:srgbClr val="075192"/>
            </a:solidFill>
            <a:prstDash val="solid"/>
            <a:round/>
            <a:headEnd len="sm" w="sm" type="none"/>
            <a:tailEnd len="med" w="med" type="stealth"/>
          </a:ln>
        </p:spPr>
      </p:cxnSp>
      <p:sp>
        <p:nvSpPr>
          <p:cNvPr id="631" name="Google Shape;631;p6"/>
          <p:cNvSpPr/>
          <p:nvPr/>
        </p:nvSpPr>
        <p:spPr>
          <a:xfrm>
            <a:off x="1143000" y="2057400"/>
            <a:ext cx="2209800" cy="838200"/>
          </a:xfrm>
          <a:prstGeom prst="cloudCallout">
            <a:avLst>
              <a:gd fmla="val -20833" name="adj1"/>
              <a:gd fmla="val 62500" name="adj2"/>
            </a:avLst>
          </a:prstGeom>
          <a:solidFill>
            <a:srgbClr val="FFFF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THIÊN TỬ</a:t>
            </a:r>
            <a:endParaRPr sz="1800">
              <a:solidFill>
                <a:schemeClr val="dk1"/>
              </a:solidFill>
              <a:latin typeface="Times New Roman"/>
              <a:ea typeface="Times New Roman"/>
              <a:cs typeface="Times New Roman"/>
              <a:sym typeface="Times New Roman"/>
            </a:endParaRPr>
          </a:p>
        </p:txBody>
      </p:sp>
      <p:sp>
        <p:nvSpPr>
          <p:cNvPr id="632" name="Google Shape;632;p6"/>
          <p:cNvSpPr/>
          <p:nvPr/>
        </p:nvSpPr>
        <p:spPr>
          <a:xfrm>
            <a:off x="152400" y="5562600"/>
            <a:ext cx="3657600" cy="1295400"/>
          </a:xfrm>
          <a:prstGeom prst="roundRect">
            <a:avLst>
              <a:gd fmla="val 16667" name="adj"/>
            </a:avLst>
          </a:prstGeom>
          <a:solidFill>
            <a:srgbClr val="7030A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“Vua được tạo ra từ những phần của các vị thánh siêu đẳng…. Người là vị thánh tối cao mang hình người” (Bộ luật Manou của Ấn Độ)</a:t>
            </a:r>
            <a:endParaRPr sz="1800">
              <a:solidFill>
                <a:schemeClr val="lt1"/>
              </a:solidFill>
              <a:latin typeface="Times New Roman"/>
              <a:ea typeface="Times New Roman"/>
              <a:cs typeface="Times New Roman"/>
              <a:sym typeface="Times New Roman"/>
            </a:endParaRPr>
          </a:p>
        </p:txBody>
      </p:sp>
      <p:sp>
        <p:nvSpPr>
          <p:cNvPr id="633" name="Google Shape;633;p6"/>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634" name="Google Shape;634;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
          <p:cNvSpPr txBox="1"/>
          <p:nvPr>
            <p:ph type="title"/>
          </p:nvPr>
        </p:nvSpPr>
        <p:spPr>
          <a:xfrm>
            <a:off x="457200" y="0"/>
            <a:ext cx="8229600" cy="8382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00"/>
              <a:buFont typeface="Times New Roman"/>
              <a:buNone/>
            </a:pPr>
            <a:r>
              <a:rPr lang="en-US" sz="2800">
                <a:latin typeface="Times New Roman"/>
                <a:ea typeface="Times New Roman"/>
                <a:cs typeface="Times New Roman"/>
                <a:sym typeface="Times New Roman"/>
              </a:rPr>
              <a:t>2.1.1	 Các quan điểm giải thích nguồn gốc nhà nước</a:t>
            </a:r>
            <a:endParaRPr sz="2800">
              <a:latin typeface="Times New Roman"/>
              <a:ea typeface="Times New Roman"/>
              <a:cs typeface="Times New Roman"/>
              <a:sym typeface="Times New Roman"/>
            </a:endParaRPr>
          </a:p>
        </p:txBody>
      </p:sp>
      <p:sp>
        <p:nvSpPr>
          <p:cNvPr id="640" name="Google Shape;640;p7"/>
          <p:cNvSpPr txBox="1"/>
          <p:nvPr>
            <p:ph idx="1" type="body"/>
          </p:nvPr>
        </p:nvSpPr>
        <p:spPr>
          <a:xfrm>
            <a:off x="457200" y="11430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latin typeface="Times New Roman"/>
                <a:ea typeface="Times New Roman"/>
                <a:cs typeface="Times New Roman"/>
                <a:sym typeface="Times New Roman"/>
              </a:rPr>
              <a:t>Thuyết tâm lý</a:t>
            </a:r>
            <a:endParaRPr>
              <a:latin typeface="Times New Roman"/>
              <a:ea typeface="Times New Roman"/>
              <a:cs typeface="Times New Roman"/>
              <a:sym typeface="Times New Roman"/>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latin typeface="Times New Roman"/>
              <a:ea typeface="Times New Roman"/>
              <a:cs typeface="Times New Roman"/>
              <a:sym typeface="Times New Roman"/>
            </a:endParaRPr>
          </a:p>
          <a:p>
            <a:pPr indent="-274320" lvl="0" marL="274320" rtl="0" algn="l">
              <a:spcBef>
                <a:spcPts val="520"/>
              </a:spcBef>
              <a:spcAft>
                <a:spcPts val="0"/>
              </a:spcAft>
              <a:buSzPts val="2470"/>
              <a:buChar char="⚫"/>
            </a:pPr>
            <a:r>
              <a:rPr lang="en-US">
                <a:latin typeface="Times New Roman"/>
                <a:ea typeface="Times New Roman"/>
                <a:cs typeface="Times New Roman"/>
                <a:sym typeface="Times New Roman"/>
              </a:rPr>
              <a:t>Thuyết gia trưởng</a:t>
            </a:r>
            <a:endParaRPr>
              <a:latin typeface="Times New Roman"/>
              <a:ea typeface="Times New Roman"/>
              <a:cs typeface="Times New Roman"/>
              <a:sym typeface="Times New Roman"/>
            </a:endParaRPr>
          </a:p>
        </p:txBody>
      </p:sp>
      <p:sp>
        <p:nvSpPr>
          <p:cNvPr id="641" name="Google Shape;641;p7"/>
          <p:cNvSpPr/>
          <p:nvPr/>
        </p:nvSpPr>
        <p:spPr>
          <a:xfrm>
            <a:off x="381000" y="1676400"/>
            <a:ext cx="3505200" cy="2057400"/>
          </a:xfrm>
          <a:prstGeom prst="irregularSeal2">
            <a:avLst/>
          </a:prstGeom>
          <a:solidFill>
            <a:srgbClr val="C4E2F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Nhà nước là lực lượng siêu nhiên </a:t>
            </a:r>
            <a:endParaRPr sz="2000">
              <a:solidFill>
                <a:schemeClr val="dk1"/>
              </a:solidFill>
              <a:latin typeface="Times New Roman"/>
              <a:ea typeface="Times New Roman"/>
              <a:cs typeface="Times New Roman"/>
              <a:sym typeface="Times New Roman"/>
            </a:endParaRPr>
          </a:p>
        </p:txBody>
      </p:sp>
      <p:sp>
        <p:nvSpPr>
          <p:cNvPr id="642" name="Google Shape;642;p7"/>
          <p:cNvSpPr/>
          <p:nvPr/>
        </p:nvSpPr>
        <p:spPr>
          <a:xfrm>
            <a:off x="3124200" y="1752600"/>
            <a:ext cx="5410200" cy="2133600"/>
          </a:xfrm>
          <a:prstGeom prst="roundRect">
            <a:avLst>
              <a:gd fmla="val 16667" name="adj"/>
            </a:avLst>
          </a:prstGeom>
          <a:solidFill>
            <a:srgbClr val="C8F9F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NN xuất hiện do nhu cầu về tâm lý của con người nguyên thủy luôn muốn phụ thuộc vào các thủ lĩnh, giáo sĩ… </a:t>
            </a:r>
            <a:endParaRPr sz="2400">
              <a:solidFill>
                <a:schemeClr val="dk1"/>
              </a:solidFill>
              <a:latin typeface="Times New Roman"/>
              <a:ea typeface="Times New Roman"/>
              <a:cs typeface="Times New Roman"/>
              <a:sym typeface="Times New Roman"/>
            </a:endParaRPr>
          </a:p>
        </p:txBody>
      </p:sp>
      <p:sp>
        <p:nvSpPr>
          <p:cNvPr id="643" name="Google Shape;643;p7"/>
          <p:cNvSpPr/>
          <p:nvPr/>
        </p:nvSpPr>
        <p:spPr>
          <a:xfrm>
            <a:off x="304800" y="4876800"/>
            <a:ext cx="6019800" cy="1676400"/>
          </a:xfrm>
          <a:prstGeom prst="ellipse">
            <a:avLst/>
          </a:prstGeom>
          <a:solidFill>
            <a:srgbClr val="0070C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Nhà nước là kết quả của sự phát triển của gia đình, là hình thức tự nhiên của cuộc sống con người</a:t>
            </a:r>
            <a:endParaRPr sz="2400">
              <a:solidFill>
                <a:schemeClr val="lt1"/>
              </a:solidFill>
              <a:latin typeface="Times New Roman"/>
              <a:ea typeface="Times New Roman"/>
              <a:cs typeface="Times New Roman"/>
              <a:sym typeface="Times New Roman"/>
            </a:endParaRPr>
          </a:p>
        </p:txBody>
      </p:sp>
      <p:sp>
        <p:nvSpPr>
          <p:cNvPr id="644" name="Google Shape;644;p7"/>
          <p:cNvSpPr/>
          <p:nvPr/>
        </p:nvSpPr>
        <p:spPr>
          <a:xfrm>
            <a:off x="5410200" y="3886200"/>
            <a:ext cx="3048000" cy="2667000"/>
          </a:xfrm>
          <a:prstGeom prst="star5">
            <a:avLst>
              <a:gd fmla="val 19098" name="adj"/>
              <a:gd fmla="val 105146" name="hf"/>
              <a:gd fmla="val 110557" name="vf"/>
            </a:avLst>
          </a:prstGeom>
          <a:solidFill>
            <a:srgbClr val="89DEFE"/>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Quyền gia trưởng của người đứng đầu</a:t>
            </a:r>
            <a:endParaRPr sz="1800">
              <a:solidFill>
                <a:schemeClr val="dk1"/>
              </a:solidFill>
              <a:latin typeface="Times New Roman"/>
              <a:ea typeface="Times New Roman"/>
              <a:cs typeface="Times New Roman"/>
              <a:sym typeface="Times New Roman"/>
            </a:endParaRPr>
          </a:p>
        </p:txBody>
      </p:sp>
      <p:sp>
        <p:nvSpPr>
          <p:cNvPr id="645" name="Google Shape;645;p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646" name="Google Shape;646;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8"/>
          <p:cNvSpPr txBox="1"/>
          <p:nvPr>
            <p:ph type="title"/>
          </p:nvPr>
        </p:nvSpPr>
        <p:spPr>
          <a:xfrm>
            <a:off x="457200" y="228600"/>
            <a:ext cx="8229600" cy="9906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Times New Roman"/>
              <a:buNone/>
            </a:pPr>
            <a:br>
              <a:rPr lang="en-US" sz="2800">
                <a:latin typeface="Times New Roman"/>
                <a:ea typeface="Times New Roman"/>
                <a:cs typeface="Times New Roman"/>
                <a:sym typeface="Times New Roman"/>
              </a:rPr>
            </a:br>
            <a:br>
              <a:rPr lang="en-US" sz="2800">
                <a:latin typeface="Times New Roman"/>
                <a:ea typeface="Times New Roman"/>
                <a:cs typeface="Times New Roman"/>
                <a:sym typeface="Times New Roman"/>
              </a:rPr>
            </a:br>
            <a:br>
              <a:rPr lang="en-US" sz="2800">
                <a:latin typeface="Times New Roman"/>
                <a:ea typeface="Times New Roman"/>
                <a:cs typeface="Times New Roman"/>
                <a:sym typeface="Times New Roman"/>
              </a:rPr>
            </a:b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2.1.1	 Các quan điểm giải thích nguồn gốc nhà nước </a:t>
            </a:r>
            <a:br>
              <a:rPr lang="en-US" sz="2800">
                <a:latin typeface="Times New Roman"/>
                <a:ea typeface="Times New Roman"/>
                <a:cs typeface="Times New Roman"/>
                <a:sym typeface="Times New Roman"/>
              </a:rPr>
            </a:br>
            <a:endParaRPr sz="2800">
              <a:latin typeface="Times New Roman"/>
              <a:ea typeface="Times New Roman"/>
              <a:cs typeface="Times New Roman"/>
              <a:sym typeface="Times New Roman"/>
            </a:endParaRPr>
          </a:p>
        </p:txBody>
      </p:sp>
      <p:sp>
        <p:nvSpPr>
          <p:cNvPr id="652" name="Google Shape;652;p8"/>
          <p:cNvSpPr txBox="1"/>
          <p:nvPr>
            <p:ph idx="1" type="body"/>
          </p:nvPr>
        </p:nvSpPr>
        <p:spPr>
          <a:xfrm>
            <a:off x="457200" y="838200"/>
            <a:ext cx="8229600" cy="52879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latin typeface="Times New Roman"/>
                <a:ea typeface="Times New Roman"/>
                <a:cs typeface="Times New Roman"/>
                <a:sym typeface="Times New Roman"/>
              </a:rPr>
              <a:t>Thuyết bạo lực</a:t>
            </a:r>
            <a:endParaRPr>
              <a:latin typeface="Times New Roman"/>
              <a:ea typeface="Times New Roman"/>
              <a:cs typeface="Times New Roman"/>
              <a:sym typeface="Times New Roman"/>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rPr lang="en-US"/>
              <a:t>                             </a:t>
            </a:r>
            <a:endParaRPr/>
          </a:p>
          <a:p>
            <a:pPr indent="-274320" lvl="0" marL="274320" rtl="0" algn="l">
              <a:spcBef>
                <a:spcPts val="520"/>
              </a:spcBef>
              <a:spcAft>
                <a:spcPts val="0"/>
              </a:spcAft>
              <a:buSzPts val="2470"/>
              <a:buNone/>
            </a:pPr>
            <a:r>
              <a:rPr lang="en-US"/>
              <a:t>                                     Nô dịch</a:t>
            </a:r>
            <a:endParaRPr/>
          </a:p>
          <a:p>
            <a:pPr indent="-274320" lvl="0" marL="274320" rtl="0" algn="l">
              <a:spcBef>
                <a:spcPts val="520"/>
              </a:spcBef>
              <a:spcAft>
                <a:spcPts val="0"/>
              </a:spcAft>
              <a:buSzPts val="2470"/>
              <a:buNone/>
            </a:pPr>
            <a:r>
              <a:t/>
            </a:r>
            <a:endParaRPr/>
          </a:p>
        </p:txBody>
      </p:sp>
      <p:sp>
        <p:nvSpPr>
          <p:cNvPr id="653" name="Google Shape;653;p8"/>
          <p:cNvSpPr/>
          <p:nvPr/>
        </p:nvSpPr>
        <p:spPr>
          <a:xfrm>
            <a:off x="0" y="3581400"/>
            <a:ext cx="2819400" cy="1600200"/>
          </a:xfrm>
          <a:prstGeom prst="roundRect">
            <a:avLst>
              <a:gd fmla="val 16667" name="adj"/>
            </a:avLst>
          </a:prstGeom>
          <a:solidFill>
            <a:srgbClr val="C00000"/>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Thị tộc chiến thắng</a:t>
            </a:r>
            <a:endParaRPr sz="2400">
              <a:solidFill>
                <a:schemeClr val="dk1"/>
              </a:solidFill>
              <a:latin typeface="Times New Roman"/>
              <a:ea typeface="Times New Roman"/>
              <a:cs typeface="Times New Roman"/>
              <a:sym typeface="Times New Roman"/>
            </a:endParaRPr>
          </a:p>
        </p:txBody>
      </p:sp>
      <p:sp>
        <p:nvSpPr>
          <p:cNvPr id="654" name="Google Shape;654;p8"/>
          <p:cNvSpPr/>
          <p:nvPr/>
        </p:nvSpPr>
        <p:spPr>
          <a:xfrm>
            <a:off x="6400800" y="3581400"/>
            <a:ext cx="2438400" cy="1524000"/>
          </a:xfrm>
          <a:prstGeom prst="roundRect">
            <a:avLst>
              <a:gd fmla="val 16667" name="adj"/>
            </a:avLst>
          </a:prstGeom>
          <a:solidFill>
            <a:schemeClr val="accent6"/>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Thj tộc thất bại</a:t>
            </a:r>
            <a:endParaRPr sz="2400">
              <a:solidFill>
                <a:schemeClr val="lt1"/>
              </a:solidFill>
              <a:latin typeface="Times New Roman"/>
              <a:ea typeface="Times New Roman"/>
              <a:cs typeface="Times New Roman"/>
              <a:sym typeface="Times New Roman"/>
            </a:endParaRPr>
          </a:p>
        </p:txBody>
      </p:sp>
      <p:sp>
        <p:nvSpPr>
          <p:cNvPr id="655" name="Google Shape;655;p8"/>
          <p:cNvSpPr/>
          <p:nvPr/>
        </p:nvSpPr>
        <p:spPr>
          <a:xfrm>
            <a:off x="3048000" y="3429000"/>
            <a:ext cx="3429000" cy="1828800"/>
          </a:xfrm>
          <a:prstGeom prst="rightArrow">
            <a:avLst>
              <a:gd fmla="val 50000" name="adj1"/>
              <a:gd fmla="val 50000" name="adj2"/>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Hệ thống cơ quan đặc biệt = Nhà nước</a:t>
            </a:r>
            <a:endParaRPr sz="2000">
              <a:solidFill>
                <a:schemeClr val="dk1"/>
              </a:solidFill>
              <a:latin typeface="Times New Roman"/>
              <a:ea typeface="Times New Roman"/>
              <a:cs typeface="Times New Roman"/>
              <a:sym typeface="Times New Roman"/>
            </a:endParaRPr>
          </a:p>
        </p:txBody>
      </p:sp>
      <p:sp>
        <p:nvSpPr>
          <p:cNvPr id="656" name="Google Shape;656;p8"/>
          <p:cNvSpPr/>
          <p:nvPr/>
        </p:nvSpPr>
        <p:spPr>
          <a:xfrm>
            <a:off x="1143000" y="1371600"/>
            <a:ext cx="7162800" cy="4038600"/>
          </a:xfrm>
          <a:prstGeom prst="blockArc">
            <a:avLst>
              <a:gd fmla="val 10800000" name="adj1"/>
              <a:gd fmla="val 0" name="adj2"/>
              <a:gd fmla="val 25000" name="adj3"/>
            </a:avLst>
          </a:prstGeom>
          <a:gradFill>
            <a:gsLst>
              <a:gs pos="0">
                <a:srgbClr val="87E9F1"/>
              </a:gs>
              <a:gs pos="43000">
                <a:srgbClr val="B6F8FC"/>
              </a:gs>
              <a:gs pos="93000">
                <a:srgbClr val="E8FCFE"/>
              </a:gs>
              <a:gs pos="100000">
                <a:srgbClr val="F6FFFF"/>
              </a:gs>
            </a:gsLst>
            <a:path path="circle">
              <a:fillToRect b="50%" l="50%" r="50%" t="50%"/>
            </a:path>
            <a:tileRect/>
          </a:gradFill>
          <a:ln cap="flat" cmpd="sng" w="9525">
            <a:solidFill>
              <a:srgbClr val="0599A0"/>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Nhà nước xuất hiện trực tiếp từ việc sử dụng bạo lực</a:t>
            </a:r>
            <a:endParaRPr sz="20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pic>
        <p:nvPicPr>
          <p:cNvPr descr="E:\Bai giang\PL DC\Pics\270px-В_покоренной_Москве.jpg" id="657" name="Google Shape;657;p8"/>
          <p:cNvPicPr preferRelativeResize="0"/>
          <p:nvPr/>
        </p:nvPicPr>
        <p:blipFill rotWithShape="1">
          <a:blip r:embed="rId3">
            <a:alphaModFix/>
          </a:blip>
          <a:srcRect b="0" l="0" r="0" t="0"/>
          <a:stretch/>
        </p:blipFill>
        <p:spPr>
          <a:xfrm>
            <a:off x="2895600" y="5006622"/>
            <a:ext cx="2438400" cy="1851378"/>
          </a:xfrm>
          <a:prstGeom prst="rect">
            <a:avLst/>
          </a:prstGeom>
          <a:noFill/>
          <a:ln>
            <a:noFill/>
          </a:ln>
        </p:spPr>
      </p:pic>
      <p:sp>
        <p:nvSpPr>
          <p:cNvPr id="658" name="Google Shape;658;p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659" name="Google Shape;659;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
          <p:cNvSpPr txBox="1"/>
          <p:nvPr>
            <p:ph type="title"/>
          </p:nvPr>
        </p:nvSpPr>
        <p:spPr>
          <a:xfrm>
            <a:off x="457200" y="304800"/>
            <a:ext cx="8229600" cy="5334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C00000"/>
              </a:buClr>
              <a:buSzPts val="2800"/>
              <a:buFont typeface="Times New Roman"/>
              <a:buNone/>
            </a:pPr>
            <a:r>
              <a:rPr lang="en-US" sz="2800">
                <a:solidFill>
                  <a:srgbClr val="C00000"/>
                </a:solidFill>
                <a:latin typeface="Times New Roman"/>
                <a:ea typeface="Times New Roman"/>
                <a:cs typeface="Times New Roman"/>
                <a:sym typeface="Times New Roman"/>
              </a:rPr>
              <a:t>2.1.1	</a:t>
            </a:r>
            <a:r>
              <a:rPr lang="en-US" sz="2800">
                <a:latin typeface="Times New Roman"/>
                <a:ea typeface="Times New Roman"/>
                <a:cs typeface="Times New Roman"/>
                <a:sym typeface="Times New Roman"/>
              </a:rPr>
              <a:t> Các quan điểm giải thích nguồn gốc nhà nước</a:t>
            </a:r>
            <a:endParaRPr sz="2800">
              <a:solidFill>
                <a:srgbClr val="C00000"/>
              </a:solidFill>
              <a:latin typeface="Times New Roman"/>
              <a:ea typeface="Times New Roman"/>
              <a:cs typeface="Times New Roman"/>
              <a:sym typeface="Times New Roman"/>
            </a:endParaRPr>
          </a:p>
        </p:txBody>
      </p:sp>
      <p:sp>
        <p:nvSpPr>
          <p:cNvPr id="665" name="Google Shape;665;p9"/>
          <p:cNvSpPr txBox="1"/>
          <p:nvPr>
            <p:ph idx="1" type="body"/>
          </p:nvPr>
        </p:nvSpPr>
        <p:spPr>
          <a:xfrm>
            <a:off x="457200" y="838200"/>
            <a:ext cx="8229600" cy="57912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1" lang="en-US" sz="2000">
                <a:latin typeface="Times New Roman"/>
                <a:ea typeface="Times New Roman"/>
                <a:cs typeface="Times New Roman"/>
                <a:sym typeface="Times New Roman"/>
              </a:rPr>
              <a:t>Thuyết khế ước xã hội</a:t>
            </a:r>
            <a:r>
              <a:rPr lang="en-US" sz="2000">
                <a:latin typeface="Times New Roman"/>
                <a:ea typeface="Times New Roman"/>
                <a:cs typeface="Times New Roman"/>
                <a:sym typeface="Times New Roman"/>
              </a:rPr>
              <a:t>: NN là sản phẩm của </a:t>
            </a:r>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một khế ước được ký kết giữa những người sống</a:t>
            </a:r>
            <a:endParaRPr sz="2000">
              <a:latin typeface="Times New Roman"/>
              <a:ea typeface="Times New Roman"/>
              <a:cs typeface="Times New Roman"/>
              <a:sym typeface="Times New Roman"/>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trong trạng thái tự nhiên không có nhà nước, </a:t>
            </a:r>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dựa trên cơ sở mỗi người tự nguyện nhượng một phần</a:t>
            </a:r>
            <a:endParaRPr sz="2000">
              <a:latin typeface="Times New Roman"/>
              <a:ea typeface="Times New Roman"/>
              <a:cs typeface="Times New Roman"/>
              <a:sym typeface="Times New Roman"/>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trong số các quyền tự nhiên vốn có của mình giao cho</a:t>
            </a:r>
            <a:endParaRPr sz="2000">
              <a:latin typeface="Times New Roman"/>
              <a:ea typeface="Times New Roman"/>
              <a:cs typeface="Times New Roman"/>
              <a:sym typeface="Times New Roman"/>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một tổ chức đặc biệt là nhà nước nhằm bảo vệ lợi ích </a:t>
            </a:r>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chung của cộng đồng.</a:t>
            </a:r>
            <a:endParaRPr/>
          </a:p>
          <a:p>
            <a:pPr indent="-274320" lvl="0" marL="274320" rtl="0" algn="just">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                                          Tự do, tiền bạc, vật chất,……..     </a:t>
            </a:r>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                                                                                                       </a:t>
            </a:r>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                                    Bảo vệ kẻ yếu,, kiểm soát kẻ mạnh</a:t>
            </a:r>
            <a:endParaRPr sz="2000">
              <a:latin typeface="Times New Roman"/>
              <a:ea typeface="Times New Roman"/>
              <a:cs typeface="Times New Roman"/>
              <a:sym typeface="Times New Roman"/>
            </a:endParaRPr>
          </a:p>
          <a:p>
            <a:pPr indent="-274320" lvl="0" marL="274320" rtl="0" algn="just">
              <a:spcBef>
                <a:spcPts val="400"/>
              </a:spcBef>
              <a:spcAft>
                <a:spcPts val="0"/>
              </a:spcAft>
              <a:buSzPts val="1900"/>
              <a:buNone/>
            </a:pPr>
            <a:r>
              <a:rPr lang="en-US" sz="2000">
                <a:latin typeface="Times New Roman"/>
                <a:ea typeface="Times New Roman"/>
                <a:cs typeface="Times New Roman"/>
                <a:sym typeface="Times New Roman"/>
              </a:rPr>
              <a:t>             Làm cho người có quyền được hưởng, người có nghĩa vụ phải thực thi</a:t>
            </a:r>
            <a:endParaRPr sz="2000"/>
          </a:p>
        </p:txBody>
      </p:sp>
      <p:pic>
        <p:nvPicPr>
          <p:cNvPr descr="E:\Bai giang\PL DC\Pics\47.jpg" id="666" name="Google Shape;666;p9"/>
          <p:cNvPicPr preferRelativeResize="0"/>
          <p:nvPr/>
        </p:nvPicPr>
        <p:blipFill rotWithShape="1">
          <a:blip r:embed="rId3">
            <a:alphaModFix/>
          </a:blip>
          <a:srcRect b="0" l="0" r="0" t="0"/>
          <a:stretch/>
        </p:blipFill>
        <p:spPr>
          <a:xfrm>
            <a:off x="0" y="5200650"/>
            <a:ext cx="2762250" cy="1657350"/>
          </a:xfrm>
          <a:prstGeom prst="rect">
            <a:avLst/>
          </a:prstGeom>
          <a:noFill/>
          <a:ln>
            <a:noFill/>
          </a:ln>
        </p:spPr>
      </p:pic>
      <p:pic>
        <p:nvPicPr>
          <p:cNvPr descr="E:\Bai giang\PL DC\Pics\tải xuống (8).jpg" id="667" name="Google Shape;667;p9"/>
          <p:cNvPicPr preferRelativeResize="0"/>
          <p:nvPr/>
        </p:nvPicPr>
        <p:blipFill rotWithShape="1">
          <a:blip r:embed="rId4">
            <a:alphaModFix/>
          </a:blip>
          <a:srcRect b="0" l="0" r="0" t="0"/>
          <a:stretch/>
        </p:blipFill>
        <p:spPr>
          <a:xfrm>
            <a:off x="6172200" y="990600"/>
            <a:ext cx="2000250" cy="2286000"/>
          </a:xfrm>
          <a:prstGeom prst="rect">
            <a:avLst/>
          </a:prstGeom>
          <a:noFill/>
          <a:ln>
            <a:noFill/>
          </a:ln>
        </p:spPr>
      </p:pic>
      <p:pic>
        <p:nvPicPr>
          <p:cNvPr descr="E:\Bai giang\PL DC\Pics\images (34).jpg" id="668" name="Google Shape;668;p9"/>
          <p:cNvPicPr preferRelativeResize="0"/>
          <p:nvPr/>
        </p:nvPicPr>
        <p:blipFill rotWithShape="1">
          <a:blip r:embed="rId5">
            <a:alphaModFix/>
          </a:blip>
          <a:srcRect b="0" l="0" r="0" t="0"/>
          <a:stretch/>
        </p:blipFill>
        <p:spPr>
          <a:xfrm>
            <a:off x="6019800" y="5425965"/>
            <a:ext cx="1524000" cy="1432035"/>
          </a:xfrm>
          <a:prstGeom prst="rect">
            <a:avLst/>
          </a:prstGeom>
          <a:noFill/>
          <a:ln>
            <a:noFill/>
          </a:ln>
        </p:spPr>
      </p:pic>
      <p:cxnSp>
        <p:nvCxnSpPr>
          <p:cNvPr id="669" name="Google Shape;669;p9"/>
          <p:cNvCxnSpPr/>
          <p:nvPr/>
        </p:nvCxnSpPr>
        <p:spPr>
          <a:xfrm>
            <a:off x="1828800" y="4191000"/>
            <a:ext cx="5257800" cy="1588"/>
          </a:xfrm>
          <a:prstGeom prst="straightConnector1">
            <a:avLst/>
          </a:prstGeom>
          <a:noFill/>
          <a:ln cap="flat" cmpd="sng" w="9525">
            <a:solidFill>
              <a:srgbClr val="075192"/>
            </a:solidFill>
            <a:prstDash val="solid"/>
            <a:round/>
            <a:headEnd len="sm" w="sm" type="none"/>
            <a:tailEnd len="med" w="med" type="stealth"/>
          </a:ln>
        </p:spPr>
      </p:cxnSp>
      <p:cxnSp>
        <p:nvCxnSpPr>
          <p:cNvPr id="670" name="Google Shape;670;p9"/>
          <p:cNvCxnSpPr/>
          <p:nvPr/>
        </p:nvCxnSpPr>
        <p:spPr>
          <a:xfrm rot="10800000">
            <a:off x="1828800" y="4419600"/>
            <a:ext cx="5257800" cy="1588"/>
          </a:xfrm>
          <a:prstGeom prst="straightConnector1">
            <a:avLst/>
          </a:prstGeom>
          <a:noFill/>
          <a:ln cap="flat" cmpd="sng" w="9525">
            <a:solidFill>
              <a:srgbClr val="075192"/>
            </a:solidFill>
            <a:prstDash val="solid"/>
            <a:round/>
            <a:headEnd len="sm" w="sm" type="none"/>
            <a:tailEnd len="med" w="med" type="stealth"/>
          </a:ln>
        </p:spPr>
      </p:cxnSp>
      <p:sp>
        <p:nvSpPr>
          <p:cNvPr id="671" name="Google Shape;671;p9"/>
          <p:cNvSpPr/>
          <p:nvPr/>
        </p:nvSpPr>
        <p:spPr>
          <a:xfrm>
            <a:off x="0" y="3810000"/>
            <a:ext cx="1676400" cy="10668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Người dân</a:t>
            </a:r>
            <a:endParaRPr sz="2400">
              <a:solidFill>
                <a:schemeClr val="lt1"/>
              </a:solidFill>
              <a:latin typeface="Times New Roman"/>
              <a:ea typeface="Times New Roman"/>
              <a:cs typeface="Times New Roman"/>
              <a:sym typeface="Times New Roman"/>
            </a:endParaRPr>
          </a:p>
        </p:txBody>
      </p:sp>
      <p:sp>
        <p:nvSpPr>
          <p:cNvPr id="672" name="Google Shape;672;p9"/>
          <p:cNvSpPr/>
          <p:nvPr/>
        </p:nvSpPr>
        <p:spPr>
          <a:xfrm>
            <a:off x="7315200" y="3581400"/>
            <a:ext cx="1828800" cy="12192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Nhà nước</a:t>
            </a:r>
            <a:endParaRPr sz="2400">
              <a:solidFill>
                <a:schemeClr val="lt1"/>
              </a:solidFill>
              <a:latin typeface="Times New Roman"/>
              <a:ea typeface="Times New Roman"/>
              <a:cs typeface="Times New Roman"/>
              <a:sym typeface="Times New Roman"/>
            </a:endParaRPr>
          </a:p>
        </p:txBody>
      </p:sp>
      <p:sp>
        <p:nvSpPr>
          <p:cNvPr id="673" name="Google Shape;673;p9"/>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674" name="Google Shape;674;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0" st="0"/>
                                            </p:txEl>
                                          </p:spTgt>
                                        </p:tgtEl>
                                        <p:attrNameLst>
                                          <p:attrName>style.visibility</p:attrName>
                                        </p:attrNameLst>
                                      </p:cBhvr>
                                      <p:to>
                                        <p:strVal val="visible"/>
                                      </p:to>
                                    </p:set>
                                    <p:anim calcmode="lin" valueType="num">
                                      <p:cBhvr additive="base">
                                        <p:cTn dur="2000"/>
                                        <p:tgtEl>
                                          <p:spTgt spid="6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1" st="1"/>
                                            </p:txEl>
                                          </p:spTgt>
                                        </p:tgtEl>
                                        <p:attrNameLst>
                                          <p:attrName>style.visibility</p:attrName>
                                        </p:attrNameLst>
                                      </p:cBhvr>
                                      <p:to>
                                        <p:strVal val="visible"/>
                                      </p:to>
                                    </p:set>
                                    <p:anim calcmode="lin" valueType="num">
                                      <p:cBhvr additive="base">
                                        <p:cTn dur="2000"/>
                                        <p:tgtEl>
                                          <p:spTgt spid="6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2" st="2"/>
                                            </p:txEl>
                                          </p:spTgt>
                                        </p:tgtEl>
                                        <p:attrNameLst>
                                          <p:attrName>style.visibility</p:attrName>
                                        </p:attrNameLst>
                                      </p:cBhvr>
                                      <p:to>
                                        <p:strVal val="visible"/>
                                      </p:to>
                                    </p:set>
                                    <p:anim calcmode="lin" valueType="num">
                                      <p:cBhvr additive="base">
                                        <p:cTn dur="2000"/>
                                        <p:tgtEl>
                                          <p:spTgt spid="66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3" st="3"/>
                                            </p:txEl>
                                          </p:spTgt>
                                        </p:tgtEl>
                                        <p:attrNameLst>
                                          <p:attrName>style.visibility</p:attrName>
                                        </p:attrNameLst>
                                      </p:cBhvr>
                                      <p:to>
                                        <p:strVal val="visible"/>
                                      </p:to>
                                    </p:set>
                                    <p:anim calcmode="lin" valueType="num">
                                      <p:cBhvr additive="base">
                                        <p:cTn dur="2000"/>
                                        <p:tgtEl>
                                          <p:spTgt spid="66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4" st="4"/>
                                            </p:txEl>
                                          </p:spTgt>
                                        </p:tgtEl>
                                        <p:attrNameLst>
                                          <p:attrName>style.visibility</p:attrName>
                                        </p:attrNameLst>
                                      </p:cBhvr>
                                      <p:to>
                                        <p:strVal val="visible"/>
                                      </p:to>
                                    </p:set>
                                    <p:anim calcmode="lin" valueType="num">
                                      <p:cBhvr additive="base">
                                        <p:cTn dur="2000"/>
                                        <p:tgtEl>
                                          <p:spTgt spid="66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5" st="5"/>
                                            </p:txEl>
                                          </p:spTgt>
                                        </p:tgtEl>
                                        <p:attrNameLst>
                                          <p:attrName>style.visibility</p:attrName>
                                        </p:attrNameLst>
                                      </p:cBhvr>
                                      <p:to>
                                        <p:strVal val="visible"/>
                                      </p:to>
                                    </p:set>
                                    <p:anim calcmode="lin" valueType="num">
                                      <p:cBhvr additive="base">
                                        <p:cTn dur="2000"/>
                                        <p:tgtEl>
                                          <p:spTgt spid="66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6" st="6"/>
                                            </p:txEl>
                                          </p:spTgt>
                                        </p:tgtEl>
                                        <p:attrNameLst>
                                          <p:attrName>style.visibility</p:attrName>
                                        </p:attrNameLst>
                                      </p:cBhvr>
                                      <p:to>
                                        <p:strVal val="visible"/>
                                      </p:to>
                                    </p:set>
                                    <p:anim calcmode="lin" valueType="num">
                                      <p:cBhvr additive="base">
                                        <p:cTn dur="2000"/>
                                        <p:tgtEl>
                                          <p:spTgt spid="66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7" st="7"/>
                                            </p:txEl>
                                          </p:spTgt>
                                        </p:tgtEl>
                                        <p:attrNameLst>
                                          <p:attrName>style.visibility</p:attrName>
                                        </p:attrNameLst>
                                      </p:cBhvr>
                                      <p:to>
                                        <p:strVal val="visible"/>
                                      </p:to>
                                    </p:set>
                                    <p:anim calcmode="lin" valueType="num">
                                      <p:cBhvr additive="base">
                                        <p:cTn dur="2000"/>
                                        <p:tgtEl>
                                          <p:spTgt spid="66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8" st="8"/>
                                            </p:txEl>
                                          </p:spTgt>
                                        </p:tgtEl>
                                        <p:attrNameLst>
                                          <p:attrName>style.visibility</p:attrName>
                                        </p:attrNameLst>
                                      </p:cBhvr>
                                      <p:to>
                                        <p:strVal val="visible"/>
                                      </p:to>
                                    </p:set>
                                    <p:anim calcmode="lin" valueType="num">
                                      <p:cBhvr additive="base">
                                        <p:cTn dur="2000"/>
                                        <p:tgtEl>
                                          <p:spTgt spid="66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9" st="9"/>
                                            </p:txEl>
                                          </p:spTgt>
                                        </p:tgtEl>
                                        <p:attrNameLst>
                                          <p:attrName>style.visibility</p:attrName>
                                        </p:attrNameLst>
                                      </p:cBhvr>
                                      <p:to>
                                        <p:strVal val="visible"/>
                                      </p:to>
                                    </p:set>
                                    <p:anim calcmode="lin" valueType="num">
                                      <p:cBhvr additive="base">
                                        <p:cTn dur="2000"/>
                                        <p:tgtEl>
                                          <p:spTgt spid="66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10" st="10"/>
                                            </p:txEl>
                                          </p:spTgt>
                                        </p:tgtEl>
                                        <p:attrNameLst>
                                          <p:attrName>style.visibility</p:attrName>
                                        </p:attrNameLst>
                                      </p:cBhvr>
                                      <p:to>
                                        <p:strVal val="visible"/>
                                      </p:to>
                                    </p:set>
                                    <p:anim calcmode="lin" valueType="num">
                                      <p:cBhvr additive="base">
                                        <p:cTn dur="2000"/>
                                        <p:tgtEl>
                                          <p:spTgt spid="66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5">
                                            <p:txEl>
                                              <p:pRg end="11" st="11"/>
                                            </p:txEl>
                                          </p:spTgt>
                                        </p:tgtEl>
                                        <p:attrNameLst>
                                          <p:attrName>style.visibility</p:attrName>
                                        </p:attrNameLst>
                                      </p:cBhvr>
                                      <p:to>
                                        <p:strVal val="visible"/>
                                      </p:to>
                                    </p:set>
                                    <p:anim calcmode="lin" valueType="num">
                                      <p:cBhvr additive="base">
                                        <p:cTn dur="2000"/>
                                        <p:tgtEl>
                                          <p:spTgt spid="665">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10"/>
          <p:cNvSpPr txBox="1"/>
          <p:nvPr>
            <p:ph type="title"/>
          </p:nvPr>
        </p:nvSpPr>
        <p:spPr>
          <a:xfrm>
            <a:off x="533400" y="0"/>
            <a:ext cx="8229600" cy="6397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000"/>
              <a:buFont typeface="Times New Roman"/>
              <a:buNone/>
            </a:pPr>
            <a:r>
              <a:rPr b="1" lang="en-US" sz="2000">
                <a:latin typeface="Times New Roman"/>
                <a:ea typeface="Times New Roman"/>
                <a:cs typeface="Times New Roman"/>
                <a:sym typeface="Times New Roman"/>
              </a:rPr>
              <a:t>2.1.1	</a:t>
            </a:r>
            <a:r>
              <a:rPr lang="en-US" sz="2000">
                <a:latin typeface="Times New Roman"/>
                <a:ea typeface="Times New Roman"/>
                <a:cs typeface="Times New Roman"/>
                <a:sym typeface="Times New Roman"/>
              </a:rPr>
              <a:t> Các quan điểm giải thích nguồn gốc nhà nước</a:t>
            </a:r>
            <a:endParaRPr b="1" sz="2000">
              <a:latin typeface="Times New Roman"/>
              <a:ea typeface="Times New Roman"/>
              <a:cs typeface="Times New Roman"/>
              <a:sym typeface="Times New Roman"/>
            </a:endParaRPr>
          </a:p>
        </p:txBody>
      </p:sp>
      <p:sp>
        <p:nvSpPr>
          <p:cNvPr id="680" name="Google Shape;680;p10"/>
          <p:cNvSpPr txBox="1"/>
          <p:nvPr>
            <p:ph idx="1" type="body"/>
          </p:nvPr>
        </p:nvSpPr>
        <p:spPr>
          <a:xfrm>
            <a:off x="0" y="533400"/>
            <a:ext cx="9144000" cy="6096000"/>
          </a:xfrm>
          <a:prstGeom prst="rect">
            <a:avLst/>
          </a:prstGeom>
          <a:noFill/>
          <a:ln>
            <a:noFill/>
          </a:ln>
        </p:spPr>
        <p:txBody>
          <a:bodyPr anchorCtr="0" anchor="t" bIns="45700" lIns="91425" spcFirstLastPara="1" rIns="91425" wrap="square" tIns="45700">
            <a:normAutofit/>
          </a:bodyPr>
          <a:lstStyle/>
          <a:p>
            <a:pPr indent="-165735" lvl="0" marL="274320" rtl="0" algn="l">
              <a:spcBef>
                <a:spcPts val="0"/>
              </a:spcBef>
              <a:spcAft>
                <a:spcPts val="0"/>
              </a:spcAft>
              <a:buSzPts val="1710"/>
              <a:buNone/>
            </a:pPr>
            <a:r>
              <a:t/>
            </a:r>
            <a:endParaRPr b="1" sz="1800">
              <a:latin typeface="Times New Roman"/>
              <a:ea typeface="Times New Roman"/>
              <a:cs typeface="Times New Roman"/>
              <a:sym typeface="Times New Roman"/>
            </a:endParaRPr>
          </a:p>
          <a:p>
            <a:pPr indent="-274320" lvl="0" marL="274320" rtl="0" algn="l">
              <a:spcBef>
                <a:spcPts val="360"/>
              </a:spcBef>
              <a:spcAft>
                <a:spcPts val="0"/>
              </a:spcAft>
              <a:buSzPts val="1710"/>
              <a:buChar char="⚫"/>
            </a:pPr>
            <a:r>
              <a:rPr b="1" lang="en-US" sz="1800">
                <a:latin typeface="Times New Roman"/>
                <a:ea typeface="Times New Roman"/>
                <a:cs typeface="Times New Roman"/>
                <a:sym typeface="Times New Roman"/>
              </a:rPr>
              <a:t>Học thuyết Mac- Lê Nin</a:t>
            </a:r>
            <a:r>
              <a:rPr lang="en-US" sz="1800">
                <a:latin typeface="Times New Roman"/>
                <a:ea typeface="Times New Roman"/>
                <a:cs typeface="Times New Roman"/>
                <a:sym typeface="Times New Roman"/>
              </a:rPr>
              <a:t>: Nhà nước chỉ xuất hiện khi đời sống xã hội phát triển đến trình độ nhất định, sản phẩm xã hội dư thừa làm nảy sinh chế độ tư hữu và phân hóa xã hội thành giai cấp, khiến cho mâu thuẫn giữa các giai cấp trở nên đối kháng và </a:t>
            </a:r>
            <a:r>
              <a:rPr b="1" lang="en-US" sz="1800">
                <a:latin typeface="Times New Roman"/>
                <a:ea typeface="Times New Roman"/>
                <a:cs typeface="Times New Roman"/>
                <a:sym typeface="Times New Roman"/>
              </a:rPr>
              <a:t>nhà nước là sản phẩm ra đời khi những đối kháng giai cấp không thể điều hòa được</a:t>
            </a:r>
            <a:endParaRPr b="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rPr lang="en-US"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p:txBody>
      </p:sp>
      <p:sp>
        <p:nvSpPr>
          <p:cNvPr id="681" name="Google Shape;681;p10"/>
          <p:cNvSpPr/>
          <p:nvPr/>
        </p:nvSpPr>
        <p:spPr>
          <a:xfrm>
            <a:off x="3810000" y="5715000"/>
            <a:ext cx="1752600" cy="11430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Nhà nước</a:t>
            </a:r>
            <a:endParaRPr sz="1800">
              <a:solidFill>
                <a:schemeClr val="lt1"/>
              </a:solidFill>
              <a:latin typeface="Arial"/>
              <a:ea typeface="Arial"/>
              <a:cs typeface="Arial"/>
              <a:sym typeface="Arial"/>
            </a:endParaRPr>
          </a:p>
        </p:txBody>
      </p:sp>
      <p:sp>
        <p:nvSpPr>
          <p:cNvPr id="682" name="Google Shape;682;p10"/>
          <p:cNvSpPr/>
          <p:nvPr/>
        </p:nvSpPr>
        <p:spPr>
          <a:xfrm rot="2396894">
            <a:off x="688660" y="4310050"/>
            <a:ext cx="3560535" cy="1590432"/>
          </a:xfrm>
          <a:prstGeom prst="notchedRightArrow">
            <a:avLst>
              <a:gd fmla="val 50000" name="adj1"/>
              <a:gd fmla="val 50000" name="adj2"/>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Nguyên nhân sâu xa</a:t>
            </a:r>
            <a:endParaRPr sz="2400">
              <a:solidFill>
                <a:schemeClr val="dk1"/>
              </a:solidFill>
              <a:latin typeface="Times New Roman"/>
              <a:ea typeface="Times New Roman"/>
              <a:cs typeface="Times New Roman"/>
              <a:sym typeface="Times New Roman"/>
            </a:endParaRPr>
          </a:p>
        </p:txBody>
      </p:sp>
      <p:sp>
        <p:nvSpPr>
          <p:cNvPr id="683" name="Google Shape;683;p10"/>
          <p:cNvSpPr/>
          <p:nvPr/>
        </p:nvSpPr>
        <p:spPr>
          <a:xfrm rot="-2043446">
            <a:off x="5178934" y="4307060"/>
            <a:ext cx="3073727" cy="1574356"/>
          </a:xfrm>
          <a:prstGeom prst="leftArrow">
            <a:avLst>
              <a:gd fmla="val 50000" name="adj1"/>
              <a:gd fmla="val 50000" name="adj2"/>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 Nguyên nhân </a:t>
            </a:r>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trực tiếp</a:t>
            </a:r>
            <a:endParaRPr sz="2400">
              <a:solidFill>
                <a:schemeClr val="dk1"/>
              </a:solidFill>
              <a:latin typeface="Times New Roman"/>
              <a:ea typeface="Times New Roman"/>
              <a:cs typeface="Times New Roman"/>
              <a:sym typeface="Times New Roman"/>
            </a:endParaRPr>
          </a:p>
        </p:txBody>
      </p:sp>
      <p:sp>
        <p:nvSpPr>
          <p:cNvPr id="684" name="Google Shape;684;p10"/>
          <p:cNvSpPr/>
          <p:nvPr/>
        </p:nvSpPr>
        <p:spPr>
          <a:xfrm>
            <a:off x="1600200" y="1905000"/>
            <a:ext cx="5867400" cy="2743200"/>
          </a:xfrm>
          <a:prstGeom prst="leftRightArrow">
            <a:avLst>
              <a:gd fmla="val 50000" name="adj1"/>
              <a:gd fmla="val 50000" name="adj2"/>
            </a:avLst>
          </a:prstGeom>
          <a:gradFill>
            <a:gsLst>
              <a:gs pos="0">
                <a:srgbClr val="ABE49C"/>
              </a:gs>
              <a:gs pos="43000">
                <a:srgbClr val="CCF2C2"/>
              </a:gs>
              <a:gs pos="93000">
                <a:srgbClr val="EFFAEC"/>
              </a:gs>
              <a:gs pos="100000">
                <a:srgbClr val="F7FFF7"/>
              </a:gs>
            </a:gsLst>
            <a:path path="circle">
              <a:fillToRect b="50%" l="50%" r="50%" t="50%"/>
            </a:path>
            <a:tileRect/>
          </a:gradFill>
          <a:ln cap="flat" cmpd="sng" w="9525">
            <a:solidFill>
              <a:srgbClr val="599445"/>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Nhà nước có quá trình xuất hiện, tồn tại, phát triển và diệt vong, không phải là một hiện tượng bất biến. Nhà nước nảy sinh từ xã hội, là sản phẩm có điều kiện của xã hội loài người.</a:t>
            </a:r>
            <a:endParaRPr sz="1800">
              <a:solidFill>
                <a:schemeClr val="dk1"/>
              </a:solidFill>
              <a:latin typeface="Times New Roman"/>
              <a:ea typeface="Times New Roman"/>
              <a:cs typeface="Times New Roman"/>
              <a:sym typeface="Times New Roman"/>
            </a:endParaRPr>
          </a:p>
        </p:txBody>
      </p:sp>
      <p:pic>
        <p:nvPicPr>
          <p:cNvPr descr="E:\Bai giang\PL DC\Pics\Karl_Marx.jpg" id="685" name="Google Shape;685;p10"/>
          <p:cNvPicPr preferRelativeResize="0"/>
          <p:nvPr/>
        </p:nvPicPr>
        <p:blipFill rotWithShape="1">
          <a:blip r:embed="rId3">
            <a:alphaModFix/>
          </a:blip>
          <a:srcRect b="0" l="0" r="0" t="0"/>
          <a:stretch/>
        </p:blipFill>
        <p:spPr>
          <a:xfrm>
            <a:off x="0" y="4864100"/>
            <a:ext cx="1702973" cy="1993900"/>
          </a:xfrm>
          <a:prstGeom prst="rect">
            <a:avLst/>
          </a:prstGeom>
          <a:noFill/>
          <a:ln>
            <a:noFill/>
          </a:ln>
        </p:spPr>
      </p:pic>
      <p:pic>
        <p:nvPicPr>
          <p:cNvPr descr="E:\Bai giang\PL DC\Pics\nguon goc.jpg" id="686" name="Google Shape;686;p10"/>
          <p:cNvPicPr preferRelativeResize="0"/>
          <p:nvPr/>
        </p:nvPicPr>
        <p:blipFill rotWithShape="1">
          <a:blip r:embed="rId4">
            <a:alphaModFix/>
          </a:blip>
          <a:srcRect b="0" l="0" r="0" t="0"/>
          <a:stretch/>
        </p:blipFill>
        <p:spPr>
          <a:xfrm>
            <a:off x="3810000" y="3886200"/>
            <a:ext cx="1752600" cy="1828800"/>
          </a:xfrm>
          <a:prstGeom prst="rect">
            <a:avLst/>
          </a:prstGeom>
          <a:noFill/>
          <a:ln>
            <a:noFill/>
          </a:ln>
        </p:spPr>
      </p:pic>
      <p:pic>
        <p:nvPicPr>
          <p:cNvPr descr="E:\Bai giang\PL DC\Pics\200px-Brodskiy's_Lenin.jpg" id="687" name="Google Shape;687;p10"/>
          <p:cNvPicPr preferRelativeResize="0"/>
          <p:nvPr/>
        </p:nvPicPr>
        <p:blipFill rotWithShape="1">
          <a:blip r:embed="rId5">
            <a:alphaModFix/>
          </a:blip>
          <a:srcRect b="0" l="0" r="0" t="0"/>
          <a:stretch/>
        </p:blipFill>
        <p:spPr>
          <a:xfrm>
            <a:off x="7467600" y="4703826"/>
            <a:ext cx="1676400" cy="2154174"/>
          </a:xfrm>
          <a:prstGeom prst="rect">
            <a:avLst/>
          </a:prstGeom>
          <a:noFill/>
          <a:ln>
            <a:noFill/>
          </a:ln>
        </p:spPr>
      </p:pic>
      <p:sp>
        <p:nvSpPr>
          <p:cNvPr id="688" name="Google Shape;688;p10"/>
          <p:cNvSpPr/>
          <p:nvPr/>
        </p:nvSpPr>
        <p:spPr>
          <a:xfrm>
            <a:off x="0" y="2209800"/>
            <a:ext cx="1752600" cy="19812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Tiền đề kinh tế (Chế độ tư hữu)</a:t>
            </a:r>
            <a:endParaRPr sz="2400">
              <a:solidFill>
                <a:schemeClr val="lt1"/>
              </a:solidFill>
              <a:latin typeface="Times New Roman"/>
              <a:ea typeface="Times New Roman"/>
              <a:cs typeface="Times New Roman"/>
              <a:sym typeface="Times New Roman"/>
            </a:endParaRPr>
          </a:p>
        </p:txBody>
      </p:sp>
      <p:sp>
        <p:nvSpPr>
          <p:cNvPr id="689" name="Google Shape;689;p10"/>
          <p:cNvSpPr/>
          <p:nvPr/>
        </p:nvSpPr>
        <p:spPr>
          <a:xfrm>
            <a:off x="7315200" y="2209800"/>
            <a:ext cx="1828800" cy="19812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200">
                <a:solidFill>
                  <a:schemeClr val="lt1"/>
                </a:solidFill>
                <a:latin typeface="Times New Roman"/>
                <a:ea typeface="Times New Roman"/>
                <a:cs typeface="Times New Roman"/>
                <a:sym typeface="Times New Roman"/>
              </a:rPr>
              <a:t>Tiền đề xã hội (Phân hóa giai cấp 🡪 mâu thuẫn, đối kháng)</a:t>
            </a:r>
            <a:endParaRPr sz="2200">
              <a:solidFill>
                <a:schemeClr val="lt1"/>
              </a:solidFill>
              <a:latin typeface="Times New Roman"/>
              <a:ea typeface="Times New Roman"/>
              <a:cs typeface="Times New Roman"/>
              <a:sym typeface="Times New Roman"/>
            </a:endParaRPr>
          </a:p>
        </p:txBody>
      </p:sp>
      <p:sp>
        <p:nvSpPr>
          <p:cNvPr id="690" name="Google Shape;690;p10"/>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691" name="Google Shape;691;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11"/>
          <p:cNvSpPr txBox="1"/>
          <p:nvPr>
            <p:ph type="title"/>
          </p:nvPr>
        </p:nvSpPr>
        <p:spPr>
          <a:xfrm>
            <a:off x="533400" y="0"/>
            <a:ext cx="8229600" cy="6858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2.1.2 	Sự ra đời của nhà nước</a:t>
            </a:r>
            <a:endParaRPr sz="3200">
              <a:latin typeface="Times New Roman"/>
              <a:ea typeface="Times New Roman"/>
              <a:cs typeface="Times New Roman"/>
              <a:sym typeface="Times New Roman"/>
            </a:endParaRPr>
          </a:p>
        </p:txBody>
      </p:sp>
      <p:sp>
        <p:nvSpPr>
          <p:cNvPr id="698" name="Google Shape;698;p11"/>
          <p:cNvSpPr txBox="1"/>
          <p:nvPr>
            <p:ph idx="1" type="body"/>
          </p:nvPr>
        </p:nvSpPr>
        <p:spPr>
          <a:xfrm>
            <a:off x="0" y="838200"/>
            <a:ext cx="8686800" cy="5867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None/>
            </a:pPr>
            <a:r>
              <a:rPr lang="en-US" sz="18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3 lần đại phân công lao động xã hội, bao gồm:</a:t>
            </a:r>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400"/>
              </a:spcBef>
              <a:spcAft>
                <a:spcPts val="0"/>
              </a:spcAft>
              <a:buSzPts val="1900"/>
              <a:buNone/>
            </a:pPr>
            <a:r>
              <a:rPr lang="en-US" sz="2000">
                <a:latin typeface="Times New Roman"/>
                <a:ea typeface="Times New Roman"/>
                <a:cs typeface="Times New Roman"/>
                <a:sym typeface="Times New Roman"/>
              </a:rPr>
              <a:t>Cộng sản nguyên thủy:</a:t>
            </a:r>
            <a:endParaRPr/>
          </a:p>
          <a:p>
            <a:pPr indent="-274320" lvl="0" marL="274320" rtl="0" algn="l">
              <a:spcBef>
                <a:spcPts val="400"/>
              </a:spcBef>
              <a:spcAft>
                <a:spcPts val="0"/>
              </a:spcAft>
              <a:buSzPts val="1900"/>
              <a:buFont typeface="Times New Roman"/>
              <a:buChar char="-"/>
            </a:pPr>
            <a:r>
              <a:rPr lang="en-US" sz="2000">
                <a:latin typeface="Times New Roman"/>
                <a:ea typeface="Times New Roman"/>
                <a:cs typeface="Times New Roman"/>
                <a:sym typeface="Times New Roman"/>
              </a:rPr>
              <a:t>sở hữu chung về </a:t>
            </a:r>
            <a:endParaRPr/>
          </a:p>
          <a:p>
            <a:pPr indent="-274320" lvl="0" marL="274320" rtl="0" algn="l">
              <a:spcBef>
                <a:spcPts val="400"/>
              </a:spcBef>
              <a:spcAft>
                <a:spcPts val="0"/>
              </a:spcAft>
              <a:buSzPts val="1900"/>
              <a:buNone/>
            </a:pPr>
            <a:r>
              <a:rPr lang="en-US" sz="2000">
                <a:latin typeface="Times New Roman"/>
                <a:ea typeface="Times New Roman"/>
                <a:cs typeface="Times New Roman"/>
                <a:sym typeface="Times New Roman"/>
              </a:rPr>
              <a:t>tư liệu sản xuất; </a:t>
            </a:r>
            <a:endParaRPr/>
          </a:p>
          <a:p>
            <a:pPr indent="-274320" lvl="0" marL="274320" rtl="0" algn="l">
              <a:spcBef>
                <a:spcPts val="400"/>
              </a:spcBef>
              <a:spcAft>
                <a:spcPts val="0"/>
              </a:spcAft>
              <a:buSzPts val="1900"/>
              <a:buFont typeface="Times New Roman"/>
              <a:buChar char="-"/>
            </a:pPr>
            <a:r>
              <a:rPr lang="en-US" sz="2000">
                <a:latin typeface="Times New Roman"/>
                <a:ea typeface="Times New Roman"/>
                <a:cs typeface="Times New Roman"/>
                <a:sym typeface="Times New Roman"/>
              </a:rPr>
              <a:t>xã hội phân chia </a:t>
            </a:r>
            <a:endParaRPr/>
          </a:p>
          <a:p>
            <a:pPr indent="-274320" lvl="0" marL="274320" rtl="0" algn="l">
              <a:spcBef>
                <a:spcPts val="400"/>
              </a:spcBef>
              <a:spcAft>
                <a:spcPts val="0"/>
              </a:spcAft>
              <a:buSzPts val="1900"/>
              <a:buNone/>
            </a:pPr>
            <a:r>
              <a:rPr lang="en-US" sz="2000">
                <a:latin typeface="Times New Roman"/>
                <a:ea typeface="Times New Roman"/>
                <a:cs typeface="Times New Roman"/>
                <a:sym typeface="Times New Roman"/>
              </a:rPr>
              <a:t>thành thị tộc, bộ lạc</a:t>
            </a:r>
            <a:endParaRPr sz="20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480"/>
              </a:spcBef>
              <a:spcAft>
                <a:spcPts val="0"/>
              </a:spcAft>
              <a:buSzPts val="2280"/>
              <a:buNone/>
            </a:pPr>
            <a:r>
              <a:rPr lang="en-US" sz="2400">
                <a:latin typeface="Times New Roman"/>
                <a:ea typeface="Times New Roman"/>
                <a:cs typeface="Times New Roman"/>
                <a:sym typeface="Times New Roman"/>
              </a:rPr>
              <a:t>                                                                    </a:t>
            </a:r>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p:txBody>
      </p:sp>
      <p:pic>
        <p:nvPicPr>
          <p:cNvPr descr="E:\Bai giang\PL DC\Pics\images (32).jpg" id="699" name="Google Shape;699;p11"/>
          <p:cNvPicPr preferRelativeResize="0"/>
          <p:nvPr/>
        </p:nvPicPr>
        <p:blipFill rotWithShape="1">
          <a:blip r:embed="rId3">
            <a:alphaModFix/>
          </a:blip>
          <a:srcRect b="0" l="0" r="0" t="0"/>
          <a:stretch/>
        </p:blipFill>
        <p:spPr>
          <a:xfrm>
            <a:off x="0" y="1219200"/>
            <a:ext cx="1902542" cy="2209800"/>
          </a:xfrm>
          <a:prstGeom prst="rect">
            <a:avLst/>
          </a:prstGeom>
          <a:noFill/>
          <a:ln>
            <a:noFill/>
          </a:ln>
        </p:spPr>
      </p:pic>
      <p:sp>
        <p:nvSpPr>
          <p:cNvPr id="700" name="Google Shape;700;p11"/>
          <p:cNvSpPr/>
          <p:nvPr/>
        </p:nvSpPr>
        <p:spPr>
          <a:xfrm>
            <a:off x="2362200" y="1371600"/>
            <a:ext cx="6781800" cy="3962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1. Ngành chăn nuôi tách ra khỏi trồng trọt</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2. Thủ công nghiệp tách khỏi nông nghiệp</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3. Thương mại phát triển, xuất hiện giai cấp </a:t>
            </a:r>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không tgia sản xuất nhưng có quyền lãnh đạo</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và bắt người sản xuất phải phụ thuộc vào mình</a:t>
            </a:r>
            <a:endParaRPr b="0" i="0" sz="2000" u="none" cap="none" strike="noStrike">
              <a:solidFill>
                <a:schemeClr val="dk1"/>
              </a:solidFill>
              <a:latin typeface="Times New Roman"/>
              <a:ea typeface="Times New Roman"/>
              <a:cs typeface="Times New Roman"/>
              <a:sym typeface="Times New Roman"/>
            </a:endParaRPr>
          </a:p>
        </p:txBody>
      </p:sp>
      <p:sp>
        <p:nvSpPr>
          <p:cNvPr id="701" name="Google Shape;701;p11"/>
          <p:cNvSpPr/>
          <p:nvPr/>
        </p:nvSpPr>
        <p:spPr>
          <a:xfrm>
            <a:off x="1905000" y="2514600"/>
            <a:ext cx="533400" cy="990600"/>
          </a:xfrm>
          <a:prstGeom prst="right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2" name="Google Shape;702;p11"/>
          <p:cNvSpPr/>
          <p:nvPr/>
        </p:nvSpPr>
        <p:spPr>
          <a:xfrm>
            <a:off x="8610600" y="1905000"/>
            <a:ext cx="228600" cy="914400"/>
          </a:xfrm>
          <a:prstGeom prst="down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3" name="Google Shape;703;p11"/>
          <p:cNvSpPr/>
          <p:nvPr/>
        </p:nvSpPr>
        <p:spPr>
          <a:xfrm>
            <a:off x="8915400" y="3124200"/>
            <a:ext cx="228600" cy="685800"/>
          </a:xfrm>
          <a:prstGeom prst="down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4" name="Google Shape;704;p11"/>
          <p:cNvSpPr/>
          <p:nvPr/>
        </p:nvSpPr>
        <p:spPr>
          <a:xfrm>
            <a:off x="5181600" y="5029200"/>
            <a:ext cx="914400" cy="457200"/>
          </a:xfrm>
          <a:prstGeom prst="down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E:\Bai giang\PL DC\Pics\images (35).jpg" id="705" name="Google Shape;705;p11"/>
          <p:cNvPicPr preferRelativeResize="0"/>
          <p:nvPr/>
        </p:nvPicPr>
        <p:blipFill rotWithShape="1">
          <a:blip r:embed="rId4">
            <a:alphaModFix/>
          </a:blip>
          <a:srcRect b="0" l="0" r="0" t="0"/>
          <a:stretch/>
        </p:blipFill>
        <p:spPr>
          <a:xfrm>
            <a:off x="6477000" y="4914900"/>
            <a:ext cx="2352675" cy="1943100"/>
          </a:xfrm>
          <a:prstGeom prst="rect">
            <a:avLst/>
          </a:prstGeom>
          <a:noFill/>
          <a:ln>
            <a:noFill/>
          </a:ln>
        </p:spPr>
      </p:pic>
      <p:sp>
        <p:nvSpPr>
          <p:cNvPr id="706" name="Google Shape;706;p11"/>
          <p:cNvSpPr/>
          <p:nvPr/>
        </p:nvSpPr>
        <p:spPr>
          <a:xfrm>
            <a:off x="4495800" y="5638800"/>
            <a:ext cx="2057400" cy="914400"/>
          </a:xfrm>
          <a:prstGeom prst="roundRect">
            <a:avLst>
              <a:gd fmla="val 16667" name="adj"/>
            </a:avLst>
          </a:prstGeom>
          <a:solidFill>
            <a:srgbClr val="FF00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Nhà nước</a:t>
            </a:r>
            <a:endParaRPr sz="2400">
              <a:solidFill>
                <a:schemeClr val="lt1"/>
              </a:solidFill>
              <a:latin typeface="Arial"/>
              <a:ea typeface="Arial"/>
              <a:cs typeface="Arial"/>
              <a:sym typeface="Arial"/>
            </a:endParaRPr>
          </a:p>
        </p:txBody>
      </p:sp>
      <p:sp>
        <p:nvSpPr>
          <p:cNvPr id="707" name="Google Shape;707;p11"/>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708" name="Google Shape;708;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0" st="0"/>
                                            </p:txEl>
                                          </p:spTgt>
                                        </p:tgtEl>
                                        <p:attrNameLst>
                                          <p:attrName>style.visibility</p:attrName>
                                        </p:attrNameLst>
                                      </p:cBhvr>
                                      <p:to>
                                        <p:strVal val="visible"/>
                                      </p:to>
                                    </p:set>
                                    <p:anim calcmode="lin" valueType="num">
                                      <p:cBhvr additive="base">
                                        <p:cTn dur="500"/>
                                        <p:tgtEl>
                                          <p:spTgt spid="69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 st="1"/>
                                            </p:txEl>
                                          </p:spTgt>
                                        </p:tgtEl>
                                        <p:attrNameLst>
                                          <p:attrName>style.visibility</p:attrName>
                                        </p:attrNameLst>
                                      </p:cBhvr>
                                      <p:to>
                                        <p:strVal val="visible"/>
                                      </p:to>
                                    </p:set>
                                    <p:anim calcmode="lin" valueType="num">
                                      <p:cBhvr additive="base">
                                        <p:cTn dur="500"/>
                                        <p:tgtEl>
                                          <p:spTgt spid="69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2" st="2"/>
                                            </p:txEl>
                                          </p:spTgt>
                                        </p:tgtEl>
                                        <p:attrNameLst>
                                          <p:attrName>style.visibility</p:attrName>
                                        </p:attrNameLst>
                                      </p:cBhvr>
                                      <p:to>
                                        <p:strVal val="visible"/>
                                      </p:to>
                                    </p:set>
                                    <p:anim calcmode="lin" valueType="num">
                                      <p:cBhvr additive="base">
                                        <p:cTn dur="500"/>
                                        <p:tgtEl>
                                          <p:spTgt spid="69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3" st="3"/>
                                            </p:txEl>
                                          </p:spTgt>
                                        </p:tgtEl>
                                        <p:attrNameLst>
                                          <p:attrName>style.visibility</p:attrName>
                                        </p:attrNameLst>
                                      </p:cBhvr>
                                      <p:to>
                                        <p:strVal val="visible"/>
                                      </p:to>
                                    </p:set>
                                    <p:anim calcmode="lin" valueType="num">
                                      <p:cBhvr additive="base">
                                        <p:cTn dur="500"/>
                                        <p:tgtEl>
                                          <p:spTgt spid="69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4" st="4"/>
                                            </p:txEl>
                                          </p:spTgt>
                                        </p:tgtEl>
                                        <p:attrNameLst>
                                          <p:attrName>style.visibility</p:attrName>
                                        </p:attrNameLst>
                                      </p:cBhvr>
                                      <p:to>
                                        <p:strVal val="visible"/>
                                      </p:to>
                                    </p:set>
                                    <p:anim calcmode="lin" valueType="num">
                                      <p:cBhvr additive="base">
                                        <p:cTn dur="500"/>
                                        <p:tgtEl>
                                          <p:spTgt spid="69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5" st="5"/>
                                            </p:txEl>
                                          </p:spTgt>
                                        </p:tgtEl>
                                        <p:attrNameLst>
                                          <p:attrName>style.visibility</p:attrName>
                                        </p:attrNameLst>
                                      </p:cBhvr>
                                      <p:to>
                                        <p:strVal val="visible"/>
                                      </p:to>
                                    </p:set>
                                    <p:anim calcmode="lin" valueType="num">
                                      <p:cBhvr additive="base">
                                        <p:cTn dur="500"/>
                                        <p:tgtEl>
                                          <p:spTgt spid="69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6" st="6"/>
                                            </p:txEl>
                                          </p:spTgt>
                                        </p:tgtEl>
                                        <p:attrNameLst>
                                          <p:attrName>style.visibility</p:attrName>
                                        </p:attrNameLst>
                                      </p:cBhvr>
                                      <p:to>
                                        <p:strVal val="visible"/>
                                      </p:to>
                                    </p:set>
                                    <p:anim calcmode="lin" valueType="num">
                                      <p:cBhvr additive="base">
                                        <p:cTn dur="500"/>
                                        <p:tgtEl>
                                          <p:spTgt spid="69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7" st="7"/>
                                            </p:txEl>
                                          </p:spTgt>
                                        </p:tgtEl>
                                        <p:attrNameLst>
                                          <p:attrName>style.visibility</p:attrName>
                                        </p:attrNameLst>
                                      </p:cBhvr>
                                      <p:to>
                                        <p:strVal val="visible"/>
                                      </p:to>
                                    </p:set>
                                    <p:anim calcmode="lin" valueType="num">
                                      <p:cBhvr additive="base">
                                        <p:cTn dur="500"/>
                                        <p:tgtEl>
                                          <p:spTgt spid="69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8" st="8"/>
                                            </p:txEl>
                                          </p:spTgt>
                                        </p:tgtEl>
                                        <p:attrNameLst>
                                          <p:attrName>style.visibility</p:attrName>
                                        </p:attrNameLst>
                                      </p:cBhvr>
                                      <p:to>
                                        <p:strVal val="visible"/>
                                      </p:to>
                                    </p:set>
                                    <p:anim calcmode="lin" valueType="num">
                                      <p:cBhvr additive="base">
                                        <p:cTn dur="500"/>
                                        <p:tgtEl>
                                          <p:spTgt spid="698">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9" st="9"/>
                                            </p:txEl>
                                          </p:spTgt>
                                        </p:tgtEl>
                                        <p:attrNameLst>
                                          <p:attrName>style.visibility</p:attrName>
                                        </p:attrNameLst>
                                      </p:cBhvr>
                                      <p:to>
                                        <p:strVal val="visible"/>
                                      </p:to>
                                    </p:set>
                                    <p:anim calcmode="lin" valueType="num">
                                      <p:cBhvr additive="base">
                                        <p:cTn dur="500"/>
                                        <p:tgtEl>
                                          <p:spTgt spid="698">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0" st="10"/>
                                            </p:txEl>
                                          </p:spTgt>
                                        </p:tgtEl>
                                        <p:attrNameLst>
                                          <p:attrName>style.visibility</p:attrName>
                                        </p:attrNameLst>
                                      </p:cBhvr>
                                      <p:to>
                                        <p:strVal val="visible"/>
                                      </p:to>
                                    </p:set>
                                    <p:anim calcmode="lin" valueType="num">
                                      <p:cBhvr additive="base">
                                        <p:cTn dur="500"/>
                                        <p:tgtEl>
                                          <p:spTgt spid="698">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1" st="11"/>
                                            </p:txEl>
                                          </p:spTgt>
                                        </p:tgtEl>
                                        <p:attrNameLst>
                                          <p:attrName>style.visibility</p:attrName>
                                        </p:attrNameLst>
                                      </p:cBhvr>
                                      <p:to>
                                        <p:strVal val="visible"/>
                                      </p:to>
                                    </p:set>
                                    <p:anim calcmode="lin" valueType="num">
                                      <p:cBhvr additive="base">
                                        <p:cTn dur="500"/>
                                        <p:tgtEl>
                                          <p:spTgt spid="698">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2" st="12"/>
                                            </p:txEl>
                                          </p:spTgt>
                                        </p:tgtEl>
                                        <p:attrNameLst>
                                          <p:attrName>style.visibility</p:attrName>
                                        </p:attrNameLst>
                                      </p:cBhvr>
                                      <p:to>
                                        <p:strVal val="visible"/>
                                      </p:to>
                                    </p:set>
                                    <p:anim calcmode="lin" valueType="num">
                                      <p:cBhvr additive="base">
                                        <p:cTn dur="500"/>
                                        <p:tgtEl>
                                          <p:spTgt spid="698">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3" st="13"/>
                                            </p:txEl>
                                          </p:spTgt>
                                        </p:tgtEl>
                                        <p:attrNameLst>
                                          <p:attrName>style.visibility</p:attrName>
                                        </p:attrNameLst>
                                      </p:cBhvr>
                                      <p:to>
                                        <p:strVal val="visible"/>
                                      </p:to>
                                    </p:set>
                                    <p:anim calcmode="lin" valueType="num">
                                      <p:cBhvr additive="base">
                                        <p:cTn dur="500"/>
                                        <p:tgtEl>
                                          <p:spTgt spid="698">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4" st="14"/>
                                            </p:txEl>
                                          </p:spTgt>
                                        </p:tgtEl>
                                        <p:attrNameLst>
                                          <p:attrName>style.visibility</p:attrName>
                                        </p:attrNameLst>
                                      </p:cBhvr>
                                      <p:to>
                                        <p:strVal val="visible"/>
                                      </p:to>
                                    </p:set>
                                    <p:anim calcmode="lin" valueType="num">
                                      <p:cBhvr additive="base">
                                        <p:cTn dur="500"/>
                                        <p:tgtEl>
                                          <p:spTgt spid="698">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8">
                                            <p:txEl>
                                              <p:pRg end="15" st="15"/>
                                            </p:txEl>
                                          </p:spTgt>
                                        </p:tgtEl>
                                        <p:attrNameLst>
                                          <p:attrName>style.visibility</p:attrName>
                                        </p:attrNameLst>
                                      </p:cBhvr>
                                      <p:to>
                                        <p:strVal val="visible"/>
                                      </p:to>
                                    </p:set>
                                    <p:anim calcmode="lin" valueType="num">
                                      <p:cBhvr additive="base">
                                        <p:cTn dur="500"/>
                                        <p:tgtEl>
                                          <p:spTgt spid="698">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2"/>
          <p:cNvSpPr txBox="1"/>
          <p:nvPr>
            <p:ph type="title"/>
          </p:nvPr>
        </p:nvSpPr>
        <p:spPr>
          <a:xfrm>
            <a:off x="0" y="0"/>
            <a:ext cx="9144000" cy="6858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2.1.3 Các hình thức xuất hiện nhà nước trong lịch sử</a:t>
            </a:r>
            <a:endParaRPr sz="2800">
              <a:solidFill>
                <a:srgbClr val="FF0000"/>
              </a:solidFill>
              <a:latin typeface="Times New Roman"/>
              <a:ea typeface="Times New Roman"/>
              <a:cs typeface="Times New Roman"/>
              <a:sym typeface="Times New Roman"/>
            </a:endParaRPr>
          </a:p>
        </p:txBody>
      </p:sp>
      <p:sp>
        <p:nvSpPr>
          <p:cNvPr id="714" name="Google Shape;714;p12"/>
          <p:cNvSpPr txBox="1"/>
          <p:nvPr>
            <p:ph idx="1" type="body"/>
          </p:nvPr>
        </p:nvSpPr>
        <p:spPr>
          <a:xfrm>
            <a:off x="304800" y="533400"/>
            <a:ext cx="8686800" cy="6019800"/>
          </a:xfrm>
          <a:prstGeom prst="rect">
            <a:avLst/>
          </a:prstGeom>
          <a:noFill/>
          <a:ln>
            <a:noFill/>
          </a:ln>
        </p:spPr>
        <p:txBody>
          <a:bodyPr anchorCtr="0" anchor="t" bIns="45700" lIns="91425" spcFirstLastPara="1" rIns="91425" wrap="square" tIns="45700">
            <a:normAutofit/>
          </a:bodyPr>
          <a:lstStyle/>
          <a:p>
            <a:pPr indent="-153670" lvl="0" marL="274320" rtl="0" algn="l">
              <a:spcBef>
                <a:spcPts val="0"/>
              </a:spcBef>
              <a:spcAft>
                <a:spcPts val="0"/>
              </a:spcAft>
              <a:buSzPts val="1900"/>
              <a:buNone/>
            </a:pPr>
            <a:r>
              <a:t/>
            </a:r>
            <a:endParaRPr b="1" sz="2000">
              <a:latin typeface="Times New Roman"/>
              <a:ea typeface="Times New Roman"/>
              <a:cs typeface="Times New Roman"/>
              <a:sym typeface="Times New Roman"/>
            </a:endParaRPr>
          </a:p>
          <a:p>
            <a:pPr indent="-274320" lvl="0" marL="274320" rtl="0" algn="l">
              <a:spcBef>
                <a:spcPts val="400"/>
              </a:spcBef>
              <a:spcAft>
                <a:spcPts val="0"/>
              </a:spcAft>
              <a:buSzPts val="1900"/>
              <a:buChar char="⚫"/>
            </a:pPr>
            <a:r>
              <a:rPr b="1" lang="en-US" sz="2000">
                <a:latin typeface="Times New Roman"/>
                <a:ea typeface="Times New Roman"/>
                <a:cs typeface="Times New Roman"/>
                <a:sym typeface="Times New Roman"/>
              </a:rPr>
              <a:t>Nhà nước A Ten </a:t>
            </a:r>
            <a:endParaRPr/>
          </a:p>
          <a:p>
            <a:pPr indent="-274320" lvl="0" marL="274320" rtl="0" algn="l">
              <a:spcBef>
                <a:spcPts val="400"/>
              </a:spcBef>
              <a:spcAft>
                <a:spcPts val="0"/>
              </a:spcAft>
              <a:buSzPts val="1900"/>
              <a:buFont typeface="Times New Roman"/>
              <a:buChar char="-"/>
            </a:pPr>
            <a:r>
              <a:rPr lang="en-US" sz="2000">
                <a:latin typeface="Times New Roman"/>
                <a:ea typeface="Times New Roman"/>
                <a:cs typeface="Times New Roman"/>
                <a:sym typeface="Times New Roman"/>
              </a:rPr>
              <a:t>Ra đời trực tiếp từ mâu thuẫn giai cấp ngay trong lòng xã hội thị tộc</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Char char="⚫"/>
            </a:pPr>
            <a:r>
              <a:rPr b="1" lang="en-US" sz="2000">
                <a:latin typeface="Times New Roman"/>
                <a:ea typeface="Times New Roman"/>
                <a:cs typeface="Times New Roman"/>
                <a:sym typeface="Times New Roman"/>
              </a:rPr>
              <a:t>Nhà nước Rôma (La Mã cổ đại)</a:t>
            </a:r>
            <a:endParaRPr/>
          </a:p>
          <a:p>
            <a:pPr indent="-274320" lvl="0" marL="274320" rtl="0" algn="l">
              <a:spcBef>
                <a:spcPts val="400"/>
              </a:spcBef>
              <a:spcAft>
                <a:spcPts val="0"/>
              </a:spcAft>
              <a:buSzPts val="1900"/>
              <a:buNone/>
            </a:pPr>
            <a:r>
              <a:rPr lang="en-US" sz="2000">
                <a:latin typeface="Times New Roman"/>
                <a:ea typeface="Times New Roman"/>
                <a:cs typeface="Times New Roman"/>
                <a:sym typeface="Times New Roman"/>
              </a:rPr>
              <a:t>-     Xuất hiện từ sự đấu tranh của thường dân chống lại giới quý tộc của thị tộc La Mã</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Char char="⚫"/>
            </a:pPr>
            <a:r>
              <a:rPr b="1" lang="en-US" sz="2000">
                <a:latin typeface="Times New Roman"/>
                <a:ea typeface="Times New Roman"/>
                <a:cs typeface="Times New Roman"/>
                <a:sym typeface="Times New Roman"/>
              </a:rPr>
              <a:t>Nhà nước Giec Manh</a:t>
            </a:r>
            <a:endParaRPr b="1" sz="2000">
              <a:latin typeface="Times New Roman"/>
              <a:ea typeface="Times New Roman"/>
              <a:cs typeface="Times New Roman"/>
              <a:sym typeface="Times New Roman"/>
            </a:endParaRPr>
          </a:p>
          <a:p>
            <a:pPr indent="-274320" lvl="0" marL="274320" rtl="0" algn="l">
              <a:spcBef>
                <a:spcPts val="400"/>
              </a:spcBef>
              <a:spcAft>
                <a:spcPts val="0"/>
              </a:spcAft>
              <a:buSzPts val="1900"/>
              <a:buFont typeface="Times New Roman"/>
              <a:buChar char="-"/>
            </a:pPr>
            <a:r>
              <a:rPr lang="en-US" sz="2000">
                <a:latin typeface="Times New Roman"/>
                <a:ea typeface="Times New Roman"/>
                <a:cs typeface="Times New Roman"/>
                <a:sym typeface="Times New Roman"/>
              </a:rPr>
              <a:t>Thành lập sau khi người Giec Manh xâm chiếm vùng lãnh thổ rộng lớn của đế chế La Mã cổ đại</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Char char="⚫"/>
            </a:pPr>
            <a:r>
              <a:rPr b="1" lang="en-US" sz="2000">
                <a:latin typeface="Times New Roman"/>
                <a:ea typeface="Times New Roman"/>
                <a:cs typeface="Times New Roman"/>
                <a:sym typeface="Times New Roman"/>
              </a:rPr>
              <a:t>Nhà nước Phương Đông cổ đại</a:t>
            </a:r>
            <a:endParaRPr b="1"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rPr lang="en-US" sz="2000">
                <a:latin typeface="Times New Roman"/>
                <a:ea typeface="Times New Roman"/>
                <a:cs typeface="Times New Roman"/>
                <a:sym typeface="Times New Roman"/>
              </a:rPr>
              <a:t>-    Thiết lập từ 2 nhu cầu chính là trị thủy và chống ngoại xâm.</a:t>
            </a:r>
            <a:endParaRPr sz="2000">
              <a:latin typeface="Times New Roman"/>
              <a:ea typeface="Times New Roman"/>
              <a:cs typeface="Times New Roman"/>
              <a:sym typeface="Times New Roman"/>
            </a:endParaRPr>
          </a:p>
        </p:txBody>
      </p:sp>
      <p:pic>
        <p:nvPicPr>
          <p:cNvPr descr="E:\Bai giang\PL DC\Pics\230px-Akropolis_by_Leo_von_Klenze.jpg" id="715" name="Google Shape;715;p12"/>
          <p:cNvPicPr preferRelativeResize="0"/>
          <p:nvPr/>
        </p:nvPicPr>
        <p:blipFill rotWithShape="1">
          <a:blip r:embed="rId3">
            <a:alphaModFix/>
          </a:blip>
          <a:srcRect b="0" l="0" r="0" t="0"/>
          <a:stretch/>
        </p:blipFill>
        <p:spPr>
          <a:xfrm>
            <a:off x="990600" y="2057400"/>
            <a:ext cx="2743200" cy="1884459"/>
          </a:xfrm>
          <a:prstGeom prst="rect">
            <a:avLst/>
          </a:prstGeom>
          <a:noFill/>
          <a:ln>
            <a:noFill/>
          </a:ln>
        </p:spPr>
      </p:pic>
      <p:pic>
        <p:nvPicPr>
          <p:cNvPr descr="E:\Bai giang\PL DC\Pics\tải xuống (10).jpg" id="716" name="Google Shape;716;p12"/>
          <p:cNvPicPr preferRelativeResize="0"/>
          <p:nvPr/>
        </p:nvPicPr>
        <p:blipFill rotWithShape="1">
          <a:blip r:embed="rId4">
            <a:alphaModFix/>
          </a:blip>
          <a:srcRect b="0" l="0" r="0" t="0"/>
          <a:stretch/>
        </p:blipFill>
        <p:spPr>
          <a:xfrm>
            <a:off x="1600200" y="5200650"/>
            <a:ext cx="2762250" cy="1657350"/>
          </a:xfrm>
          <a:prstGeom prst="rect">
            <a:avLst/>
          </a:prstGeom>
          <a:noFill/>
          <a:ln>
            <a:noFill/>
          </a:ln>
        </p:spPr>
      </p:pic>
      <p:pic>
        <p:nvPicPr>
          <p:cNvPr descr="E:\Bai giang\PL DC\Pics\images (37).jpg" id="717" name="Google Shape;717;p12"/>
          <p:cNvPicPr preferRelativeResize="0"/>
          <p:nvPr/>
        </p:nvPicPr>
        <p:blipFill rotWithShape="1">
          <a:blip r:embed="rId5">
            <a:alphaModFix/>
          </a:blip>
          <a:srcRect b="0" l="0" r="0" t="0"/>
          <a:stretch/>
        </p:blipFill>
        <p:spPr>
          <a:xfrm>
            <a:off x="4953000" y="2286000"/>
            <a:ext cx="2466975" cy="1847850"/>
          </a:xfrm>
          <a:prstGeom prst="rect">
            <a:avLst/>
          </a:prstGeom>
          <a:noFill/>
          <a:ln>
            <a:noFill/>
          </a:ln>
        </p:spPr>
      </p:pic>
      <p:pic>
        <p:nvPicPr>
          <p:cNvPr descr="E:\Bai giang\PL DC\Pics\images (38).jpg" id="718" name="Google Shape;718;p12"/>
          <p:cNvPicPr preferRelativeResize="0"/>
          <p:nvPr/>
        </p:nvPicPr>
        <p:blipFill rotWithShape="1">
          <a:blip r:embed="rId6">
            <a:alphaModFix/>
          </a:blip>
          <a:srcRect b="0" l="0" r="0" t="0"/>
          <a:stretch/>
        </p:blipFill>
        <p:spPr>
          <a:xfrm>
            <a:off x="4876800" y="5114925"/>
            <a:ext cx="3276600" cy="1743075"/>
          </a:xfrm>
          <a:prstGeom prst="rect">
            <a:avLst/>
          </a:prstGeom>
          <a:noFill/>
          <a:ln>
            <a:noFill/>
          </a:ln>
        </p:spPr>
      </p:pic>
      <p:sp>
        <p:nvSpPr>
          <p:cNvPr id="719" name="Google Shape;719;p12"/>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720" name="Google Shape;720;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500"/>
                                        <p:tgtEl>
                                          <p:spTgt spid="7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13"/>
          <p:cNvSpPr txBox="1"/>
          <p:nvPr>
            <p:ph type="title"/>
          </p:nvPr>
        </p:nvSpPr>
        <p:spPr>
          <a:xfrm>
            <a:off x="457200" y="304800"/>
            <a:ext cx="8686800" cy="5334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Times New Roman"/>
              <a:buNone/>
            </a:pPr>
            <a:r>
              <a:rPr lang="en-US" sz="2800">
                <a:solidFill>
                  <a:srgbClr val="FF0000"/>
                </a:solidFill>
                <a:latin typeface="Times New Roman"/>
                <a:ea typeface="Times New Roman"/>
                <a:cs typeface="Times New Roman"/>
                <a:sym typeface="Times New Roman"/>
              </a:rPr>
              <a:t>                  </a:t>
            </a:r>
            <a:br>
              <a:rPr lang="en-US" sz="2800">
                <a:solidFill>
                  <a:srgbClr val="FF0000"/>
                </a:solidFill>
                <a:latin typeface="Times New Roman"/>
                <a:ea typeface="Times New Roman"/>
                <a:cs typeface="Times New Roman"/>
                <a:sym typeface="Times New Roman"/>
              </a:rPr>
            </a:br>
            <a:r>
              <a:rPr lang="en-US" sz="2800">
                <a:solidFill>
                  <a:srgbClr val="FF0000"/>
                </a:solidFill>
                <a:latin typeface="Times New Roman"/>
                <a:ea typeface="Times New Roman"/>
                <a:cs typeface="Times New Roman"/>
                <a:sym typeface="Times New Roman"/>
              </a:rPr>
              <a:t> 2.2	 Khái niệm và bản chất của nhà nước</a:t>
            </a:r>
            <a:br>
              <a:rPr lang="en-US" sz="2800">
                <a:solidFill>
                  <a:srgbClr val="FF0000"/>
                </a:solidFill>
                <a:latin typeface="Times New Roman"/>
                <a:ea typeface="Times New Roman"/>
                <a:cs typeface="Times New Roman"/>
                <a:sym typeface="Times New Roman"/>
              </a:rPr>
            </a:br>
            <a:r>
              <a:rPr lang="en-US" sz="2800">
                <a:solidFill>
                  <a:schemeClr val="dk1"/>
                </a:solidFill>
                <a:latin typeface="Times New Roman"/>
                <a:ea typeface="Times New Roman"/>
                <a:cs typeface="Times New Roman"/>
                <a:sym typeface="Times New Roman"/>
              </a:rPr>
              <a:t>2.2.1 Khái niệm</a:t>
            </a:r>
            <a:endParaRPr sz="2800">
              <a:solidFill>
                <a:schemeClr val="dk1"/>
              </a:solidFill>
              <a:latin typeface="Times New Roman"/>
              <a:ea typeface="Times New Roman"/>
              <a:cs typeface="Times New Roman"/>
              <a:sym typeface="Times New Roman"/>
            </a:endParaRPr>
          </a:p>
        </p:txBody>
      </p:sp>
      <p:sp>
        <p:nvSpPr>
          <p:cNvPr id="726" name="Google Shape;726;p13"/>
          <p:cNvSpPr txBox="1"/>
          <p:nvPr>
            <p:ph idx="1" type="body"/>
          </p:nvPr>
        </p:nvSpPr>
        <p:spPr>
          <a:xfrm>
            <a:off x="304800" y="838200"/>
            <a:ext cx="8686800" cy="60198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None/>
            </a:pPr>
            <a:r>
              <a:rPr lang="en-US">
                <a:latin typeface="Times New Roman"/>
                <a:ea typeface="Times New Roman"/>
                <a:cs typeface="Times New Roman"/>
                <a:sym typeface="Times New Roman"/>
              </a:rPr>
              <a:t> </a:t>
            </a:r>
            <a:endParaRPr/>
          </a:p>
          <a:p>
            <a:pPr indent="-274320" lvl="0" marL="274320" rtl="0" algn="just">
              <a:spcBef>
                <a:spcPts val="520"/>
              </a:spcBef>
              <a:spcAft>
                <a:spcPts val="0"/>
              </a:spcAft>
              <a:buSzPts val="2470"/>
              <a:buNone/>
            </a:pPr>
            <a:r>
              <a:t/>
            </a:r>
            <a:endParaRPr b="1">
              <a:latin typeface="Times New Roman"/>
              <a:ea typeface="Times New Roman"/>
              <a:cs typeface="Times New Roman"/>
              <a:sym typeface="Times New Roman"/>
            </a:endParaRPr>
          </a:p>
          <a:p>
            <a:pPr indent="-274320" lvl="0" marL="274320" rtl="0" algn="just">
              <a:spcBef>
                <a:spcPts val="520"/>
              </a:spcBef>
              <a:spcAft>
                <a:spcPts val="0"/>
              </a:spcAft>
              <a:buSzPts val="2470"/>
              <a:buNone/>
            </a:pPr>
            <a:r>
              <a:t/>
            </a:r>
            <a:endParaRPr b="1">
              <a:latin typeface="Times New Roman"/>
              <a:ea typeface="Times New Roman"/>
              <a:cs typeface="Times New Roman"/>
              <a:sym typeface="Times New Roman"/>
            </a:endParaRPr>
          </a:p>
          <a:p>
            <a:pPr indent="-274320" lvl="0" marL="274320" rtl="0" algn="just">
              <a:spcBef>
                <a:spcPts val="520"/>
              </a:spcBef>
              <a:spcAft>
                <a:spcPts val="0"/>
              </a:spcAft>
              <a:buSzPts val="2470"/>
              <a:buNone/>
            </a:pPr>
            <a:r>
              <a:t/>
            </a:r>
            <a:endParaRPr b="1">
              <a:latin typeface="Times New Roman"/>
              <a:ea typeface="Times New Roman"/>
              <a:cs typeface="Times New Roman"/>
              <a:sym typeface="Times New Roman"/>
            </a:endParaRPr>
          </a:p>
          <a:p>
            <a:pPr indent="-274320" lvl="0" marL="274320" rtl="0" algn="just">
              <a:spcBef>
                <a:spcPts val="520"/>
              </a:spcBef>
              <a:spcAft>
                <a:spcPts val="0"/>
              </a:spcAft>
              <a:buSzPts val="2470"/>
              <a:buNone/>
            </a:pPr>
            <a:r>
              <a:t/>
            </a:r>
            <a:endParaRPr b="1">
              <a:latin typeface="Times New Roman"/>
              <a:ea typeface="Times New Roman"/>
              <a:cs typeface="Times New Roman"/>
              <a:sym typeface="Times New Roman"/>
            </a:endParaRPr>
          </a:p>
          <a:p>
            <a:pPr indent="-274320" lvl="0" marL="274320" rtl="0" algn="just">
              <a:spcBef>
                <a:spcPts val="520"/>
              </a:spcBef>
              <a:spcAft>
                <a:spcPts val="0"/>
              </a:spcAft>
              <a:buSzPts val="2470"/>
              <a:buNone/>
            </a:pPr>
            <a:r>
              <a:t/>
            </a:r>
            <a:endParaRPr b="1">
              <a:latin typeface="Times New Roman"/>
              <a:ea typeface="Times New Roman"/>
              <a:cs typeface="Times New Roman"/>
              <a:sym typeface="Times New Roman"/>
            </a:endParaRPr>
          </a:p>
          <a:p>
            <a:pPr indent="-274320" lvl="0" marL="274320" rtl="0" algn="just">
              <a:spcBef>
                <a:spcPts val="520"/>
              </a:spcBef>
              <a:spcAft>
                <a:spcPts val="0"/>
              </a:spcAft>
              <a:buSzPts val="2470"/>
              <a:buNone/>
            </a:pPr>
            <a:r>
              <a:t/>
            </a:r>
            <a:endParaRPr b="1">
              <a:latin typeface="Times New Roman"/>
              <a:ea typeface="Times New Roman"/>
              <a:cs typeface="Times New Roman"/>
              <a:sym typeface="Times New Roman"/>
            </a:endParaRPr>
          </a:p>
          <a:p>
            <a:pPr indent="-274320" lvl="0" marL="274320" rtl="0" algn="just">
              <a:spcBef>
                <a:spcPts val="520"/>
              </a:spcBef>
              <a:spcAft>
                <a:spcPts val="0"/>
              </a:spcAft>
              <a:buSzPts val="2470"/>
              <a:buNone/>
            </a:pPr>
            <a:r>
              <a:t/>
            </a:r>
            <a:endParaRPr b="1">
              <a:latin typeface="Times New Roman"/>
              <a:ea typeface="Times New Roman"/>
              <a:cs typeface="Times New Roman"/>
              <a:sym typeface="Times New Roman"/>
            </a:endParaRPr>
          </a:p>
          <a:p>
            <a:pPr indent="-274320" lvl="0" marL="274320" rtl="0" algn="just">
              <a:spcBef>
                <a:spcPts val="520"/>
              </a:spcBef>
              <a:spcAft>
                <a:spcPts val="0"/>
              </a:spcAft>
              <a:buSzPts val="2470"/>
              <a:buNone/>
            </a:pPr>
            <a:r>
              <a:rPr b="1" lang="en-US">
                <a:latin typeface="Times New Roman"/>
                <a:ea typeface="Times New Roman"/>
                <a:cs typeface="Times New Roman"/>
                <a:sym typeface="Times New Roman"/>
              </a:rPr>
              <a:t>:</a:t>
            </a:r>
            <a:endParaRPr/>
          </a:p>
          <a:p>
            <a:pPr indent="-117475" lvl="0" marL="274320" rtl="0" algn="l">
              <a:spcBef>
                <a:spcPts val="520"/>
              </a:spcBef>
              <a:spcAft>
                <a:spcPts val="0"/>
              </a:spcAft>
              <a:buSzPts val="2470"/>
              <a:buNone/>
            </a:pPr>
            <a:r>
              <a:t/>
            </a:r>
            <a:endParaRPr/>
          </a:p>
        </p:txBody>
      </p:sp>
      <p:sp>
        <p:nvSpPr>
          <p:cNvPr id="727" name="Google Shape;727;p13"/>
          <p:cNvSpPr/>
          <p:nvPr/>
        </p:nvSpPr>
        <p:spPr>
          <a:xfrm>
            <a:off x="228600" y="609600"/>
            <a:ext cx="8458200" cy="1905000"/>
          </a:xfrm>
          <a:prstGeom prst="horizontalScroll">
            <a:avLst>
              <a:gd fmla="val 12500" name="adj"/>
            </a:avLst>
          </a:prstGeom>
          <a:solidFill>
            <a:srgbClr val="DCC4EE"/>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200">
                <a:solidFill>
                  <a:schemeClr val="dk1"/>
                </a:solidFill>
                <a:latin typeface="Times New Roman"/>
                <a:ea typeface="Times New Roman"/>
                <a:cs typeface="Times New Roman"/>
                <a:sym typeface="Times New Roman"/>
              </a:rPr>
              <a:t>Nhà nước là một </a:t>
            </a:r>
            <a:r>
              <a:rPr lang="en-US" sz="2200" u="sng">
                <a:solidFill>
                  <a:schemeClr val="dk1"/>
                </a:solidFill>
                <a:latin typeface="Times New Roman"/>
                <a:ea typeface="Times New Roman"/>
                <a:cs typeface="Times New Roman"/>
                <a:sym typeface="Times New Roman"/>
              </a:rPr>
              <a:t>tổ chức đặc biệt </a:t>
            </a:r>
            <a:r>
              <a:rPr lang="en-US" sz="2200">
                <a:solidFill>
                  <a:schemeClr val="dk1"/>
                </a:solidFill>
                <a:latin typeface="Times New Roman"/>
                <a:ea typeface="Times New Roman"/>
                <a:cs typeface="Times New Roman"/>
                <a:sym typeface="Times New Roman"/>
              </a:rPr>
              <a:t>của quyền lực chính trị, có </a:t>
            </a:r>
            <a:r>
              <a:rPr lang="en-US" sz="2200" u="sng">
                <a:solidFill>
                  <a:schemeClr val="dk1"/>
                </a:solidFill>
                <a:latin typeface="Times New Roman"/>
                <a:ea typeface="Times New Roman"/>
                <a:cs typeface="Times New Roman"/>
                <a:sym typeface="Times New Roman"/>
              </a:rPr>
              <a:t>bộ máy </a:t>
            </a:r>
            <a:r>
              <a:rPr lang="en-US" sz="2200">
                <a:solidFill>
                  <a:schemeClr val="dk1"/>
                </a:solidFill>
                <a:latin typeface="Times New Roman"/>
                <a:ea typeface="Times New Roman"/>
                <a:cs typeface="Times New Roman"/>
                <a:sym typeface="Times New Roman"/>
              </a:rPr>
              <a:t>chuyên làm nhiệm vụ </a:t>
            </a:r>
            <a:r>
              <a:rPr lang="en-US" sz="2200" u="sng">
                <a:solidFill>
                  <a:schemeClr val="dk1"/>
                </a:solidFill>
                <a:latin typeface="Times New Roman"/>
                <a:ea typeface="Times New Roman"/>
                <a:cs typeface="Times New Roman"/>
                <a:sym typeface="Times New Roman"/>
              </a:rPr>
              <a:t>cưỡng chế </a:t>
            </a:r>
            <a:r>
              <a:rPr lang="en-US" sz="2200">
                <a:solidFill>
                  <a:schemeClr val="dk1"/>
                </a:solidFill>
                <a:latin typeface="Times New Roman"/>
                <a:ea typeface="Times New Roman"/>
                <a:cs typeface="Times New Roman"/>
                <a:sym typeface="Times New Roman"/>
              </a:rPr>
              <a:t>và thực hiện các chức năng </a:t>
            </a:r>
            <a:r>
              <a:rPr lang="en-US" sz="2200" u="sng">
                <a:solidFill>
                  <a:schemeClr val="dk1"/>
                </a:solidFill>
                <a:latin typeface="Times New Roman"/>
                <a:ea typeface="Times New Roman"/>
                <a:cs typeface="Times New Roman"/>
                <a:sym typeface="Times New Roman"/>
              </a:rPr>
              <a:t>quản lý </a:t>
            </a:r>
            <a:r>
              <a:rPr lang="en-US" sz="2200">
                <a:solidFill>
                  <a:schemeClr val="dk1"/>
                </a:solidFill>
                <a:latin typeface="Times New Roman"/>
                <a:ea typeface="Times New Roman"/>
                <a:cs typeface="Times New Roman"/>
                <a:sym typeface="Times New Roman"/>
              </a:rPr>
              <a:t>đặc biệt nhằm </a:t>
            </a:r>
            <a:r>
              <a:rPr lang="en-US" sz="2200" u="sng">
                <a:solidFill>
                  <a:schemeClr val="dk1"/>
                </a:solidFill>
                <a:latin typeface="Times New Roman"/>
                <a:ea typeface="Times New Roman"/>
                <a:cs typeface="Times New Roman"/>
                <a:sym typeface="Times New Roman"/>
              </a:rPr>
              <a:t>duy trì trật tự xã hội</a:t>
            </a:r>
            <a:r>
              <a:rPr lang="en-US" sz="2200">
                <a:solidFill>
                  <a:schemeClr val="dk1"/>
                </a:solidFill>
                <a:latin typeface="Times New Roman"/>
                <a:ea typeface="Times New Roman"/>
                <a:cs typeface="Times New Roman"/>
                <a:sym typeface="Times New Roman"/>
              </a:rPr>
              <a:t>, </a:t>
            </a:r>
            <a:r>
              <a:rPr lang="en-US" sz="2200" u="sng">
                <a:solidFill>
                  <a:schemeClr val="dk1"/>
                </a:solidFill>
                <a:latin typeface="Times New Roman"/>
                <a:ea typeface="Times New Roman"/>
                <a:cs typeface="Times New Roman"/>
                <a:sym typeface="Times New Roman"/>
              </a:rPr>
              <a:t>bảo vệ địa vị của giai cấp thống trị </a:t>
            </a:r>
            <a:r>
              <a:rPr lang="en-US" sz="2200">
                <a:solidFill>
                  <a:schemeClr val="dk1"/>
                </a:solidFill>
                <a:latin typeface="Times New Roman"/>
                <a:ea typeface="Times New Roman"/>
                <a:cs typeface="Times New Roman"/>
                <a:sym typeface="Times New Roman"/>
              </a:rPr>
              <a:t>trong xã hội.</a:t>
            </a:r>
            <a:endParaRPr sz="2200">
              <a:solidFill>
                <a:schemeClr val="dk1"/>
              </a:solidFill>
              <a:latin typeface="Arial"/>
              <a:ea typeface="Arial"/>
              <a:cs typeface="Arial"/>
              <a:sym typeface="Arial"/>
            </a:endParaRPr>
          </a:p>
        </p:txBody>
      </p:sp>
      <p:sp>
        <p:nvSpPr>
          <p:cNvPr id="728" name="Google Shape;728;p13"/>
          <p:cNvSpPr/>
          <p:nvPr/>
        </p:nvSpPr>
        <p:spPr>
          <a:xfrm>
            <a:off x="0" y="2133600"/>
            <a:ext cx="8763000" cy="4724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Nhà nước</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“không phải là một quyền lực bên ngoài áp đặt vào xã hội”</a:t>
            </a:r>
            <a:endParaRPr b="0" i="0" sz="2000" u="none" cap="none" strike="noStrike">
              <a:solidFill>
                <a:schemeClr val="dk1"/>
              </a:solidFill>
              <a:latin typeface="Arial"/>
              <a:ea typeface="Arial"/>
              <a:cs typeface="Arial"/>
              <a:sym typeface="Arial"/>
            </a:endParaRPr>
          </a:p>
          <a:p>
            <a:pPr indent="0" lvl="2" marL="2286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2" marL="2286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“một lực lượng nảy sinh từ xã hội”</a:t>
            </a:r>
            <a:endParaRPr b="0" i="0" sz="2000" u="none" cap="none" strike="noStrike">
              <a:solidFill>
                <a:schemeClr val="dk1"/>
              </a:solidFill>
              <a:latin typeface="Arial"/>
              <a:ea typeface="Arial"/>
              <a:cs typeface="Arial"/>
              <a:sym typeface="Arial"/>
            </a:endParaRPr>
          </a:p>
          <a:p>
            <a:pPr indent="0" lvl="2" marL="2286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2" marL="2286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“tựa hồ như đứng trên xã hội”</a:t>
            </a:r>
            <a:endParaRPr b="0" i="0" sz="2000" u="none" cap="none" strike="noStrike">
              <a:solidFill>
                <a:schemeClr val="dk1"/>
              </a:solidFill>
              <a:latin typeface="Arial"/>
              <a:ea typeface="Arial"/>
              <a:cs typeface="Arial"/>
              <a:sym typeface="Arial"/>
            </a:endParaRPr>
          </a:p>
          <a:p>
            <a:pPr indent="0" lvl="2" marL="2286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Làm dịu bớt sự xung đột và giữ cho xung đột đó nằm trong vòng “trật tự”.</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9" name="Google Shape;729;p13"/>
          <p:cNvSpPr txBox="1"/>
          <p:nvPr>
            <p:ph idx="11" type="ftr"/>
          </p:nvPr>
        </p:nvSpPr>
        <p:spPr>
          <a:xfrm rot="5400000">
            <a:off x="7285037" y="1493837"/>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730" name="Google Shape;730;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500"/>
                                        <p:tgtEl>
                                          <p:spTgt spid="7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500"/>
                                        <p:tgtEl>
                                          <p:spTgt spid="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4"/>
          <p:cNvSpPr txBox="1"/>
          <p:nvPr>
            <p:ph type="title"/>
          </p:nvPr>
        </p:nvSpPr>
        <p:spPr>
          <a:xfrm>
            <a:off x="457200" y="0"/>
            <a:ext cx="8229600" cy="6858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2.2.2 Bản chất của Nhà nước</a:t>
            </a:r>
            <a:endParaRPr sz="3200">
              <a:latin typeface="Times New Roman"/>
              <a:ea typeface="Times New Roman"/>
              <a:cs typeface="Times New Roman"/>
              <a:sym typeface="Times New Roman"/>
            </a:endParaRPr>
          </a:p>
        </p:txBody>
      </p:sp>
      <p:sp>
        <p:nvSpPr>
          <p:cNvPr id="736" name="Google Shape;736;p14"/>
          <p:cNvSpPr txBox="1"/>
          <p:nvPr>
            <p:ph idx="1" type="body"/>
          </p:nvPr>
        </p:nvSpPr>
        <p:spPr>
          <a:xfrm>
            <a:off x="457200" y="685800"/>
            <a:ext cx="8305800" cy="5867400"/>
          </a:xfrm>
          <a:prstGeom prst="rect">
            <a:avLst/>
          </a:prstGeom>
          <a:noFill/>
          <a:ln>
            <a:noFill/>
          </a:ln>
        </p:spPr>
        <p:txBody>
          <a:bodyPr anchorCtr="0" anchor="t" bIns="45700" lIns="91425" spcFirstLastPara="1" rIns="91425" wrap="square" tIns="45700">
            <a:normAutofit/>
          </a:bodyPr>
          <a:lstStyle/>
          <a:p>
            <a:pPr indent="-165735" lvl="0" marL="274320" rtl="0" algn="just">
              <a:spcBef>
                <a:spcPts val="0"/>
              </a:spcBef>
              <a:spcAft>
                <a:spcPts val="0"/>
              </a:spcAft>
              <a:buSzPts val="1710"/>
              <a:buNone/>
            </a:pPr>
            <a:r>
              <a:t/>
            </a:r>
            <a:endParaRPr sz="1800">
              <a:latin typeface="Times New Roman"/>
              <a:ea typeface="Times New Roman"/>
              <a:cs typeface="Times New Roman"/>
              <a:sym typeface="Times New Roman"/>
            </a:endParaRPr>
          </a:p>
          <a:p>
            <a:pPr indent="-165735" lvl="0" marL="274320" rtl="0" algn="just">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just">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just">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just">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just">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just">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just">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just">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just">
              <a:spcBef>
                <a:spcPts val="360"/>
              </a:spcBef>
              <a:spcAft>
                <a:spcPts val="0"/>
              </a:spcAft>
              <a:buSzPts val="1710"/>
              <a:buNone/>
            </a:pPr>
            <a:r>
              <a:t/>
            </a:r>
            <a:endParaRPr i="1" sz="1800">
              <a:latin typeface="Times New Roman"/>
              <a:ea typeface="Times New Roman"/>
              <a:cs typeface="Times New Roman"/>
              <a:sym typeface="Times New Roman"/>
            </a:endParaRPr>
          </a:p>
          <a:p>
            <a:pPr indent="-274320" lvl="0" marL="274320" rtl="0" algn="just">
              <a:spcBef>
                <a:spcPts val="360"/>
              </a:spcBef>
              <a:spcAft>
                <a:spcPts val="0"/>
              </a:spcAft>
              <a:buSzPts val="1710"/>
              <a:buNone/>
            </a:pPr>
            <a:r>
              <a:t/>
            </a:r>
            <a:endParaRPr sz="1800">
              <a:latin typeface="Times New Roman"/>
              <a:ea typeface="Times New Roman"/>
              <a:cs typeface="Times New Roman"/>
              <a:sym typeface="Times New Roman"/>
            </a:endParaRPr>
          </a:p>
        </p:txBody>
      </p:sp>
      <p:pic>
        <p:nvPicPr>
          <p:cNvPr descr="E:\Bai giang\PL DC\200px-Brodskiy's_Lenin.jpg" id="737" name="Google Shape;737;p14"/>
          <p:cNvPicPr preferRelativeResize="0"/>
          <p:nvPr/>
        </p:nvPicPr>
        <p:blipFill rotWithShape="1">
          <a:blip r:embed="rId3">
            <a:alphaModFix/>
          </a:blip>
          <a:srcRect b="0" l="0" r="0" t="0"/>
          <a:stretch/>
        </p:blipFill>
        <p:spPr>
          <a:xfrm>
            <a:off x="7543800" y="1752600"/>
            <a:ext cx="1600200" cy="2056257"/>
          </a:xfrm>
          <a:prstGeom prst="rect">
            <a:avLst/>
          </a:prstGeom>
          <a:noFill/>
          <a:ln>
            <a:noFill/>
          </a:ln>
        </p:spPr>
      </p:pic>
      <p:sp>
        <p:nvSpPr>
          <p:cNvPr id="738" name="Google Shape;738;p14"/>
          <p:cNvSpPr/>
          <p:nvPr/>
        </p:nvSpPr>
        <p:spPr>
          <a:xfrm>
            <a:off x="1524000" y="533400"/>
            <a:ext cx="6096000" cy="3149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1. Bộ máy duy trì sự thống trị của giai cấp này đối với giai cấp khác</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2. Tổ chức quyền lực công</a:t>
            </a:r>
            <a:endParaRPr b="0" i="0" sz="1800" u="none" cap="none" strike="noStrike">
              <a:solidFill>
                <a:schemeClr val="dk1"/>
              </a:solidFill>
              <a:latin typeface="Arial"/>
              <a:ea typeface="Arial"/>
              <a:cs typeface="Arial"/>
              <a:sym typeface="Arial"/>
            </a:endParaRPr>
          </a:p>
        </p:txBody>
      </p:sp>
      <p:sp>
        <p:nvSpPr>
          <p:cNvPr id="739" name="Google Shape;739;p14"/>
          <p:cNvSpPr/>
          <p:nvPr/>
        </p:nvSpPr>
        <p:spPr>
          <a:xfrm>
            <a:off x="4038600" y="1447800"/>
            <a:ext cx="1143000" cy="1143000"/>
          </a:xfrm>
          <a:prstGeom prst="ellipse">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Nhà nước</a:t>
            </a:r>
            <a:endParaRPr sz="1800">
              <a:solidFill>
                <a:schemeClr val="lt1"/>
              </a:solidFill>
              <a:latin typeface="Arial"/>
              <a:ea typeface="Arial"/>
              <a:cs typeface="Arial"/>
              <a:sym typeface="Arial"/>
            </a:endParaRPr>
          </a:p>
        </p:txBody>
      </p:sp>
      <p:sp>
        <p:nvSpPr>
          <p:cNvPr id="740" name="Google Shape;740;p14"/>
          <p:cNvSpPr/>
          <p:nvPr/>
        </p:nvSpPr>
        <p:spPr>
          <a:xfrm>
            <a:off x="228600" y="3429000"/>
            <a:ext cx="4191000" cy="34290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i="1" lang="en-US" sz="1800">
                <a:solidFill>
                  <a:schemeClr val="lt1"/>
                </a:solidFill>
                <a:latin typeface="Times New Roman"/>
                <a:ea typeface="Times New Roman"/>
                <a:cs typeface="Times New Roman"/>
                <a:sym typeface="Times New Roman"/>
              </a:rPr>
              <a:t>“Nhà nước chẳng qua chỉ là một bộ máy trấn áp của một giai cấp này đối với giai cấp khác, điều đó trong chế độ cộng hòa dân chủ cũng hoàn toàn giống như trong chế độ quân chủ vậy” – Ph.Ăng-ghen.</a:t>
            </a:r>
            <a:endParaRPr/>
          </a:p>
          <a:p>
            <a:pPr indent="0" lvl="0" marL="0" marR="0" rtl="0" algn="just">
              <a:spcBef>
                <a:spcPts val="0"/>
              </a:spcBef>
              <a:spcAft>
                <a:spcPts val="0"/>
              </a:spcAft>
              <a:buNone/>
            </a:pPr>
            <a:r>
              <a:rPr i="1" lang="en-US" sz="1800">
                <a:solidFill>
                  <a:schemeClr val="lt1"/>
                </a:solidFill>
                <a:latin typeface="Times New Roman"/>
                <a:ea typeface="Times New Roman"/>
                <a:cs typeface="Times New Roman"/>
                <a:sym typeface="Times New Roman"/>
              </a:rPr>
              <a:t>“Nhà nước là một bộ máy dùng để duy trì sự thống trị của giai cấp này đối với giai cấp khác, và theo đúng nghĩa của nó, là một bộ máy trấn áp đặc biệt của giai cấp này đối với một giai cấp khác” – V.I. Lê Nin</a:t>
            </a:r>
            <a:endParaRPr/>
          </a:p>
        </p:txBody>
      </p:sp>
      <p:sp>
        <p:nvSpPr>
          <p:cNvPr id="741" name="Google Shape;741;p14"/>
          <p:cNvSpPr/>
          <p:nvPr/>
        </p:nvSpPr>
        <p:spPr>
          <a:xfrm>
            <a:off x="5181600" y="4800600"/>
            <a:ext cx="3810000" cy="19050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i="1" lang="en-US" sz="1800">
                <a:solidFill>
                  <a:schemeClr val="lt1"/>
                </a:solidFill>
                <a:latin typeface="Times New Roman"/>
                <a:ea typeface="Times New Roman"/>
                <a:cs typeface="Times New Roman"/>
                <a:sym typeface="Times New Roman"/>
              </a:rPr>
              <a:t>“Ở khắp nơi, chức năng xã hội là cơ sở của sự thống trị chính trị và sự thống trị chính trị cũng chỉ kéo dài chừng nào nó còn thực hiện chức năng xã hội đó của nó”</a:t>
            </a:r>
            <a:endParaRPr/>
          </a:p>
          <a:p>
            <a:pPr indent="0" lvl="0" marL="0" marR="0" rtl="0" algn="just">
              <a:spcBef>
                <a:spcPts val="0"/>
              </a:spcBef>
              <a:spcAft>
                <a:spcPts val="0"/>
              </a:spcAft>
              <a:buNone/>
            </a:pPr>
            <a:r>
              <a:rPr i="1" lang="en-US" sz="1800">
                <a:solidFill>
                  <a:schemeClr val="lt1"/>
                </a:solidFill>
                <a:latin typeface="Times New Roman"/>
                <a:ea typeface="Times New Roman"/>
                <a:cs typeface="Times New Roman"/>
                <a:sym typeface="Times New Roman"/>
              </a:rPr>
              <a:t> – Ph. Ăng ghen</a:t>
            </a:r>
            <a:endParaRPr i="1" sz="1800">
              <a:solidFill>
                <a:schemeClr val="lt1"/>
              </a:solidFill>
              <a:latin typeface="Times New Roman"/>
              <a:ea typeface="Times New Roman"/>
              <a:cs typeface="Times New Roman"/>
              <a:sym typeface="Times New Roman"/>
            </a:endParaRPr>
          </a:p>
        </p:txBody>
      </p:sp>
      <p:pic>
        <p:nvPicPr>
          <p:cNvPr descr="E:\Bai giang\PL DC\Pics\Karl_Marx.jpg" id="742" name="Google Shape;742;p14"/>
          <p:cNvPicPr preferRelativeResize="0"/>
          <p:nvPr/>
        </p:nvPicPr>
        <p:blipFill rotWithShape="1">
          <a:blip r:embed="rId4">
            <a:alphaModFix/>
          </a:blip>
          <a:srcRect b="0" l="0" r="0" t="0"/>
          <a:stretch/>
        </p:blipFill>
        <p:spPr>
          <a:xfrm>
            <a:off x="0" y="685800"/>
            <a:ext cx="1524000" cy="1784347"/>
          </a:xfrm>
          <a:prstGeom prst="rect">
            <a:avLst/>
          </a:prstGeom>
          <a:noFill/>
          <a:ln>
            <a:noFill/>
          </a:ln>
        </p:spPr>
      </p:pic>
      <p:pic>
        <p:nvPicPr>
          <p:cNvPr descr="E:\Bai giang\PL DC\Pics\200px-Engels_painting2.jpg" id="743" name="Google Shape;743;p14"/>
          <p:cNvPicPr preferRelativeResize="0"/>
          <p:nvPr/>
        </p:nvPicPr>
        <p:blipFill rotWithShape="1">
          <a:blip r:embed="rId5">
            <a:alphaModFix/>
          </a:blip>
          <a:srcRect b="0" l="0" r="0" t="0"/>
          <a:stretch/>
        </p:blipFill>
        <p:spPr>
          <a:xfrm>
            <a:off x="4419600" y="2971800"/>
            <a:ext cx="1524000" cy="18287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5"/>
                                        </p:tgtEl>
                                        <p:attrNameLst>
                                          <p:attrName>style.visibility</p:attrName>
                                        </p:attrNameLst>
                                      </p:cBhvr>
                                      <p:to>
                                        <p:strVal val="visible"/>
                                      </p:to>
                                    </p:set>
                                    <p:anim calcmode="lin" valueType="num">
                                      <p:cBhvr additive="base">
                                        <p:cTn dur="2000"/>
                                        <p:tgtEl>
                                          <p:spTgt spid="73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15"/>
          <p:cNvSpPr txBox="1"/>
          <p:nvPr>
            <p:ph type="title"/>
          </p:nvPr>
        </p:nvSpPr>
        <p:spPr>
          <a:xfrm>
            <a:off x="381000" y="304800"/>
            <a:ext cx="8229600" cy="6858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Arial"/>
              <a:buNone/>
            </a:pPr>
            <a:r>
              <a:rPr lang="en-US" sz="3200"/>
              <a:t>2.2.2	Bản chất của Nhà nước</a:t>
            </a:r>
            <a:endParaRPr sz="3200"/>
          </a:p>
        </p:txBody>
      </p:sp>
      <p:sp>
        <p:nvSpPr>
          <p:cNvPr id="749" name="Google Shape;749;p15"/>
          <p:cNvSpPr txBox="1"/>
          <p:nvPr>
            <p:ph idx="1" type="body"/>
          </p:nvPr>
        </p:nvSpPr>
        <p:spPr>
          <a:xfrm>
            <a:off x="457200" y="1143000"/>
            <a:ext cx="8305800" cy="54102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2280"/>
              <a:buNone/>
            </a:pPr>
            <a:r>
              <a:rPr b="1" lang="en-US" sz="2400">
                <a:latin typeface="Times New Roman"/>
                <a:ea typeface="Times New Roman"/>
                <a:cs typeface="Times New Roman"/>
                <a:sym typeface="Times New Roman"/>
              </a:rPr>
              <a:t>Tính giai cấp</a:t>
            </a:r>
            <a:endParaRPr b="1" sz="2400">
              <a:latin typeface="Times New Roman"/>
              <a:ea typeface="Times New Roman"/>
              <a:cs typeface="Times New Roman"/>
              <a:sym typeface="Times New Roman"/>
            </a:endParaRPr>
          </a:p>
          <a:p>
            <a:pPr indent="-274320" lvl="0" marL="274320" rtl="0" algn="l">
              <a:spcBef>
                <a:spcPts val="480"/>
              </a:spcBef>
              <a:spcAft>
                <a:spcPts val="0"/>
              </a:spcAft>
              <a:buSzPts val="2280"/>
              <a:buChar char="⚫"/>
            </a:pPr>
            <a:r>
              <a:rPr lang="en-US" sz="2400">
                <a:latin typeface="Times New Roman"/>
                <a:ea typeface="Times New Roman"/>
                <a:cs typeface="Times New Roman"/>
                <a:sym typeface="Times New Roman"/>
              </a:rPr>
              <a:t>Nhà nước chỉ ra đời và tồn tại trong xã hội có giai cấp</a:t>
            </a:r>
            <a:endParaRPr sz="2400">
              <a:latin typeface="Times New Roman"/>
              <a:ea typeface="Times New Roman"/>
              <a:cs typeface="Times New Roman"/>
              <a:sym typeface="Times New Roman"/>
            </a:endParaRPr>
          </a:p>
          <a:p>
            <a:pPr indent="-274320" lvl="0" marL="274320" rtl="0" algn="l">
              <a:spcBef>
                <a:spcPts val="480"/>
              </a:spcBef>
              <a:spcAft>
                <a:spcPts val="0"/>
              </a:spcAft>
              <a:buSzPts val="2280"/>
              <a:buChar char="⚫"/>
            </a:pPr>
            <a:r>
              <a:rPr lang="en-US" sz="2400">
                <a:latin typeface="Times New Roman"/>
                <a:ea typeface="Times New Roman"/>
                <a:cs typeface="Times New Roman"/>
                <a:sym typeface="Times New Roman"/>
              </a:rPr>
              <a:t>Nhà nước do giai cấp thống trị tổ chức nên</a:t>
            </a:r>
            <a:endParaRPr sz="2400">
              <a:latin typeface="Times New Roman"/>
              <a:ea typeface="Times New Roman"/>
              <a:cs typeface="Times New Roman"/>
              <a:sym typeface="Times New Roman"/>
            </a:endParaRPr>
          </a:p>
          <a:p>
            <a:pPr indent="-274320" lvl="0" marL="274320" rtl="0" algn="l">
              <a:spcBef>
                <a:spcPts val="480"/>
              </a:spcBef>
              <a:spcAft>
                <a:spcPts val="0"/>
              </a:spcAft>
              <a:buSzPts val="2280"/>
              <a:buChar char="⚫"/>
            </a:pPr>
            <a:r>
              <a:rPr lang="en-US" sz="2400">
                <a:latin typeface="Times New Roman"/>
                <a:ea typeface="Times New Roman"/>
                <a:cs typeface="Times New Roman"/>
                <a:sym typeface="Times New Roman"/>
              </a:rPr>
              <a:t>Nhà nước sinh ra để bảo vệ quyền lợi của giai cấp thống trị</a:t>
            </a:r>
            <a:endParaRPr/>
          </a:p>
          <a:p>
            <a:pPr indent="-274320" lvl="0" marL="274320" rtl="0" algn="l">
              <a:spcBef>
                <a:spcPts val="480"/>
              </a:spcBef>
              <a:spcAft>
                <a:spcPts val="0"/>
              </a:spcAft>
              <a:buSzPts val="2280"/>
              <a:buChar char="⚫"/>
            </a:pPr>
            <a:r>
              <a:rPr lang="en-US" sz="2400">
                <a:latin typeface="Times New Roman"/>
                <a:ea typeface="Times New Roman"/>
                <a:cs typeface="Times New Roman"/>
                <a:sym typeface="Times New Roman"/>
              </a:rPr>
              <a:t>Chỉ thông qua nhà nước, giai cấp thống trị mới:</a:t>
            </a:r>
            <a:endParaRPr sz="2400">
              <a:latin typeface="Times New Roman"/>
              <a:ea typeface="Times New Roman"/>
              <a:cs typeface="Times New Roman"/>
              <a:sym typeface="Times New Roman"/>
            </a:endParaRPr>
          </a:p>
          <a:p>
            <a:pPr indent="-274320" lvl="0" marL="274320" rtl="0" algn="l">
              <a:spcBef>
                <a:spcPts val="480"/>
              </a:spcBef>
              <a:spcAft>
                <a:spcPts val="0"/>
              </a:spcAft>
              <a:buSzPts val="2280"/>
              <a:buNone/>
            </a:pPr>
            <a:r>
              <a:rPr lang="en-US" sz="2400">
                <a:latin typeface="Times New Roman"/>
                <a:ea typeface="Times New Roman"/>
                <a:cs typeface="Times New Roman"/>
                <a:sym typeface="Times New Roman"/>
              </a:rPr>
              <a:t>+ Có thể duy trì quan hệ bóc lột về kinh tế</a:t>
            </a:r>
            <a:endParaRPr sz="2400">
              <a:latin typeface="Times New Roman"/>
              <a:ea typeface="Times New Roman"/>
              <a:cs typeface="Times New Roman"/>
              <a:sym typeface="Times New Roman"/>
            </a:endParaRPr>
          </a:p>
          <a:p>
            <a:pPr indent="-274320" lvl="0" marL="274320" rtl="0" algn="l">
              <a:spcBef>
                <a:spcPts val="480"/>
              </a:spcBef>
              <a:spcAft>
                <a:spcPts val="0"/>
              </a:spcAft>
              <a:buSzPts val="2280"/>
              <a:buNone/>
            </a:pPr>
            <a:r>
              <a:rPr lang="en-US" sz="2400">
                <a:latin typeface="Times New Roman"/>
                <a:ea typeface="Times New Roman"/>
                <a:cs typeface="Times New Roman"/>
                <a:sym typeface="Times New Roman"/>
              </a:rPr>
              <a:t>+ Tổ chức và thực hiện được quyền lực chính trị của mình</a:t>
            </a:r>
            <a:endParaRPr sz="2400">
              <a:latin typeface="Times New Roman"/>
              <a:ea typeface="Times New Roman"/>
              <a:cs typeface="Times New Roman"/>
              <a:sym typeface="Times New Roman"/>
            </a:endParaRPr>
          </a:p>
          <a:p>
            <a:pPr indent="-274320" lvl="0" marL="274320" rtl="0" algn="l">
              <a:spcBef>
                <a:spcPts val="480"/>
              </a:spcBef>
              <a:spcAft>
                <a:spcPts val="0"/>
              </a:spcAft>
              <a:buSzPts val="2280"/>
              <a:buNone/>
            </a:pPr>
            <a:r>
              <a:rPr lang="en-US" sz="2400">
                <a:latin typeface="Times New Roman"/>
                <a:ea typeface="Times New Roman"/>
                <a:cs typeface="Times New Roman"/>
                <a:sym typeface="Times New Roman"/>
              </a:rPr>
              <a:t>+ Xây dựng được hệ tư tưởng của mình trở thành hệ tư tưởng thống trị trong xã hội.</a:t>
            </a:r>
            <a:endParaRPr sz="2400">
              <a:latin typeface="Times New Roman"/>
              <a:ea typeface="Times New Roman"/>
              <a:cs typeface="Times New Roman"/>
              <a:sym typeface="Times New Roman"/>
            </a:endParaRPr>
          </a:p>
        </p:txBody>
      </p:sp>
      <p:sp>
        <p:nvSpPr>
          <p:cNvPr id="750" name="Google Shape;750;p15"/>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751" name="Google Shape;751;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6"/>
          <p:cNvSpPr txBox="1"/>
          <p:nvPr>
            <p:ph type="title"/>
          </p:nvPr>
        </p:nvSpPr>
        <p:spPr>
          <a:xfrm>
            <a:off x="457200" y="304800"/>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Bản chất giai cấp của Nhà nước</a:t>
            </a:r>
            <a:endParaRPr sz="3200">
              <a:latin typeface="Times New Roman"/>
              <a:ea typeface="Times New Roman"/>
              <a:cs typeface="Times New Roman"/>
              <a:sym typeface="Times New Roman"/>
            </a:endParaRPr>
          </a:p>
        </p:txBody>
      </p:sp>
      <p:pic>
        <p:nvPicPr>
          <p:cNvPr descr="E:\Bai giang\PL DC\270px-В_покоренной_Москве.jpg" id="757" name="Google Shape;757;p16"/>
          <p:cNvPicPr preferRelativeResize="0"/>
          <p:nvPr>
            <p:ph idx="1" type="body"/>
          </p:nvPr>
        </p:nvPicPr>
        <p:blipFill rotWithShape="1">
          <a:blip r:embed="rId3">
            <a:alphaModFix/>
          </a:blip>
          <a:srcRect b="0" l="0" r="0" t="0"/>
          <a:stretch/>
        </p:blipFill>
        <p:spPr>
          <a:xfrm>
            <a:off x="533400" y="2209800"/>
            <a:ext cx="3429000" cy="2603500"/>
          </a:xfrm>
          <a:prstGeom prst="rect">
            <a:avLst/>
          </a:prstGeom>
          <a:noFill/>
          <a:ln>
            <a:noFill/>
          </a:ln>
        </p:spPr>
      </p:pic>
      <p:sp>
        <p:nvSpPr>
          <p:cNvPr id="758" name="Google Shape;758;p16"/>
          <p:cNvSpPr/>
          <p:nvPr/>
        </p:nvSpPr>
        <p:spPr>
          <a:xfrm>
            <a:off x="304800" y="5029200"/>
            <a:ext cx="38862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Đàn áp là  một trong những biểu hiện quan trọng của bản chất giai cấp </a:t>
            </a:r>
            <a:endParaRPr/>
          </a:p>
        </p:txBody>
      </p:sp>
      <p:pic>
        <p:nvPicPr>
          <p:cNvPr descr="E:\Bai giang\PL DC\160px-State_Prison,_at_Sing_Sing,_New_York.jpg" id="759" name="Google Shape;759;p16"/>
          <p:cNvPicPr preferRelativeResize="0"/>
          <p:nvPr/>
        </p:nvPicPr>
        <p:blipFill rotWithShape="1">
          <a:blip r:embed="rId4">
            <a:alphaModFix/>
          </a:blip>
          <a:srcRect b="0" l="0" r="0" t="0"/>
          <a:stretch/>
        </p:blipFill>
        <p:spPr>
          <a:xfrm>
            <a:off x="4953000" y="2209800"/>
            <a:ext cx="3454400" cy="2590800"/>
          </a:xfrm>
          <a:prstGeom prst="rect">
            <a:avLst/>
          </a:prstGeom>
          <a:noFill/>
          <a:ln>
            <a:noFill/>
          </a:ln>
        </p:spPr>
      </p:pic>
      <p:sp>
        <p:nvSpPr>
          <p:cNvPr id="760" name="Google Shape;760;p16"/>
          <p:cNvSpPr/>
          <p:nvPr/>
        </p:nvSpPr>
        <p:spPr>
          <a:xfrm>
            <a:off x="4800600" y="5181600"/>
            <a:ext cx="37978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Nhà tù – công cụ trấn áp của Nhà nước</a:t>
            </a:r>
            <a:endParaRPr sz="1800">
              <a:solidFill>
                <a:schemeClr val="dk1"/>
              </a:solidFill>
              <a:latin typeface="Times New Roman"/>
              <a:ea typeface="Times New Roman"/>
              <a:cs typeface="Times New Roman"/>
              <a:sym typeface="Times New Roman"/>
            </a:endParaRPr>
          </a:p>
        </p:txBody>
      </p:sp>
      <p:sp>
        <p:nvSpPr>
          <p:cNvPr id="761" name="Google Shape;761;p16"/>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762" name="Google Shape;762;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500"/>
                                        <p:tgtEl>
                                          <p:spTgt spid="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8"/>
                                        </p:tgtEl>
                                        <p:attrNameLst>
                                          <p:attrName>style.visibility</p:attrName>
                                        </p:attrNameLst>
                                      </p:cBhvr>
                                      <p:to>
                                        <p:strVal val="visible"/>
                                      </p:to>
                                    </p:set>
                                    <p:anim calcmode="lin" valueType="num">
                                      <p:cBhvr additive="base">
                                        <p:cTn dur="500"/>
                                        <p:tgtEl>
                                          <p:spTgt spid="7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2000"/>
                                        <p:tgtEl>
                                          <p:spTgt spid="7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0"/>
                                        </p:tgtEl>
                                        <p:attrNameLst>
                                          <p:attrName>style.visibility</p:attrName>
                                        </p:attrNameLst>
                                      </p:cBhvr>
                                      <p:to>
                                        <p:strVal val="visible"/>
                                      </p:to>
                                    </p:set>
                                    <p:anim calcmode="lin" valueType="num">
                                      <p:cBhvr additive="base">
                                        <p:cTn dur="500"/>
                                        <p:tgtEl>
                                          <p:spTgt spid="76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7"/>
          <p:cNvSpPr txBox="1"/>
          <p:nvPr>
            <p:ph type="title"/>
          </p:nvPr>
        </p:nvSpPr>
        <p:spPr>
          <a:xfrm>
            <a:off x="457200" y="304800"/>
            <a:ext cx="8229600" cy="5913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2.2.2	Bản chất của nhà nước</a:t>
            </a:r>
            <a:endParaRPr sz="3200">
              <a:latin typeface="Times New Roman"/>
              <a:ea typeface="Times New Roman"/>
              <a:cs typeface="Times New Roman"/>
              <a:sym typeface="Times New Roman"/>
            </a:endParaRPr>
          </a:p>
        </p:txBody>
      </p:sp>
      <p:sp>
        <p:nvSpPr>
          <p:cNvPr id="768" name="Google Shape;768;p17"/>
          <p:cNvSpPr txBox="1"/>
          <p:nvPr>
            <p:ph idx="1" type="body"/>
          </p:nvPr>
        </p:nvSpPr>
        <p:spPr>
          <a:xfrm>
            <a:off x="457200" y="1066800"/>
            <a:ext cx="8153400" cy="533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None/>
            </a:pPr>
            <a:r>
              <a:rPr b="1" lang="en-US" sz="1800">
                <a:latin typeface="Times New Roman"/>
                <a:ea typeface="Times New Roman"/>
                <a:cs typeface="Times New Roman"/>
                <a:sym typeface="Times New Roman"/>
              </a:rPr>
              <a:t>Tính xã hội</a:t>
            </a:r>
            <a:endParaRPr b="1" sz="1800">
              <a:latin typeface="Times New Roman"/>
              <a:ea typeface="Times New Roman"/>
              <a:cs typeface="Times New Roman"/>
              <a:sym typeface="Times New Roman"/>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Ban hành pháp luật và có các biện pháp bảo đảm thi hành pháp luật.</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Ban hành các chính sách kinh tế vĩ mô,điều tiết, điều phối các chính sách kinh tế  xã hội, đặc biệt trong nền kinh tế thị trường.</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Đầu tư, cung cấp hàng hoá dịch vụ xã hội cơ bản (cấp phép, kiểm dịch, kiểm định, giám sát, kiểm tra các lĩnh vực.v.v…)</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Giữ vai trò là người bảo vệ những nhóm người yếu thế và dễ bị tổn thương trong xã hội (người già, trẻ em, người tàn tật.v.v…)</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Hoạt động trong lĩnh vực bảo vệ môi trường, giao thông; pòng chống thiên tai, bão lụt.v.v…</a:t>
            </a:r>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p:txBody>
      </p:sp>
      <p:pic>
        <p:nvPicPr>
          <p:cNvPr descr="E:\Bai giang\PL DC\images.jpeg" id="769" name="Google Shape;769;p17"/>
          <p:cNvPicPr preferRelativeResize="0"/>
          <p:nvPr/>
        </p:nvPicPr>
        <p:blipFill rotWithShape="1">
          <a:blip r:embed="rId3">
            <a:alphaModFix/>
          </a:blip>
          <a:srcRect b="0" l="0" r="0" t="0"/>
          <a:stretch/>
        </p:blipFill>
        <p:spPr>
          <a:xfrm>
            <a:off x="5257800" y="4419600"/>
            <a:ext cx="3260489" cy="1981200"/>
          </a:xfrm>
          <a:prstGeom prst="rect">
            <a:avLst/>
          </a:prstGeom>
          <a:noFill/>
          <a:ln>
            <a:noFill/>
          </a:ln>
        </p:spPr>
      </p:pic>
      <p:sp>
        <p:nvSpPr>
          <p:cNvPr id="770" name="Google Shape;770;p1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771" name="Google Shape;771;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68">
                                            <p:txEl>
                                              <p:pRg end="0" st="0"/>
                                            </p:txEl>
                                          </p:spTgt>
                                        </p:tgtEl>
                                        <p:attrNameLst>
                                          <p:attrName>style.visibility</p:attrName>
                                        </p:attrNameLst>
                                      </p:cBhvr>
                                      <p:to>
                                        <p:strVal val="visible"/>
                                      </p:to>
                                    </p:set>
                                    <p:anim calcmode="lin" valueType="num">
                                      <p:cBhvr additive="base">
                                        <p:cTn dur="500"/>
                                        <p:tgtEl>
                                          <p:spTgt spid="768">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768">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68">
                                            <p:txEl>
                                              <p:pRg end="1" st="1"/>
                                            </p:txEl>
                                          </p:spTgt>
                                        </p:tgtEl>
                                        <p:attrNameLst>
                                          <p:attrName>style.visibility</p:attrName>
                                        </p:attrNameLst>
                                      </p:cBhvr>
                                      <p:to>
                                        <p:strVal val="visible"/>
                                      </p:to>
                                    </p:set>
                                    <p:anim calcmode="lin" valueType="num">
                                      <p:cBhvr additive="base">
                                        <p:cTn dur="500"/>
                                        <p:tgtEl>
                                          <p:spTgt spid="768">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768">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68">
                                            <p:txEl>
                                              <p:pRg end="2" st="2"/>
                                            </p:txEl>
                                          </p:spTgt>
                                        </p:tgtEl>
                                        <p:attrNameLst>
                                          <p:attrName>style.visibility</p:attrName>
                                        </p:attrNameLst>
                                      </p:cBhvr>
                                      <p:to>
                                        <p:strVal val="visible"/>
                                      </p:to>
                                    </p:set>
                                    <p:anim calcmode="lin" valueType="num">
                                      <p:cBhvr additive="base">
                                        <p:cTn dur="500"/>
                                        <p:tgtEl>
                                          <p:spTgt spid="768">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768">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68">
                                            <p:txEl>
                                              <p:pRg end="3" st="3"/>
                                            </p:txEl>
                                          </p:spTgt>
                                        </p:tgtEl>
                                        <p:attrNameLst>
                                          <p:attrName>style.visibility</p:attrName>
                                        </p:attrNameLst>
                                      </p:cBhvr>
                                      <p:to>
                                        <p:strVal val="visible"/>
                                      </p:to>
                                    </p:set>
                                    <p:anim calcmode="lin" valueType="num">
                                      <p:cBhvr additive="base">
                                        <p:cTn dur="500"/>
                                        <p:tgtEl>
                                          <p:spTgt spid="768">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768">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68">
                                            <p:txEl>
                                              <p:pRg end="4" st="4"/>
                                            </p:txEl>
                                          </p:spTgt>
                                        </p:tgtEl>
                                        <p:attrNameLst>
                                          <p:attrName>style.visibility</p:attrName>
                                        </p:attrNameLst>
                                      </p:cBhvr>
                                      <p:to>
                                        <p:strVal val="visible"/>
                                      </p:to>
                                    </p:set>
                                    <p:anim calcmode="lin" valueType="num">
                                      <p:cBhvr additive="base">
                                        <p:cTn dur="500"/>
                                        <p:tgtEl>
                                          <p:spTgt spid="768">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768">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68">
                                            <p:txEl>
                                              <p:pRg end="5" st="5"/>
                                            </p:txEl>
                                          </p:spTgt>
                                        </p:tgtEl>
                                        <p:attrNameLst>
                                          <p:attrName>style.visibility</p:attrName>
                                        </p:attrNameLst>
                                      </p:cBhvr>
                                      <p:to>
                                        <p:strVal val="visible"/>
                                      </p:to>
                                    </p:set>
                                    <p:anim calcmode="lin" valueType="num">
                                      <p:cBhvr additive="base">
                                        <p:cTn dur="500"/>
                                        <p:tgtEl>
                                          <p:spTgt spid="768">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768">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68">
                                            <p:txEl>
                                              <p:pRg end="6" st="6"/>
                                            </p:txEl>
                                          </p:spTgt>
                                        </p:tgtEl>
                                        <p:attrNameLst>
                                          <p:attrName>style.visibility</p:attrName>
                                        </p:attrNameLst>
                                      </p:cBhvr>
                                      <p:to>
                                        <p:strVal val="visible"/>
                                      </p:to>
                                    </p:set>
                                    <p:anim calcmode="lin" valueType="num">
                                      <p:cBhvr additive="base">
                                        <p:cTn dur="500"/>
                                        <p:tgtEl>
                                          <p:spTgt spid="768">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768">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18"/>
          <p:cNvSpPr txBox="1"/>
          <p:nvPr>
            <p:ph type="title"/>
          </p:nvPr>
        </p:nvSpPr>
        <p:spPr>
          <a:xfrm>
            <a:off x="533400" y="0"/>
            <a:ext cx="8229600" cy="6397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2.3. Đặc điểm của Nhà nước</a:t>
            </a:r>
            <a:endParaRPr sz="3200">
              <a:solidFill>
                <a:srgbClr val="FF0000"/>
              </a:solidFill>
              <a:latin typeface="Times New Roman"/>
              <a:ea typeface="Times New Roman"/>
              <a:cs typeface="Times New Roman"/>
              <a:sym typeface="Times New Roman"/>
            </a:endParaRPr>
          </a:p>
        </p:txBody>
      </p:sp>
      <p:sp>
        <p:nvSpPr>
          <p:cNvPr id="777" name="Google Shape;777;p18"/>
          <p:cNvSpPr/>
          <p:nvPr/>
        </p:nvSpPr>
        <p:spPr>
          <a:xfrm>
            <a:off x="457200" y="762000"/>
            <a:ext cx="8229600" cy="5867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1</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Nhà nước thiết lập một quyền lực công cộng đặc biệt, không còn hòa nhập hoàn toàn với dân cư.</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2</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Nhà nước phân chia dân cư theo lãnh thổ, tổ chức thành các đơn vị hành chính – lãnh thổ trong phạm vi biên giới quốc gia</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3</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Nhà nước là tổ chức quyền lưc mang chủ quyền quốc gia</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4</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Nhà nước ban hành pháp luật và bảo đảm thực hiện pháp luật bằng tất cả sức mạnh của mình, đặc biệt là sức mạnh cưỡng chế</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5</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Nhà nước quy định và thu các loại thuế dưới hình thức bắt buộc</a:t>
            </a:r>
            <a:endParaRPr b="0" i="0" sz="2000" u="none" cap="none" strike="noStrike">
              <a:solidFill>
                <a:schemeClr val="dk1"/>
              </a:solidFill>
              <a:latin typeface="Times New Roman"/>
              <a:ea typeface="Times New Roman"/>
              <a:cs typeface="Times New Roman"/>
              <a:sym typeface="Times New Roman"/>
            </a:endParaRPr>
          </a:p>
        </p:txBody>
      </p:sp>
      <p:sp>
        <p:nvSpPr>
          <p:cNvPr id="778" name="Google Shape;778;p1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779" name="Google Shape;779;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500"/>
                                        <p:tgtEl>
                                          <p:spTgt spid="7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9"/>
          <p:cNvSpPr txBox="1"/>
          <p:nvPr>
            <p:ph type="title"/>
          </p:nvPr>
        </p:nvSpPr>
        <p:spPr>
          <a:xfrm>
            <a:off x="457200" y="0"/>
            <a:ext cx="8229600" cy="6096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2800"/>
              <a:buFont typeface="Arial"/>
              <a:buNone/>
            </a:pPr>
            <a:r>
              <a:t/>
            </a:r>
            <a:endParaRPr sz="2800">
              <a:solidFill>
                <a:srgbClr val="0066FF"/>
              </a:solidFill>
              <a:latin typeface="Times New Roman"/>
              <a:ea typeface="Times New Roman"/>
              <a:cs typeface="Times New Roman"/>
              <a:sym typeface="Times New Roman"/>
            </a:endParaRPr>
          </a:p>
        </p:txBody>
      </p:sp>
      <p:graphicFrame>
        <p:nvGraphicFramePr>
          <p:cNvPr id="786" name="Google Shape;786;p19"/>
          <p:cNvGraphicFramePr/>
          <p:nvPr/>
        </p:nvGraphicFramePr>
        <p:xfrm>
          <a:off x="533400" y="4251960"/>
          <a:ext cx="3000000" cy="3000000"/>
        </p:xfrm>
        <a:graphic>
          <a:graphicData uri="http://schemas.openxmlformats.org/drawingml/2006/table">
            <a:tbl>
              <a:tblPr bandRow="1" firstRow="1">
                <a:noFill/>
                <a:tableStyleId>{C2BE8B88-DE4F-40F9-8EF6-0FD96A1DF877}</a:tableStyleId>
              </a:tblPr>
              <a:tblGrid>
                <a:gridCol w="3134275"/>
                <a:gridCol w="5171525"/>
              </a:tblGrid>
              <a:tr h="370850">
                <a:tc>
                  <a:txBody>
                    <a:bodyPr/>
                    <a:lstStyle/>
                    <a:p>
                      <a:pPr indent="0" lvl="0" marL="57150" marR="0" rtl="0" algn="ctr">
                        <a:lnSpc>
                          <a:spcPct val="150000"/>
                        </a:lnSpc>
                        <a:spcBef>
                          <a:spcPts val="0"/>
                        </a:spcBef>
                        <a:spcAft>
                          <a:spcPts val="0"/>
                        </a:spcAft>
                        <a:buNone/>
                      </a:pPr>
                      <a:r>
                        <a:rPr lang="en-US" sz="2400" u="none" cap="none" strike="noStrike">
                          <a:latin typeface="Times New Roman"/>
                          <a:ea typeface="Times New Roman"/>
                          <a:cs typeface="Times New Roman"/>
                          <a:sym typeface="Times New Roman"/>
                        </a:rPr>
                        <a:t>Quyền lực xã hội</a:t>
                      </a:r>
                      <a:endParaRPr b="1" sz="2400" u="none" cap="none" strike="noStrike">
                        <a:latin typeface="Times New Roman"/>
                        <a:ea typeface="Times New Roman"/>
                        <a:cs typeface="Times New Roman"/>
                        <a:sym typeface="Times New Roman"/>
                      </a:endParaRPr>
                    </a:p>
                  </a:txBody>
                  <a:tcPr marT="0" marB="0" marR="68575" marL="68575" anchor="ctr"/>
                </a:tc>
                <a:tc>
                  <a:txBody>
                    <a:bodyPr/>
                    <a:lstStyle/>
                    <a:p>
                      <a:pPr indent="0" lvl="0" marL="57150" marR="0" rtl="0" algn="ctr">
                        <a:lnSpc>
                          <a:spcPct val="150000"/>
                        </a:lnSpc>
                        <a:spcBef>
                          <a:spcPts val="0"/>
                        </a:spcBef>
                        <a:spcAft>
                          <a:spcPts val="0"/>
                        </a:spcAft>
                        <a:buNone/>
                      </a:pPr>
                      <a:r>
                        <a:rPr lang="en-US" sz="2400" u="none" cap="none" strike="noStrike">
                          <a:latin typeface="Times New Roman"/>
                          <a:ea typeface="Times New Roman"/>
                          <a:cs typeface="Times New Roman"/>
                          <a:sym typeface="Times New Roman"/>
                        </a:rPr>
                        <a:t>Quyền lực công cộng đặc biệt</a:t>
                      </a:r>
                      <a:endParaRPr b="1" sz="2400" u="none" cap="none" strike="noStrike">
                        <a:latin typeface="Times New Roman"/>
                        <a:ea typeface="Times New Roman"/>
                        <a:cs typeface="Times New Roman"/>
                        <a:sym typeface="Times New Roman"/>
                      </a:endParaRPr>
                    </a:p>
                  </a:txBody>
                  <a:tcPr marT="0" marB="0" marR="68575" marL="68575" anchor="ctr"/>
                </a:tc>
              </a:tr>
              <a:tr h="370850">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Gắn liền với dân cư</a:t>
                      </a:r>
                      <a:endParaRPr b="1" sz="1800" u="none" cap="none" strike="noStrike">
                        <a:latin typeface="Times New Roman"/>
                        <a:ea typeface="Times New Roman"/>
                        <a:cs typeface="Times New Roman"/>
                        <a:sym typeface="Times New Roman"/>
                      </a:endParaRPr>
                    </a:p>
                  </a:txBody>
                  <a:tcPr marT="0" marB="0" marR="68575" marL="68575"/>
                </a:tc>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Tách khỏi xã hội, ko hòa nhập hoàn toàn với dân cư</a:t>
                      </a:r>
                      <a:endParaRPr b="1" sz="1800" u="none" cap="none" strike="noStrike">
                        <a:latin typeface="Times New Roman"/>
                        <a:ea typeface="Times New Roman"/>
                        <a:cs typeface="Times New Roman"/>
                        <a:sym typeface="Times New Roman"/>
                      </a:endParaRPr>
                    </a:p>
                  </a:txBody>
                  <a:tcPr marT="0" marB="0" marR="68575" marL="68575"/>
                </a:tc>
              </a:tr>
              <a:tr h="370850">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Xuất phát từ xã hội</a:t>
                      </a:r>
                      <a:endParaRPr b="1" sz="1800" u="none" cap="none" strike="noStrike">
                        <a:latin typeface="Times New Roman"/>
                        <a:ea typeface="Times New Roman"/>
                        <a:cs typeface="Times New Roman"/>
                        <a:sym typeface="Times New Roman"/>
                      </a:endParaRPr>
                    </a:p>
                  </a:txBody>
                  <a:tcPr marT="0" marB="0" marR="68575" marL="68575"/>
                </a:tc>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Xuất phát từ giai cấp thống trị</a:t>
                      </a:r>
                      <a:endParaRPr b="1" sz="1800" u="none" cap="none" strike="noStrike">
                        <a:latin typeface="Times New Roman"/>
                        <a:ea typeface="Times New Roman"/>
                        <a:cs typeface="Times New Roman"/>
                        <a:sym typeface="Times New Roman"/>
                      </a:endParaRPr>
                    </a:p>
                  </a:txBody>
                  <a:tcPr marT="0" marB="0" marR="68575" marL="68575"/>
                </a:tc>
              </a:tr>
              <a:tr h="370850">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Phục vụ cho toàn bộ xã hội</a:t>
                      </a:r>
                      <a:endParaRPr b="1" sz="1800" u="none" cap="none" strike="noStrike">
                        <a:latin typeface="Times New Roman"/>
                        <a:ea typeface="Times New Roman"/>
                        <a:cs typeface="Times New Roman"/>
                        <a:sym typeface="Times New Roman"/>
                      </a:endParaRPr>
                    </a:p>
                  </a:txBody>
                  <a:tcPr marT="0" marB="0" marR="68575" marL="68575"/>
                </a:tc>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Phục vụ cho quyền lợi của giai cấp thống trị</a:t>
                      </a:r>
                      <a:endParaRPr b="1" sz="1800" u="none" cap="none" strike="noStrike">
                        <a:latin typeface="Times New Roman"/>
                        <a:ea typeface="Times New Roman"/>
                        <a:cs typeface="Times New Roman"/>
                        <a:sym typeface="Times New Roman"/>
                      </a:endParaRPr>
                    </a:p>
                  </a:txBody>
                  <a:tcPr marT="0" marB="0" marR="68575" marL="68575"/>
                </a:tc>
              </a:tr>
              <a:tr h="370850">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Chủ thể là toàn bộ dân cư</a:t>
                      </a:r>
                      <a:endParaRPr b="1" sz="1800" u="none" cap="none" strike="noStrike">
                        <a:latin typeface="Times New Roman"/>
                        <a:ea typeface="Times New Roman"/>
                        <a:cs typeface="Times New Roman"/>
                        <a:sym typeface="Times New Roman"/>
                      </a:endParaRPr>
                    </a:p>
                  </a:txBody>
                  <a:tcPr marT="0" marB="0" marR="68575" marL="68575"/>
                </a:tc>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Chủ thể là giai cấp thống trị</a:t>
                      </a:r>
                      <a:endParaRPr b="1" sz="1800" u="none" cap="none" strike="noStrike">
                        <a:latin typeface="Times New Roman"/>
                        <a:ea typeface="Times New Roman"/>
                        <a:cs typeface="Times New Roman"/>
                        <a:sym typeface="Times New Roman"/>
                      </a:endParaRPr>
                    </a:p>
                  </a:txBody>
                  <a:tcPr marT="0" marB="0" marR="68575" marL="68575"/>
                </a:tc>
              </a:tr>
              <a:tr h="370850">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Không cần bộ máy cưỡng chế</a:t>
                      </a:r>
                      <a:endParaRPr b="1" sz="1800" u="none" cap="none" strike="noStrike">
                        <a:latin typeface="Times New Roman"/>
                        <a:ea typeface="Times New Roman"/>
                        <a:cs typeface="Times New Roman"/>
                        <a:sym typeface="Times New Roman"/>
                      </a:endParaRPr>
                    </a:p>
                  </a:txBody>
                  <a:tcPr marT="0" marB="0" marR="68575" marL="68575"/>
                </a:tc>
                <a:tc>
                  <a:txBody>
                    <a:bodyPr/>
                    <a:lstStyle/>
                    <a:p>
                      <a:pPr indent="0" lvl="0" marL="57150" marR="0" rtl="0" algn="l">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 Được đảm bảo bằng sức mạnh cưỡng chế</a:t>
                      </a:r>
                      <a:endParaRPr b="1" sz="1800" u="none" cap="none" strike="noStrike">
                        <a:latin typeface="Times New Roman"/>
                        <a:ea typeface="Times New Roman"/>
                        <a:cs typeface="Times New Roman"/>
                        <a:sym typeface="Times New Roman"/>
                      </a:endParaRPr>
                    </a:p>
                  </a:txBody>
                  <a:tcPr marT="0" marB="0" marR="68575" marL="68575"/>
                </a:tc>
              </a:tr>
            </a:tbl>
          </a:graphicData>
        </a:graphic>
      </p:graphicFrame>
      <p:sp>
        <p:nvSpPr>
          <p:cNvPr id="787" name="Google Shape;787;p19"/>
          <p:cNvSpPr/>
          <p:nvPr/>
        </p:nvSpPr>
        <p:spPr>
          <a:xfrm>
            <a:off x="0" y="914400"/>
            <a:ext cx="1752600" cy="1600200"/>
          </a:xfrm>
          <a:prstGeom prst="roundRect">
            <a:avLst>
              <a:gd fmla="val 16667" name="adj"/>
            </a:avLst>
          </a:prstGeom>
          <a:solidFill>
            <a:srgbClr val="E4F4DE"/>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200">
                <a:solidFill>
                  <a:srgbClr val="FF0000"/>
                </a:solidFill>
                <a:latin typeface="Times New Roman"/>
                <a:ea typeface="Times New Roman"/>
                <a:cs typeface="Times New Roman"/>
                <a:sym typeface="Times New Roman"/>
              </a:rPr>
              <a:t>Quyền lực xã hội</a:t>
            </a:r>
            <a:endParaRPr sz="2200">
              <a:solidFill>
                <a:srgbClr val="FF0000"/>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200">
                <a:solidFill>
                  <a:srgbClr val="FF0000"/>
                </a:solidFill>
                <a:latin typeface="Times New Roman"/>
                <a:ea typeface="Times New Roman"/>
                <a:cs typeface="Times New Roman"/>
                <a:sym typeface="Times New Roman"/>
              </a:rPr>
              <a:t>(Cộng sản nguyên thủy)</a:t>
            </a:r>
            <a:endParaRPr sz="2200">
              <a:solidFill>
                <a:srgbClr val="FF0000"/>
              </a:solidFill>
              <a:latin typeface="Times New Roman"/>
              <a:ea typeface="Times New Roman"/>
              <a:cs typeface="Times New Roman"/>
              <a:sym typeface="Times New Roman"/>
            </a:endParaRPr>
          </a:p>
        </p:txBody>
      </p:sp>
      <p:sp>
        <p:nvSpPr>
          <p:cNvPr id="788" name="Google Shape;788;p19"/>
          <p:cNvSpPr/>
          <p:nvPr/>
        </p:nvSpPr>
        <p:spPr>
          <a:xfrm>
            <a:off x="1752600" y="1295400"/>
            <a:ext cx="990600" cy="609600"/>
          </a:xfrm>
          <a:prstGeom prst="rightArrow">
            <a:avLst>
              <a:gd fmla="val 50000" name="adj1"/>
              <a:gd fmla="val 50000" name="adj2"/>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89" name="Google Shape;789;p19"/>
          <p:cNvSpPr/>
          <p:nvPr/>
        </p:nvSpPr>
        <p:spPr>
          <a:xfrm>
            <a:off x="2819400" y="762000"/>
            <a:ext cx="6096000" cy="627095"/>
          </a:xfrm>
          <a:prstGeom prst="roundRect">
            <a:avLst>
              <a:gd fmla="val 16667" name="adj"/>
            </a:avLst>
          </a:prstGeom>
          <a:gradFill>
            <a:gsLst>
              <a:gs pos="0">
                <a:srgbClr val="89A6E3"/>
              </a:gs>
              <a:gs pos="43000">
                <a:srgbClr val="B8CAF3"/>
              </a:gs>
              <a:gs pos="93000">
                <a:srgbClr val="E9EEFA"/>
              </a:gs>
              <a:gs pos="100000">
                <a:srgbClr val="F6F8FF"/>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200">
                <a:solidFill>
                  <a:schemeClr val="dk1"/>
                </a:solidFill>
                <a:latin typeface="Times New Roman"/>
                <a:ea typeface="Times New Roman"/>
                <a:cs typeface="Times New Roman"/>
                <a:sym typeface="Times New Roman"/>
              </a:rPr>
              <a:t>Quyền lực nhà nước – Quyền lực công cộng đặc biệt</a:t>
            </a:r>
            <a:endParaRPr sz="2200">
              <a:solidFill>
                <a:schemeClr val="dk1"/>
              </a:solidFill>
              <a:latin typeface="Times New Roman"/>
              <a:ea typeface="Times New Roman"/>
              <a:cs typeface="Times New Roman"/>
              <a:sym typeface="Times New Roman"/>
            </a:endParaRPr>
          </a:p>
        </p:txBody>
      </p:sp>
      <p:sp>
        <p:nvSpPr>
          <p:cNvPr id="790" name="Google Shape;790;p19"/>
          <p:cNvSpPr/>
          <p:nvPr/>
        </p:nvSpPr>
        <p:spPr>
          <a:xfrm>
            <a:off x="2819400" y="1413479"/>
            <a:ext cx="1501477" cy="363023"/>
          </a:xfrm>
          <a:prstGeom prst="roundRect">
            <a:avLst>
              <a:gd fmla="val 16667" name="adj"/>
            </a:avLst>
          </a:prstGeom>
          <a:gradFill>
            <a:gsLst>
              <a:gs pos="0">
                <a:srgbClr val="89A6E3"/>
              </a:gs>
              <a:gs pos="43000">
                <a:srgbClr val="B8CAF3"/>
              </a:gs>
              <a:gs pos="93000">
                <a:srgbClr val="E9EEFA"/>
              </a:gs>
              <a:gs pos="100000">
                <a:srgbClr val="F6F8FF"/>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Tách khỏi xã hội</a:t>
            </a:r>
            <a:endParaRPr sz="2000">
              <a:solidFill>
                <a:schemeClr val="dk1"/>
              </a:solidFill>
              <a:latin typeface="Times New Roman"/>
              <a:ea typeface="Times New Roman"/>
              <a:cs typeface="Times New Roman"/>
              <a:sym typeface="Times New Roman"/>
            </a:endParaRPr>
          </a:p>
        </p:txBody>
      </p:sp>
      <p:sp>
        <p:nvSpPr>
          <p:cNvPr id="791" name="Google Shape;791;p19"/>
          <p:cNvSpPr/>
          <p:nvPr/>
        </p:nvSpPr>
        <p:spPr>
          <a:xfrm>
            <a:off x="4350906" y="1413479"/>
            <a:ext cx="1501477" cy="363023"/>
          </a:xfrm>
          <a:prstGeom prst="roundRect">
            <a:avLst>
              <a:gd fmla="val 16667" name="adj"/>
            </a:avLst>
          </a:prstGeom>
          <a:gradFill>
            <a:gsLst>
              <a:gs pos="0">
                <a:srgbClr val="89A6E3"/>
              </a:gs>
              <a:gs pos="43000">
                <a:srgbClr val="B8CAF3"/>
              </a:gs>
              <a:gs pos="93000">
                <a:srgbClr val="E9EEFA"/>
              </a:gs>
              <a:gs pos="100000">
                <a:srgbClr val="F6F8FF"/>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Mang tính giai cấp sâu sắc</a:t>
            </a:r>
            <a:endParaRPr sz="2000">
              <a:solidFill>
                <a:schemeClr val="dk1"/>
              </a:solidFill>
              <a:latin typeface="Times New Roman"/>
              <a:ea typeface="Times New Roman"/>
              <a:cs typeface="Times New Roman"/>
              <a:sym typeface="Times New Roman"/>
            </a:endParaRPr>
          </a:p>
        </p:txBody>
      </p:sp>
      <p:sp>
        <p:nvSpPr>
          <p:cNvPr id="792" name="Google Shape;792;p19"/>
          <p:cNvSpPr/>
          <p:nvPr/>
        </p:nvSpPr>
        <p:spPr>
          <a:xfrm>
            <a:off x="5588641" y="1413479"/>
            <a:ext cx="2089019" cy="428508"/>
          </a:xfrm>
          <a:prstGeom prst="roundRect">
            <a:avLst>
              <a:gd fmla="val 16667" name="adj"/>
            </a:avLst>
          </a:prstGeom>
          <a:gradFill>
            <a:gsLst>
              <a:gs pos="0">
                <a:srgbClr val="89A6E3"/>
              </a:gs>
              <a:gs pos="43000">
                <a:srgbClr val="B8CAF3"/>
              </a:gs>
              <a:gs pos="93000">
                <a:srgbClr val="E9EEFA"/>
              </a:gs>
              <a:gs pos="100000">
                <a:srgbClr val="F6F8FF"/>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Độc quyền sử dụng sức mạnh bạo lực thông qua lực lượng vũ trang</a:t>
            </a:r>
            <a:endParaRPr sz="2000">
              <a:solidFill>
                <a:schemeClr val="dk1"/>
              </a:solidFill>
              <a:latin typeface="Times New Roman"/>
              <a:ea typeface="Times New Roman"/>
              <a:cs typeface="Times New Roman"/>
              <a:sym typeface="Times New Roman"/>
            </a:endParaRPr>
          </a:p>
        </p:txBody>
      </p:sp>
      <p:sp>
        <p:nvSpPr>
          <p:cNvPr id="793" name="Google Shape;793;p19"/>
          <p:cNvSpPr/>
          <p:nvPr/>
        </p:nvSpPr>
        <p:spPr>
          <a:xfrm>
            <a:off x="7198164" y="1413479"/>
            <a:ext cx="1932986" cy="347348"/>
          </a:xfrm>
          <a:prstGeom prst="roundRect">
            <a:avLst>
              <a:gd fmla="val 16667" name="adj"/>
            </a:avLst>
          </a:prstGeom>
          <a:gradFill>
            <a:gsLst>
              <a:gs pos="0">
                <a:srgbClr val="89A6E3"/>
              </a:gs>
              <a:gs pos="43000">
                <a:srgbClr val="B8CAF3"/>
              </a:gs>
              <a:gs pos="93000">
                <a:srgbClr val="E9EEFA"/>
              </a:gs>
              <a:gs pos="100000">
                <a:srgbClr val="F6F8FF"/>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Lớp người đặc biệt chuyên làm nhiệm vụ quản lý</a:t>
            </a:r>
            <a:endParaRPr sz="2000">
              <a:solidFill>
                <a:schemeClr val="dk1"/>
              </a:solidFill>
              <a:latin typeface="Times New Roman"/>
              <a:ea typeface="Times New Roman"/>
              <a:cs typeface="Times New Roman"/>
              <a:sym typeface="Times New Roman"/>
            </a:endParaRPr>
          </a:p>
        </p:txBody>
      </p:sp>
      <p:pic>
        <p:nvPicPr>
          <p:cNvPr descr="E:\Bai giang\PL DC\Pics\images (40).jpg" id="794" name="Google Shape;794;p19"/>
          <p:cNvPicPr preferRelativeResize="0"/>
          <p:nvPr/>
        </p:nvPicPr>
        <p:blipFill rotWithShape="1">
          <a:blip r:embed="rId3">
            <a:alphaModFix/>
          </a:blip>
          <a:srcRect b="0" l="0" r="0" t="0"/>
          <a:stretch/>
        </p:blipFill>
        <p:spPr>
          <a:xfrm>
            <a:off x="5181600" y="3124200"/>
            <a:ext cx="3524250" cy="1295400"/>
          </a:xfrm>
          <a:prstGeom prst="rect">
            <a:avLst/>
          </a:prstGeom>
          <a:noFill/>
          <a:ln>
            <a:noFill/>
          </a:ln>
        </p:spPr>
      </p:pic>
      <p:pic>
        <p:nvPicPr>
          <p:cNvPr descr="E:\Bai giang\PL DC\Pics\images (41).jpg" id="795" name="Google Shape;795;p19"/>
          <p:cNvPicPr preferRelativeResize="0"/>
          <p:nvPr/>
        </p:nvPicPr>
        <p:blipFill rotWithShape="1">
          <a:blip r:embed="rId4">
            <a:alphaModFix/>
          </a:blip>
          <a:srcRect b="0" l="0" r="0" t="0"/>
          <a:stretch/>
        </p:blipFill>
        <p:spPr>
          <a:xfrm>
            <a:off x="533400" y="2590800"/>
            <a:ext cx="2619375" cy="1743075"/>
          </a:xfrm>
          <a:prstGeom prst="rect">
            <a:avLst/>
          </a:prstGeom>
          <a:noFill/>
          <a:ln>
            <a:noFill/>
          </a:ln>
        </p:spPr>
      </p:pic>
      <p:sp>
        <p:nvSpPr>
          <p:cNvPr id="796" name="Google Shape;796;p19"/>
          <p:cNvSpPr/>
          <p:nvPr/>
        </p:nvSpPr>
        <p:spPr>
          <a:xfrm>
            <a:off x="0" y="0"/>
            <a:ext cx="9144000" cy="609600"/>
          </a:xfrm>
          <a:prstGeom prst="roundRect">
            <a:avLst>
              <a:gd fmla="val 16667" name="adj"/>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2.3.1. THIẾT LẬP QUYỀN LỰC CÔNG CỘNG ĐẶC BIỆT</a:t>
            </a:r>
            <a:endParaRPr sz="1800">
              <a:solidFill>
                <a:schemeClr val="dk1"/>
              </a:solidFill>
              <a:latin typeface="Times New Roman"/>
              <a:ea typeface="Times New Roman"/>
              <a:cs typeface="Times New Roman"/>
              <a:sym typeface="Times New Roman"/>
            </a:endParaRPr>
          </a:p>
        </p:txBody>
      </p:sp>
      <p:sp>
        <p:nvSpPr>
          <p:cNvPr id="797" name="Google Shape;797;p19"/>
          <p:cNvSpPr txBox="1"/>
          <p:nvPr>
            <p:ph idx="11" type="ftr"/>
          </p:nvPr>
        </p:nvSpPr>
        <p:spPr>
          <a:xfrm rot="5400000">
            <a:off x="7467599" y="1722438"/>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798" name="Google Shape;798;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500"/>
                                        <p:tgtEl>
                                          <p:spTgt spid="7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7"/>
                                        </p:tgtEl>
                                        <p:attrNameLst>
                                          <p:attrName>style.visibility</p:attrName>
                                        </p:attrNameLst>
                                      </p:cBhvr>
                                      <p:to>
                                        <p:strVal val="visible"/>
                                      </p:to>
                                    </p:set>
                                    <p:animEffect filter="fade" transition="in">
                                      <p:cBhvr>
                                        <p:cTn dur="500"/>
                                        <p:tgtEl>
                                          <p:spTgt spid="7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2000"/>
                                        <p:tgtEl>
                                          <p:spTgt spid="795"/>
                                        </p:tgtEl>
                                      </p:cBhvr>
                                    </p:animEffect>
                                  </p:childTnLst>
                                </p:cTn>
                              </p:par>
                              <p:par>
                                <p:cTn fill="hold" nodeType="with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2000"/>
                                        <p:tgtEl>
                                          <p:spTgt spid="7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500"/>
                                        <p:tgtEl>
                                          <p:spTgt spid="7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20"/>
          <p:cNvSpPr txBox="1"/>
          <p:nvPr>
            <p:ph type="title"/>
          </p:nvPr>
        </p:nvSpPr>
        <p:spPr>
          <a:xfrm>
            <a:off x="533400" y="304800"/>
            <a:ext cx="8610600" cy="7159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00"/>
              <a:buFont typeface="Times New Roman"/>
              <a:buNone/>
            </a:pPr>
            <a:r>
              <a:rPr lang="en-US" sz="2800">
                <a:latin typeface="Times New Roman"/>
                <a:ea typeface="Times New Roman"/>
                <a:cs typeface="Times New Roman"/>
                <a:sym typeface="Times New Roman"/>
              </a:rPr>
              <a:t>2.3.2. Phân chia và quản lý dân cư theo lãnh thổ </a:t>
            </a:r>
            <a:endParaRPr sz="2800">
              <a:latin typeface="Times New Roman"/>
              <a:ea typeface="Times New Roman"/>
              <a:cs typeface="Times New Roman"/>
              <a:sym typeface="Times New Roman"/>
            </a:endParaRPr>
          </a:p>
        </p:txBody>
      </p:sp>
      <p:sp>
        <p:nvSpPr>
          <p:cNvPr id="804" name="Google Shape;804;p20"/>
          <p:cNvSpPr txBox="1"/>
          <p:nvPr>
            <p:ph idx="1" type="body"/>
          </p:nvPr>
        </p:nvSpPr>
        <p:spPr>
          <a:xfrm>
            <a:off x="457200" y="11430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latin typeface="Times New Roman"/>
                <a:ea typeface="Times New Roman"/>
                <a:cs typeface="Times New Roman"/>
                <a:sym typeface="Times New Roman"/>
              </a:rPr>
              <a:t>Lãnh thổ và dân cư là các </a:t>
            </a:r>
            <a:r>
              <a:rPr lang="en-US" sz="2800" u="sng">
                <a:latin typeface="Times New Roman"/>
                <a:ea typeface="Times New Roman"/>
                <a:cs typeface="Times New Roman"/>
                <a:sym typeface="Times New Roman"/>
              </a:rPr>
              <a:t>yếu tố cấu thành </a:t>
            </a:r>
            <a:r>
              <a:rPr lang="en-US" sz="2800">
                <a:latin typeface="Times New Roman"/>
                <a:ea typeface="Times New Roman"/>
                <a:cs typeface="Times New Roman"/>
                <a:sym typeface="Times New Roman"/>
              </a:rPr>
              <a:t>quốc gia</a:t>
            </a:r>
            <a:endParaRPr sz="2800">
              <a:latin typeface="Times New Roman"/>
              <a:ea typeface="Times New Roman"/>
              <a:cs typeface="Times New Roman"/>
              <a:sym typeface="Times New Roman"/>
            </a:endParaRPr>
          </a:p>
          <a:p>
            <a:pPr indent="-274320" lvl="0" marL="274320" rtl="0" algn="l">
              <a:spcBef>
                <a:spcPts val="560"/>
              </a:spcBef>
              <a:spcAft>
                <a:spcPts val="0"/>
              </a:spcAft>
              <a:buSzPts val="2660"/>
              <a:buChar char="⚫"/>
            </a:pPr>
            <a:r>
              <a:rPr lang="en-US" sz="2800">
                <a:latin typeface="Times New Roman"/>
                <a:ea typeface="Times New Roman"/>
                <a:cs typeface="Times New Roman"/>
                <a:sym typeface="Times New Roman"/>
              </a:rPr>
              <a:t>Nhà nước phân chia dân cư theo lãnh thổ thành các </a:t>
            </a:r>
            <a:r>
              <a:rPr lang="en-US" sz="2800">
                <a:solidFill>
                  <a:srgbClr val="FF0000"/>
                </a:solidFill>
                <a:latin typeface="Times New Roman"/>
                <a:ea typeface="Times New Roman"/>
                <a:cs typeface="Times New Roman"/>
                <a:sym typeface="Times New Roman"/>
              </a:rPr>
              <a:t>đơn vị hành chính</a:t>
            </a:r>
            <a:endParaRPr sz="2800">
              <a:solidFill>
                <a:srgbClr val="FF0000"/>
              </a:solidFill>
              <a:latin typeface="Times New Roman"/>
              <a:ea typeface="Times New Roman"/>
              <a:cs typeface="Times New Roman"/>
              <a:sym typeface="Times New Roman"/>
            </a:endParaRPr>
          </a:p>
          <a:p>
            <a:pPr indent="-274320" lvl="0" marL="274320" rtl="0" algn="l">
              <a:spcBef>
                <a:spcPts val="560"/>
              </a:spcBef>
              <a:spcAft>
                <a:spcPts val="0"/>
              </a:spcAft>
              <a:buSzPts val="2660"/>
              <a:buChar char="⚫"/>
            </a:pPr>
            <a:r>
              <a:rPr lang="en-US" sz="2800">
                <a:latin typeface="Times New Roman"/>
                <a:ea typeface="Times New Roman"/>
                <a:cs typeface="Times New Roman"/>
                <a:sym typeface="Times New Roman"/>
              </a:rPr>
              <a:t>Không phụ thuộc vào chính kiến, huyết thống, nghề nghiệp, giới tính,… mà theo địa bàn cư trú</a:t>
            </a:r>
            <a:endParaRPr sz="2800">
              <a:latin typeface="Times New Roman"/>
              <a:ea typeface="Times New Roman"/>
              <a:cs typeface="Times New Roman"/>
              <a:sym typeface="Times New Roman"/>
            </a:endParaRPr>
          </a:p>
          <a:p>
            <a:pPr indent="-274320" lvl="0" marL="274320" rtl="0" algn="l">
              <a:spcBef>
                <a:spcPts val="560"/>
              </a:spcBef>
              <a:spcAft>
                <a:spcPts val="0"/>
              </a:spcAft>
              <a:buSzPts val="2660"/>
              <a:buChar char="⚫"/>
            </a:pPr>
            <a:r>
              <a:rPr lang="en-US" sz="2800">
                <a:latin typeface="Times New Roman"/>
                <a:ea typeface="Times New Roman"/>
                <a:cs typeface="Times New Roman"/>
                <a:sym typeface="Times New Roman"/>
              </a:rPr>
              <a:t>Khác biệt hoàn toàn với các tổ chức khác trong xã hội</a:t>
            </a:r>
            <a:endParaRPr sz="2800">
              <a:latin typeface="Times New Roman"/>
              <a:ea typeface="Times New Roman"/>
              <a:cs typeface="Times New Roman"/>
              <a:sym typeface="Times New Roman"/>
            </a:endParaRPr>
          </a:p>
          <a:p>
            <a:pPr indent="-274320" lvl="0" marL="274320" rtl="0" algn="l">
              <a:spcBef>
                <a:spcPts val="560"/>
              </a:spcBef>
              <a:spcAft>
                <a:spcPts val="0"/>
              </a:spcAft>
              <a:buSzPts val="2660"/>
              <a:buChar char="⚫"/>
            </a:pPr>
            <a:r>
              <a:rPr lang="en-US" sz="2800">
                <a:latin typeface="Times New Roman"/>
                <a:ea typeface="Times New Roman"/>
                <a:cs typeface="Times New Roman"/>
                <a:sym typeface="Times New Roman"/>
              </a:rPr>
              <a:t>Mối quan hệ giữa người dân và nhà nước: chế định </a:t>
            </a:r>
            <a:r>
              <a:rPr lang="en-US" sz="2800">
                <a:solidFill>
                  <a:srgbClr val="FF0000"/>
                </a:solidFill>
                <a:latin typeface="Times New Roman"/>
                <a:ea typeface="Times New Roman"/>
                <a:cs typeface="Times New Roman"/>
                <a:sym typeface="Times New Roman"/>
              </a:rPr>
              <a:t>quốc tịch</a:t>
            </a:r>
            <a:endParaRPr sz="2800">
              <a:solidFill>
                <a:srgbClr val="FF0000"/>
              </a:solidFill>
              <a:latin typeface="Times New Roman"/>
              <a:ea typeface="Times New Roman"/>
              <a:cs typeface="Times New Roman"/>
              <a:sym typeface="Times New Roman"/>
            </a:endParaRPr>
          </a:p>
        </p:txBody>
      </p:sp>
      <p:pic>
        <p:nvPicPr>
          <p:cNvPr descr="E:\Bai giang\PL DC\Pics\images (35).jpg" id="805" name="Google Shape;805;p20"/>
          <p:cNvPicPr preferRelativeResize="0"/>
          <p:nvPr/>
        </p:nvPicPr>
        <p:blipFill rotWithShape="1">
          <a:blip r:embed="rId3">
            <a:alphaModFix/>
          </a:blip>
          <a:srcRect b="0" l="0" r="0" t="0"/>
          <a:stretch/>
        </p:blipFill>
        <p:spPr>
          <a:xfrm>
            <a:off x="4267200" y="4648200"/>
            <a:ext cx="3657600" cy="1943100"/>
          </a:xfrm>
          <a:prstGeom prst="rect">
            <a:avLst/>
          </a:prstGeom>
          <a:noFill/>
          <a:ln>
            <a:noFill/>
          </a:ln>
        </p:spPr>
      </p:pic>
      <p:sp>
        <p:nvSpPr>
          <p:cNvPr id="806" name="Google Shape;806;p20"/>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807" name="Google Shape;807;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3"/>
                                        </p:tgtEl>
                                        <p:attrNameLst>
                                          <p:attrName>style.visibility</p:attrName>
                                        </p:attrNameLst>
                                      </p:cBhvr>
                                      <p:to>
                                        <p:strVal val="visible"/>
                                      </p:to>
                                    </p:set>
                                    <p:anim calcmode="lin" valueType="num">
                                      <p:cBhvr additive="base">
                                        <p:cTn dur="500"/>
                                        <p:tgtEl>
                                          <p:spTgt spid="8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xEl>
                                              <p:pRg end="0" st="0"/>
                                            </p:txEl>
                                          </p:spTgt>
                                        </p:tgtEl>
                                        <p:attrNameLst>
                                          <p:attrName>style.visibility</p:attrName>
                                        </p:attrNameLst>
                                      </p:cBhvr>
                                      <p:to>
                                        <p:strVal val="visible"/>
                                      </p:to>
                                    </p:set>
                                    <p:animEffect filter="fade" transition="in">
                                      <p:cBhvr>
                                        <p:cTn dur="2000"/>
                                        <p:tgtEl>
                                          <p:spTgt spid="8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xEl>
                                              <p:pRg end="1" st="1"/>
                                            </p:txEl>
                                          </p:spTgt>
                                        </p:tgtEl>
                                        <p:attrNameLst>
                                          <p:attrName>style.visibility</p:attrName>
                                        </p:attrNameLst>
                                      </p:cBhvr>
                                      <p:to>
                                        <p:strVal val="visible"/>
                                      </p:to>
                                    </p:set>
                                    <p:animEffect filter="fade" transition="in">
                                      <p:cBhvr>
                                        <p:cTn dur="2000"/>
                                        <p:tgtEl>
                                          <p:spTgt spid="8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xEl>
                                              <p:pRg end="2" st="2"/>
                                            </p:txEl>
                                          </p:spTgt>
                                        </p:tgtEl>
                                        <p:attrNameLst>
                                          <p:attrName>style.visibility</p:attrName>
                                        </p:attrNameLst>
                                      </p:cBhvr>
                                      <p:to>
                                        <p:strVal val="visible"/>
                                      </p:to>
                                    </p:set>
                                    <p:animEffect filter="fade" transition="in">
                                      <p:cBhvr>
                                        <p:cTn dur="2000"/>
                                        <p:tgtEl>
                                          <p:spTgt spid="8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xEl>
                                              <p:pRg end="3" st="3"/>
                                            </p:txEl>
                                          </p:spTgt>
                                        </p:tgtEl>
                                        <p:attrNameLst>
                                          <p:attrName>style.visibility</p:attrName>
                                        </p:attrNameLst>
                                      </p:cBhvr>
                                      <p:to>
                                        <p:strVal val="visible"/>
                                      </p:to>
                                    </p:set>
                                    <p:animEffect filter="fade" transition="in">
                                      <p:cBhvr>
                                        <p:cTn dur="2000"/>
                                        <p:tgtEl>
                                          <p:spTgt spid="8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xEl>
                                              <p:pRg end="4" st="4"/>
                                            </p:txEl>
                                          </p:spTgt>
                                        </p:tgtEl>
                                        <p:attrNameLst>
                                          <p:attrName>style.visibility</p:attrName>
                                        </p:attrNameLst>
                                      </p:cBhvr>
                                      <p:to>
                                        <p:strVal val="visible"/>
                                      </p:to>
                                    </p:set>
                                    <p:animEffect filter="fade" transition="in">
                                      <p:cBhvr>
                                        <p:cTn dur="2000"/>
                                        <p:tgtEl>
                                          <p:spTgt spid="80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21"/>
          <p:cNvSpPr txBox="1"/>
          <p:nvPr>
            <p:ph type="title"/>
          </p:nvPr>
        </p:nvSpPr>
        <p:spPr>
          <a:xfrm>
            <a:off x="381000" y="228600"/>
            <a:ext cx="8229600" cy="563562"/>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Times New Roman"/>
              <a:buNone/>
            </a:pPr>
            <a:r>
              <a:rPr lang="en-US">
                <a:solidFill>
                  <a:srgbClr val="FF0000"/>
                </a:solidFill>
                <a:latin typeface="Times New Roman"/>
                <a:ea typeface="Times New Roman"/>
                <a:cs typeface="Times New Roman"/>
                <a:sym typeface="Times New Roman"/>
              </a:rPr>
              <a:t>Lãnh thổ Việt Nam</a:t>
            </a:r>
            <a:endParaRPr>
              <a:solidFill>
                <a:srgbClr val="FF0000"/>
              </a:solidFill>
              <a:latin typeface="Times New Roman"/>
              <a:ea typeface="Times New Roman"/>
              <a:cs typeface="Times New Roman"/>
              <a:sym typeface="Times New Roman"/>
            </a:endParaRPr>
          </a:p>
        </p:txBody>
      </p:sp>
      <p:sp>
        <p:nvSpPr>
          <p:cNvPr id="813" name="Google Shape;813;p21"/>
          <p:cNvSpPr txBox="1"/>
          <p:nvPr>
            <p:ph idx="1" type="body"/>
          </p:nvPr>
        </p:nvSpPr>
        <p:spPr>
          <a:xfrm>
            <a:off x="228600" y="990600"/>
            <a:ext cx="8458200" cy="5135563"/>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latin typeface="Times New Roman"/>
              <a:ea typeface="Times New Roman"/>
              <a:cs typeface="Times New Roman"/>
              <a:sym typeface="Times New Roman"/>
            </a:endParaRPr>
          </a:p>
          <a:p>
            <a:pPr indent="-274320" lvl="0" marL="274320" rtl="0" algn="l">
              <a:spcBef>
                <a:spcPts val="520"/>
              </a:spcBef>
              <a:spcAft>
                <a:spcPts val="0"/>
              </a:spcAft>
              <a:buSzPts val="2470"/>
              <a:buChar char="⚫"/>
            </a:pPr>
            <a:r>
              <a:rPr lang="en-US">
                <a:latin typeface="Times New Roman"/>
                <a:ea typeface="Times New Roman"/>
                <a:cs typeface="Times New Roman"/>
                <a:sym typeface="Times New Roman"/>
              </a:rPr>
              <a:t>Việt Nam: 58 tỉnh và 5 thành phố trực thuộc trung ương.</a:t>
            </a:r>
            <a:endParaRPr/>
          </a:p>
          <a:p>
            <a:pPr indent="-117475" lvl="0" marL="274320" rtl="0" algn="l">
              <a:spcBef>
                <a:spcPts val="520"/>
              </a:spcBef>
              <a:spcAft>
                <a:spcPts val="0"/>
              </a:spcAft>
              <a:buSzPts val="2470"/>
              <a:buNone/>
            </a:pPr>
            <a:r>
              <a:t/>
            </a:r>
            <a:endParaRPr>
              <a:latin typeface="Times New Roman"/>
              <a:ea typeface="Times New Roman"/>
              <a:cs typeface="Times New Roman"/>
              <a:sym typeface="Times New Roman"/>
            </a:endParaRPr>
          </a:p>
          <a:p>
            <a:pPr indent="-274320" lvl="0" marL="274320" rtl="0" algn="l">
              <a:spcBef>
                <a:spcPts val="520"/>
              </a:spcBef>
              <a:spcAft>
                <a:spcPts val="0"/>
              </a:spcAft>
              <a:buSzPts val="2470"/>
              <a:buChar char="⚫"/>
            </a:pPr>
            <a:r>
              <a:rPr lang="en-US">
                <a:latin typeface="Times New Roman"/>
                <a:ea typeface="Times New Roman"/>
                <a:cs typeface="Times New Roman"/>
                <a:sym typeface="Times New Roman"/>
              </a:rPr>
              <a:t>Lưu ý: Vấn đề điều chỉnh địa giới hành chính.</a:t>
            </a:r>
            <a:endParaRPr/>
          </a:p>
          <a:p>
            <a:pPr indent="-117475" lvl="0" marL="274320" rtl="0" algn="l">
              <a:spcBef>
                <a:spcPts val="520"/>
              </a:spcBef>
              <a:spcAft>
                <a:spcPts val="0"/>
              </a:spcAft>
              <a:buSzPts val="2470"/>
              <a:buNone/>
            </a:pPr>
            <a:r>
              <a:t/>
            </a:r>
            <a:endParaRPr/>
          </a:p>
        </p:txBody>
      </p:sp>
      <p:pic>
        <p:nvPicPr>
          <p:cNvPr descr="E:\Bai giang\PL DC\Pics\images (42).jpg" id="814" name="Google Shape;814;p21"/>
          <p:cNvPicPr preferRelativeResize="0"/>
          <p:nvPr/>
        </p:nvPicPr>
        <p:blipFill rotWithShape="1">
          <a:blip r:embed="rId3">
            <a:alphaModFix/>
          </a:blip>
          <a:srcRect b="0" l="0" r="0" t="0"/>
          <a:stretch/>
        </p:blipFill>
        <p:spPr>
          <a:xfrm>
            <a:off x="4724400" y="1066800"/>
            <a:ext cx="4419600" cy="5029200"/>
          </a:xfrm>
          <a:prstGeom prst="rect">
            <a:avLst/>
          </a:prstGeom>
          <a:noFill/>
          <a:ln>
            <a:noFill/>
          </a:ln>
        </p:spPr>
      </p:pic>
      <p:pic>
        <p:nvPicPr>
          <p:cNvPr descr="E:\Bai giang\PL DC\Pics\images (44).jpg" id="815" name="Google Shape;815;p21"/>
          <p:cNvPicPr preferRelativeResize="0"/>
          <p:nvPr/>
        </p:nvPicPr>
        <p:blipFill rotWithShape="1">
          <a:blip r:embed="rId4">
            <a:alphaModFix/>
          </a:blip>
          <a:srcRect b="0" l="0" r="0" t="0"/>
          <a:stretch/>
        </p:blipFill>
        <p:spPr>
          <a:xfrm>
            <a:off x="457200" y="4724400"/>
            <a:ext cx="3514725" cy="1295400"/>
          </a:xfrm>
          <a:prstGeom prst="rect">
            <a:avLst/>
          </a:prstGeom>
          <a:noFill/>
          <a:ln>
            <a:noFill/>
          </a:ln>
        </p:spPr>
      </p:pic>
      <p:sp>
        <p:nvSpPr>
          <p:cNvPr id="816" name="Google Shape;816;p21"/>
          <p:cNvSpPr txBox="1"/>
          <p:nvPr>
            <p:ph idx="11" type="ftr"/>
          </p:nvPr>
        </p:nvSpPr>
        <p:spPr>
          <a:xfrm>
            <a:off x="5791200" y="15875"/>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817" name="Google Shape;817;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2000"/>
                                        <p:tgtEl>
                                          <p:spTgt spid="8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22"/>
          <p:cNvSpPr txBox="1"/>
          <p:nvPr>
            <p:ph type="title"/>
          </p:nvPr>
        </p:nvSpPr>
        <p:spPr>
          <a:xfrm>
            <a:off x="381000" y="0"/>
            <a:ext cx="8229600" cy="7921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Sơ đồ bộ máy hành chính</a:t>
            </a:r>
            <a:endParaRPr sz="3200">
              <a:latin typeface="Times New Roman"/>
              <a:ea typeface="Times New Roman"/>
              <a:cs typeface="Times New Roman"/>
              <a:sym typeface="Times New Roman"/>
            </a:endParaRPr>
          </a:p>
        </p:txBody>
      </p:sp>
      <p:sp>
        <p:nvSpPr>
          <p:cNvPr id="823" name="Google Shape;823;p22"/>
          <p:cNvSpPr txBox="1"/>
          <p:nvPr>
            <p:ph idx="1" type="body"/>
          </p:nvPr>
        </p:nvSpPr>
        <p:spPr>
          <a:xfrm>
            <a:off x="457200" y="762000"/>
            <a:ext cx="8229600" cy="5715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sp>
        <p:nvSpPr>
          <p:cNvPr id="824" name="Google Shape;824;p22"/>
          <p:cNvSpPr/>
          <p:nvPr/>
        </p:nvSpPr>
        <p:spPr>
          <a:xfrm>
            <a:off x="3124200" y="914400"/>
            <a:ext cx="2895600" cy="9144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Nhà nước Việt Nam</a:t>
            </a:r>
            <a:endParaRPr sz="2400">
              <a:solidFill>
                <a:schemeClr val="lt1"/>
              </a:solidFill>
              <a:latin typeface="Times New Roman"/>
              <a:ea typeface="Times New Roman"/>
              <a:cs typeface="Times New Roman"/>
              <a:sym typeface="Times New Roman"/>
            </a:endParaRPr>
          </a:p>
        </p:txBody>
      </p:sp>
      <p:cxnSp>
        <p:nvCxnSpPr>
          <p:cNvPr id="825" name="Google Shape;825;p22"/>
          <p:cNvCxnSpPr>
            <a:stCxn id="824" idx="2"/>
          </p:cNvCxnSpPr>
          <p:nvPr/>
        </p:nvCxnSpPr>
        <p:spPr>
          <a:xfrm flipH="1">
            <a:off x="2590800" y="1828800"/>
            <a:ext cx="1981200" cy="609600"/>
          </a:xfrm>
          <a:prstGeom prst="straightConnector1">
            <a:avLst/>
          </a:prstGeom>
          <a:noFill/>
          <a:ln cap="flat" cmpd="sng" w="9525">
            <a:solidFill>
              <a:srgbClr val="075192"/>
            </a:solidFill>
            <a:prstDash val="solid"/>
            <a:round/>
            <a:headEnd len="sm" w="sm" type="none"/>
            <a:tailEnd len="med" w="med" type="stealth"/>
          </a:ln>
        </p:spPr>
      </p:cxnSp>
      <p:cxnSp>
        <p:nvCxnSpPr>
          <p:cNvPr id="826" name="Google Shape;826;p22"/>
          <p:cNvCxnSpPr>
            <a:stCxn id="824" idx="2"/>
          </p:cNvCxnSpPr>
          <p:nvPr/>
        </p:nvCxnSpPr>
        <p:spPr>
          <a:xfrm>
            <a:off x="4572000" y="1828800"/>
            <a:ext cx="1981200" cy="533400"/>
          </a:xfrm>
          <a:prstGeom prst="straightConnector1">
            <a:avLst/>
          </a:prstGeom>
          <a:noFill/>
          <a:ln cap="flat" cmpd="sng" w="9525">
            <a:solidFill>
              <a:srgbClr val="075192"/>
            </a:solidFill>
            <a:prstDash val="solid"/>
            <a:round/>
            <a:headEnd len="sm" w="sm" type="none"/>
            <a:tailEnd len="med" w="med" type="stealth"/>
          </a:ln>
        </p:spPr>
      </p:cxnSp>
      <p:sp>
        <p:nvSpPr>
          <p:cNvPr id="827" name="Google Shape;827;p22"/>
          <p:cNvSpPr/>
          <p:nvPr/>
        </p:nvSpPr>
        <p:spPr>
          <a:xfrm>
            <a:off x="1066800" y="2438400"/>
            <a:ext cx="2971800" cy="914400"/>
          </a:xfrm>
          <a:prstGeom prst="roundRect">
            <a:avLst>
              <a:gd fmla="val 16667" name="adj"/>
            </a:avLst>
          </a:prstGeom>
          <a:gradFill>
            <a:gsLst>
              <a:gs pos="0">
                <a:srgbClr val="87C2F1"/>
              </a:gs>
              <a:gs pos="43000">
                <a:srgbClr val="B6DAFC"/>
              </a:gs>
              <a:gs pos="93000">
                <a:srgbClr val="E8F2FE"/>
              </a:gs>
              <a:gs pos="100000">
                <a:srgbClr val="F6FBFF"/>
              </a:gs>
            </a:gsLst>
            <a:path path="circle">
              <a:fillToRect b="50%" l="50%" r="50%" t="50%"/>
            </a:path>
            <a:tileRect/>
          </a:gradFill>
          <a:ln cap="flat" cmpd="sng" w="9525">
            <a:solidFill>
              <a:srgbClr val="0073A0"/>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Thành phố trực thuộc trung ương</a:t>
            </a:r>
            <a:endParaRPr sz="2400">
              <a:solidFill>
                <a:schemeClr val="dk1"/>
              </a:solidFill>
              <a:latin typeface="Times New Roman"/>
              <a:ea typeface="Times New Roman"/>
              <a:cs typeface="Times New Roman"/>
              <a:sym typeface="Times New Roman"/>
            </a:endParaRPr>
          </a:p>
        </p:txBody>
      </p:sp>
      <p:sp>
        <p:nvSpPr>
          <p:cNvPr id="828" name="Google Shape;828;p22"/>
          <p:cNvSpPr/>
          <p:nvPr/>
        </p:nvSpPr>
        <p:spPr>
          <a:xfrm>
            <a:off x="5181600" y="2438400"/>
            <a:ext cx="3048000" cy="914400"/>
          </a:xfrm>
          <a:prstGeom prst="roundRect">
            <a:avLst>
              <a:gd fmla="val 16667" name="adj"/>
            </a:avLst>
          </a:prstGeom>
          <a:gradFill>
            <a:gsLst>
              <a:gs pos="0">
                <a:srgbClr val="87C2F1"/>
              </a:gs>
              <a:gs pos="43000">
                <a:srgbClr val="B6DAFC"/>
              </a:gs>
              <a:gs pos="93000">
                <a:srgbClr val="E8F2FE"/>
              </a:gs>
              <a:gs pos="100000">
                <a:srgbClr val="F6FBFF"/>
              </a:gs>
            </a:gsLst>
            <a:path path="circle">
              <a:fillToRect b="50%" l="50%" r="50%" t="50%"/>
            </a:path>
            <a:tileRect/>
          </a:gradFill>
          <a:ln cap="flat" cmpd="sng" w="9525">
            <a:solidFill>
              <a:srgbClr val="0073A0"/>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Tỉnh</a:t>
            </a:r>
            <a:endParaRPr sz="2400">
              <a:solidFill>
                <a:schemeClr val="dk1"/>
              </a:solidFill>
              <a:latin typeface="Times New Roman"/>
              <a:ea typeface="Times New Roman"/>
              <a:cs typeface="Times New Roman"/>
              <a:sym typeface="Times New Roman"/>
            </a:endParaRPr>
          </a:p>
        </p:txBody>
      </p:sp>
      <p:sp>
        <p:nvSpPr>
          <p:cNvPr id="829" name="Google Shape;829;p22"/>
          <p:cNvSpPr/>
          <p:nvPr/>
        </p:nvSpPr>
        <p:spPr>
          <a:xfrm>
            <a:off x="457200" y="3810000"/>
            <a:ext cx="1752600" cy="1066800"/>
          </a:xfrm>
          <a:prstGeom prst="roundRect">
            <a:avLst>
              <a:gd fmla="val 16667" name="adj"/>
            </a:avLst>
          </a:prstGeom>
          <a:gradFill>
            <a:gsLst>
              <a:gs pos="0">
                <a:srgbClr val="89A6E3"/>
              </a:gs>
              <a:gs pos="43000">
                <a:srgbClr val="B8CAF3"/>
              </a:gs>
              <a:gs pos="93000">
                <a:srgbClr val="E9EEFA"/>
              </a:gs>
              <a:gs pos="100000">
                <a:srgbClr val="F6F8FF"/>
              </a:gs>
            </a:gsLst>
            <a:path path="circle">
              <a:fillToRect b="50%" l="50%" r="50%" t="50%"/>
            </a:path>
            <a:tileRect/>
          </a:gradFill>
          <a:ln cap="flat" cmpd="sng" w="9525">
            <a:solidFill>
              <a:srgbClr val="075192"/>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Quận</a:t>
            </a:r>
            <a:endParaRPr sz="2400">
              <a:solidFill>
                <a:schemeClr val="dk1"/>
              </a:solidFill>
              <a:latin typeface="Times New Roman"/>
              <a:ea typeface="Times New Roman"/>
              <a:cs typeface="Times New Roman"/>
              <a:sym typeface="Times New Roman"/>
            </a:endParaRPr>
          </a:p>
        </p:txBody>
      </p:sp>
      <p:sp>
        <p:nvSpPr>
          <p:cNvPr id="830" name="Google Shape;830;p22"/>
          <p:cNvSpPr/>
          <p:nvPr/>
        </p:nvSpPr>
        <p:spPr>
          <a:xfrm>
            <a:off x="2743200" y="3810000"/>
            <a:ext cx="1752600" cy="1143000"/>
          </a:xfrm>
          <a:prstGeom prst="roundRect">
            <a:avLst>
              <a:gd fmla="val 16667" name="adj"/>
            </a:avLst>
          </a:prstGeom>
          <a:solidFill>
            <a:schemeClr val="accent5"/>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Thị xã</a:t>
            </a:r>
            <a:endParaRPr sz="2400">
              <a:solidFill>
                <a:schemeClr val="lt1"/>
              </a:solidFill>
              <a:latin typeface="Times New Roman"/>
              <a:ea typeface="Times New Roman"/>
              <a:cs typeface="Times New Roman"/>
              <a:sym typeface="Times New Roman"/>
            </a:endParaRPr>
          </a:p>
        </p:txBody>
      </p:sp>
      <p:sp>
        <p:nvSpPr>
          <p:cNvPr id="831" name="Google Shape;831;p22"/>
          <p:cNvSpPr/>
          <p:nvPr/>
        </p:nvSpPr>
        <p:spPr>
          <a:xfrm>
            <a:off x="4800600" y="3810000"/>
            <a:ext cx="1752600" cy="1143000"/>
          </a:xfrm>
          <a:prstGeom prst="roundRect">
            <a:avLst>
              <a:gd fmla="val 16667" name="adj"/>
            </a:avLst>
          </a:prstGeom>
          <a:solidFill>
            <a:schemeClr val="accent5"/>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Huyện</a:t>
            </a:r>
            <a:endParaRPr sz="2400">
              <a:solidFill>
                <a:schemeClr val="lt1"/>
              </a:solidFill>
              <a:latin typeface="Times New Roman"/>
              <a:ea typeface="Times New Roman"/>
              <a:cs typeface="Times New Roman"/>
              <a:sym typeface="Times New Roman"/>
            </a:endParaRPr>
          </a:p>
        </p:txBody>
      </p:sp>
      <p:sp>
        <p:nvSpPr>
          <p:cNvPr id="832" name="Google Shape;832;p22"/>
          <p:cNvSpPr/>
          <p:nvPr/>
        </p:nvSpPr>
        <p:spPr>
          <a:xfrm>
            <a:off x="6858000" y="3810000"/>
            <a:ext cx="2286000" cy="990600"/>
          </a:xfrm>
          <a:prstGeom prst="roundRect">
            <a:avLst>
              <a:gd fmla="val 16667" name="adj"/>
            </a:avLst>
          </a:prstGeom>
          <a:gradFill>
            <a:gsLst>
              <a:gs pos="0">
                <a:srgbClr val="89A6E3"/>
              </a:gs>
              <a:gs pos="43000">
                <a:srgbClr val="B8CAF3"/>
              </a:gs>
              <a:gs pos="93000">
                <a:srgbClr val="E9EEFA"/>
              </a:gs>
              <a:gs pos="100000">
                <a:srgbClr val="F6F8FF"/>
              </a:gs>
            </a:gsLst>
            <a:path path="circle">
              <a:fillToRect b="50%" l="50%" r="50%" t="50%"/>
            </a:path>
            <a:tileRect/>
          </a:gradFill>
          <a:ln cap="flat" cmpd="sng" w="9525">
            <a:solidFill>
              <a:srgbClr val="075192"/>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Thành phố trực thuộc tỉnh</a:t>
            </a:r>
            <a:endParaRPr sz="2400">
              <a:solidFill>
                <a:schemeClr val="dk1"/>
              </a:solidFill>
              <a:latin typeface="Times New Roman"/>
              <a:ea typeface="Times New Roman"/>
              <a:cs typeface="Times New Roman"/>
              <a:sym typeface="Times New Roman"/>
            </a:endParaRPr>
          </a:p>
        </p:txBody>
      </p:sp>
      <p:sp>
        <p:nvSpPr>
          <p:cNvPr id="833" name="Google Shape;833;p22"/>
          <p:cNvSpPr/>
          <p:nvPr/>
        </p:nvSpPr>
        <p:spPr>
          <a:xfrm>
            <a:off x="1676400" y="5486400"/>
            <a:ext cx="1600200" cy="914400"/>
          </a:xfrm>
          <a:prstGeom prst="roundRect">
            <a:avLst>
              <a:gd fmla="val 16667" name="adj"/>
            </a:avLst>
          </a:prstGeom>
          <a:gradFill>
            <a:gsLst>
              <a:gs pos="0">
                <a:srgbClr val="ABE49C"/>
              </a:gs>
              <a:gs pos="43000">
                <a:srgbClr val="CCF2C2"/>
              </a:gs>
              <a:gs pos="93000">
                <a:srgbClr val="EFFAEC"/>
              </a:gs>
              <a:gs pos="100000">
                <a:srgbClr val="F7FFF7"/>
              </a:gs>
            </a:gsLst>
            <a:path path="circle">
              <a:fillToRect b="50%" l="50%" r="50%" t="50%"/>
            </a:path>
            <a:tileRect/>
          </a:gradFill>
          <a:ln cap="flat" cmpd="sng" w="9525">
            <a:solidFill>
              <a:srgbClr val="599445"/>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Phường</a:t>
            </a:r>
            <a:endParaRPr sz="2400">
              <a:solidFill>
                <a:schemeClr val="dk1"/>
              </a:solidFill>
              <a:latin typeface="Times New Roman"/>
              <a:ea typeface="Times New Roman"/>
              <a:cs typeface="Times New Roman"/>
              <a:sym typeface="Times New Roman"/>
            </a:endParaRPr>
          </a:p>
        </p:txBody>
      </p:sp>
      <p:sp>
        <p:nvSpPr>
          <p:cNvPr id="834" name="Google Shape;834;p22"/>
          <p:cNvSpPr/>
          <p:nvPr/>
        </p:nvSpPr>
        <p:spPr>
          <a:xfrm>
            <a:off x="4038600" y="5486400"/>
            <a:ext cx="1600200" cy="990600"/>
          </a:xfrm>
          <a:prstGeom prst="roundRect">
            <a:avLst>
              <a:gd fmla="val 16667" name="adj"/>
            </a:avLst>
          </a:prstGeom>
          <a:solidFill>
            <a:schemeClr val="accent2"/>
          </a:solidFill>
          <a:ln cap="flat" cmpd="sng" w="38100">
            <a:solidFill>
              <a:schemeClr val="lt1"/>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Xã</a:t>
            </a:r>
            <a:endParaRPr sz="2400">
              <a:solidFill>
                <a:schemeClr val="lt1"/>
              </a:solidFill>
              <a:latin typeface="Times New Roman"/>
              <a:ea typeface="Times New Roman"/>
              <a:cs typeface="Times New Roman"/>
              <a:sym typeface="Times New Roman"/>
            </a:endParaRPr>
          </a:p>
        </p:txBody>
      </p:sp>
      <p:sp>
        <p:nvSpPr>
          <p:cNvPr id="835" name="Google Shape;835;p22"/>
          <p:cNvSpPr/>
          <p:nvPr/>
        </p:nvSpPr>
        <p:spPr>
          <a:xfrm>
            <a:off x="6172200" y="5486400"/>
            <a:ext cx="1676400" cy="914400"/>
          </a:xfrm>
          <a:prstGeom prst="roundRect">
            <a:avLst>
              <a:gd fmla="val 16667" name="adj"/>
            </a:avLst>
          </a:prstGeom>
          <a:gradFill>
            <a:gsLst>
              <a:gs pos="0">
                <a:srgbClr val="ABE49C"/>
              </a:gs>
              <a:gs pos="43000">
                <a:srgbClr val="CCF2C2"/>
              </a:gs>
              <a:gs pos="93000">
                <a:srgbClr val="EFFAEC"/>
              </a:gs>
              <a:gs pos="100000">
                <a:srgbClr val="F7FFF7"/>
              </a:gs>
            </a:gsLst>
            <a:path path="circle">
              <a:fillToRect b="50%" l="50%" r="50%" t="50%"/>
            </a:path>
            <a:tileRect/>
          </a:gradFill>
          <a:ln cap="flat" cmpd="sng" w="9525">
            <a:solidFill>
              <a:srgbClr val="599445"/>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Thị trấn</a:t>
            </a:r>
            <a:endParaRPr sz="2400">
              <a:solidFill>
                <a:schemeClr val="dk1"/>
              </a:solidFill>
              <a:latin typeface="Times New Roman"/>
              <a:ea typeface="Times New Roman"/>
              <a:cs typeface="Times New Roman"/>
              <a:sym typeface="Times New Roman"/>
            </a:endParaRPr>
          </a:p>
        </p:txBody>
      </p:sp>
      <p:cxnSp>
        <p:nvCxnSpPr>
          <p:cNvPr id="836" name="Google Shape;836;p22"/>
          <p:cNvCxnSpPr>
            <a:stCxn id="827" idx="2"/>
          </p:cNvCxnSpPr>
          <p:nvPr/>
        </p:nvCxnSpPr>
        <p:spPr>
          <a:xfrm flipH="1">
            <a:off x="1524000" y="3352800"/>
            <a:ext cx="1028700" cy="381000"/>
          </a:xfrm>
          <a:prstGeom prst="straightConnector1">
            <a:avLst/>
          </a:prstGeom>
          <a:noFill/>
          <a:ln cap="flat" cmpd="sng" w="9525">
            <a:solidFill>
              <a:srgbClr val="075192"/>
            </a:solidFill>
            <a:prstDash val="solid"/>
            <a:round/>
            <a:headEnd len="sm" w="sm" type="none"/>
            <a:tailEnd len="med" w="med" type="stealth"/>
          </a:ln>
        </p:spPr>
      </p:cxnSp>
      <p:cxnSp>
        <p:nvCxnSpPr>
          <p:cNvPr id="837" name="Google Shape;837;p22"/>
          <p:cNvCxnSpPr>
            <a:stCxn id="827" idx="2"/>
          </p:cNvCxnSpPr>
          <p:nvPr/>
        </p:nvCxnSpPr>
        <p:spPr>
          <a:xfrm>
            <a:off x="2552700" y="3352800"/>
            <a:ext cx="1028700" cy="381000"/>
          </a:xfrm>
          <a:prstGeom prst="straightConnector1">
            <a:avLst/>
          </a:prstGeom>
          <a:noFill/>
          <a:ln cap="flat" cmpd="sng" w="9525">
            <a:solidFill>
              <a:srgbClr val="075192"/>
            </a:solidFill>
            <a:prstDash val="solid"/>
            <a:round/>
            <a:headEnd len="sm" w="sm" type="none"/>
            <a:tailEnd len="med" w="med" type="stealth"/>
          </a:ln>
        </p:spPr>
      </p:cxnSp>
      <p:cxnSp>
        <p:nvCxnSpPr>
          <p:cNvPr id="838" name="Google Shape;838;p22"/>
          <p:cNvCxnSpPr>
            <a:stCxn id="828" idx="2"/>
          </p:cNvCxnSpPr>
          <p:nvPr/>
        </p:nvCxnSpPr>
        <p:spPr>
          <a:xfrm flipH="1">
            <a:off x="5791200" y="3352800"/>
            <a:ext cx="914400" cy="457200"/>
          </a:xfrm>
          <a:prstGeom prst="straightConnector1">
            <a:avLst/>
          </a:prstGeom>
          <a:noFill/>
          <a:ln cap="flat" cmpd="sng" w="9525">
            <a:solidFill>
              <a:srgbClr val="075192"/>
            </a:solidFill>
            <a:prstDash val="solid"/>
            <a:round/>
            <a:headEnd len="sm" w="sm" type="none"/>
            <a:tailEnd len="med" w="med" type="stealth"/>
          </a:ln>
        </p:spPr>
      </p:cxnSp>
      <p:cxnSp>
        <p:nvCxnSpPr>
          <p:cNvPr id="839" name="Google Shape;839;p22"/>
          <p:cNvCxnSpPr>
            <a:stCxn id="828" idx="2"/>
          </p:cNvCxnSpPr>
          <p:nvPr/>
        </p:nvCxnSpPr>
        <p:spPr>
          <a:xfrm>
            <a:off x="6705600" y="3352800"/>
            <a:ext cx="1066800" cy="381000"/>
          </a:xfrm>
          <a:prstGeom prst="straightConnector1">
            <a:avLst/>
          </a:prstGeom>
          <a:noFill/>
          <a:ln cap="flat" cmpd="sng" w="9525">
            <a:solidFill>
              <a:srgbClr val="075192"/>
            </a:solidFill>
            <a:prstDash val="solid"/>
            <a:round/>
            <a:headEnd len="sm" w="sm" type="none"/>
            <a:tailEnd len="med" w="med" type="stealth"/>
          </a:ln>
        </p:spPr>
      </p:cxnSp>
      <p:cxnSp>
        <p:nvCxnSpPr>
          <p:cNvPr id="840" name="Google Shape;840;p22"/>
          <p:cNvCxnSpPr/>
          <p:nvPr/>
        </p:nvCxnSpPr>
        <p:spPr>
          <a:xfrm>
            <a:off x="2514600" y="3352800"/>
            <a:ext cx="2895600" cy="381000"/>
          </a:xfrm>
          <a:prstGeom prst="straightConnector1">
            <a:avLst/>
          </a:prstGeom>
          <a:noFill/>
          <a:ln cap="flat" cmpd="sng" w="9525">
            <a:solidFill>
              <a:srgbClr val="075192"/>
            </a:solidFill>
            <a:prstDash val="solid"/>
            <a:round/>
            <a:headEnd len="sm" w="sm" type="none"/>
            <a:tailEnd len="med" w="med" type="stealth"/>
          </a:ln>
        </p:spPr>
      </p:cxnSp>
      <p:cxnSp>
        <p:nvCxnSpPr>
          <p:cNvPr id="841" name="Google Shape;841;p22"/>
          <p:cNvCxnSpPr>
            <a:stCxn id="828" idx="2"/>
          </p:cNvCxnSpPr>
          <p:nvPr/>
        </p:nvCxnSpPr>
        <p:spPr>
          <a:xfrm flipH="1">
            <a:off x="3810000" y="3352800"/>
            <a:ext cx="2895600" cy="381000"/>
          </a:xfrm>
          <a:prstGeom prst="straightConnector1">
            <a:avLst/>
          </a:prstGeom>
          <a:noFill/>
          <a:ln cap="flat" cmpd="sng" w="9525">
            <a:solidFill>
              <a:srgbClr val="075192"/>
            </a:solidFill>
            <a:prstDash val="solid"/>
            <a:round/>
            <a:headEnd len="sm" w="sm" type="none"/>
            <a:tailEnd len="med" w="med" type="stealth"/>
          </a:ln>
        </p:spPr>
      </p:cxnSp>
      <p:cxnSp>
        <p:nvCxnSpPr>
          <p:cNvPr id="842" name="Google Shape;842;p22"/>
          <p:cNvCxnSpPr>
            <a:stCxn id="829" idx="2"/>
          </p:cNvCxnSpPr>
          <p:nvPr/>
        </p:nvCxnSpPr>
        <p:spPr>
          <a:xfrm>
            <a:off x="1333500" y="4876800"/>
            <a:ext cx="1028700" cy="533400"/>
          </a:xfrm>
          <a:prstGeom prst="straightConnector1">
            <a:avLst/>
          </a:prstGeom>
          <a:noFill/>
          <a:ln cap="flat" cmpd="sng" w="9525">
            <a:solidFill>
              <a:srgbClr val="075192"/>
            </a:solidFill>
            <a:prstDash val="solid"/>
            <a:round/>
            <a:headEnd len="sm" w="sm" type="none"/>
            <a:tailEnd len="med" w="med" type="stealth"/>
          </a:ln>
        </p:spPr>
      </p:cxnSp>
      <p:cxnSp>
        <p:nvCxnSpPr>
          <p:cNvPr id="843" name="Google Shape;843;p22"/>
          <p:cNvCxnSpPr>
            <a:stCxn id="830" idx="2"/>
            <a:endCxn id="833" idx="0"/>
          </p:cNvCxnSpPr>
          <p:nvPr/>
        </p:nvCxnSpPr>
        <p:spPr>
          <a:xfrm flipH="1">
            <a:off x="2476500" y="4953000"/>
            <a:ext cx="1143000" cy="533400"/>
          </a:xfrm>
          <a:prstGeom prst="straightConnector1">
            <a:avLst/>
          </a:prstGeom>
          <a:noFill/>
          <a:ln cap="flat" cmpd="sng" w="9525">
            <a:solidFill>
              <a:srgbClr val="075192"/>
            </a:solidFill>
            <a:prstDash val="solid"/>
            <a:round/>
            <a:headEnd len="sm" w="sm" type="none"/>
            <a:tailEnd len="med" w="med" type="stealth"/>
          </a:ln>
        </p:spPr>
      </p:cxnSp>
      <p:cxnSp>
        <p:nvCxnSpPr>
          <p:cNvPr id="844" name="Google Shape;844;p22"/>
          <p:cNvCxnSpPr>
            <a:stCxn id="830" idx="2"/>
            <a:endCxn id="834" idx="0"/>
          </p:cNvCxnSpPr>
          <p:nvPr/>
        </p:nvCxnSpPr>
        <p:spPr>
          <a:xfrm>
            <a:off x="3619500" y="4953000"/>
            <a:ext cx="1219200" cy="533400"/>
          </a:xfrm>
          <a:prstGeom prst="straightConnector1">
            <a:avLst/>
          </a:prstGeom>
          <a:noFill/>
          <a:ln cap="flat" cmpd="sng" w="9525">
            <a:solidFill>
              <a:srgbClr val="075192"/>
            </a:solidFill>
            <a:prstDash val="solid"/>
            <a:round/>
            <a:headEnd len="sm" w="sm" type="none"/>
            <a:tailEnd len="med" w="med" type="stealth"/>
          </a:ln>
        </p:spPr>
      </p:cxnSp>
      <p:cxnSp>
        <p:nvCxnSpPr>
          <p:cNvPr id="845" name="Google Shape;845;p22"/>
          <p:cNvCxnSpPr>
            <a:stCxn id="831" idx="2"/>
          </p:cNvCxnSpPr>
          <p:nvPr/>
        </p:nvCxnSpPr>
        <p:spPr>
          <a:xfrm flipH="1">
            <a:off x="4953000" y="4953000"/>
            <a:ext cx="723900" cy="457200"/>
          </a:xfrm>
          <a:prstGeom prst="straightConnector1">
            <a:avLst/>
          </a:prstGeom>
          <a:noFill/>
          <a:ln cap="flat" cmpd="sng" w="9525">
            <a:solidFill>
              <a:srgbClr val="075192"/>
            </a:solidFill>
            <a:prstDash val="solid"/>
            <a:round/>
            <a:headEnd len="sm" w="sm" type="none"/>
            <a:tailEnd len="med" w="med" type="stealth"/>
          </a:ln>
        </p:spPr>
      </p:cxnSp>
      <p:cxnSp>
        <p:nvCxnSpPr>
          <p:cNvPr id="846" name="Google Shape;846;p22"/>
          <p:cNvCxnSpPr/>
          <p:nvPr/>
        </p:nvCxnSpPr>
        <p:spPr>
          <a:xfrm>
            <a:off x="5638800" y="4953000"/>
            <a:ext cx="1219200" cy="381000"/>
          </a:xfrm>
          <a:prstGeom prst="straightConnector1">
            <a:avLst/>
          </a:prstGeom>
          <a:noFill/>
          <a:ln cap="flat" cmpd="sng" w="9525">
            <a:solidFill>
              <a:srgbClr val="075192"/>
            </a:solidFill>
            <a:prstDash val="solid"/>
            <a:round/>
            <a:headEnd len="sm" w="sm" type="none"/>
            <a:tailEnd len="med" w="med" type="stealth"/>
          </a:ln>
        </p:spPr>
      </p:cxnSp>
      <p:cxnSp>
        <p:nvCxnSpPr>
          <p:cNvPr id="847" name="Google Shape;847;p22"/>
          <p:cNvCxnSpPr>
            <a:stCxn id="832" idx="2"/>
          </p:cNvCxnSpPr>
          <p:nvPr/>
        </p:nvCxnSpPr>
        <p:spPr>
          <a:xfrm flipH="1">
            <a:off x="2819400" y="4800600"/>
            <a:ext cx="5181600" cy="609600"/>
          </a:xfrm>
          <a:prstGeom prst="straightConnector1">
            <a:avLst/>
          </a:prstGeom>
          <a:noFill/>
          <a:ln cap="flat" cmpd="sng" w="9525">
            <a:solidFill>
              <a:srgbClr val="075192"/>
            </a:solidFill>
            <a:prstDash val="solid"/>
            <a:round/>
            <a:headEnd len="sm" w="sm" type="none"/>
            <a:tailEnd len="med" w="med" type="stealth"/>
          </a:ln>
        </p:spPr>
      </p:cxnSp>
      <p:cxnSp>
        <p:nvCxnSpPr>
          <p:cNvPr id="848" name="Google Shape;848;p22"/>
          <p:cNvCxnSpPr>
            <a:stCxn id="832" idx="2"/>
          </p:cNvCxnSpPr>
          <p:nvPr/>
        </p:nvCxnSpPr>
        <p:spPr>
          <a:xfrm flipH="1">
            <a:off x="5181600" y="4800600"/>
            <a:ext cx="2819400" cy="609600"/>
          </a:xfrm>
          <a:prstGeom prst="straightConnector1">
            <a:avLst/>
          </a:prstGeom>
          <a:noFill/>
          <a:ln cap="flat" cmpd="sng" w="9525">
            <a:solidFill>
              <a:srgbClr val="075192"/>
            </a:solidFill>
            <a:prstDash val="solid"/>
            <a:round/>
            <a:headEnd len="sm" w="sm" type="none"/>
            <a:tailEnd len="med" w="med" type="stealth"/>
          </a:ln>
        </p:spPr>
      </p:cxnSp>
      <p:sp>
        <p:nvSpPr>
          <p:cNvPr id="849" name="Google Shape;849;p22"/>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850" name="Google Shape;850;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5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2000"/>
                                        <p:tgtEl>
                                          <p:spTgt spid="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par>
                                <p:cTn fill="hold" nodeType="withEffect" presetClass="entr" presetID="10" presetSubtype="0">
                                  <p:stCondLst>
                                    <p:cond delay="0"/>
                                  </p:stCondLst>
                                  <p:childTnLst>
                                    <p:set>
                                      <p:cBhvr>
                                        <p:cTn dur="1" fill="hold">
                                          <p:stCondLst>
                                            <p:cond delay="0"/>
                                          </p:stCondLst>
                                        </p:cTn>
                                        <p:tgtEl>
                                          <p:spTgt spid="826"/>
                                        </p:tgtEl>
                                        <p:attrNameLst>
                                          <p:attrName>style.visibility</p:attrName>
                                        </p:attrNameLst>
                                      </p:cBhvr>
                                      <p:to>
                                        <p:strVal val="visible"/>
                                      </p:to>
                                    </p:set>
                                    <p:animEffect filter="fade" transition="in">
                                      <p:cBhvr>
                                        <p:cTn dur="500"/>
                                        <p:tgtEl>
                                          <p:spTgt spid="8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7"/>
                                        </p:tgtEl>
                                        <p:attrNameLst>
                                          <p:attrName>style.visibility</p:attrName>
                                        </p:attrNameLst>
                                      </p:cBhvr>
                                      <p:to>
                                        <p:strVal val="visible"/>
                                      </p:to>
                                    </p:set>
                                    <p:anim calcmode="lin" valueType="num">
                                      <p:cBhvr additive="base">
                                        <p:cTn dur="500"/>
                                        <p:tgtEl>
                                          <p:spTgt spid="82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828"/>
                                        </p:tgtEl>
                                        <p:attrNameLst>
                                          <p:attrName>style.visibility</p:attrName>
                                        </p:attrNameLst>
                                      </p:cBhvr>
                                      <p:to>
                                        <p:strVal val="visible"/>
                                      </p:to>
                                    </p:set>
                                    <p:anim calcmode="lin" valueType="num">
                                      <p:cBhvr additive="base">
                                        <p:cTn dur="500"/>
                                        <p:tgtEl>
                                          <p:spTgt spid="8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6"/>
                                        </p:tgtEl>
                                        <p:attrNameLst>
                                          <p:attrName>style.visibility</p:attrName>
                                        </p:attrNameLst>
                                      </p:cBhvr>
                                      <p:to>
                                        <p:strVal val="visible"/>
                                      </p:to>
                                    </p:set>
                                    <p:animEffect filter="fade" transition="in">
                                      <p:cBhvr>
                                        <p:cTn dur="2000"/>
                                        <p:tgtEl>
                                          <p:spTgt spid="8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
                                        </p:tgtEl>
                                        <p:attrNameLst>
                                          <p:attrName>style.visibility</p:attrName>
                                        </p:attrNameLst>
                                      </p:cBhvr>
                                      <p:to>
                                        <p:strVal val="visible"/>
                                      </p:to>
                                    </p:set>
                                    <p:animEffect filter="fade" transition="in">
                                      <p:cBhvr>
                                        <p:cTn dur="500"/>
                                        <p:tgtEl>
                                          <p:spTgt spid="8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500"/>
                                        <p:tgtEl>
                                          <p:spTgt spid="8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0"/>
                                        </p:tgtEl>
                                        <p:attrNameLst>
                                          <p:attrName>style.visibility</p:attrName>
                                        </p:attrNameLst>
                                      </p:cBhvr>
                                      <p:to>
                                        <p:strVal val="visible"/>
                                      </p:to>
                                    </p:set>
                                    <p:animEffect filter="fade" transition="in">
                                      <p:cBhvr>
                                        <p:cTn dur="500"/>
                                        <p:tgtEl>
                                          <p:spTgt spid="8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500"/>
                                        <p:tgtEl>
                                          <p:spTgt spid="8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500"/>
                                        <p:tgtEl>
                                          <p:spTgt spid="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500"/>
                                        <p:tgtEl>
                                          <p:spTgt spid="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500"/>
                                        <p:tgtEl>
                                          <p:spTgt spid="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500"/>
                                        <p:tgtEl>
                                          <p:spTgt spid="8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2000"/>
                                        <p:tgtEl>
                                          <p:spTgt spid="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gtEl>
                                        <p:attrNameLst>
                                          <p:attrName>style.visibility</p:attrName>
                                        </p:attrNameLst>
                                      </p:cBhvr>
                                      <p:to>
                                        <p:strVal val="visible"/>
                                      </p:to>
                                    </p:set>
                                    <p:animEffect filter="fade" transition="in">
                                      <p:cBhvr>
                                        <p:cTn dur="500"/>
                                        <p:tgtEl>
                                          <p:spTgt spid="8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
                                        </p:tgtEl>
                                        <p:attrNameLst>
                                          <p:attrName>style.visibility</p:attrName>
                                        </p:attrNameLst>
                                      </p:cBhvr>
                                      <p:to>
                                        <p:strVal val="visible"/>
                                      </p:to>
                                    </p:set>
                                    <p:animEffect filter="fade" transition="in">
                                      <p:cBhvr>
                                        <p:cTn dur="500"/>
                                        <p:tgtEl>
                                          <p:spTgt spid="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gtEl>
                                        <p:attrNameLst>
                                          <p:attrName>style.visibility</p:attrName>
                                        </p:attrNameLst>
                                      </p:cBhvr>
                                      <p:to>
                                        <p:strVal val="visible"/>
                                      </p:to>
                                    </p:set>
                                    <p:animEffect filter="fade" transition="in">
                                      <p:cBhvr>
                                        <p:cTn dur="2000"/>
                                        <p:tgtEl>
                                          <p:spTgt spid="8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500"/>
                                        <p:tgtEl>
                                          <p:spTgt spid="8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4"/>
                                        </p:tgtEl>
                                        <p:attrNameLst>
                                          <p:attrName>style.visibility</p:attrName>
                                        </p:attrNameLst>
                                      </p:cBhvr>
                                      <p:to>
                                        <p:strVal val="visible"/>
                                      </p:to>
                                    </p:set>
                                    <p:animEffect filter="fade" transition="in">
                                      <p:cBhvr>
                                        <p:cTn dur="500"/>
                                        <p:tgtEl>
                                          <p:spTgt spid="8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gtEl>
                                        <p:attrNameLst>
                                          <p:attrName>style.visibility</p:attrName>
                                        </p:attrNameLst>
                                      </p:cBhvr>
                                      <p:to>
                                        <p:strVal val="visible"/>
                                      </p:to>
                                    </p:set>
                                    <p:animEffect filter="fade" transition="in">
                                      <p:cBhvr>
                                        <p:cTn dur="500"/>
                                        <p:tgtEl>
                                          <p:spTgt spid="8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5"/>
                                        </p:tgtEl>
                                        <p:attrNameLst>
                                          <p:attrName>style.visibility</p:attrName>
                                        </p:attrNameLst>
                                      </p:cBhvr>
                                      <p:to>
                                        <p:strVal val="visible"/>
                                      </p:to>
                                    </p:set>
                                    <p:animEffect filter="fade" transition="in">
                                      <p:cBhvr>
                                        <p:cTn dur="500"/>
                                        <p:tgtEl>
                                          <p:spTgt spid="8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6"/>
                                        </p:tgtEl>
                                        <p:attrNameLst>
                                          <p:attrName>style.visibility</p:attrName>
                                        </p:attrNameLst>
                                      </p:cBhvr>
                                      <p:to>
                                        <p:strVal val="visible"/>
                                      </p:to>
                                    </p:set>
                                    <p:animEffect filter="fade" transition="in">
                                      <p:cBhvr>
                                        <p:cTn dur="500"/>
                                        <p:tgtEl>
                                          <p:spTgt spid="8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500"/>
                                        <p:tgtEl>
                                          <p:spTgt spid="8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5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8"/>
                                        </p:tgtEl>
                                        <p:attrNameLst>
                                          <p:attrName>style.visibility</p:attrName>
                                        </p:attrNameLst>
                                      </p:cBhvr>
                                      <p:to>
                                        <p:strVal val="visible"/>
                                      </p:to>
                                    </p:set>
                                    <p:animEffect filter="fade" transition="in">
                                      <p:cBhvr>
                                        <p:cTn dur="500"/>
                                        <p:tgtEl>
                                          <p:spTgt spid="8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23"/>
          <p:cNvSpPr txBox="1"/>
          <p:nvPr>
            <p:ph type="title"/>
          </p:nvPr>
        </p:nvSpPr>
        <p:spPr>
          <a:xfrm>
            <a:off x="609600" y="0"/>
            <a:ext cx="8229600" cy="762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00"/>
              <a:buFont typeface="Times New Roman"/>
              <a:buNone/>
            </a:pPr>
            <a:r>
              <a:rPr lang="en-US" sz="2800">
                <a:latin typeface="Times New Roman"/>
                <a:ea typeface="Times New Roman"/>
                <a:cs typeface="Times New Roman"/>
                <a:sym typeface="Times New Roman"/>
              </a:rPr>
              <a:t>2.3.3. LÀ TỔ CHỨC MANG CHỦ QUYỀN QUỐC GIA</a:t>
            </a:r>
            <a:endParaRPr sz="2800">
              <a:latin typeface="Times New Roman"/>
              <a:ea typeface="Times New Roman"/>
              <a:cs typeface="Times New Roman"/>
              <a:sym typeface="Times New Roman"/>
            </a:endParaRPr>
          </a:p>
        </p:txBody>
      </p:sp>
      <p:sp>
        <p:nvSpPr>
          <p:cNvPr id="856" name="Google Shape;856;p23"/>
          <p:cNvSpPr/>
          <p:nvPr/>
        </p:nvSpPr>
        <p:spPr>
          <a:xfrm>
            <a:off x="228600" y="990600"/>
            <a:ext cx="6019800" cy="5486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Quyền tối cao về đối nội</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Tính độc lập về đối ngoại</a:t>
            </a:r>
            <a:endParaRPr b="0" i="0" sz="1800" u="none" cap="none" strike="noStrike">
              <a:solidFill>
                <a:schemeClr val="dk1"/>
              </a:solidFill>
              <a:latin typeface="Times New Roman"/>
              <a:ea typeface="Times New Roman"/>
              <a:cs typeface="Times New Roman"/>
              <a:sym typeface="Times New Roman"/>
            </a:endParaRPr>
          </a:p>
        </p:txBody>
      </p:sp>
      <p:sp>
        <p:nvSpPr>
          <p:cNvPr id="857" name="Google Shape;857;p23"/>
          <p:cNvSpPr/>
          <p:nvPr/>
        </p:nvSpPr>
        <p:spPr>
          <a:xfrm>
            <a:off x="-381000" y="914400"/>
            <a:ext cx="3429000" cy="3200400"/>
          </a:xfrm>
          <a:prstGeom prst="irregularSeal2">
            <a:avLst/>
          </a:prstGeom>
          <a:solidFill>
            <a:srgbClr val="5DF3C9"/>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139700" lvl="0" marL="0" marR="0" rtl="0" algn="ctr">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Duy nhất!</a:t>
            </a:r>
            <a:endParaRPr/>
          </a:p>
          <a:p>
            <a:pPr indent="0" lvl="0" marL="0" marR="0" rtl="0" algn="ctr">
              <a:spcBef>
                <a:spcPts val="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a:p>
            <a:pPr indent="-139700" lvl="0" marL="0" marR="0" rtl="0" algn="ctr">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Không thể chia cắt.</a:t>
            </a:r>
            <a:endParaRPr sz="2200">
              <a:solidFill>
                <a:schemeClr val="dk1"/>
              </a:solidFill>
              <a:latin typeface="Times New Roman"/>
              <a:ea typeface="Times New Roman"/>
              <a:cs typeface="Times New Roman"/>
              <a:sym typeface="Times New Roman"/>
            </a:endParaRPr>
          </a:p>
        </p:txBody>
      </p:sp>
      <p:cxnSp>
        <p:nvCxnSpPr>
          <p:cNvPr id="858" name="Google Shape;858;p23"/>
          <p:cNvCxnSpPr/>
          <p:nvPr/>
        </p:nvCxnSpPr>
        <p:spPr>
          <a:xfrm flipH="1" rot="-5400000">
            <a:off x="6019800" y="2667000"/>
            <a:ext cx="1143000" cy="685800"/>
          </a:xfrm>
          <a:prstGeom prst="straightConnector1">
            <a:avLst/>
          </a:prstGeom>
          <a:noFill/>
          <a:ln cap="flat" cmpd="sng" w="9525">
            <a:solidFill>
              <a:srgbClr val="075192"/>
            </a:solidFill>
            <a:prstDash val="solid"/>
            <a:round/>
            <a:headEnd len="sm" w="sm" type="none"/>
            <a:tailEnd len="med" w="med" type="stealth"/>
          </a:ln>
        </p:spPr>
      </p:cxnSp>
      <p:cxnSp>
        <p:nvCxnSpPr>
          <p:cNvPr id="859" name="Google Shape;859;p23"/>
          <p:cNvCxnSpPr/>
          <p:nvPr/>
        </p:nvCxnSpPr>
        <p:spPr>
          <a:xfrm rot="-5400000">
            <a:off x="6210300" y="3924300"/>
            <a:ext cx="838200" cy="762000"/>
          </a:xfrm>
          <a:prstGeom prst="straightConnector1">
            <a:avLst/>
          </a:prstGeom>
          <a:noFill/>
          <a:ln cap="flat" cmpd="sng" w="9525">
            <a:solidFill>
              <a:srgbClr val="075192"/>
            </a:solidFill>
            <a:prstDash val="solid"/>
            <a:round/>
            <a:headEnd len="sm" w="sm" type="none"/>
            <a:tailEnd len="med" w="med" type="stealth"/>
          </a:ln>
        </p:spPr>
      </p:cxnSp>
      <p:sp>
        <p:nvSpPr>
          <p:cNvPr id="860" name="Google Shape;860;p23"/>
          <p:cNvSpPr/>
          <p:nvPr/>
        </p:nvSpPr>
        <p:spPr>
          <a:xfrm>
            <a:off x="6858000" y="1905000"/>
            <a:ext cx="2057400" cy="3886200"/>
          </a:xfrm>
          <a:prstGeom prst="ellipse">
            <a:avLst/>
          </a:prstGeom>
          <a:gradFill>
            <a:gsLst>
              <a:gs pos="0">
                <a:srgbClr val="88EAC1"/>
              </a:gs>
              <a:gs pos="43000">
                <a:srgbClr val="B7F7DB"/>
              </a:gs>
              <a:gs pos="93000">
                <a:srgbClr val="E9FCF3"/>
              </a:gs>
              <a:gs pos="100000">
                <a:srgbClr val="F6FFFB"/>
              </a:gs>
            </a:gsLst>
            <a:path path="circle">
              <a:fillToRect b="50%" l="50%" r="50%" t="50%"/>
            </a:path>
            <a:tileRect/>
          </a:gradFill>
          <a:ln cap="flat" cmpd="sng" w="9525">
            <a:solidFill>
              <a:srgbClr val="089971"/>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Khả năng và mức độ thực hiện quyền lực của nhà nước trên cư dân và lãnh thổ.</a:t>
            </a:r>
            <a:endParaRPr sz="2400">
              <a:solidFill>
                <a:schemeClr val="dk1"/>
              </a:solidFill>
              <a:latin typeface="Times New Roman"/>
              <a:ea typeface="Times New Roman"/>
              <a:cs typeface="Times New Roman"/>
              <a:sym typeface="Times New Roman"/>
            </a:endParaRPr>
          </a:p>
        </p:txBody>
      </p:sp>
      <p:sp>
        <p:nvSpPr>
          <p:cNvPr id="861" name="Google Shape;861;p23"/>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862" name="Google Shape;862;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500"/>
                                        <p:tgtEl>
                                          <p:spTgt spid="8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500"/>
                                        <p:tgtEl>
                                          <p:spTgt spid="858"/>
                                        </p:tgtEl>
                                      </p:cBhvr>
                                    </p:animEffect>
                                  </p:childTnLst>
                                </p:cTn>
                              </p:par>
                              <p:par>
                                <p:cTn fill="hold" nodeType="with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500"/>
                                        <p:tgtEl>
                                          <p:spTgt spid="8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500"/>
                                        <p:tgtEl>
                                          <p:spTgt spid="8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7"/>
                                        </p:tgtEl>
                                        <p:attrNameLst>
                                          <p:attrName>style.visibility</p:attrName>
                                        </p:attrNameLst>
                                      </p:cBhvr>
                                      <p:to>
                                        <p:strVal val="visible"/>
                                      </p:to>
                                    </p:set>
                                    <p:anim calcmode="lin" valueType="num">
                                      <p:cBhvr additive="base">
                                        <p:cTn dur="500"/>
                                        <p:tgtEl>
                                          <p:spTgt spid="8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24"/>
          <p:cNvSpPr txBox="1"/>
          <p:nvPr>
            <p:ph type="title"/>
          </p:nvPr>
        </p:nvSpPr>
        <p:spPr>
          <a:xfrm>
            <a:off x="457200" y="0"/>
            <a:ext cx="8229600" cy="715962"/>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Chủ quyền quốc gia</a:t>
            </a:r>
            <a:endParaRPr sz="3200">
              <a:latin typeface="Times New Roman"/>
              <a:ea typeface="Times New Roman"/>
              <a:cs typeface="Times New Roman"/>
              <a:sym typeface="Times New Roman"/>
            </a:endParaRPr>
          </a:p>
        </p:txBody>
      </p:sp>
      <p:sp>
        <p:nvSpPr>
          <p:cNvPr id="868" name="Google Shape;868;p24"/>
          <p:cNvSpPr/>
          <p:nvPr/>
        </p:nvSpPr>
        <p:spPr>
          <a:xfrm>
            <a:off x="304800" y="661077"/>
            <a:ext cx="2519007" cy="1739700"/>
          </a:xfrm>
          <a:prstGeom prst="roundRect">
            <a:avLst>
              <a:gd fmla="val 16667" name="adj"/>
            </a:avLst>
          </a:prstGeom>
          <a:gradFill>
            <a:gsLst>
              <a:gs pos="0">
                <a:srgbClr val="87C2F1"/>
              </a:gs>
              <a:gs pos="43000">
                <a:srgbClr val="B6DAFC"/>
              </a:gs>
              <a:gs pos="93000">
                <a:srgbClr val="E8F2FE"/>
              </a:gs>
              <a:gs pos="100000">
                <a:srgbClr val="F6FBFF"/>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800">
                <a:solidFill>
                  <a:schemeClr val="dk1"/>
                </a:solidFill>
                <a:latin typeface="Times New Roman"/>
                <a:ea typeface="Times New Roman"/>
                <a:cs typeface="Times New Roman"/>
                <a:sym typeface="Times New Roman"/>
              </a:rPr>
              <a:t>Tính tối cao</a:t>
            </a:r>
            <a:endParaRPr sz="2800">
              <a:solidFill>
                <a:schemeClr val="dk1"/>
              </a:solidFill>
              <a:latin typeface="Times New Roman"/>
              <a:ea typeface="Times New Roman"/>
              <a:cs typeface="Times New Roman"/>
              <a:sym typeface="Times New Roman"/>
            </a:endParaRPr>
          </a:p>
        </p:txBody>
      </p:sp>
      <p:sp>
        <p:nvSpPr>
          <p:cNvPr id="869" name="Google Shape;869;p24"/>
          <p:cNvSpPr/>
          <p:nvPr/>
        </p:nvSpPr>
        <p:spPr>
          <a:xfrm rot="5400000">
            <a:off x="3213460" y="271424"/>
            <a:ext cx="1739700" cy="2519007"/>
          </a:xfrm>
          <a:prstGeom prst="round2SameRect">
            <a:avLst>
              <a:gd fmla="val 16667" name="adj1"/>
              <a:gd fmla="val 0" name="adj2"/>
            </a:avLst>
          </a:prstGeom>
          <a:solidFill>
            <a:srgbClr val="CADEF1">
              <a:alpha val="89803"/>
            </a:srgbClr>
          </a:solidFill>
          <a:ln cap="flat" cmpd="sng" w="9525">
            <a:solidFill>
              <a:srgbClr val="92A2A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4"/>
          <p:cNvSpPr txBox="1"/>
          <p:nvPr/>
        </p:nvSpPr>
        <p:spPr>
          <a:xfrm>
            <a:off x="2823796" y="745979"/>
            <a:ext cx="2434082" cy="1569850"/>
          </a:xfrm>
          <a:prstGeom prst="rect">
            <a:avLst/>
          </a:prstGeom>
          <a:noFill/>
          <a:ln>
            <a:noFill/>
          </a:ln>
        </p:spPr>
        <p:txBody>
          <a:bodyPr anchorCtr="0"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Quyền lực nhà nước có hiệu lực trên toàn lãnh thổ đất nước, đối với toàn bộ dân cư</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Các công cụ tác đông của quyền lực nhà nước ko một tổ chức quyền lực xã hội nào có được</a:t>
            </a:r>
            <a:endParaRPr b="0" i="0" sz="2000" u="none" cap="none" strike="noStrike">
              <a:solidFill>
                <a:schemeClr val="dk1"/>
              </a:solidFill>
              <a:latin typeface="Times New Roman"/>
              <a:ea typeface="Times New Roman"/>
              <a:cs typeface="Times New Roman"/>
              <a:sym typeface="Times New Roman"/>
            </a:endParaRPr>
          </a:p>
        </p:txBody>
      </p:sp>
      <p:sp>
        <p:nvSpPr>
          <p:cNvPr id="871" name="Google Shape;871;p24"/>
          <p:cNvSpPr/>
          <p:nvPr/>
        </p:nvSpPr>
        <p:spPr>
          <a:xfrm>
            <a:off x="304800" y="2431472"/>
            <a:ext cx="2519007" cy="1385454"/>
          </a:xfrm>
          <a:prstGeom prst="roundRect">
            <a:avLst>
              <a:gd fmla="val 16667" name="adj"/>
            </a:avLst>
          </a:prstGeom>
          <a:gradFill>
            <a:gsLst>
              <a:gs pos="0">
                <a:srgbClr val="87E9F1"/>
              </a:gs>
              <a:gs pos="43000">
                <a:srgbClr val="B6F8FC"/>
              </a:gs>
              <a:gs pos="93000">
                <a:srgbClr val="E8FCFE"/>
              </a:gs>
              <a:gs pos="100000">
                <a:srgbClr val="F6FFFF"/>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800">
                <a:solidFill>
                  <a:schemeClr val="dk1"/>
                </a:solidFill>
                <a:latin typeface="Times New Roman"/>
                <a:ea typeface="Times New Roman"/>
                <a:cs typeface="Times New Roman"/>
                <a:sym typeface="Times New Roman"/>
              </a:rPr>
              <a:t>Tính độc lập</a:t>
            </a:r>
            <a:endParaRPr sz="2800">
              <a:solidFill>
                <a:schemeClr val="dk1"/>
              </a:solidFill>
              <a:latin typeface="Times New Roman"/>
              <a:ea typeface="Times New Roman"/>
              <a:cs typeface="Times New Roman"/>
              <a:sym typeface="Times New Roman"/>
            </a:endParaRPr>
          </a:p>
        </p:txBody>
      </p:sp>
      <p:sp>
        <p:nvSpPr>
          <p:cNvPr id="872" name="Google Shape;872;p24"/>
          <p:cNvSpPr/>
          <p:nvPr/>
        </p:nvSpPr>
        <p:spPr>
          <a:xfrm rot="5400000">
            <a:off x="3390583" y="1864696"/>
            <a:ext cx="1385454" cy="2519007"/>
          </a:xfrm>
          <a:prstGeom prst="round2SameRect">
            <a:avLst>
              <a:gd fmla="val 16667" name="adj1"/>
              <a:gd fmla="val 0" name="adj2"/>
            </a:avLst>
          </a:prstGeom>
          <a:solidFill>
            <a:srgbClr val="CAEEF1">
              <a:alpha val="89803"/>
            </a:srgbClr>
          </a:solidFill>
          <a:ln cap="flat" cmpd="sng" w="9525">
            <a:solidFill>
              <a:srgbClr val="92ADA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4"/>
          <p:cNvSpPr txBox="1"/>
          <p:nvPr/>
        </p:nvSpPr>
        <p:spPr>
          <a:xfrm>
            <a:off x="2823798" y="2499084"/>
            <a:ext cx="2451375" cy="1250189"/>
          </a:xfrm>
          <a:prstGeom prst="rect">
            <a:avLst/>
          </a:prstGeom>
          <a:noFill/>
          <a:ln>
            <a:noFill/>
          </a:ln>
        </p:spPr>
        <p:txBody>
          <a:bodyPr anchorCtr="0"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Quyền tự quyết của nhà nước trong việc đề ra các chính sách</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Không phụ thuộc vào các yếu tố bên ngoài</a:t>
            </a:r>
            <a:endParaRPr b="0" i="0" sz="2000" u="none" cap="none" strike="noStrike">
              <a:solidFill>
                <a:schemeClr val="dk1"/>
              </a:solidFill>
              <a:latin typeface="Times New Roman"/>
              <a:ea typeface="Times New Roman"/>
              <a:cs typeface="Times New Roman"/>
              <a:sym typeface="Times New Roman"/>
            </a:endParaRPr>
          </a:p>
        </p:txBody>
      </p:sp>
      <p:sp>
        <p:nvSpPr>
          <p:cNvPr id="874" name="Google Shape;874;p24"/>
          <p:cNvSpPr/>
          <p:nvPr/>
        </p:nvSpPr>
        <p:spPr>
          <a:xfrm>
            <a:off x="304800" y="4024744"/>
            <a:ext cx="2519007" cy="1385454"/>
          </a:xfrm>
          <a:prstGeom prst="roundRect">
            <a:avLst>
              <a:gd fmla="val 16667" name="adj"/>
            </a:avLst>
          </a:prstGeom>
          <a:gradFill>
            <a:gsLst>
              <a:gs pos="0">
                <a:srgbClr val="88EAC1"/>
              </a:gs>
              <a:gs pos="43000">
                <a:srgbClr val="B7F7DB"/>
              </a:gs>
              <a:gs pos="93000">
                <a:srgbClr val="E9FCF3"/>
              </a:gs>
              <a:gs pos="100000">
                <a:srgbClr val="F6FFFB"/>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800">
                <a:solidFill>
                  <a:schemeClr val="dk1"/>
                </a:solidFill>
                <a:latin typeface="Times New Roman"/>
                <a:ea typeface="Times New Roman"/>
                <a:cs typeface="Times New Roman"/>
                <a:sym typeface="Times New Roman"/>
              </a:rPr>
              <a:t>Biên giới</a:t>
            </a:r>
            <a:endParaRPr sz="2800">
              <a:solidFill>
                <a:schemeClr val="dk1"/>
              </a:solidFill>
              <a:latin typeface="Times New Roman"/>
              <a:ea typeface="Times New Roman"/>
              <a:cs typeface="Times New Roman"/>
              <a:sym typeface="Times New Roman"/>
            </a:endParaRPr>
          </a:p>
        </p:txBody>
      </p:sp>
      <p:sp>
        <p:nvSpPr>
          <p:cNvPr id="875" name="Google Shape;875;p24"/>
          <p:cNvSpPr/>
          <p:nvPr/>
        </p:nvSpPr>
        <p:spPr>
          <a:xfrm rot="5400000">
            <a:off x="3390583" y="3457968"/>
            <a:ext cx="1385454" cy="2519007"/>
          </a:xfrm>
          <a:prstGeom prst="round2SameRect">
            <a:avLst>
              <a:gd fmla="val 16667" name="adj1"/>
              <a:gd fmla="val 0" name="adj2"/>
            </a:avLst>
          </a:prstGeom>
          <a:solidFill>
            <a:srgbClr val="CAEDDE">
              <a:alpha val="89803"/>
            </a:srgbClr>
          </a:solidFill>
          <a:ln cap="flat" cmpd="sng" w="9525">
            <a:solidFill>
              <a:srgbClr val="92ACA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4"/>
          <p:cNvSpPr txBox="1"/>
          <p:nvPr/>
        </p:nvSpPr>
        <p:spPr>
          <a:xfrm>
            <a:off x="2823798" y="4092359"/>
            <a:ext cx="2451375" cy="1250189"/>
          </a:xfrm>
          <a:prstGeom prst="rect">
            <a:avLst/>
          </a:prstGeom>
          <a:noFill/>
          <a:ln>
            <a:noFill/>
          </a:ln>
        </p:spPr>
        <p:txBody>
          <a:bodyPr anchorCtr="0"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Trên bộ</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Trên không</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Trên biển</a:t>
            </a:r>
            <a:endParaRPr b="0" i="0" sz="2000" u="none" cap="none" strike="noStrike">
              <a:solidFill>
                <a:schemeClr val="dk1"/>
              </a:solidFill>
              <a:latin typeface="Times New Roman"/>
              <a:ea typeface="Times New Roman"/>
              <a:cs typeface="Times New Roman"/>
              <a:sym typeface="Times New Roman"/>
            </a:endParaRPr>
          </a:p>
        </p:txBody>
      </p:sp>
      <p:pic>
        <p:nvPicPr>
          <p:cNvPr descr="E:\Bai giang\PL DC\Pics\tang-gan-100-ban-do-xac-dinh-chu-quyen-hoang-sa-truong-sa-af549b.jpg" id="877" name="Google Shape;877;p24"/>
          <p:cNvPicPr preferRelativeResize="0"/>
          <p:nvPr/>
        </p:nvPicPr>
        <p:blipFill rotWithShape="1">
          <a:blip r:embed="rId3">
            <a:alphaModFix/>
          </a:blip>
          <a:srcRect b="0" l="0" r="0" t="0"/>
          <a:stretch/>
        </p:blipFill>
        <p:spPr>
          <a:xfrm>
            <a:off x="5105400" y="3797425"/>
            <a:ext cx="3745103" cy="3060575"/>
          </a:xfrm>
          <a:prstGeom prst="rect">
            <a:avLst/>
          </a:prstGeom>
          <a:noFill/>
          <a:ln>
            <a:noFill/>
          </a:ln>
        </p:spPr>
      </p:pic>
      <p:sp>
        <p:nvSpPr>
          <p:cNvPr id="878" name="Google Shape;878;p24"/>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879" name="Google Shape;879;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500"/>
                                        <p:tgtEl>
                                          <p:spTgt spid="8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25"/>
          <p:cNvSpPr txBox="1"/>
          <p:nvPr>
            <p:ph type="title"/>
          </p:nvPr>
        </p:nvSpPr>
        <p:spPr>
          <a:xfrm>
            <a:off x="457200" y="274638"/>
            <a:ext cx="8229600" cy="639762"/>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Chủ quyền quốc gia</a:t>
            </a:r>
            <a:endParaRPr sz="3200">
              <a:solidFill>
                <a:srgbClr val="FF0000"/>
              </a:solidFill>
              <a:latin typeface="Times New Roman"/>
              <a:ea typeface="Times New Roman"/>
              <a:cs typeface="Times New Roman"/>
              <a:sym typeface="Times New Roman"/>
            </a:endParaRPr>
          </a:p>
        </p:txBody>
      </p:sp>
      <p:sp>
        <p:nvSpPr>
          <p:cNvPr id="885" name="Google Shape;885;p25"/>
          <p:cNvSpPr txBox="1"/>
          <p:nvPr>
            <p:ph idx="1" type="body"/>
          </p:nvPr>
        </p:nvSpPr>
        <p:spPr>
          <a:xfrm>
            <a:off x="457200" y="990600"/>
            <a:ext cx="8229600" cy="5562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lang="en-US" sz="2800">
                <a:latin typeface="Times New Roman"/>
                <a:ea typeface="Times New Roman"/>
                <a:cs typeface="Times New Roman"/>
                <a:sym typeface="Times New Roman"/>
              </a:rPr>
              <a:t>Vấn đề biển Đông</a:t>
            </a:r>
            <a:endParaRPr sz="2800">
              <a:latin typeface="Times New Roman"/>
              <a:ea typeface="Times New Roman"/>
              <a:cs typeface="Times New Roman"/>
              <a:sym typeface="Times New Roman"/>
            </a:endParaRPr>
          </a:p>
          <a:p>
            <a:pPr indent="-274320" lvl="0" marL="274320" rtl="0" algn="l">
              <a:spcBef>
                <a:spcPts val="560"/>
              </a:spcBef>
              <a:spcAft>
                <a:spcPts val="0"/>
              </a:spcAft>
              <a:buSzPts val="2660"/>
              <a:buChar char="⚫"/>
            </a:pPr>
            <a:r>
              <a:rPr lang="en-US" sz="2800">
                <a:latin typeface="Times New Roman"/>
                <a:ea typeface="Times New Roman"/>
                <a:cs typeface="Times New Roman"/>
                <a:sym typeface="Times New Roman"/>
              </a:rPr>
              <a:t>Các quốc gia đặc biệt như Trung Hoa Dân Quốc (Đài Loan), Crưm…</a:t>
            </a:r>
            <a:endParaRPr sz="2800">
              <a:latin typeface="Times New Roman"/>
              <a:ea typeface="Times New Roman"/>
              <a:cs typeface="Times New Roman"/>
              <a:sym typeface="Times New Roman"/>
            </a:endParaRPr>
          </a:p>
        </p:txBody>
      </p:sp>
      <p:pic>
        <p:nvPicPr>
          <p:cNvPr descr="E:\Bai giang\PL DC\Pics\images (43).jpg" id="886" name="Google Shape;886;p25"/>
          <p:cNvPicPr preferRelativeResize="0"/>
          <p:nvPr/>
        </p:nvPicPr>
        <p:blipFill rotWithShape="1">
          <a:blip r:embed="rId3">
            <a:alphaModFix/>
          </a:blip>
          <a:srcRect b="0" l="0" r="0" t="0"/>
          <a:stretch/>
        </p:blipFill>
        <p:spPr>
          <a:xfrm>
            <a:off x="3581400" y="2819400"/>
            <a:ext cx="2619375" cy="1743075"/>
          </a:xfrm>
          <a:prstGeom prst="rect">
            <a:avLst/>
          </a:prstGeom>
          <a:noFill/>
          <a:ln>
            <a:noFill/>
          </a:ln>
        </p:spPr>
      </p:pic>
      <p:pic>
        <p:nvPicPr>
          <p:cNvPr descr="E:\Bai giang\PL DC\Pics\images (45).jpg" id="887" name="Google Shape;887;p25"/>
          <p:cNvPicPr preferRelativeResize="0"/>
          <p:nvPr/>
        </p:nvPicPr>
        <p:blipFill rotWithShape="1">
          <a:blip r:embed="rId4">
            <a:alphaModFix/>
          </a:blip>
          <a:srcRect b="0" l="0" r="0" t="0"/>
          <a:stretch/>
        </p:blipFill>
        <p:spPr>
          <a:xfrm>
            <a:off x="5791200" y="4800600"/>
            <a:ext cx="2857500" cy="1600200"/>
          </a:xfrm>
          <a:prstGeom prst="rect">
            <a:avLst/>
          </a:prstGeom>
          <a:noFill/>
          <a:ln>
            <a:noFill/>
          </a:ln>
        </p:spPr>
      </p:pic>
      <p:pic>
        <p:nvPicPr>
          <p:cNvPr descr="E:\Bai giang\PL DC\Pics\tải xuống.jpg" id="888" name="Google Shape;888;p25"/>
          <p:cNvPicPr preferRelativeResize="0"/>
          <p:nvPr/>
        </p:nvPicPr>
        <p:blipFill rotWithShape="1">
          <a:blip r:embed="rId5">
            <a:alphaModFix/>
          </a:blip>
          <a:srcRect b="0" l="0" r="0" t="0"/>
          <a:stretch/>
        </p:blipFill>
        <p:spPr>
          <a:xfrm>
            <a:off x="1066800" y="3429000"/>
            <a:ext cx="2433305" cy="3219450"/>
          </a:xfrm>
          <a:prstGeom prst="rect">
            <a:avLst/>
          </a:prstGeom>
          <a:noFill/>
          <a:ln>
            <a:noFill/>
          </a:ln>
        </p:spPr>
      </p:pic>
      <p:sp>
        <p:nvSpPr>
          <p:cNvPr id="889" name="Google Shape;889;p25"/>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890" name="Google Shape;890;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xEl>
                                              <p:pRg end="0" st="0"/>
                                            </p:txEl>
                                          </p:spTgt>
                                        </p:tgtEl>
                                        <p:attrNameLst>
                                          <p:attrName>style.visibility</p:attrName>
                                        </p:attrNameLst>
                                      </p:cBhvr>
                                      <p:to>
                                        <p:strVal val="visible"/>
                                      </p:to>
                                    </p:set>
                                    <p:animEffect filter="fade" transition="in">
                                      <p:cBhvr>
                                        <p:cTn dur="500"/>
                                        <p:tgtEl>
                                          <p:spTgt spid="8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xEl>
                                              <p:pRg end="1" st="1"/>
                                            </p:txEl>
                                          </p:spTgt>
                                        </p:tgtEl>
                                        <p:attrNameLst>
                                          <p:attrName>style.visibility</p:attrName>
                                        </p:attrNameLst>
                                      </p:cBhvr>
                                      <p:to>
                                        <p:strVal val="visible"/>
                                      </p:to>
                                    </p:set>
                                    <p:animEffect filter="fade" transition="in">
                                      <p:cBhvr>
                                        <p:cTn dur="500"/>
                                        <p:tgtEl>
                                          <p:spTgt spid="8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500"/>
                                        <p:tgtEl>
                                          <p:spTgt spid="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500"/>
                                        <p:tgtEl>
                                          <p:spTgt spid="8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26"/>
          <p:cNvSpPr txBox="1"/>
          <p:nvPr>
            <p:ph type="title"/>
          </p:nvPr>
        </p:nvSpPr>
        <p:spPr>
          <a:xfrm>
            <a:off x="457200" y="274638"/>
            <a:ext cx="8229600" cy="9445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2800"/>
              <a:buFont typeface="Arial"/>
              <a:buNone/>
            </a:pPr>
            <a:r>
              <a:t/>
            </a:r>
            <a:endParaRPr sz="2800">
              <a:latin typeface="Times New Roman"/>
              <a:ea typeface="Times New Roman"/>
              <a:cs typeface="Times New Roman"/>
              <a:sym typeface="Times New Roman"/>
            </a:endParaRPr>
          </a:p>
        </p:txBody>
      </p:sp>
      <p:sp>
        <p:nvSpPr>
          <p:cNvPr id="896" name="Google Shape;896;p26"/>
          <p:cNvSpPr/>
          <p:nvPr/>
        </p:nvSpPr>
        <p:spPr>
          <a:xfrm>
            <a:off x="0" y="1371600"/>
            <a:ext cx="8229600" cy="4830763"/>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Pháp luật có tính bắt buộc chung và được nhà nước đảm bảo thực hiện bằng các biện pháp cưỡng chế</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Nhà nước ban hành pháp luật đồng thời phải tôn trọng pháp luật</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Tổ chức duy nhất có quyền ban hành pháp luật và áp dụng pháp luật để quản lý xã hội</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7" name="Google Shape;897;p26"/>
          <p:cNvSpPr/>
          <p:nvPr/>
        </p:nvSpPr>
        <p:spPr>
          <a:xfrm>
            <a:off x="0" y="457200"/>
            <a:ext cx="9144000" cy="762000"/>
          </a:xfrm>
          <a:prstGeom prst="roundRect">
            <a:avLst>
              <a:gd fmla="val 16667" name="adj"/>
            </a:avLst>
          </a:prstGeom>
          <a:solidFill>
            <a:srgbClr val="56A9F3"/>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2.3.4 BAN HÀNH PHÁP LUẬT VÀ BẢO ĐẢM THỰC HIỆN</a:t>
            </a:r>
            <a:endParaRPr sz="2400">
              <a:solidFill>
                <a:schemeClr val="dk1"/>
              </a:solidFill>
              <a:latin typeface="Times New Roman"/>
              <a:ea typeface="Times New Roman"/>
              <a:cs typeface="Times New Roman"/>
              <a:sym typeface="Times New Roman"/>
            </a:endParaRPr>
          </a:p>
        </p:txBody>
      </p:sp>
      <p:pic>
        <p:nvPicPr>
          <p:cNvPr descr="E:\Bai giang\PL DC\Pics\LadyJusticeImage.jpg" id="898" name="Google Shape;898;p26"/>
          <p:cNvPicPr preferRelativeResize="0"/>
          <p:nvPr/>
        </p:nvPicPr>
        <p:blipFill rotWithShape="1">
          <a:blip r:embed="rId3">
            <a:alphaModFix/>
          </a:blip>
          <a:srcRect b="0" l="0" r="0" t="0"/>
          <a:stretch/>
        </p:blipFill>
        <p:spPr>
          <a:xfrm>
            <a:off x="5903913" y="1052513"/>
            <a:ext cx="3048000" cy="2038350"/>
          </a:xfrm>
          <a:prstGeom prst="rect">
            <a:avLst/>
          </a:prstGeom>
          <a:noFill/>
          <a:ln>
            <a:noFill/>
          </a:ln>
        </p:spPr>
      </p:pic>
      <p:sp>
        <p:nvSpPr>
          <p:cNvPr id="899" name="Google Shape;899;p26"/>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00" name="Google Shape;900;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500"/>
                                        <p:tgtEl>
                                          <p:spTgt spid="8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27"/>
          <p:cNvSpPr txBox="1"/>
          <p:nvPr>
            <p:ph type="title"/>
          </p:nvPr>
        </p:nvSpPr>
        <p:spPr>
          <a:xfrm>
            <a:off x="457200" y="274638"/>
            <a:ext cx="8229600" cy="639762"/>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Times New Roman"/>
              <a:buNone/>
            </a:pPr>
            <a:r>
              <a:rPr lang="en-US" sz="3200">
                <a:solidFill>
                  <a:srgbClr val="FF0000"/>
                </a:solidFill>
                <a:latin typeface="Times New Roman"/>
                <a:ea typeface="Times New Roman"/>
                <a:cs typeface="Times New Roman"/>
                <a:sym typeface="Times New Roman"/>
              </a:rPr>
              <a:t>2.3.5. 	QUY ĐỊNH VÀ THU CÁC LOẠI THUẾ</a:t>
            </a:r>
            <a:endParaRPr sz="3200">
              <a:solidFill>
                <a:srgbClr val="FF0000"/>
              </a:solidFill>
              <a:latin typeface="Times New Roman"/>
              <a:ea typeface="Times New Roman"/>
              <a:cs typeface="Times New Roman"/>
              <a:sym typeface="Times New Roman"/>
            </a:endParaRPr>
          </a:p>
        </p:txBody>
      </p:sp>
      <p:sp>
        <p:nvSpPr>
          <p:cNvPr id="906" name="Google Shape;906;p27"/>
          <p:cNvSpPr/>
          <p:nvPr/>
        </p:nvSpPr>
        <p:spPr>
          <a:xfrm>
            <a:off x="457200" y="990600"/>
            <a:ext cx="8229600" cy="5562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Thuế là nguồn thu chủ yếu của nhà nước</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Mục đích: nuôi dưỡng bộ máy nhà nước</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Chỉ có nhà nước mới có độc quyền quy định các loại thuế và thu thuế</a:t>
            </a:r>
            <a:endParaRPr b="0" i="0" sz="1800" u="none" cap="none" strike="noStrike">
              <a:solidFill>
                <a:schemeClr val="dk1"/>
              </a:solidFill>
              <a:latin typeface="Times New Roman"/>
              <a:ea typeface="Times New Roman"/>
              <a:cs typeface="Times New Roman"/>
              <a:sym typeface="Times New Roman"/>
            </a:endParaRPr>
          </a:p>
        </p:txBody>
      </p:sp>
      <p:sp>
        <p:nvSpPr>
          <p:cNvPr id="907" name="Google Shape;907;p2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08" name="Google Shape;908;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500"/>
                                        <p:tgtEl>
                                          <p:spTgt spid="9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28"/>
          <p:cNvSpPr txBox="1"/>
          <p:nvPr>
            <p:ph type="title"/>
          </p:nvPr>
        </p:nvSpPr>
        <p:spPr>
          <a:xfrm>
            <a:off x="533400" y="0"/>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Arial"/>
              <a:buNone/>
            </a:pPr>
            <a:r>
              <a:rPr b="1" lang="en-US"/>
              <a:t>2.4 Chức năng của nhà nước</a:t>
            </a:r>
            <a:endParaRPr b="1">
              <a:latin typeface="Times New Roman"/>
              <a:ea typeface="Times New Roman"/>
              <a:cs typeface="Times New Roman"/>
              <a:sym typeface="Times New Roman"/>
            </a:endParaRPr>
          </a:p>
        </p:txBody>
      </p:sp>
      <p:sp>
        <p:nvSpPr>
          <p:cNvPr id="914" name="Google Shape;914;p2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i="1" lang="en-US" sz="2400"/>
              <a:t>Chức năng của nhà nước là phương diện hoạt động chủ yếu của nhà nước nhằm thực hiện những nhiệm vụ đặt ra cho nhà nước. </a:t>
            </a:r>
            <a:endParaRPr/>
          </a:p>
          <a:p>
            <a:pPr indent="-274320" lvl="0" marL="274320" rtl="0" algn="l">
              <a:spcBef>
                <a:spcPts val="480"/>
              </a:spcBef>
              <a:spcAft>
                <a:spcPts val="0"/>
              </a:spcAft>
              <a:buSzPts val="2280"/>
              <a:buChar char="⚫"/>
            </a:pPr>
            <a:r>
              <a:rPr i="1" lang="en-US" sz="2400"/>
              <a:t>Chức năng đối nội là những mặt hoạt động chủ yếu trong nội bộ đất nước như: Bảo đảm trật tự an toàn xã hội, trấn áp những phần tử chống đối, quản lý các lĩnh vực của đời sống kinh tế – xã hội... </a:t>
            </a:r>
            <a:endParaRPr/>
          </a:p>
          <a:p>
            <a:pPr indent="-274320" lvl="0" marL="274320" rtl="0" algn="l">
              <a:spcBef>
                <a:spcPts val="480"/>
              </a:spcBef>
              <a:spcAft>
                <a:spcPts val="0"/>
              </a:spcAft>
              <a:buSzPts val="2280"/>
              <a:buChar char="⚫"/>
            </a:pPr>
            <a:r>
              <a:rPr i="1" lang="en-US" sz="2400"/>
              <a:t>Chức năng đối ngoại thể hiện những mặt hoạt động của nhà nước trong quan hệ với các nhà nước trên thế giới và các dân tộc khác như: Phòng thủ đất nước, thiết lập mối bang giao với các quốc gia khác.</a:t>
            </a:r>
            <a:endParaRPr/>
          </a:p>
        </p:txBody>
      </p:sp>
      <p:sp>
        <p:nvSpPr>
          <p:cNvPr id="915" name="Google Shape;915;p2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16" name="Google Shape;916;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500"/>
                                        <p:tgtEl>
                                          <p:spTgt spid="9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29"/>
          <p:cNvSpPr txBox="1"/>
          <p:nvPr>
            <p:ph type="title"/>
          </p:nvPr>
        </p:nvSpPr>
        <p:spPr>
          <a:xfrm>
            <a:off x="533400" y="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Times New Roman"/>
              <a:buNone/>
            </a:pPr>
            <a:r>
              <a:rPr lang="en-US">
                <a:latin typeface="Times New Roman"/>
                <a:ea typeface="Times New Roman"/>
                <a:cs typeface="Times New Roman"/>
                <a:sym typeface="Times New Roman"/>
              </a:rPr>
              <a:t>Hình thức thực hiện chức năng</a:t>
            </a:r>
            <a:endParaRPr>
              <a:latin typeface="Times New Roman"/>
              <a:ea typeface="Times New Roman"/>
              <a:cs typeface="Times New Roman"/>
              <a:sym typeface="Times New Roman"/>
            </a:endParaRPr>
          </a:p>
        </p:txBody>
      </p:sp>
      <p:sp>
        <p:nvSpPr>
          <p:cNvPr id="922" name="Google Shape;922;p2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                                                                                                                                                                                                                                                        </a:t>
            </a:r>
            <a:endParaRPr/>
          </a:p>
        </p:txBody>
      </p:sp>
      <p:sp>
        <p:nvSpPr>
          <p:cNvPr id="923" name="Google Shape;923;p29"/>
          <p:cNvSpPr/>
          <p:nvPr/>
        </p:nvSpPr>
        <p:spPr>
          <a:xfrm>
            <a:off x="914400" y="1397000"/>
            <a:ext cx="2421045" cy="1331575"/>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lt1"/>
                </a:solidFill>
                <a:latin typeface="Times New Roman"/>
                <a:ea typeface="Times New Roman"/>
                <a:cs typeface="Times New Roman"/>
                <a:sym typeface="Times New Roman"/>
              </a:rPr>
              <a:t>Ban hành văn bản quy phạm pháp luật</a:t>
            </a:r>
            <a:endParaRPr sz="2000">
              <a:solidFill>
                <a:schemeClr val="lt1"/>
              </a:solidFill>
              <a:latin typeface="Times New Roman"/>
              <a:ea typeface="Times New Roman"/>
              <a:cs typeface="Times New Roman"/>
              <a:sym typeface="Times New Roman"/>
            </a:endParaRPr>
          </a:p>
        </p:txBody>
      </p:sp>
      <p:sp>
        <p:nvSpPr>
          <p:cNvPr id="924" name="Google Shape;924;p29"/>
          <p:cNvSpPr/>
          <p:nvPr/>
        </p:nvSpPr>
        <p:spPr>
          <a:xfrm rot="5400000">
            <a:off x="3880180" y="852265"/>
            <a:ext cx="1331575" cy="2421045"/>
          </a:xfrm>
          <a:prstGeom prst="round2SameRect">
            <a:avLst>
              <a:gd fmla="val 16667" name="adj1"/>
              <a:gd fmla="val 0" name="adj2"/>
            </a:avLst>
          </a:prstGeom>
          <a:solidFill>
            <a:srgbClr val="CAD4EA">
              <a:alpha val="89803"/>
            </a:srgbClr>
          </a:solidFill>
          <a:ln cap="flat" cmpd="sng" w="25400">
            <a:solidFill>
              <a:srgbClr val="CAD4EA">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9"/>
          <p:cNvSpPr txBox="1"/>
          <p:nvPr/>
        </p:nvSpPr>
        <p:spPr>
          <a:xfrm>
            <a:off x="3335440" y="1461987"/>
            <a:ext cx="2356043" cy="1201571"/>
          </a:xfrm>
          <a:prstGeom prst="rect">
            <a:avLst/>
          </a:prstGeom>
          <a:noFill/>
          <a:ln>
            <a:noFill/>
          </a:ln>
        </p:spPr>
        <p:txBody>
          <a:bodyPr anchorCtr="0"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Chính phủ 🡪 Ủy ban 🡪 Quốc Hội</a:t>
            </a:r>
            <a:endParaRPr b="0" i="0" sz="2000" u="none" cap="none" strike="noStrike">
              <a:solidFill>
                <a:schemeClr val="dk1"/>
              </a:solidFill>
              <a:latin typeface="Times New Roman"/>
              <a:ea typeface="Times New Roman"/>
              <a:cs typeface="Times New Roman"/>
              <a:sym typeface="Times New Roman"/>
            </a:endParaRPr>
          </a:p>
        </p:txBody>
      </p:sp>
      <p:sp>
        <p:nvSpPr>
          <p:cNvPr id="926" name="Google Shape;926;p29"/>
          <p:cNvSpPr/>
          <p:nvPr/>
        </p:nvSpPr>
        <p:spPr>
          <a:xfrm>
            <a:off x="914400" y="2928311"/>
            <a:ext cx="2421045" cy="1331575"/>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lt1"/>
                </a:solidFill>
                <a:latin typeface="Times New Roman"/>
                <a:ea typeface="Times New Roman"/>
                <a:cs typeface="Times New Roman"/>
                <a:sym typeface="Times New Roman"/>
              </a:rPr>
              <a:t>Thực hiện pháp luật</a:t>
            </a:r>
            <a:endParaRPr sz="2000">
              <a:solidFill>
                <a:schemeClr val="lt1"/>
              </a:solidFill>
              <a:latin typeface="Times New Roman"/>
              <a:ea typeface="Times New Roman"/>
              <a:cs typeface="Times New Roman"/>
              <a:sym typeface="Times New Roman"/>
            </a:endParaRPr>
          </a:p>
        </p:txBody>
      </p:sp>
      <p:sp>
        <p:nvSpPr>
          <p:cNvPr id="927" name="Google Shape;927;p29"/>
          <p:cNvSpPr/>
          <p:nvPr/>
        </p:nvSpPr>
        <p:spPr>
          <a:xfrm rot="5400000">
            <a:off x="3880180" y="2383576"/>
            <a:ext cx="1331575" cy="2421045"/>
          </a:xfrm>
          <a:prstGeom prst="round2SameRect">
            <a:avLst>
              <a:gd fmla="val 16667" name="adj1"/>
              <a:gd fmla="val 0" name="adj2"/>
            </a:avLst>
          </a:prstGeom>
          <a:solidFill>
            <a:srgbClr val="CAD4EA">
              <a:alpha val="89803"/>
            </a:srgbClr>
          </a:solidFill>
          <a:ln cap="flat" cmpd="sng" w="25400">
            <a:solidFill>
              <a:srgbClr val="CAD4EA">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9"/>
          <p:cNvSpPr txBox="1"/>
          <p:nvPr/>
        </p:nvSpPr>
        <p:spPr>
          <a:xfrm>
            <a:off x="3335440" y="2993312"/>
            <a:ext cx="2356043" cy="1201571"/>
          </a:xfrm>
          <a:prstGeom prst="rect">
            <a:avLst/>
          </a:prstGeom>
          <a:noFill/>
          <a:ln>
            <a:noFill/>
          </a:ln>
        </p:spPr>
        <p:txBody>
          <a:bodyPr anchorCtr="0"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Nhân dân: sử dụng, tuân thủ, thi hành pháp luật</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Các cơ quan nhà nước và người có thẩm quyền: tổ chức và giam sát thực hiện</a:t>
            </a:r>
            <a:endParaRPr b="0" i="0" sz="2000" u="none" cap="none" strike="noStrike">
              <a:solidFill>
                <a:schemeClr val="dk1"/>
              </a:solidFill>
              <a:latin typeface="Times New Roman"/>
              <a:ea typeface="Times New Roman"/>
              <a:cs typeface="Times New Roman"/>
              <a:sym typeface="Times New Roman"/>
            </a:endParaRPr>
          </a:p>
        </p:txBody>
      </p:sp>
      <p:sp>
        <p:nvSpPr>
          <p:cNvPr id="929" name="Google Shape;929;p29"/>
          <p:cNvSpPr/>
          <p:nvPr/>
        </p:nvSpPr>
        <p:spPr>
          <a:xfrm>
            <a:off x="914400" y="4459622"/>
            <a:ext cx="2421045" cy="1331575"/>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lt1"/>
                </a:solidFill>
                <a:latin typeface="Times New Roman"/>
                <a:ea typeface="Times New Roman"/>
                <a:cs typeface="Times New Roman"/>
                <a:sym typeface="Times New Roman"/>
              </a:rPr>
              <a:t>Bảo vệ pháp luật</a:t>
            </a:r>
            <a:endParaRPr sz="2000">
              <a:solidFill>
                <a:schemeClr val="lt1"/>
              </a:solidFill>
              <a:latin typeface="Times New Roman"/>
              <a:ea typeface="Times New Roman"/>
              <a:cs typeface="Times New Roman"/>
              <a:sym typeface="Times New Roman"/>
            </a:endParaRPr>
          </a:p>
        </p:txBody>
      </p:sp>
      <p:sp>
        <p:nvSpPr>
          <p:cNvPr id="930" name="Google Shape;930;p29"/>
          <p:cNvSpPr/>
          <p:nvPr/>
        </p:nvSpPr>
        <p:spPr>
          <a:xfrm rot="5400000">
            <a:off x="3880180" y="3914887"/>
            <a:ext cx="1331575" cy="2421045"/>
          </a:xfrm>
          <a:prstGeom prst="round2SameRect">
            <a:avLst>
              <a:gd fmla="val 16667" name="adj1"/>
              <a:gd fmla="val 0" name="adj2"/>
            </a:avLst>
          </a:prstGeom>
          <a:solidFill>
            <a:srgbClr val="CAD4EA">
              <a:alpha val="89803"/>
            </a:srgbClr>
          </a:solidFill>
          <a:ln cap="flat" cmpd="sng" w="25400">
            <a:solidFill>
              <a:srgbClr val="CAD4EA">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9"/>
          <p:cNvSpPr txBox="1"/>
          <p:nvPr/>
        </p:nvSpPr>
        <p:spPr>
          <a:xfrm>
            <a:off x="3335440" y="4524612"/>
            <a:ext cx="2356043" cy="1201571"/>
          </a:xfrm>
          <a:prstGeom prst="rect">
            <a:avLst/>
          </a:prstGeom>
          <a:noFill/>
          <a:ln>
            <a:noFill/>
          </a:ln>
        </p:spPr>
        <p:txBody>
          <a:bodyPr anchorCtr="0"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Tòa án: Xét xử</a:t>
            </a:r>
            <a:endParaRPr b="0" i="0" sz="2000" u="none" cap="none" strike="noStrike">
              <a:solidFill>
                <a:schemeClr val="dk1"/>
              </a:solidFill>
              <a:latin typeface="Times New Roman"/>
              <a:ea typeface="Times New Roman"/>
              <a:cs typeface="Times New Roman"/>
              <a:sym typeface="Times New Roman"/>
            </a:endParaRPr>
          </a:p>
        </p:txBody>
      </p:sp>
      <p:sp>
        <p:nvSpPr>
          <p:cNvPr id="932" name="Google Shape;932;p29"/>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33" name="Google Shape;933;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30"/>
          <p:cNvSpPr txBox="1"/>
          <p:nvPr>
            <p:ph type="title"/>
          </p:nvPr>
        </p:nvSpPr>
        <p:spPr>
          <a:xfrm>
            <a:off x="990600" y="274638"/>
            <a:ext cx="7943088"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Chức năng của Nhà nước CHXHCN Việt Nam</a:t>
            </a:r>
            <a:endParaRPr sz="3200">
              <a:latin typeface="Times New Roman"/>
              <a:ea typeface="Times New Roman"/>
              <a:cs typeface="Times New Roman"/>
              <a:sym typeface="Times New Roman"/>
            </a:endParaRPr>
          </a:p>
        </p:txBody>
      </p:sp>
      <p:sp>
        <p:nvSpPr>
          <p:cNvPr id="939" name="Google Shape;939;p3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latin typeface="Times New Roman"/>
                <a:ea typeface="Times New Roman"/>
                <a:cs typeface="Times New Roman"/>
                <a:sym typeface="Times New Roman"/>
              </a:rPr>
              <a:t>Chức năng kinh tế</a:t>
            </a:r>
            <a:endParaRPr>
              <a:latin typeface="Times New Roman"/>
              <a:ea typeface="Times New Roman"/>
              <a:cs typeface="Times New Roman"/>
              <a:sym typeface="Times New Roman"/>
            </a:endParaRPr>
          </a:p>
          <a:p>
            <a:pPr indent="-274320" lvl="0" marL="274320" rtl="0" algn="l">
              <a:spcBef>
                <a:spcPts val="520"/>
              </a:spcBef>
              <a:spcAft>
                <a:spcPts val="0"/>
              </a:spcAft>
              <a:buSzPts val="2470"/>
              <a:buChar char="⚫"/>
            </a:pPr>
            <a:r>
              <a:rPr lang="en-US">
                <a:latin typeface="Times New Roman"/>
                <a:ea typeface="Times New Roman"/>
                <a:cs typeface="Times New Roman"/>
                <a:sym typeface="Times New Roman"/>
              </a:rPr>
              <a:t>Chức năng xã hội</a:t>
            </a:r>
            <a:endParaRPr>
              <a:latin typeface="Times New Roman"/>
              <a:ea typeface="Times New Roman"/>
              <a:cs typeface="Times New Roman"/>
              <a:sym typeface="Times New Roman"/>
            </a:endParaRPr>
          </a:p>
          <a:p>
            <a:pPr indent="-274320" lvl="0" marL="274320" rtl="0" algn="l">
              <a:spcBef>
                <a:spcPts val="520"/>
              </a:spcBef>
              <a:spcAft>
                <a:spcPts val="0"/>
              </a:spcAft>
              <a:buSzPts val="2470"/>
              <a:buChar char="⚫"/>
            </a:pPr>
            <a:r>
              <a:rPr lang="en-US">
                <a:latin typeface="Times New Roman"/>
                <a:ea typeface="Times New Roman"/>
                <a:cs typeface="Times New Roman"/>
                <a:sym typeface="Times New Roman"/>
              </a:rPr>
              <a:t>Chức năng đối ngoại</a:t>
            </a:r>
            <a:endParaRPr>
              <a:latin typeface="Times New Roman"/>
              <a:ea typeface="Times New Roman"/>
              <a:cs typeface="Times New Roman"/>
              <a:sym typeface="Times New Roman"/>
            </a:endParaRPr>
          </a:p>
        </p:txBody>
      </p:sp>
      <p:sp>
        <p:nvSpPr>
          <p:cNvPr id="940" name="Google Shape;940;p30"/>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41" name="Google Shape;941;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p31"/>
          <p:cNvSpPr txBox="1"/>
          <p:nvPr>
            <p:ph type="title"/>
          </p:nvPr>
        </p:nvSpPr>
        <p:spPr>
          <a:xfrm>
            <a:off x="381000" y="381000"/>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2.5 Hình thức Nhà nước</a:t>
            </a:r>
            <a:endParaRPr sz="3200">
              <a:latin typeface="Times New Roman"/>
              <a:ea typeface="Times New Roman"/>
              <a:cs typeface="Times New Roman"/>
              <a:sym typeface="Times New Roman"/>
            </a:endParaRPr>
          </a:p>
        </p:txBody>
      </p:sp>
      <p:sp>
        <p:nvSpPr>
          <p:cNvPr id="947" name="Google Shape;947;p31"/>
          <p:cNvSpPr txBox="1"/>
          <p:nvPr>
            <p:ph idx="1" type="body"/>
          </p:nvPr>
        </p:nvSpPr>
        <p:spPr>
          <a:xfrm>
            <a:off x="457200" y="1371600"/>
            <a:ext cx="4038600" cy="4434840"/>
          </a:xfrm>
          <a:prstGeom prst="rect">
            <a:avLst/>
          </a:prstGeom>
          <a:noFill/>
          <a:ln>
            <a:noFill/>
          </a:ln>
        </p:spPr>
        <p:txBody>
          <a:bodyPr anchorCtr="0" anchor="t" bIns="45700" lIns="91425" spcFirstLastPara="1" rIns="91425" wrap="square" tIns="45700">
            <a:normAutofit fontScale="92500"/>
          </a:bodyPr>
          <a:lstStyle/>
          <a:p>
            <a:pPr indent="-129238" lvl="0" marL="274320" rtl="0" algn="just">
              <a:spcBef>
                <a:spcPts val="0"/>
              </a:spcBef>
              <a:spcAft>
                <a:spcPts val="0"/>
              </a:spcAft>
              <a:buSzPct val="95000"/>
              <a:buNone/>
            </a:pPr>
            <a:r>
              <a:t/>
            </a:r>
            <a:endParaRPr>
              <a:latin typeface="Times New Roman"/>
              <a:ea typeface="Times New Roman"/>
              <a:cs typeface="Times New Roman"/>
              <a:sym typeface="Times New Roman"/>
            </a:endParaRPr>
          </a:p>
          <a:p>
            <a:pPr indent="-129238" lvl="0" marL="274320" rtl="0" algn="just">
              <a:spcBef>
                <a:spcPts val="481"/>
              </a:spcBef>
              <a:spcAft>
                <a:spcPts val="0"/>
              </a:spcAft>
              <a:buSzPct val="95000"/>
              <a:buNone/>
            </a:pPr>
            <a:r>
              <a:t/>
            </a:r>
            <a:endParaRPr>
              <a:latin typeface="Times New Roman"/>
              <a:ea typeface="Times New Roman"/>
              <a:cs typeface="Times New Roman"/>
              <a:sym typeface="Times New Roman"/>
            </a:endParaRPr>
          </a:p>
          <a:p>
            <a:pPr indent="-274320" lvl="0" marL="274320" rtl="0" algn="just">
              <a:spcBef>
                <a:spcPts val="481"/>
              </a:spcBef>
              <a:spcAft>
                <a:spcPts val="0"/>
              </a:spcAft>
              <a:buSzPct val="95000"/>
              <a:buChar char="⚫"/>
            </a:pPr>
            <a:r>
              <a:rPr lang="en-US">
                <a:latin typeface="Times New Roman"/>
                <a:ea typeface="Times New Roman"/>
                <a:cs typeface="Times New Roman"/>
                <a:sym typeface="Times New Roman"/>
              </a:rPr>
              <a:t>Hình thức nhà nước  là:</a:t>
            </a:r>
            <a:endParaRPr/>
          </a:p>
          <a:p>
            <a:pPr indent="-140398" lvl="0" marL="274320" rtl="0" algn="just">
              <a:spcBef>
                <a:spcPts val="444"/>
              </a:spcBef>
              <a:spcAft>
                <a:spcPts val="0"/>
              </a:spcAft>
              <a:buSzPct val="95000"/>
              <a:buNone/>
            </a:pPr>
            <a:r>
              <a:t/>
            </a:r>
            <a:endParaRPr sz="2400">
              <a:latin typeface="Times New Roman"/>
              <a:ea typeface="Times New Roman"/>
              <a:cs typeface="Times New Roman"/>
              <a:sym typeface="Times New Roman"/>
            </a:endParaRPr>
          </a:p>
          <a:p>
            <a:pPr indent="-140398" lvl="0" marL="274320" rtl="0" algn="just">
              <a:spcBef>
                <a:spcPts val="444"/>
              </a:spcBef>
              <a:spcAft>
                <a:spcPts val="0"/>
              </a:spcAft>
              <a:buSzPct val="95000"/>
              <a:buNone/>
            </a:pPr>
            <a:r>
              <a:t/>
            </a:r>
            <a:endParaRPr sz="2400">
              <a:latin typeface="Times New Roman"/>
              <a:ea typeface="Times New Roman"/>
              <a:cs typeface="Times New Roman"/>
              <a:sym typeface="Times New Roman"/>
            </a:endParaRPr>
          </a:p>
          <a:p>
            <a:pPr indent="-274320" lvl="0" marL="274320" rtl="0" algn="just">
              <a:spcBef>
                <a:spcPts val="444"/>
              </a:spcBef>
              <a:spcAft>
                <a:spcPts val="0"/>
              </a:spcAft>
              <a:buSzPct val="95000"/>
              <a:buChar char="⚫"/>
            </a:pPr>
            <a:r>
              <a:rPr lang="en-US" sz="2400">
                <a:latin typeface="Times New Roman"/>
                <a:ea typeface="Times New Roman"/>
                <a:cs typeface="Times New Roman"/>
                <a:sym typeface="Times New Roman"/>
              </a:rPr>
              <a:t>Hình thức nhà nước bao gồm hai yếu tố chủ yếu: hình thức chính thể và hình thức cấu trúc. </a:t>
            </a:r>
            <a:endParaRPr/>
          </a:p>
          <a:p>
            <a:pPr indent="-274320" lvl="0" marL="274320" rtl="0" algn="just">
              <a:spcBef>
                <a:spcPts val="444"/>
              </a:spcBef>
              <a:spcAft>
                <a:spcPts val="0"/>
              </a:spcAft>
              <a:buSzPct val="95000"/>
              <a:buChar char="⚫"/>
            </a:pPr>
            <a:r>
              <a:rPr lang="en-US" sz="2400">
                <a:latin typeface="Times New Roman"/>
                <a:ea typeface="Times New Roman"/>
                <a:cs typeface="Times New Roman"/>
                <a:sym typeface="Times New Roman"/>
              </a:rPr>
              <a:t>Ngoài ra, chế độ chính trị cũng là một yếu tố ảnh hưởng trực tiếp tới hình thức nhà nước. </a:t>
            </a:r>
            <a:endParaRPr/>
          </a:p>
          <a:p>
            <a:pPr indent="-129238" lvl="0" marL="274320" rtl="0" algn="just">
              <a:spcBef>
                <a:spcPts val="481"/>
              </a:spcBef>
              <a:spcAft>
                <a:spcPts val="0"/>
              </a:spcAft>
              <a:buSzPct val="95000"/>
              <a:buNone/>
            </a:pPr>
            <a:r>
              <a:t/>
            </a:r>
            <a:endParaRPr>
              <a:latin typeface="Times New Roman"/>
              <a:ea typeface="Times New Roman"/>
              <a:cs typeface="Times New Roman"/>
              <a:sym typeface="Times New Roman"/>
            </a:endParaRPr>
          </a:p>
        </p:txBody>
      </p:sp>
      <p:sp>
        <p:nvSpPr>
          <p:cNvPr id="948" name="Google Shape;948;p31"/>
          <p:cNvSpPr txBox="1"/>
          <p:nvPr>
            <p:ph idx="2" type="body"/>
          </p:nvPr>
        </p:nvSpPr>
        <p:spPr>
          <a:xfrm>
            <a:off x="4572000" y="1524000"/>
            <a:ext cx="4038600" cy="4434840"/>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95000"/>
              <a:buChar char="⚫"/>
            </a:pPr>
            <a:r>
              <a:rPr lang="en-US">
                <a:latin typeface="Times New Roman"/>
                <a:ea typeface="Times New Roman"/>
                <a:cs typeface="Times New Roman"/>
                <a:sym typeface="Times New Roman"/>
              </a:rPr>
              <a:t>Cách thức tổ chức quyền lực nhà nước</a:t>
            </a:r>
            <a:endParaRPr>
              <a:latin typeface="Times New Roman"/>
              <a:ea typeface="Times New Roman"/>
              <a:cs typeface="Times New Roman"/>
              <a:sym typeface="Times New Roman"/>
            </a:endParaRPr>
          </a:p>
          <a:p>
            <a:pPr indent="-129238" lvl="0" marL="274320" rtl="0" algn="l">
              <a:spcBef>
                <a:spcPts val="481"/>
              </a:spcBef>
              <a:spcAft>
                <a:spcPts val="0"/>
              </a:spcAft>
              <a:buSzPct val="95000"/>
              <a:buNone/>
            </a:pPr>
            <a:r>
              <a:t/>
            </a:r>
            <a:endParaRPr>
              <a:latin typeface="Times New Roman"/>
              <a:ea typeface="Times New Roman"/>
              <a:cs typeface="Times New Roman"/>
              <a:sym typeface="Times New Roman"/>
            </a:endParaRPr>
          </a:p>
          <a:p>
            <a:pPr indent="-274320" lvl="0" marL="274320" rtl="0" algn="l">
              <a:spcBef>
                <a:spcPts val="481"/>
              </a:spcBef>
              <a:spcAft>
                <a:spcPts val="0"/>
              </a:spcAft>
              <a:buSzPct val="95000"/>
              <a:buChar char="⚫"/>
            </a:pPr>
            <a:r>
              <a:rPr lang="en-US">
                <a:latin typeface="Times New Roman"/>
                <a:ea typeface="Times New Roman"/>
                <a:cs typeface="Times New Roman"/>
                <a:sym typeface="Times New Roman"/>
              </a:rPr>
              <a:t>Phương pháp thực hiện quyền lực nhà nước</a:t>
            </a:r>
            <a:endParaRPr/>
          </a:p>
        </p:txBody>
      </p:sp>
      <p:pic>
        <p:nvPicPr>
          <p:cNvPr descr="E:\Bai giang\PL DC\world.jpg" id="949" name="Google Shape;949;p31"/>
          <p:cNvPicPr preferRelativeResize="0"/>
          <p:nvPr/>
        </p:nvPicPr>
        <p:blipFill rotWithShape="1">
          <a:blip r:embed="rId3">
            <a:alphaModFix/>
          </a:blip>
          <a:srcRect b="0" l="0" r="0" t="0"/>
          <a:stretch/>
        </p:blipFill>
        <p:spPr>
          <a:xfrm>
            <a:off x="4876800" y="3886200"/>
            <a:ext cx="3810000" cy="1933575"/>
          </a:xfrm>
          <a:prstGeom prst="rect">
            <a:avLst/>
          </a:prstGeom>
          <a:noFill/>
          <a:ln>
            <a:noFill/>
          </a:ln>
        </p:spPr>
      </p:pic>
      <p:cxnSp>
        <p:nvCxnSpPr>
          <p:cNvPr id="950" name="Google Shape;950;p31"/>
          <p:cNvCxnSpPr/>
          <p:nvPr/>
        </p:nvCxnSpPr>
        <p:spPr>
          <a:xfrm flipH="1" rot="10800000">
            <a:off x="3733800" y="1828800"/>
            <a:ext cx="914400" cy="685800"/>
          </a:xfrm>
          <a:prstGeom prst="straightConnector1">
            <a:avLst/>
          </a:prstGeom>
          <a:noFill/>
          <a:ln cap="flat" cmpd="sng" w="9525">
            <a:solidFill>
              <a:srgbClr val="075192"/>
            </a:solidFill>
            <a:prstDash val="solid"/>
            <a:round/>
            <a:headEnd len="sm" w="sm" type="none"/>
            <a:tailEnd len="med" w="med" type="stealth"/>
          </a:ln>
        </p:spPr>
      </p:cxnSp>
      <p:cxnSp>
        <p:nvCxnSpPr>
          <p:cNvPr id="951" name="Google Shape;951;p31"/>
          <p:cNvCxnSpPr/>
          <p:nvPr/>
        </p:nvCxnSpPr>
        <p:spPr>
          <a:xfrm>
            <a:off x="3733800" y="2514600"/>
            <a:ext cx="990600" cy="457200"/>
          </a:xfrm>
          <a:prstGeom prst="straightConnector1">
            <a:avLst/>
          </a:prstGeom>
          <a:noFill/>
          <a:ln cap="flat" cmpd="sng" w="9525">
            <a:solidFill>
              <a:srgbClr val="075192"/>
            </a:solidFill>
            <a:prstDash val="solid"/>
            <a:round/>
            <a:headEnd len="sm" w="sm" type="none"/>
            <a:tailEnd len="med" w="med" type="stealth"/>
          </a:ln>
        </p:spPr>
      </p:cxnSp>
      <p:sp>
        <p:nvSpPr>
          <p:cNvPr id="952" name="Google Shape;952;p31"/>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53" name="Google Shape;953;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6"/>
                                        </p:tgtEl>
                                        <p:attrNameLst>
                                          <p:attrName>style.visibility</p:attrName>
                                        </p:attrNameLst>
                                      </p:cBhvr>
                                      <p:to>
                                        <p:strVal val="visible"/>
                                      </p:to>
                                    </p:set>
                                    <p:animEffect filter="fade" transition="in">
                                      <p:cBhvr>
                                        <p:cTn dur="500"/>
                                        <p:tgtEl>
                                          <p:spTgt spid="9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8">
                                            <p:txEl>
                                              <p:pRg end="0" st="0"/>
                                            </p:txEl>
                                          </p:spTgt>
                                        </p:tgtEl>
                                        <p:attrNameLst>
                                          <p:attrName>style.visibility</p:attrName>
                                        </p:attrNameLst>
                                      </p:cBhvr>
                                      <p:to>
                                        <p:strVal val="visible"/>
                                      </p:to>
                                    </p:set>
                                    <p:anim calcmode="lin" valueType="num">
                                      <p:cBhvr additive="base">
                                        <p:cTn dur="500"/>
                                        <p:tgtEl>
                                          <p:spTgt spid="94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8">
                                            <p:txEl>
                                              <p:pRg end="1" st="1"/>
                                            </p:txEl>
                                          </p:spTgt>
                                        </p:tgtEl>
                                        <p:attrNameLst>
                                          <p:attrName>style.visibility</p:attrName>
                                        </p:attrNameLst>
                                      </p:cBhvr>
                                      <p:to>
                                        <p:strVal val="visible"/>
                                      </p:to>
                                    </p:set>
                                    <p:anim calcmode="lin" valueType="num">
                                      <p:cBhvr additive="base">
                                        <p:cTn dur="500"/>
                                        <p:tgtEl>
                                          <p:spTgt spid="94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48">
                                            <p:txEl>
                                              <p:pRg end="2" st="2"/>
                                            </p:txEl>
                                          </p:spTgt>
                                        </p:tgtEl>
                                        <p:attrNameLst>
                                          <p:attrName>style.visibility</p:attrName>
                                        </p:attrNameLst>
                                      </p:cBhvr>
                                      <p:to>
                                        <p:strVal val="visible"/>
                                      </p:to>
                                    </p:set>
                                    <p:anim calcmode="lin" valueType="num">
                                      <p:cBhvr additive="base">
                                        <p:cTn dur="500"/>
                                        <p:tgtEl>
                                          <p:spTgt spid="94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32"/>
          <p:cNvSpPr txBox="1"/>
          <p:nvPr>
            <p:ph type="title"/>
          </p:nvPr>
        </p:nvSpPr>
        <p:spPr>
          <a:xfrm>
            <a:off x="457200" y="152400"/>
            <a:ext cx="8229600" cy="5334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200"/>
              <a:buFont typeface="Arial"/>
              <a:buNone/>
            </a:pPr>
            <a:r>
              <a:rPr lang="en-US" sz="3200"/>
              <a:t>2.5.1 Hình thức chính thể</a:t>
            </a:r>
            <a:endParaRPr sz="3200"/>
          </a:p>
        </p:txBody>
      </p:sp>
      <p:sp>
        <p:nvSpPr>
          <p:cNvPr id="959" name="Google Shape;959;p32"/>
          <p:cNvSpPr txBox="1"/>
          <p:nvPr>
            <p:ph idx="1" type="body"/>
          </p:nvPr>
        </p:nvSpPr>
        <p:spPr>
          <a:xfrm>
            <a:off x="457200" y="838200"/>
            <a:ext cx="8153400" cy="5562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sz="1800">
                <a:latin typeface="Times New Roman"/>
                <a:ea typeface="Times New Roman"/>
                <a:cs typeface="Times New Roman"/>
                <a:sym typeface="Times New Roman"/>
              </a:rPr>
              <a:t>Phản ánh cách thức thành lập và mối quan hệ giữa các cơ quan nhà nước cũng như thái độ của các cơ quan ấy đối với nhân dân.</a:t>
            </a:r>
            <a:endParaRPr/>
          </a:p>
          <a:p>
            <a:pPr indent="-514350" lvl="0" marL="514350" rtl="0" algn="l">
              <a:spcBef>
                <a:spcPts val="360"/>
              </a:spcBef>
              <a:spcAft>
                <a:spcPts val="0"/>
              </a:spcAft>
              <a:buSzPts val="1710"/>
              <a:buAutoNum type="arabicPeriod"/>
            </a:pPr>
            <a:r>
              <a:rPr lang="en-US" sz="1800">
                <a:latin typeface="Times New Roman"/>
                <a:ea typeface="Times New Roman"/>
                <a:cs typeface="Times New Roman"/>
                <a:sym typeface="Times New Roman"/>
              </a:rPr>
              <a:t>Chính thể quân chủ: người đứng đầu  được lập nên qua hình thức thừa kế </a:t>
            </a:r>
            <a:endParaRPr/>
          </a:p>
          <a:p>
            <a:pPr indent="-514350" lvl="0" marL="514350" rtl="0" algn="l">
              <a:spcBef>
                <a:spcPts val="360"/>
              </a:spcBef>
              <a:spcAft>
                <a:spcPts val="0"/>
              </a:spcAft>
              <a:buSzPts val="1710"/>
              <a:buFont typeface="Noto Sans Symbols"/>
              <a:buAutoNum type="arabicPeriod"/>
            </a:pPr>
            <a:r>
              <a:rPr lang="en-US" sz="1800">
                <a:latin typeface="Times New Roman"/>
                <a:ea typeface="Times New Roman"/>
                <a:cs typeface="Times New Roman"/>
                <a:sym typeface="Times New Roman"/>
              </a:rPr>
              <a:t>Chính thể cộng hòa: cơ quan quyền lực cao nhất được lập nên thông qua bầu cử</a:t>
            </a:r>
            <a:endParaRPr sz="1800">
              <a:latin typeface="Times New Roman"/>
              <a:ea typeface="Times New Roman"/>
              <a:cs typeface="Times New Roman"/>
              <a:sym typeface="Times New Roman"/>
            </a:endParaRPr>
          </a:p>
          <a:p>
            <a:pPr indent="-514350" lvl="0" marL="514350" rtl="0" algn="l">
              <a:spcBef>
                <a:spcPts val="360"/>
              </a:spcBef>
              <a:spcAft>
                <a:spcPts val="0"/>
              </a:spcAft>
              <a:buSzPts val="1710"/>
              <a:buNone/>
            </a:pPr>
            <a:r>
              <a:t/>
            </a:r>
            <a:endParaRPr sz="1800">
              <a:latin typeface="Times New Roman"/>
              <a:ea typeface="Times New Roman"/>
              <a:cs typeface="Times New Roman"/>
              <a:sym typeface="Times New Roman"/>
            </a:endParaRPr>
          </a:p>
        </p:txBody>
      </p:sp>
      <p:pic>
        <p:nvPicPr>
          <p:cNvPr descr="E:\Bai giang\PL DC\Forms_of_government.svg.png" id="960" name="Google Shape;960;p32"/>
          <p:cNvPicPr preferRelativeResize="0"/>
          <p:nvPr/>
        </p:nvPicPr>
        <p:blipFill rotWithShape="1">
          <a:blip r:embed="rId3">
            <a:alphaModFix/>
          </a:blip>
          <a:srcRect b="0" l="0" r="0" t="0"/>
          <a:stretch/>
        </p:blipFill>
        <p:spPr>
          <a:xfrm>
            <a:off x="0" y="2438400"/>
            <a:ext cx="5245102" cy="3352800"/>
          </a:xfrm>
          <a:prstGeom prst="rect">
            <a:avLst/>
          </a:prstGeom>
          <a:noFill/>
          <a:ln>
            <a:noFill/>
          </a:ln>
        </p:spPr>
      </p:pic>
      <p:graphicFrame>
        <p:nvGraphicFramePr>
          <p:cNvPr id="961" name="Google Shape;961;p32"/>
          <p:cNvGraphicFramePr/>
          <p:nvPr/>
        </p:nvGraphicFramePr>
        <p:xfrm>
          <a:off x="5334000" y="2286000"/>
          <a:ext cx="3000000" cy="3000000"/>
        </p:xfrm>
        <a:graphic>
          <a:graphicData uri="http://schemas.openxmlformats.org/drawingml/2006/table">
            <a:tbl>
              <a:tblPr>
                <a:noFill/>
                <a:tableStyleId>{9E9FC857-DB0C-4306-AAF7-61F27CA975FC}</a:tableStyleId>
              </a:tblPr>
              <a:tblGrid>
                <a:gridCol w="342500"/>
                <a:gridCol w="3467500"/>
              </a:tblGrid>
              <a:tr h="454250">
                <a:tc gridSpan="2">
                  <a:txBody>
                    <a:bodyPr/>
                    <a:lstStyle/>
                    <a:p>
                      <a:pPr indent="0" lvl="0" marL="0" marR="0" rtl="0" algn="l">
                        <a:lnSpc>
                          <a:spcPct val="115000"/>
                        </a:lnSpc>
                        <a:spcBef>
                          <a:spcPts val="0"/>
                        </a:spcBef>
                        <a:spcAft>
                          <a:spcPts val="0"/>
                        </a:spcAft>
                        <a:buNone/>
                      </a:pPr>
                      <a:r>
                        <a:rPr lang="en-US" sz="1600" u="none" cap="none" strike="noStrike">
                          <a:latin typeface="Arial"/>
                          <a:ea typeface="Arial"/>
                          <a:cs typeface="Arial"/>
                          <a:sym typeface="Arial"/>
                        </a:rPr>
                        <a:t>Các hình thức chính thể tính đến tháng 5/2010</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307275">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355DD"/>
                    </a:solidFill>
                  </a:tcPr>
                </a:tc>
                <a:tc>
                  <a:txBody>
                    <a:bodyPr/>
                    <a:lstStyle/>
                    <a:p>
                      <a:pPr indent="0" lvl="0" marL="0" marR="0" rtl="0" algn="l">
                        <a:lnSpc>
                          <a:spcPct val="115000"/>
                        </a:lnSpc>
                        <a:spcBef>
                          <a:spcPts val="0"/>
                        </a:spcBef>
                        <a:spcAft>
                          <a:spcPts val="0"/>
                        </a:spcAft>
                        <a:buNone/>
                      </a:pPr>
                      <a:r>
                        <a:rPr lang="en-US" sz="1600" u="sng" cap="none" strike="noStrike">
                          <a:solidFill>
                            <a:schemeClr val="dk1"/>
                          </a:solidFill>
                          <a:latin typeface="Arial"/>
                          <a:ea typeface="Arial"/>
                          <a:cs typeface="Arial"/>
                          <a:sym typeface="Arial"/>
                        </a:rPr>
                        <a:t>Cộng hòa tổng thống </a:t>
                      </a:r>
                      <a:r>
                        <a:rPr lang="en-US" sz="1600" u="none" cap="none" strike="noStrike">
                          <a:solidFill>
                            <a:schemeClr val="dk1"/>
                          </a:solidFill>
                          <a:latin typeface="Arial"/>
                          <a:ea typeface="Arial"/>
                          <a:cs typeface="Arial"/>
                          <a:sym typeface="Arial"/>
                        </a:rPr>
                        <a:t>đầy đủ.</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54250">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BB66"/>
                    </a:solidFill>
                  </a:tcPr>
                </a:tc>
                <a:tc>
                  <a:txBody>
                    <a:bodyPr/>
                    <a:lstStyle/>
                    <a:p>
                      <a:pPr indent="0" lvl="0" marL="0" marR="0" rtl="0" algn="l">
                        <a:lnSpc>
                          <a:spcPct val="115000"/>
                        </a:lnSpc>
                        <a:spcBef>
                          <a:spcPts val="0"/>
                        </a:spcBef>
                        <a:spcAft>
                          <a:spcPts val="0"/>
                        </a:spcAft>
                        <a:buNone/>
                      </a:pPr>
                      <a:r>
                        <a:rPr lang="en-US" sz="1600" u="sng" cap="none" strike="noStrike">
                          <a:solidFill>
                            <a:schemeClr val="dk1"/>
                          </a:solidFill>
                          <a:latin typeface="Arial"/>
                          <a:ea typeface="Arial"/>
                          <a:cs typeface="Arial"/>
                          <a:sym typeface="Arial"/>
                        </a:rPr>
                        <a:t>Cộng hòa tổng thống </a:t>
                      </a:r>
                      <a:r>
                        <a:rPr lang="en-US" sz="1600" u="none" cap="none" strike="noStrike">
                          <a:solidFill>
                            <a:schemeClr val="dk1"/>
                          </a:solidFill>
                          <a:latin typeface="Arial"/>
                          <a:ea typeface="Arial"/>
                          <a:cs typeface="Arial"/>
                          <a:sym typeface="Arial"/>
                        </a:rPr>
                        <a:t>tồn tại chức vị tổng thống và thủ tướng.</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7275">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0E847"/>
                    </a:solidFill>
                  </a:tcPr>
                </a:tc>
                <a:tc>
                  <a:txBody>
                    <a:bodyPr/>
                    <a:lstStyle/>
                    <a:p>
                      <a:pPr indent="0" lvl="0" marL="0" marR="0" rtl="0" algn="l">
                        <a:lnSpc>
                          <a:spcPct val="115000"/>
                        </a:lnSpc>
                        <a:spcBef>
                          <a:spcPts val="0"/>
                        </a:spcBef>
                        <a:spcAft>
                          <a:spcPts val="0"/>
                        </a:spcAft>
                        <a:buNone/>
                      </a:pPr>
                      <a:r>
                        <a:rPr lang="en-US" sz="1600" u="sng" cap="none" strike="noStrike">
                          <a:solidFill>
                            <a:schemeClr val="dk1"/>
                          </a:solidFill>
                          <a:latin typeface="Arial"/>
                          <a:ea typeface="Arial"/>
                          <a:cs typeface="Arial"/>
                          <a:sym typeface="Arial"/>
                        </a:rPr>
                        <a:t>Nửa cộng hòa tổng thống</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1100">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9A33"/>
                    </a:solidFill>
                  </a:tcPr>
                </a:tc>
                <a:tc>
                  <a:txBody>
                    <a:bodyPr/>
                    <a:lstStyle/>
                    <a:p>
                      <a:pPr indent="0" lvl="0" marL="0" marR="0" rtl="0" algn="l">
                        <a:lnSpc>
                          <a:spcPct val="115000"/>
                        </a:lnSpc>
                        <a:spcBef>
                          <a:spcPts val="0"/>
                        </a:spcBef>
                        <a:spcAft>
                          <a:spcPts val="0"/>
                        </a:spcAft>
                        <a:buNone/>
                      </a:pPr>
                      <a:r>
                        <a:rPr lang="en-US" sz="1600" u="sng" cap="none" strike="noStrike">
                          <a:solidFill>
                            <a:schemeClr val="dk1"/>
                          </a:solidFill>
                          <a:latin typeface="Arial"/>
                          <a:ea typeface="Arial"/>
                          <a:cs typeface="Arial"/>
                          <a:sym typeface="Arial"/>
                        </a:rPr>
                        <a:t>Cộng hòa nghị viện</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1225">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75353"/>
                    </a:solidFill>
                  </a:tcPr>
                </a:tc>
                <a:tc>
                  <a:txBody>
                    <a:bodyPr/>
                    <a:lstStyle/>
                    <a:p>
                      <a:pPr indent="0" lvl="0" marL="0" marR="0" rtl="0" algn="l">
                        <a:lnSpc>
                          <a:spcPct val="115000"/>
                        </a:lnSpc>
                        <a:spcBef>
                          <a:spcPts val="0"/>
                        </a:spcBef>
                        <a:spcAft>
                          <a:spcPts val="0"/>
                        </a:spcAft>
                        <a:buNone/>
                      </a:pPr>
                      <a:r>
                        <a:rPr lang="en-US" sz="1600" u="sng" cap="none" strike="noStrike">
                          <a:solidFill>
                            <a:schemeClr val="dk1"/>
                          </a:solidFill>
                          <a:latin typeface="Arial"/>
                          <a:ea typeface="Arial"/>
                          <a:cs typeface="Arial"/>
                          <a:sym typeface="Arial"/>
                        </a:rPr>
                        <a:t>Quân chủ lập hiến nghị viện: </a:t>
                      </a:r>
                      <a:r>
                        <a:rPr lang="en-US" sz="1600" u="none" cap="none" strike="noStrike">
                          <a:solidFill>
                            <a:schemeClr val="dk1"/>
                          </a:solidFill>
                          <a:latin typeface="Arial"/>
                          <a:ea typeface="Arial"/>
                          <a:cs typeface="Arial"/>
                          <a:sym typeface="Arial"/>
                        </a:rPr>
                        <a:t>vua không trực tiếp điều hành đất nước.</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39925">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EE1AF9"/>
                    </a:solidFill>
                  </a:tcPr>
                </a:tc>
                <a:tc>
                  <a:txBody>
                    <a:bodyPr/>
                    <a:lstStyle/>
                    <a:p>
                      <a:pPr indent="0" lvl="0" marL="0" marR="0" rtl="0" algn="l">
                        <a:lnSpc>
                          <a:spcPct val="115000"/>
                        </a:lnSpc>
                        <a:spcBef>
                          <a:spcPts val="0"/>
                        </a:spcBef>
                        <a:spcAft>
                          <a:spcPts val="0"/>
                        </a:spcAft>
                        <a:buNone/>
                      </a:pPr>
                      <a:r>
                        <a:rPr lang="en-US" sz="1600" u="sng" cap="none" strike="noStrike">
                          <a:solidFill>
                            <a:schemeClr val="dk1"/>
                          </a:solidFill>
                          <a:latin typeface="Arial"/>
                          <a:ea typeface="Arial"/>
                          <a:cs typeface="Arial"/>
                          <a:sym typeface="Arial"/>
                        </a:rPr>
                        <a:t>Quân chủ lập hiến nghị viện: </a:t>
                      </a:r>
                      <a:r>
                        <a:rPr lang="en-US" sz="1600" u="none" cap="none" strike="noStrike">
                          <a:solidFill>
                            <a:schemeClr val="dk1"/>
                          </a:solidFill>
                          <a:latin typeface="Arial"/>
                          <a:ea typeface="Arial"/>
                          <a:cs typeface="Arial"/>
                          <a:sym typeface="Arial"/>
                        </a:rPr>
                        <a:t>vua trực tiếp điều hành đất nước.</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1100">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801A80"/>
                    </a:solidFill>
                  </a:tcPr>
                </a:tc>
                <a:tc>
                  <a:txBody>
                    <a:bodyPr/>
                    <a:lstStyle/>
                    <a:p>
                      <a:pPr indent="0" lvl="0" marL="0" marR="0" rtl="0" algn="l">
                        <a:lnSpc>
                          <a:spcPct val="115000"/>
                        </a:lnSpc>
                        <a:spcBef>
                          <a:spcPts val="0"/>
                        </a:spcBef>
                        <a:spcAft>
                          <a:spcPts val="0"/>
                        </a:spcAft>
                        <a:buNone/>
                      </a:pPr>
                      <a:r>
                        <a:rPr lang="en-US" sz="1600" u="sng" cap="none" strike="noStrike">
                          <a:solidFill>
                            <a:schemeClr val="dk1"/>
                          </a:solidFill>
                          <a:latin typeface="Arial"/>
                          <a:ea typeface="Arial"/>
                          <a:cs typeface="Arial"/>
                          <a:sym typeface="Arial"/>
                        </a:rPr>
                        <a:t>Quân chủ tuyệt đối</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1100">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AA6F33"/>
                    </a:solidFill>
                  </a:tcPr>
                </a:tc>
                <a:tc>
                  <a:txBody>
                    <a:bodyPr/>
                    <a:lstStyle/>
                    <a:p>
                      <a:pPr indent="0" lvl="0" marL="0" marR="0" rtl="0" algn="l">
                        <a:lnSpc>
                          <a:spcPct val="115000"/>
                        </a:lnSpc>
                        <a:spcBef>
                          <a:spcPts val="0"/>
                        </a:spcBef>
                        <a:spcAft>
                          <a:spcPts val="0"/>
                        </a:spcAft>
                        <a:buNone/>
                      </a:pPr>
                      <a:r>
                        <a:rPr lang="en-US" sz="1600" u="sng" cap="none" strike="noStrike">
                          <a:solidFill>
                            <a:schemeClr val="dk1"/>
                          </a:solidFill>
                          <a:latin typeface="Arial"/>
                          <a:ea typeface="Arial"/>
                          <a:cs typeface="Arial"/>
                          <a:sym typeface="Arial"/>
                        </a:rPr>
                        <a:t>Chính thể độc đảng</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54250">
                <a:tc>
                  <a:txBody>
                    <a:bodyPr/>
                    <a:lstStyle/>
                    <a:p>
                      <a:pPr indent="0" lvl="0" marL="0" marR="0" rtl="0" algn="l">
                        <a:lnSpc>
                          <a:spcPct val="115000"/>
                        </a:lnSpc>
                        <a:spcBef>
                          <a:spcPts val="0"/>
                        </a:spcBef>
                        <a:spcAft>
                          <a:spcPts val="0"/>
                        </a:spcAft>
                        <a:buNone/>
                      </a:pPr>
                      <a:r>
                        <a:t/>
                      </a:r>
                      <a:endParaRPr sz="1600" u="none" cap="none" strike="noStrike">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CCCC"/>
                    </a:solidFill>
                  </a:tcPr>
                </a:tc>
                <a:tc>
                  <a:txBody>
                    <a:bodyPr/>
                    <a:lstStyle/>
                    <a:p>
                      <a:pPr indent="0" lvl="0" marL="0" marR="0" rtl="0" algn="l">
                        <a:lnSpc>
                          <a:spcPct val="115000"/>
                        </a:lnSpc>
                        <a:spcBef>
                          <a:spcPts val="0"/>
                        </a:spcBef>
                        <a:spcAft>
                          <a:spcPts val="0"/>
                        </a:spcAft>
                        <a:buNone/>
                      </a:pPr>
                      <a:r>
                        <a:rPr lang="en-US" sz="1600" u="none" cap="none" strike="noStrike">
                          <a:solidFill>
                            <a:schemeClr val="dk1"/>
                          </a:solidFill>
                          <a:latin typeface="Arial"/>
                          <a:ea typeface="Arial"/>
                          <a:cs typeface="Arial"/>
                          <a:sym typeface="Arial"/>
                        </a:rPr>
                        <a:t>Những nước có cơ quan lập hiến tạm thời ngừng hoạt động.</a:t>
                      </a:r>
                      <a:endParaRPr sz="1600" u="none" cap="none" strike="noStrike">
                        <a:solidFill>
                          <a:schemeClr val="dk1"/>
                        </a:solidFill>
                        <a:latin typeface="Arial"/>
                        <a:ea typeface="Arial"/>
                        <a:cs typeface="Arial"/>
                        <a:sym typeface="Arial"/>
                      </a:endParaRPr>
                    </a:p>
                  </a:txBody>
                  <a:tcPr marT="7100" marB="7100" marR="7100" marL="71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62" name="Google Shape;962;p32"/>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63" name="Google Shape;963;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xEl>
                                              <p:pRg end="0" st="0"/>
                                            </p:txEl>
                                          </p:spTgt>
                                        </p:tgtEl>
                                        <p:attrNameLst>
                                          <p:attrName>style.visibility</p:attrName>
                                        </p:attrNameLst>
                                      </p:cBhvr>
                                      <p:to>
                                        <p:strVal val="visible"/>
                                      </p:to>
                                    </p:set>
                                    <p:animEffect filter="fade" transition="in">
                                      <p:cBhvr>
                                        <p:cTn dur="500"/>
                                        <p:tgtEl>
                                          <p:spTgt spid="9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xEl>
                                              <p:pRg end="1" st="1"/>
                                            </p:txEl>
                                          </p:spTgt>
                                        </p:tgtEl>
                                        <p:attrNameLst>
                                          <p:attrName>style.visibility</p:attrName>
                                        </p:attrNameLst>
                                      </p:cBhvr>
                                      <p:to>
                                        <p:strVal val="visible"/>
                                      </p:to>
                                    </p:set>
                                    <p:animEffect filter="fade" transition="in">
                                      <p:cBhvr>
                                        <p:cTn dur="500"/>
                                        <p:tgtEl>
                                          <p:spTgt spid="9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xEl>
                                              <p:pRg end="2" st="2"/>
                                            </p:txEl>
                                          </p:spTgt>
                                        </p:tgtEl>
                                        <p:attrNameLst>
                                          <p:attrName>style.visibility</p:attrName>
                                        </p:attrNameLst>
                                      </p:cBhvr>
                                      <p:to>
                                        <p:strVal val="visible"/>
                                      </p:to>
                                    </p:set>
                                    <p:animEffect filter="fade" transition="in">
                                      <p:cBhvr>
                                        <p:cTn dur="500"/>
                                        <p:tgtEl>
                                          <p:spTgt spid="9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xEl>
                                              <p:pRg end="3" st="3"/>
                                            </p:txEl>
                                          </p:spTgt>
                                        </p:tgtEl>
                                        <p:attrNameLst>
                                          <p:attrName>style.visibility</p:attrName>
                                        </p:attrNameLst>
                                      </p:cBhvr>
                                      <p:to>
                                        <p:strVal val="visible"/>
                                      </p:to>
                                    </p:set>
                                    <p:animEffect filter="fade" transition="in">
                                      <p:cBhvr>
                                        <p:cTn dur="500"/>
                                        <p:tgtEl>
                                          <p:spTgt spid="9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0"/>
                                        </p:tgtEl>
                                        <p:attrNameLst>
                                          <p:attrName>style.visibility</p:attrName>
                                        </p:attrNameLst>
                                      </p:cBhvr>
                                      <p:to>
                                        <p:strVal val="visible"/>
                                      </p:to>
                                    </p:set>
                                    <p:anim calcmode="lin" valueType="num">
                                      <p:cBhvr additive="base">
                                        <p:cTn dur="500"/>
                                        <p:tgtEl>
                                          <p:spTgt spid="9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1"/>
                                        </p:tgtEl>
                                        <p:attrNameLst>
                                          <p:attrName>style.visibility</p:attrName>
                                        </p:attrNameLst>
                                      </p:cBhvr>
                                      <p:to>
                                        <p:strVal val="visible"/>
                                      </p:to>
                                    </p:set>
                                    <p:anim calcmode="lin" valueType="num">
                                      <p:cBhvr additive="base">
                                        <p:cTn dur="500"/>
                                        <p:tgtEl>
                                          <p:spTgt spid="96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33"/>
          <p:cNvSpPr txBox="1"/>
          <p:nvPr>
            <p:ph type="title"/>
          </p:nvPr>
        </p:nvSpPr>
        <p:spPr>
          <a:xfrm>
            <a:off x="304800" y="2286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Arial"/>
              <a:buNone/>
            </a:pPr>
            <a:r>
              <a:rPr lang="en-US"/>
              <a:t>Chính thể quân chủ</a:t>
            </a:r>
            <a:endParaRPr/>
          </a:p>
        </p:txBody>
      </p:sp>
      <p:sp>
        <p:nvSpPr>
          <p:cNvPr id="969" name="Google Shape;969;p33"/>
          <p:cNvSpPr txBox="1"/>
          <p:nvPr>
            <p:ph idx="1" type="body"/>
          </p:nvPr>
        </p:nvSpPr>
        <p:spPr>
          <a:xfrm>
            <a:off x="381000" y="15240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Quân chủ tuyệt đối: </a:t>
            </a:r>
            <a:endParaRPr/>
          </a:p>
          <a:p>
            <a:pPr indent="-274320" lvl="0" marL="274320" rtl="0" algn="l">
              <a:spcBef>
                <a:spcPts val="520"/>
              </a:spcBef>
              <a:spcAft>
                <a:spcPts val="0"/>
              </a:spcAft>
              <a:buSzPts val="2470"/>
              <a:buFont typeface="Arial"/>
              <a:buChar char="-"/>
            </a:pPr>
            <a:r>
              <a:rPr lang="en-US"/>
              <a:t>Quyền lực tập trung trong tay người đứng đầu</a:t>
            </a:r>
            <a:endParaRPr/>
          </a:p>
          <a:p>
            <a:pPr indent="-274320" lvl="0" marL="274320" rtl="0" algn="l">
              <a:spcBef>
                <a:spcPts val="520"/>
              </a:spcBef>
              <a:spcAft>
                <a:spcPts val="0"/>
              </a:spcAft>
              <a:buSzPts val="2470"/>
              <a:buFont typeface="Arial"/>
              <a:buChar char="-"/>
            </a:pPr>
            <a:r>
              <a:rPr lang="en-US"/>
              <a:t>Mô hình tiêu biểu của xã hội phong kiến</a:t>
            </a:r>
            <a:endParaRPr/>
          </a:p>
          <a:p>
            <a:pPr indent="-274320" lvl="0" marL="274320" rtl="0" algn="l">
              <a:spcBef>
                <a:spcPts val="520"/>
              </a:spcBef>
              <a:spcAft>
                <a:spcPts val="0"/>
              </a:spcAft>
              <a:buSzPts val="2470"/>
              <a:buFont typeface="Arial"/>
              <a:buChar char="-"/>
            </a:pPr>
            <a:r>
              <a:rPr lang="en-US"/>
              <a:t>Ví dụ: Trung Quốc, Việt Nam, Nhật Bản thời trung đại</a:t>
            </a:r>
            <a:endParaRPr/>
          </a:p>
        </p:txBody>
      </p:sp>
      <p:pic>
        <p:nvPicPr>
          <p:cNvPr descr="Chân dung Càn Long thời niên thiếu" id="970" name="Google Shape;970;p33">
            <a:hlinkClick r:id="rId3"/>
          </p:cNvPr>
          <p:cNvPicPr preferRelativeResize="0"/>
          <p:nvPr/>
        </p:nvPicPr>
        <p:blipFill rotWithShape="1">
          <a:blip r:embed="rId4">
            <a:alphaModFix/>
          </a:blip>
          <a:srcRect b="0" l="0" r="0" t="0"/>
          <a:stretch/>
        </p:blipFill>
        <p:spPr>
          <a:xfrm>
            <a:off x="6400800" y="3505200"/>
            <a:ext cx="2168525" cy="2710084"/>
          </a:xfrm>
          <a:prstGeom prst="rect">
            <a:avLst/>
          </a:prstGeom>
          <a:noFill/>
          <a:ln>
            <a:noFill/>
          </a:ln>
        </p:spPr>
      </p:pic>
      <p:sp>
        <p:nvSpPr>
          <p:cNvPr id="971" name="Google Shape;971;p33"/>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72" name="Google Shape;972;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8"/>
                                        </p:tgtEl>
                                        <p:attrNameLst>
                                          <p:attrName>style.visibility</p:attrName>
                                        </p:attrNameLst>
                                      </p:cBhvr>
                                      <p:to>
                                        <p:strVal val="visible"/>
                                      </p:to>
                                    </p:set>
                                    <p:anim calcmode="lin" valueType="num">
                                      <p:cBhvr additive="base">
                                        <p:cTn dur="500"/>
                                        <p:tgtEl>
                                          <p:spTgt spid="9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xEl>
                                              <p:pRg end="0" st="0"/>
                                            </p:txEl>
                                          </p:spTgt>
                                        </p:tgtEl>
                                        <p:attrNameLst>
                                          <p:attrName>style.visibility</p:attrName>
                                        </p:attrNameLst>
                                      </p:cBhvr>
                                      <p:to>
                                        <p:strVal val="visible"/>
                                      </p:to>
                                    </p:set>
                                    <p:animEffect filter="fade" transition="in">
                                      <p:cBhvr>
                                        <p:cTn dur="500"/>
                                        <p:tgtEl>
                                          <p:spTgt spid="9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xEl>
                                              <p:pRg end="1" st="1"/>
                                            </p:txEl>
                                          </p:spTgt>
                                        </p:tgtEl>
                                        <p:attrNameLst>
                                          <p:attrName>style.visibility</p:attrName>
                                        </p:attrNameLst>
                                      </p:cBhvr>
                                      <p:to>
                                        <p:strVal val="visible"/>
                                      </p:to>
                                    </p:set>
                                    <p:animEffect filter="fade" transition="in">
                                      <p:cBhvr>
                                        <p:cTn dur="500"/>
                                        <p:tgtEl>
                                          <p:spTgt spid="9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xEl>
                                              <p:pRg end="2" st="2"/>
                                            </p:txEl>
                                          </p:spTgt>
                                        </p:tgtEl>
                                        <p:attrNameLst>
                                          <p:attrName>style.visibility</p:attrName>
                                        </p:attrNameLst>
                                      </p:cBhvr>
                                      <p:to>
                                        <p:strVal val="visible"/>
                                      </p:to>
                                    </p:set>
                                    <p:animEffect filter="fade" transition="in">
                                      <p:cBhvr>
                                        <p:cTn dur="500"/>
                                        <p:tgtEl>
                                          <p:spTgt spid="9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xEl>
                                              <p:pRg end="3" st="3"/>
                                            </p:txEl>
                                          </p:spTgt>
                                        </p:tgtEl>
                                        <p:attrNameLst>
                                          <p:attrName>style.visibility</p:attrName>
                                        </p:attrNameLst>
                                      </p:cBhvr>
                                      <p:to>
                                        <p:strVal val="visible"/>
                                      </p:to>
                                    </p:set>
                                    <p:animEffect filter="fade" transition="in">
                                      <p:cBhvr>
                                        <p:cTn dur="500"/>
                                        <p:tgtEl>
                                          <p:spTgt spid="96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34"/>
          <p:cNvSpPr txBox="1"/>
          <p:nvPr>
            <p:ph type="title"/>
          </p:nvPr>
        </p:nvSpPr>
        <p:spPr>
          <a:xfrm>
            <a:off x="457200" y="228600"/>
            <a:ext cx="8229600" cy="743712"/>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Arial"/>
              <a:buNone/>
            </a:pPr>
            <a:r>
              <a:rPr lang="en-US"/>
              <a:t>Chính thể quân chủ</a:t>
            </a:r>
            <a:endParaRPr/>
          </a:p>
        </p:txBody>
      </p:sp>
      <p:sp>
        <p:nvSpPr>
          <p:cNvPr id="978" name="Google Shape;978;p34"/>
          <p:cNvSpPr txBox="1"/>
          <p:nvPr>
            <p:ph idx="1" type="body"/>
          </p:nvPr>
        </p:nvSpPr>
        <p:spPr>
          <a:xfrm>
            <a:off x="533400" y="1143000"/>
            <a:ext cx="8382000" cy="533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lang="en-US" sz="2000">
                <a:latin typeface="Times New Roman"/>
                <a:ea typeface="Times New Roman"/>
                <a:cs typeface="Times New Roman"/>
                <a:sym typeface="Times New Roman"/>
              </a:rPr>
              <a:t>Quân chủ hạn chế: </a:t>
            </a:r>
            <a:endParaRPr/>
          </a:p>
          <a:p>
            <a:pPr indent="-274320" lvl="0" marL="274320" rtl="0" algn="l">
              <a:spcBef>
                <a:spcPts val="400"/>
              </a:spcBef>
              <a:spcAft>
                <a:spcPts val="0"/>
              </a:spcAft>
              <a:buSzPts val="1900"/>
              <a:buFont typeface="Times New Roman"/>
              <a:buChar char="-"/>
            </a:pPr>
            <a:r>
              <a:rPr lang="en-US" sz="2000">
                <a:latin typeface="Times New Roman"/>
                <a:ea typeface="Times New Roman"/>
                <a:cs typeface="Times New Roman"/>
                <a:sym typeface="Times New Roman"/>
              </a:rPr>
              <a:t>Quyền lực tối cao của nhà nước được trao một phần cho người đứng đầu nhà nước, còn một phần được trao cho một cơ quan cao cấp khác (như nghị viện trong nhà nước tư sản hoặc hội nghị đại diện đẳng cấp trong nhà nước phong kiến). Chính thể quân chủ hạn chế trong các nhà nước tư sản gọi là quân chủ lập hiến (quân chủ đại nghị).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Font typeface="Times New Roman"/>
              <a:buChar char="-"/>
            </a:pPr>
            <a:r>
              <a:rPr lang="en-US" sz="2000">
                <a:latin typeface="Times New Roman"/>
                <a:ea typeface="Times New Roman"/>
                <a:cs typeface="Times New Roman"/>
                <a:sym typeface="Times New Roman"/>
              </a:rPr>
              <a:t>Ví dụ: Anh, Bỉ, Đan Mạch, Canada, Tây Ban Nha, Luxemburg, Nhật Bản, New Zealand….</a:t>
            </a:r>
            <a:endParaRPr/>
          </a:p>
          <a:p>
            <a:pPr indent="-153670" lvl="0" marL="274320" rtl="0" algn="l">
              <a:spcBef>
                <a:spcPts val="400"/>
              </a:spcBef>
              <a:spcAft>
                <a:spcPts val="0"/>
              </a:spcAft>
              <a:buSzPts val="1900"/>
              <a:buFont typeface="Arial"/>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p:txBody>
      </p:sp>
      <p:pic>
        <p:nvPicPr>
          <p:cNvPr descr="E:\Bai giang\PL DC\image-209108-galleryV9-ikiy.jpg" id="979" name="Google Shape;979;p34"/>
          <p:cNvPicPr preferRelativeResize="0"/>
          <p:nvPr/>
        </p:nvPicPr>
        <p:blipFill rotWithShape="1">
          <a:blip r:embed="rId3">
            <a:alphaModFix/>
          </a:blip>
          <a:srcRect b="0" l="0" r="0" t="0"/>
          <a:stretch/>
        </p:blipFill>
        <p:spPr>
          <a:xfrm>
            <a:off x="3124200" y="3733800"/>
            <a:ext cx="3640137" cy="2502594"/>
          </a:xfrm>
          <a:prstGeom prst="rect">
            <a:avLst/>
          </a:prstGeom>
          <a:noFill/>
          <a:ln>
            <a:noFill/>
          </a:ln>
        </p:spPr>
      </p:pic>
      <p:sp>
        <p:nvSpPr>
          <p:cNvPr id="980" name="Google Shape;980;p34"/>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81" name="Google Shape;981;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0" st="0"/>
                                            </p:txEl>
                                          </p:spTgt>
                                        </p:tgtEl>
                                        <p:attrNameLst>
                                          <p:attrName>style.visibility</p:attrName>
                                        </p:attrNameLst>
                                      </p:cBhvr>
                                      <p:to>
                                        <p:strVal val="visible"/>
                                      </p:to>
                                    </p:set>
                                    <p:animEffect filter="fade" transition="in">
                                      <p:cBhvr>
                                        <p:cTn dur="500"/>
                                        <p:tgtEl>
                                          <p:spTgt spid="9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1" st="1"/>
                                            </p:txEl>
                                          </p:spTgt>
                                        </p:tgtEl>
                                        <p:attrNameLst>
                                          <p:attrName>style.visibility</p:attrName>
                                        </p:attrNameLst>
                                      </p:cBhvr>
                                      <p:to>
                                        <p:strVal val="visible"/>
                                      </p:to>
                                    </p:set>
                                    <p:animEffect filter="fade" transition="in">
                                      <p:cBhvr>
                                        <p:cTn dur="500"/>
                                        <p:tgtEl>
                                          <p:spTgt spid="97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2" st="2"/>
                                            </p:txEl>
                                          </p:spTgt>
                                        </p:tgtEl>
                                        <p:attrNameLst>
                                          <p:attrName>style.visibility</p:attrName>
                                        </p:attrNameLst>
                                      </p:cBhvr>
                                      <p:to>
                                        <p:strVal val="visible"/>
                                      </p:to>
                                    </p:set>
                                    <p:animEffect filter="fade" transition="in">
                                      <p:cBhvr>
                                        <p:cTn dur="500"/>
                                        <p:tgtEl>
                                          <p:spTgt spid="97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3" st="3"/>
                                            </p:txEl>
                                          </p:spTgt>
                                        </p:tgtEl>
                                        <p:attrNameLst>
                                          <p:attrName>style.visibility</p:attrName>
                                        </p:attrNameLst>
                                      </p:cBhvr>
                                      <p:to>
                                        <p:strVal val="visible"/>
                                      </p:to>
                                    </p:set>
                                    <p:animEffect filter="fade" transition="in">
                                      <p:cBhvr>
                                        <p:cTn dur="500"/>
                                        <p:tgtEl>
                                          <p:spTgt spid="97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8">
                                            <p:txEl>
                                              <p:pRg end="4" st="4"/>
                                            </p:txEl>
                                          </p:spTgt>
                                        </p:tgtEl>
                                        <p:attrNameLst>
                                          <p:attrName>style.visibility</p:attrName>
                                        </p:attrNameLst>
                                      </p:cBhvr>
                                      <p:to>
                                        <p:strVal val="visible"/>
                                      </p:to>
                                    </p:set>
                                    <p:animEffect filter="fade" transition="in">
                                      <p:cBhvr>
                                        <p:cTn dur="500"/>
                                        <p:tgtEl>
                                          <p:spTgt spid="97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35"/>
          <p:cNvSpPr txBox="1"/>
          <p:nvPr>
            <p:ph type="title"/>
          </p:nvPr>
        </p:nvSpPr>
        <p:spPr>
          <a:xfrm>
            <a:off x="457200" y="228600"/>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Chính thể cộng hòa</a:t>
            </a:r>
            <a:endParaRPr sz="3200">
              <a:latin typeface="Times New Roman"/>
              <a:ea typeface="Times New Roman"/>
              <a:cs typeface="Times New Roman"/>
              <a:sym typeface="Times New Roman"/>
            </a:endParaRPr>
          </a:p>
        </p:txBody>
      </p:sp>
      <p:sp>
        <p:nvSpPr>
          <p:cNvPr id="987" name="Google Shape;987;p35"/>
          <p:cNvSpPr txBox="1"/>
          <p:nvPr>
            <p:ph idx="1" type="body"/>
          </p:nvPr>
        </p:nvSpPr>
        <p:spPr>
          <a:xfrm>
            <a:off x="457200" y="1066800"/>
            <a:ext cx="8382000" cy="52578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710"/>
              <a:buChar char="⚫"/>
            </a:pPr>
            <a:r>
              <a:rPr lang="en-US" sz="1800">
                <a:latin typeface="Times New Roman"/>
                <a:ea typeface="Times New Roman"/>
                <a:cs typeface="Times New Roman"/>
                <a:sym typeface="Times New Roman"/>
              </a:rPr>
              <a:t>Chính thể cộng hoà có hai hình thức chủ yếu là cộng hoà quý tộc và cộng hoà dân chủ. </a:t>
            </a:r>
            <a:endParaRPr/>
          </a:p>
          <a:p>
            <a:pPr indent="-274320" lvl="0" marL="274320" rtl="0" algn="l">
              <a:spcBef>
                <a:spcPts val="360"/>
              </a:spcBef>
              <a:spcAft>
                <a:spcPts val="0"/>
              </a:spcAft>
              <a:buSzPts val="1710"/>
              <a:buChar char="⚫"/>
            </a:pPr>
            <a:r>
              <a:rPr b="1" lang="en-US" sz="1800">
                <a:latin typeface="Times New Roman"/>
                <a:ea typeface="Times New Roman"/>
                <a:cs typeface="Times New Roman"/>
                <a:sym typeface="Times New Roman"/>
              </a:rPr>
              <a:t>Cộng hoà quý tộc:</a:t>
            </a:r>
            <a:endParaRPr/>
          </a:p>
          <a:p>
            <a:pPr indent="-274320" lvl="0" marL="274320" rtl="0" algn="l">
              <a:spcBef>
                <a:spcPts val="360"/>
              </a:spcBef>
              <a:spcAft>
                <a:spcPts val="0"/>
              </a:spcAft>
              <a:buSzPts val="1710"/>
              <a:buFont typeface="Times New Roman"/>
              <a:buChar char="-"/>
            </a:pPr>
            <a:r>
              <a:rPr b="1" lang="en-US" sz="1800">
                <a:latin typeface="Times New Roman"/>
                <a:ea typeface="Times New Roman"/>
                <a:cs typeface="Times New Roman"/>
                <a:sym typeface="Times New Roman"/>
              </a:rPr>
              <a:t>L</a:t>
            </a:r>
            <a:r>
              <a:rPr lang="en-US" sz="1800">
                <a:latin typeface="Times New Roman"/>
                <a:ea typeface="Times New Roman"/>
                <a:cs typeface="Times New Roman"/>
                <a:sym typeface="Times New Roman"/>
              </a:rPr>
              <a:t>à hình thức chính thể trong đó cơ quan đại diện do giới quý tộc bầu ra.</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Font typeface="Times New Roman"/>
              <a:buChar char="-"/>
            </a:pPr>
            <a:r>
              <a:rPr lang="en-US" sz="1800">
                <a:latin typeface="Times New Roman"/>
                <a:ea typeface="Times New Roman"/>
                <a:cs typeface="Times New Roman"/>
                <a:sym typeface="Times New Roman"/>
              </a:rPr>
              <a:t>Ví dụ: Nhà nước Aten cổ đại, Nhà nước Cộng hòa quý tộc chủ nô Spac,…</a:t>
            </a:r>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rPr i="1" lang="en-US" sz="1800">
                <a:latin typeface="Times New Roman"/>
                <a:ea typeface="Times New Roman"/>
                <a:cs typeface="Times New Roman"/>
                <a:sym typeface="Times New Roman"/>
              </a:rPr>
              <a:t>                             </a:t>
            </a:r>
            <a:endParaRPr/>
          </a:p>
          <a:p>
            <a:pPr indent="-274320"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rPr i="1" lang="en-US" sz="1800">
                <a:latin typeface="Times New Roman"/>
                <a:ea typeface="Times New Roman"/>
                <a:cs typeface="Times New Roman"/>
                <a:sym typeface="Times New Roman"/>
              </a:rPr>
              <a:t>                                                      Thành bang Aten Cổ đại</a:t>
            </a:r>
            <a:endParaRPr i="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i="1"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p:txBody>
      </p:sp>
      <p:pic>
        <p:nvPicPr>
          <p:cNvPr descr="E:\Bai giang\PL DC\230px-Akropolis_by_Leo_von_Klenze.jpg" id="988" name="Google Shape;988;p35"/>
          <p:cNvPicPr preferRelativeResize="0"/>
          <p:nvPr/>
        </p:nvPicPr>
        <p:blipFill rotWithShape="1">
          <a:blip r:embed="rId3">
            <a:alphaModFix/>
          </a:blip>
          <a:srcRect b="0" l="0" r="0" t="0"/>
          <a:stretch/>
        </p:blipFill>
        <p:spPr>
          <a:xfrm>
            <a:off x="2971800" y="3124200"/>
            <a:ext cx="3505200" cy="2407920"/>
          </a:xfrm>
          <a:prstGeom prst="rect">
            <a:avLst/>
          </a:prstGeom>
          <a:noFill/>
          <a:ln>
            <a:noFill/>
          </a:ln>
        </p:spPr>
      </p:pic>
      <p:sp>
        <p:nvSpPr>
          <p:cNvPr id="989" name="Google Shape;989;p35"/>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90" name="Google Shape;990;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6"/>
                                        </p:tgtEl>
                                        <p:attrNameLst>
                                          <p:attrName>style.visibility</p:attrName>
                                        </p:attrNameLst>
                                      </p:cBhvr>
                                      <p:to>
                                        <p:strVal val="visible"/>
                                      </p:to>
                                    </p:set>
                                    <p:animEffect filter="fade" transition="in">
                                      <p:cBhvr>
                                        <p:cTn dur="500"/>
                                        <p:tgtEl>
                                          <p:spTgt spid="9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0" st="0"/>
                                            </p:txEl>
                                          </p:spTgt>
                                        </p:tgtEl>
                                        <p:attrNameLst>
                                          <p:attrName>style.visibility</p:attrName>
                                        </p:attrNameLst>
                                      </p:cBhvr>
                                      <p:to>
                                        <p:strVal val="visible"/>
                                      </p:to>
                                    </p:set>
                                    <p:anim calcmode="lin" valueType="num">
                                      <p:cBhvr additive="base">
                                        <p:cTn dur="500"/>
                                        <p:tgtEl>
                                          <p:spTgt spid="98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 st="1"/>
                                            </p:txEl>
                                          </p:spTgt>
                                        </p:tgtEl>
                                        <p:attrNameLst>
                                          <p:attrName>style.visibility</p:attrName>
                                        </p:attrNameLst>
                                      </p:cBhvr>
                                      <p:to>
                                        <p:strVal val="visible"/>
                                      </p:to>
                                    </p:set>
                                    <p:anim calcmode="lin" valueType="num">
                                      <p:cBhvr additive="base">
                                        <p:cTn dur="500"/>
                                        <p:tgtEl>
                                          <p:spTgt spid="98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2" st="2"/>
                                            </p:txEl>
                                          </p:spTgt>
                                        </p:tgtEl>
                                        <p:attrNameLst>
                                          <p:attrName>style.visibility</p:attrName>
                                        </p:attrNameLst>
                                      </p:cBhvr>
                                      <p:to>
                                        <p:strVal val="visible"/>
                                      </p:to>
                                    </p:set>
                                    <p:anim calcmode="lin" valueType="num">
                                      <p:cBhvr additive="base">
                                        <p:cTn dur="500"/>
                                        <p:tgtEl>
                                          <p:spTgt spid="98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3" st="3"/>
                                            </p:txEl>
                                          </p:spTgt>
                                        </p:tgtEl>
                                        <p:attrNameLst>
                                          <p:attrName>style.visibility</p:attrName>
                                        </p:attrNameLst>
                                      </p:cBhvr>
                                      <p:to>
                                        <p:strVal val="visible"/>
                                      </p:to>
                                    </p:set>
                                    <p:anim calcmode="lin" valueType="num">
                                      <p:cBhvr additive="base">
                                        <p:cTn dur="500"/>
                                        <p:tgtEl>
                                          <p:spTgt spid="98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4" st="4"/>
                                            </p:txEl>
                                          </p:spTgt>
                                        </p:tgtEl>
                                        <p:attrNameLst>
                                          <p:attrName>style.visibility</p:attrName>
                                        </p:attrNameLst>
                                      </p:cBhvr>
                                      <p:to>
                                        <p:strVal val="visible"/>
                                      </p:to>
                                    </p:set>
                                    <p:anim calcmode="lin" valueType="num">
                                      <p:cBhvr additive="base">
                                        <p:cTn dur="500"/>
                                        <p:tgtEl>
                                          <p:spTgt spid="98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5" st="5"/>
                                            </p:txEl>
                                          </p:spTgt>
                                        </p:tgtEl>
                                        <p:attrNameLst>
                                          <p:attrName>style.visibility</p:attrName>
                                        </p:attrNameLst>
                                      </p:cBhvr>
                                      <p:to>
                                        <p:strVal val="visible"/>
                                      </p:to>
                                    </p:set>
                                    <p:anim calcmode="lin" valueType="num">
                                      <p:cBhvr additive="base">
                                        <p:cTn dur="500"/>
                                        <p:tgtEl>
                                          <p:spTgt spid="98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6" st="6"/>
                                            </p:txEl>
                                          </p:spTgt>
                                        </p:tgtEl>
                                        <p:attrNameLst>
                                          <p:attrName>style.visibility</p:attrName>
                                        </p:attrNameLst>
                                      </p:cBhvr>
                                      <p:to>
                                        <p:strVal val="visible"/>
                                      </p:to>
                                    </p:set>
                                    <p:anim calcmode="lin" valueType="num">
                                      <p:cBhvr additive="base">
                                        <p:cTn dur="500"/>
                                        <p:tgtEl>
                                          <p:spTgt spid="98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7" st="7"/>
                                            </p:txEl>
                                          </p:spTgt>
                                        </p:tgtEl>
                                        <p:attrNameLst>
                                          <p:attrName>style.visibility</p:attrName>
                                        </p:attrNameLst>
                                      </p:cBhvr>
                                      <p:to>
                                        <p:strVal val="visible"/>
                                      </p:to>
                                    </p:set>
                                    <p:anim calcmode="lin" valueType="num">
                                      <p:cBhvr additive="base">
                                        <p:cTn dur="500"/>
                                        <p:tgtEl>
                                          <p:spTgt spid="98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8" st="8"/>
                                            </p:txEl>
                                          </p:spTgt>
                                        </p:tgtEl>
                                        <p:attrNameLst>
                                          <p:attrName>style.visibility</p:attrName>
                                        </p:attrNameLst>
                                      </p:cBhvr>
                                      <p:to>
                                        <p:strVal val="visible"/>
                                      </p:to>
                                    </p:set>
                                    <p:anim calcmode="lin" valueType="num">
                                      <p:cBhvr additive="base">
                                        <p:cTn dur="500"/>
                                        <p:tgtEl>
                                          <p:spTgt spid="98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9" st="9"/>
                                            </p:txEl>
                                          </p:spTgt>
                                        </p:tgtEl>
                                        <p:attrNameLst>
                                          <p:attrName>style.visibility</p:attrName>
                                        </p:attrNameLst>
                                      </p:cBhvr>
                                      <p:to>
                                        <p:strVal val="visible"/>
                                      </p:to>
                                    </p:set>
                                    <p:anim calcmode="lin" valueType="num">
                                      <p:cBhvr additive="base">
                                        <p:cTn dur="500"/>
                                        <p:tgtEl>
                                          <p:spTgt spid="98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0" st="10"/>
                                            </p:txEl>
                                          </p:spTgt>
                                        </p:tgtEl>
                                        <p:attrNameLst>
                                          <p:attrName>style.visibility</p:attrName>
                                        </p:attrNameLst>
                                      </p:cBhvr>
                                      <p:to>
                                        <p:strVal val="visible"/>
                                      </p:to>
                                    </p:set>
                                    <p:anim calcmode="lin" valueType="num">
                                      <p:cBhvr additive="base">
                                        <p:cTn dur="500"/>
                                        <p:tgtEl>
                                          <p:spTgt spid="987">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1" st="11"/>
                                            </p:txEl>
                                          </p:spTgt>
                                        </p:tgtEl>
                                        <p:attrNameLst>
                                          <p:attrName>style.visibility</p:attrName>
                                        </p:attrNameLst>
                                      </p:cBhvr>
                                      <p:to>
                                        <p:strVal val="visible"/>
                                      </p:to>
                                    </p:set>
                                    <p:anim calcmode="lin" valueType="num">
                                      <p:cBhvr additive="base">
                                        <p:cTn dur="500"/>
                                        <p:tgtEl>
                                          <p:spTgt spid="987">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2" st="12"/>
                                            </p:txEl>
                                          </p:spTgt>
                                        </p:tgtEl>
                                        <p:attrNameLst>
                                          <p:attrName>style.visibility</p:attrName>
                                        </p:attrNameLst>
                                      </p:cBhvr>
                                      <p:to>
                                        <p:strVal val="visible"/>
                                      </p:to>
                                    </p:set>
                                    <p:anim calcmode="lin" valueType="num">
                                      <p:cBhvr additive="base">
                                        <p:cTn dur="500"/>
                                        <p:tgtEl>
                                          <p:spTgt spid="987">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3" st="13"/>
                                            </p:txEl>
                                          </p:spTgt>
                                        </p:tgtEl>
                                        <p:attrNameLst>
                                          <p:attrName>style.visibility</p:attrName>
                                        </p:attrNameLst>
                                      </p:cBhvr>
                                      <p:to>
                                        <p:strVal val="visible"/>
                                      </p:to>
                                    </p:set>
                                    <p:anim calcmode="lin" valueType="num">
                                      <p:cBhvr additive="base">
                                        <p:cTn dur="500"/>
                                        <p:tgtEl>
                                          <p:spTgt spid="987">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4" st="14"/>
                                            </p:txEl>
                                          </p:spTgt>
                                        </p:tgtEl>
                                        <p:attrNameLst>
                                          <p:attrName>style.visibility</p:attrName>
                                        </p:attrNameLst>
                                      </p:cBhvr>
                                      <p:to>
                                        <p:strVal val="visible"/>
                                      </p:to>
                                    </p:set>
                                    <p:anim calcmode="lin" valueType="num">
                                      <p:cBhvr additive="base">
                                        <p:cTn dur="500"/>
                                        <p:tgtEl>
                                          <p:spTgt spid="987">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5" st="15"/>
                                            </p:txEl>
                                          </p:spTgt>
                                        </p:tgtEl>
                                        <p:attrNameLst>
                                          <p:attrName>style.visibility</p:attrName>
                                        </p:attrNameLst>
                                      </p:cBhvr>
                                      <p:to>
                                        <p:strVal val="visible"/>
                                      </p:to>
                                    </p:set>
                                    <p:anim calcmode="lin" valueType="num">
                                      <p:cBhvr additive="base">
                                        <p:cTn dur="500"/>
                                        <p:tgtEl>
                                          <p:spTgt spid="987">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6" st="16"/>
                                            </p:txEl>
                                          </p:spTgt>
                                        </p:tgtEl>
                                        <p:attrNameLst>
                                          <p:attrName>style.visibility</p:attrName>
                                        </p:attrNameLst>
                                      </p:cBhvr>
                                      <p:to>
                                        <p:strVal val="visible"/>
                                      </p:to>
                                    </p:set>
                                    <p:anim calcmode="lin" valueType="num">
                                      <p:cBhvr additive="base">
                                        <p:cTn dur="500"/>
                                        <p:tgtEl>
                                          <p:spTgt spid="987">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7" st="17"/>
                                            </p:txEl>
                                          </p:spTgt>
                                        </p:tgtEl>
                                        <p:attrNameLst>
                                          <p:attrName>style.visibility</p:attrName>
                                        </p:attrNameLst>
                                      </p:cBhvr>
                                      <p:to>
                                        <p:strVal val="visible"/>
                                      </p:to>
                                    </p:set>
                                    <p:anim calcmode="lin" valueType="num">
                                      <p:cBhvr additive="base">
                                        <p:cTn dur="500"/>
                                        <p:tgtEl>
                                          <p:spTgt spid="987">
                                            <p:txEl>
                                              <p:pRg end="17" st="1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7">
                                            <p:txEl>
                                              <p:pRg end="18" st="18"/>
                                            </p:txEl>
                                          </p:spTgt>
                                        </p:tgtEl>
                                        <p:attrNameLst>
                                          <p:attrName>style.visibility</p:attrName>
                                        </p:attrNameLst>
                                      </p:cBhvr>
                                      <p:to>
                                        <p:strVal val="visible"/>
                                      </p:to>
                                    </p:set>
                                    <p:anim calcmode="lin" valueType="num">
                                      <p:cBhvr additive="base">
                                        <p:cTn dur="500"/>
                                        <p:tgtEl>
                                          <p:spTgt spid="987">
                                            <p:txEl>
                                              <p:pRg end="18" st="1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36"/>
          <p:cNvSpPr txBox="1"/>
          <p:nvPr>
            <p:ph type="title"/>
          </p:nvPr>
        </p:nvSpPr>
        <p:spPr>
          <a:xfrm>
            <a:off x="457200" y="228600"/>
            <a:ext cx="8229600" cy="762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Chính thể cộng hòa</a:t>
            </a:r>
            <a:endParaRPr sz="3200">
              <a:latin typeface="Times New Roman"/>
              <a:ea typeface="Times New Roman"/>
              <a:cs typeface="Times New Roman"/>
              <a:sym typeface="Times New Roman"/>
            </a:endParaRPr>
          </a:p>
        </p:txBody>
      </p:sp>
      <p:sp>
        <p:nvSpPr>
          <p:cNvPr id="996" name="Google Shape;996;p36"/>
          <p:cNvSpPr txBox="1"/>
          <p:nvPr>
            <p:ph idx="1" type="body"/>
          </p:nvPr>
        </p:nvSpPr>
        <p:spPr>
          <a:xfrm>
            <a:off x="533400" y="990600"/>
            <a:ext cx="8305800" cy="533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i="1" lang="en-US" sz="2800"/>
              <a:t>Cộng hoà dân chủ là hình thức chính thể, trong đó người đại diện là do dân bầu ra.</a:t>
            </a:r>
            <a:endParaRPr/>
          </a:p>
          <a:p>
            <a:pPr indent="-274320" lvl="0" marL="274320" rtl="0" algn="l">
              <a:spcBef>
                <a:spcPts val="560"/>
              </a:spcBef>
              <a:spcAft>
                <a:spcPts val="0"/>
              </a:spcAft>
              <a:buSzPts val="2660"/>
              <a:buNone/>
            </a:pPr>
            <a:r>
              <a:rPr lang="en-US" sz="2800"/>
              <a:t>Được chia làm 2 loại:</a:t>
            </a:r>
            <a:endParaRPr/>
          </a:p>
          <a:p>
            <a:pPr indent="-274320" lvl="0" marL="274320" rtl="0" algn="l">
              <a:spcBef>
                <a:spcPts val="560"/>
              </a:spcBef>
              <a:spcAft>
                <a:spcPts val="0"/>
              </a:spcAft>
              <a:buSzPts val="2660"/>
              <a:buFont typeface="Arial"/>
              <a:buChar char="-"/>
            </a:pPr>
            <a:r>
              <a:rPr lang="en-US" sz="2800"/>
              <a:t>Nhà nước tư sản : CH tổng thống, CH đại nghị, CH lưỡng tính</a:t>
            </a:r>
            <a:endParaRPr sz="2800"/>
          </a:p>
          <a:p>
            <a:pPr indent="-274320" lvl="0" marL="274320" rtl="0" algn="l">
              <a:spcBef>
                <a:spcPts val="560"/>
              </a:spcBef>
              <a:spcAft>
                <a:spcPts val="0"/>
              </a:spcAft>
              <a:buSzPts val="2660"/>
              <a:buFont typeface="Arial"/>
              <a:buChar char="-"/>
            </a:pPr>
            <a:r>
              <a:rPr lang="en-US" sz="2800"/>
              <a:t>Nhà nước XHCN: Công xã Pari (1789), CM tháng 10 Nga (1917), Cách mạng dân tộc dân chủ nhân dân</a:t>
            </a:r>
            <a:endParaRPr sz="2800"/>
          </a:p>
          <a:p>
            <a:pPr indent="-274320" lvl="0" marL="274320" rtl="0" algn="l">
              <a:spcBef>
                <a:spcPts val="520"/>
              </a:spcBef>
              <a:spcAft>
                <a:spcPts val="0"/>
              </a:spcAft>
              <a:buSzPts val="2470"/>
              <a:buNone/>
            </a:pPr>
            <a:r>
              <a:t/>
            </a:r>
            <a:endParaRPr/>
          </a:p>
        </p:txBody>
      </p:sp>
      <p:sp>
        <p:nvSpPr>
          <p:cNvPr id="997" name="Google Shape;997;p36"/>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998" name="Google Shape;998;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6">
                                            <p:txEl>
                                              <p:pRg end="0" st="0"/>
                                            </p:txEl>
                                          </p:spTgt>
                                        </p:tgtEl>
                                        <p:attrNameLst>
                                          <p:attrName>style.visibility</p:attrName>
                                        </p:attrNameLst>
                                      </p:cBhvr>
                                      <p:to>
                                        <p:strVal val="visible"/>
                                      </p:to>
                                    </p:set>
                                    <p:animEffect filter="fade" transition="in">
                                      <p:cBhvr>
                                        <p:cTn dur="500"/>
                                        <p:tgtEl>
                                          <p:spTgt spid="9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6">
                                            <p:txEl>
                                              <p:pRg end="1" st="1"/>
                                            </p:txEl>
                                          </p:spTgt>
                                        </p:tgtEl>
                                        <p:attrNameLst>
                                          <p:attrName>style.visibility</p:attrName>
                                        </p:attrNameLst>
                                      </p:cBhvr>
                                      <p:to>
                                        <p:strVal val="visible"/>
                                      </p:to>
                                    </p:set>
                                    <p:animEffect filter="fade" transition="in">
                                      <p:cBhvr>
                                        <p:cTn dur="500"/>
                                        <p:tgtEl>
                                          <p:spTgt spid="9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6">
                                            <p:txEl>
                                              <p:pRg end="2" st="2"/>
                                            </p:txEl>
                                          </p:spTgt>
                                        </p:tgtEl>
                                        <p:attrNameLst>
                                          <p:attrName>style.visibility</p:attrName>
                                        </p:attrNameLst>
                                      </p:cBhvr>
                                      <p:to>
                                        <p:strVal val="visible"/>
                                      </p:to>
                                    </p:set>
                                    <p:animEffect filter="fade" transition="in">
                                      <p:cBhvr>
                                        <p:cTn dur="500"/>
                                        <p:tgtEl>
                                          <p:spTgt spid="9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6">
                                            <p:txEl>
                                              <p:pRg end="3" st="3"/>
                                            </p:txEl>
                                          </p:spTgt>
                                        </p:tgtEl>
                                        <p:attrNameLst>
                                          <p:attrName>style.visibility</p:attrName>
                                        </p:attrNameLst>
                                      </p:cBhvr>
                                      <p:to>
                                        <p:strVal val="visible"/>
                                      </p:to>
                                    </p:set>
                                    <p:animEffect filter="fade" transition="in">
                                      <p:cBhvr>
                                        <p:cTn dur="500"/>
                                        <p:tgtEl>
                                          <p:spTgt spid="9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6">
                                            <p:txEl>
                                              <p:pRg end="4" st="4"/>
                                            </p:txEl>
                                          </p:spTgt>
                                        </p:tgtEl>
                                        <p:attrNameLst>
                                          <p:attrName>style.visibility</p:attrName>
                                        </p:attrNameLst>
                                      </p:cBhvr>
                                      <p:to>
                                        <p:strVal val="visible"/>
                                      </p:to>
                                    </p:set>
                                    <p:animEffect filter="fade" transition="in">
                                      <p:cBhvr>
                                        <p:cTn dur="500"/>
                                        <p:tgtEl>
                                          <p:spTgt spid="99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37"/>
          <p:cNvSpPr txBox="1"/>
          <p:nvPr>
            <p:ph type="title"/>
          </p:nvPr>
        </p:nvSpPr>
        <p:spPr>
          <a:xfrm>
            <a:off x="457200" y="228600"/>
            <a:ext cx="8229600" cy="5334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Cộng hòa tổng thống</a:t>
            </a:r>
            <a:endParaRPr sz="3200">
              <a:latin typeface="Times New Roman"/>
              <a:ea typeface="Times New Roman"/>
              <a:cs typeface="Times New Roman"/>
              <a:sym typeface="Times New Roman"/>
            </a:endParaRPr>
          </a:p>
        </p:txBody>
      </p:sp>
      <p:sp>
        <p:nvSpPr>
          <p:cNvPr id="1004" name="Google Shape;1004;p37"/>
          <p:cNvSpPr txBox="1"/>
          <p:nvPr>
            <p:ph idx="1" type="body"/>
          </p:nvPr>
        </p:nvSpPr>
        <p:spPr>
          <a:xfrm>
            <a:off x="533400" y="838200"/>
            <a:ext cx="83820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sz="1800">
                <a:latin typeface="Times New Roman"/>
                <a:ea typeface="Times New Roman"/>
                <a:cs typeface="Times New Roman"/>
                <a:sym typeface="Times New Roman"/>
              </a:rPr>
              <a:t>Nguyên thủ quốc gia (Tổng thống) do dân bầu. Thực tế quyền lực của Tổng thống giống một ông vua, nhưng không do thế  tập truyền ngôi mà do bầu cử.</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Tổng thống vừa là người đứng đầu nhà nước, đại diện cho đất nước về mặt đối nội đối ngoại, đồng thời cũng là người đứng đầu chính phủ. Tổng thống sẽ bổ nhiệm các thành viên của chính phủ</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Áp dụng triệt để học thuyết Tam quyền phân lập.</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Ví dụ: Hoa Kỳ, Hàn Quốc, Uruguay, Brazil, Afghanistan, Colombia, Indonesia, Iran, Chile, Paraguay, Venezuela, Mexico, Nigeria, Philippines…  Mỹ là điển hình cho loại hình chính thể này.</a:t>
            </a:r>
            <a:endParaRPr/>
          </a:p>
          <a:p>
            <a:pPr indent="156845" lvl="0" marL="0" marR="0" rtl="0" algn="ctr">
              <a:lnSpc>
                <a:spcPct val="115000"/>
              </a:lnSpc>
              <a:spcBef>
                <a:spcPts val="0"/>
              </a:spcBef>
              <a:spcAft>
                <a:spcPts val="0"/>
              </a:spcAft>
              <a:buSzPts val="2470"/>
              <a:buNone/>
            </a:pPr>
            <a:r>
              <a:t/>
            </a:r>
            <a:endParaRPr>
              <a:latin typeface="Times New Roman"/>
              <a:ea typeface="Times New Roman"/>
              <a:cs typeface="Times New Roman"/>
              <a:sym typeface="Times New Roman"/>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p:txBody>
      </p:sp>
      <p:graphicFrame>
        <p:nvGraphicFramePr>
          <p:cNvPr id="1005" name="Google Shape;1005;p37"/>
          <p:cNvGraphicFramePr/>
          <p:nvPr/>
        </p:nvGraphicFramePr>
        <p:xfrm>
          <a:off x="762000" y="3962400"/>
          <a:ext cx="3000000" cy="3000000"/>
        </p:xfrm>
        <a:graphic>
          <a:graphicData uri="http://schemas.openxmlformats.org/drawingml/2006/table">
            <a:tbl>
              <a:tblPr bandRow="1" firstRow="1">
                <a:noFill/>
                <a:tableStyleId>{C2BE8B88-DE4F-40F9-8EF6-0FD96A1DF877}</a:tableStyleId>
              </a:tblPr>
              <a:tblGrid>
                <a:gridCol w="2691925"/>
                <a:gridCol w="5309075"/>
              </a:tblGrid>
              <a:tr h="1905000">
                <a:tc>
                  <a:txBody>
                    <a:bodyPr/>
                    <a:lstStyle/>
                    <a:p>
                      <a:pPr indent="0" lvl="0" marL="0" marR="0" rtl="0" algn="l">
                        <a:spcBef>
                          <a:spcPts val="0"/>
                        </a:spcBef>
                        <a:spcAft>
                          <a:spcPts val="0"/>
                        </a:spcAft>
                        <a:buNone/>
                      </a:pPr>
                      <a:r>
                        <a:rPr lang="en-US" sz="1800" u="sng" cap="none" strike="noStrike">
                          <a:solidFill>
                            <a:srgbClr val="FF0000"/>
                          </a:solidFill>
                          <a:latin typeface="Times New Roman"/>
                          <a:ea typeface="Times New Roman"/>
                          <a:cs typeface="Times New Roman"/>
                          <a:sym typeface="Times New Roman"/>
                        </a:rPr>
                        <a:t>Cộng hòa tổng thống:</a:t>
                      </a:r>
                      <a:endParaRPr/>
                    </a:p>
                    <a:p>
                      <a:pPr indent="0" lvl="0" marL="0" marR="0" rtl="0" algn="l">
                        <a:spcBef>
                          <a:spcPts val="0"/>
                        </a:spcBef>
                        <a:spcAft>
                          <a:spcPts val="0"/>
                        </a:spcAft>
                        <a:buNone/>
                      </a:pPr>
                      <a:r>
                        <a:t/>
                      </a:r>
                      <a:endParaRPr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b="0" lang="en-US" sz="1800">
                          <a:solidFill>
                            <a:srgbClr val="FF0000"/>
                          </a:solidFill>
                          <a:latin typeface="Times New Roman"/>
                          <a:ea typeface="Times New Roman"/>
                          <a:cs typeface="Times New Roman"/>
                          <a:sym typeface="Times New Roman"/>
                        </a:rPr>
                        <a:t>Cơ quan lập pháp và hành pháp do dân bầu, độc lập và không chịu trách nhiệm lẫn nhau</a:t>
                      </a:r>
                      <a:endParaRPr b="0" sz="1800">
                        <a:solidFill>
                          <a:srgbClr val="FF0000"/>
                        </a:solidFill>
                        <a:latin typeface="Times New Roman"/>
                        <a:ea typeface="Times New Roman"/>
                        <a:cs typeface="Times New Roman"/>
                        <a:sym typeface="Times New Roman"/>
                      </a:endParaRPr>
                    </a:p>
                  </a:txBody>
                  <a:tcPr marT="45725" marB="45725" marR="91450" marL="91450">
                    <a:solidFill>
                      <a:schemeClr val="lt2"/>
                    </a:solidFill>
                  </a:tcPr>
                </a:tc>
                <a:tc>
                  <a:txBody>
                    <a:bodyPr/>
                    <a:lstStyle/>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Nghị</a:t>
                      </a:r>
                      <a:r>
                        <a:rPr lang="en-US" sz="1800">
                          <a:solidFill>
                            <a:srgbClr val="FF0000"/>
                          </a:solidFill>
                          <a:latin typeface="Times New Roman"/>
                          <a:ea typeface="Times New Roman"/>
                          <a:cs typeface="Times New Roman"/>
                          <a:sym typeface="Times New Roman"/>
                        </a:rPr>
                        <a:t> viện          Nguyên thủ quốc gia </a:t>
                      </a:r>
                      <a:endParaRPr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                                                                 Chính phủ</a:t>
                      </a:r>
                      <a:endParaRPr sz="18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rgbClr val="FF0000"/>
                          </a:solidFill>
                          <a:latin typeface="Times New Roman"/>
                          <a:ea typeface="Times New Roman"/>
                          <a:cs typeface="Times New Roman"/>
                          <a:sym typeface="Times New Roman"/>
                        </a:rPr>
                        <a:t> Nhân</a:t>
                      </a:r>
                      <a:r>
                        <a:rPr lang="en-US" sz="1800">
                          <a:solidFill>
                            <a:srgbClr val="FF0000"/>
                          </a:solidFill>
                          <a:latin typeface="Times New Roman"/>
                          <a:ea typeface="Times New Roman"/>
                          <a:cs typeface="Times New Roman"/>
                          <a:sym typeface="Times New Roman"/>
                        </a:rPr>
                        <a:t> dân                   Nhân dân</a:t>
                      </a:r>
                      <a:endParaRPr sz="1800">
                        <a:solidFill>
                          <a:srgbClr val="FF0000"/>
                        </a:solidFill>
                        <a:latin typeface="Times New Roman"/>
                        <a:ea typeface="Times New Roman"/>
                        <a:cs typeface="Times New Roman"/>
                        <a:sym typeface="Times New Roman"/>
                      </a:endParaRPr>
                    </a:p>
                  </a:txBody>
                  <a:tcPr marT="45725" marB="45725" marR="91450" marL="91450">
                    <a:solidFill>
                      <a:schemeClr val="lt2"/>
                    </a:solidFill>
                  </a:tcPr>
                </a:tc>
              </a:tr>
            </a:tbl>
          </a:graphicData>
        </a:graphic>
      </p:graphicFrame>
      <p:sp>
        <p:nvSpPr>
          <p:cNvPr id="1006" name="Google Shape;1006;p37"/>
          <p:cNvSpPr/>
          <p:nvPr/>
        </p:nvSpPr>
        <p:spPr>
          <a:xfrm>
            <a:off x="3962400" y="4495800"/>
            <a:ext cx="152400" cy="838200"/>
          </a:xfrm>
          <a:prstGeom prst="up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7" name="Google Shape;1007;p37"/>
          <p:cNvSpPr/>
          <p:nvPr/>
        </p:nvSpPr>
        <p:spPr>
          <a:xfrm>
            <a:off x="5943600" y="4419600"/>
            <a:ext cx="152400" cy="838200"/>
          </a:xfrm>
          <a:prstGeom prst="up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08" name="Google Shape;1008;p37"/>
          <p:cNvCxnSpPr/>
          <p:nvPr/>
        </p:nvCxnSpPr>
        <p:spPr>
          <a:xfrm flipH="1" rot="-5400000">
            <a:off x="7086600" y="4419600"/>
            <a:ext cx="609600" cy="609600"/>
          </a:xfrm>
          <a:prstGeom prst="bentConnector3">
            <a:avLst>
              <a:gd fmla="val 50000" name="adj1"/>
            </a:avLst>
          </a:prstGeom>
          <a:noFill/>
          <a:ln cap="flat" cmpd="sng" w="9525">
            <a:solidFill>
              <a:srgbClr val="075192"/>
            </a:solidFill>
            <a:prstDash val="solid"/>
            <a:round/>
            <a:headEnd len="sm" w="sm" type="none"/>
            <a:tailEnd len="med" w="med" type="stealth"/>
          </a:ln>
        </p:spPr>
      </p:cxnSp>
      <p:sp>
        <p:nvSpPr>
          <p:cNvPr id="1009" name="Google Shape;1009;p3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010" name="Google Shape;1010;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500"/>
                                        <p:tgtEl>
                                          <p:spTgt spid="10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0" st="0"/>
                                            </p:txEl>
                                          </p:spTgt>
                                        </p:tgtEl>
                                        <p:attrNameLst>
                                          <p:attrName>style.visibility</p:attrName>
                                        </p:attrNameLst>
                                      </p:cBhvr>
                                      <p:to>
                                        <p:strVal val="visible"/>
                                      </p:to>
                                    </p:set>
                                    <p:animEffect filter="fade" transition="in">
                                      <p:cBhvr>
                                        <p:cTn dur="500"/>
                                        <p:tgtEl>
                                          <p:spTgt spid="10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 st="1"/>
                                            </p:txEl>
                                          </p:spTgt>
                                        </p:tgtEl>
                                        <p:attrNameLst>
                                          <p:attrName>style.visibility</p:attrName>
                                        </p:attrNameLst>
                                      </p:cBhvr>
                                      <p:to>
                                        <p:strVal val="visible"/>
                                      </p:to>
                                    </p:set>
                                    <p:animEffect filter="fade" transition="in">
                                      <p:cBhvr>
                                        <p:cTn dur="500"/>
                                        <p:tgtEl>
                                          <p:spTgt spid="10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2" st="2"/>
                                            </p:txEl>
                                          </p:spTgt>
                                        </p:tgtEl>
                                        <p:attrNameLst>
                                          <p:attrName>style.visibility</p:attrName>
                                        </p:attrNameLst>
                                      </p:cBhvr>
                                      <p:to>
                                        <p:strVal val="visible"/>
                                      </p:to>
                                    </p:set>
                                    <p:animEffect filter="fade" transition="in">
                                      <p:cBhvr>
                                        <p:cTn dur="500"/>
                                        <p:tgtEl>
                                          <p:spTgt spid="10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3" st="3"/>
                                            </p:txEl>
                                          </p:spTgt>
                                        </p:tgtEl>
                                        <p:attrNameLst>
                                          <p:attrName>style.visibility</p:attrName>
                                        </p:attrNameLst>
                                      </p:cBhvr>
                                      <p:to>
                                        <p:strVal val="visible"/>
                                      </p:to>
                                    </p:set>
                                    <p:animEffect filter="fade" transition="in">
                                      <p:cBhvr>
                                        <p:cTn dur="500"/>
                                        <p:tgtEl>
                                          <p:spTgt spid="10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4" st="4"/>
                                            </p:txEl>
                                          </p:spTgt>
                                        </p:tgtEl>
                                        <p:attrNameLst>
                                          <p:attrName>style.visibility</p:attrName>
                                        </p:attrNameLst>
                                      </p:cBhvr>
                                      <p:to>
                                        <p:strVal val="visible"/>
                                      </p:to>
                                    </p:set>
                                    <p:animEffect filter="fade" transition="in">
                                      <p:cBhvr>
                                        <p:cTn dur="500"/>
                                        <p:tgtEl>
                                          <p:spTgt spid="10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5" st="5"/>
                                            </p:txEl>
                                          </p:spTgt>
                                        </p:tgtEl>
                                        <p:attrNameLst>
                                          <p:attrName>style.visibility</p:attrName>
                                        </p:attrNameLst>
                                      </p:cBhvr>
                                      <p:to>
                                        <p:strVal val="visible"/>
                                      </p:to>
                                    </p:set>
                                    <p:animEffect filter="fade" transition="in">
                                      <p:cBhvr>
                                        <p:cTn dur="500"/>
                                        <p:tgtEl>
                                          <p:spTgt spid="10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6" st="6"/>
                                            </p:txEl>
                                          </p:spTgt>
                                        </p:tgtEl>
                                        <p:attrNameLst>
                                          <p:attrName>style.visibility</p:attrName>
                                        </p:attrNameLst>
                                      </p:cBhvr>
                                      <p:to>
                                        <p:strVal val="visible"/>
                                      </p:to>
                                    </p:set>
                                    <p:animEffect filter="fade" transition="in">
                                      <p:cBhvr>
                                        <p:cTn dur="500"/>
                                        <p:tgtEl>
                                          <p:spTgt spid="100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5"/>
                                        </p:tgtEl>
                                        <p:attrNameLst>
                                          <p:attrName>style.visibility</p:attrName>
                                        </p:attrNameLst>
                                      </p:cBhvr>
                                      <p:to>
                                        <p:strVal val="visible"/>
                                      </p:to>
                                    </p:set>
                                    <p:anim calcmode="lin" valueType="num">
                                      <p:cBhvr additive="base">
                                        <p:cTn dur="500"/>
                                        <p:tgtEl>
                                          <p:spTgt spid="100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38"/>
          <p:cNvSpPr txBox="1"/>
          <p:nvPr>
            <p:ph type="title"/>
          </p:nvPr>
        </p:nvSpPr>
        <p:spPr>
          <a:xfrm>
            <a:off x="457200" y="228600"/>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Cộng hòa đại nghị</a:t>
            </a:r>
            <a:endParaRPr sz="3200">
              <a:latin typeface="Times New Roman"/>
              <a:ea typeface="Times New Roman"/>
              <a:cs typeface="Times New Roman"/>
              <a:sym typeface="Times New Roman"/>
            </a:endParaRPr>
          </a:p>
        </p:txBody>
      </p:sp>
      <p:sp>
        <p:nvSpPr>
          <p:cNvPr id="1016" name="Google Shape;1016;p38"/>
          <p:cNvSpPr txBox="1"/>
          <p:nvPr>
            <p:ph idx="1" type="body"/>
          </p:nvPr>
        </p:nvSpPr>
        <p:spPr>
          <a:xfrm>
            <a:off x="457200" y="1219200"/>
            <a:ext cx="8382000" cy="5105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sz="1800">
                <a:latin typeface="Times New Roman"/>
                <a:ea typeface="Times New Roman"/>
                <a:cs typeface="Times New Roman"/>
                <a:sym typeface="Times New Roman"/>
              </a:rPr>
              <a:t>Nguyên thủ quốc gia (tổng thống) do nghị viện bầu. Nguyên thủ quốc gia được Hiến pháp quy định rất nhiều quyền hạn nhưng thực tế không trực tiếp tham gia vào các công việc của nhà nước.</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Chính phủ được thành lập từ đảng chiếm đa số ghế trong nghị viện và chịu trách nhiệm trước nghị viện. Nghị viện có quyền bất tín nhiệm chính phủ (thành lập chính phủ mới) và ngược lại chính phủ có quyền đề nghị nguyên thủ quốc gia giải tán nghị viện.</a:t>
            </a:r>
            <a:endParaRPr/>
          </a:p>
          <a:p>
            <a:pPr indent="-274320" lvl="0" marL="274320" rtl="0" algn="l">
              <a:spcBef>
                <a:spcPts val="360"/>
              </a:spcBef>
              <a:spcAft>
                <a:spcPts val="0"/>
              </a:spcAft>
              <a:buSzPts val="1710"/>
              <a:buChar char="⚫"/>
            </a:pPr>
            <a:r>
              <a:rPr lang="en-US" sz="1800"/>
              <a:t>Ví dụ: Đức, Áo, Séc, Italia, Singapore, Nam Phi…</a:t>
            </a:r>
            <a:endParaRPr/>
          </a:p>
          <a:p>
            <a:pPr indent="-274320" lvl="0" marL="274320" rtl="0" algn="l">
              <a:spcBef>
                <a:spcPts val="360"/>
              </a:spcBef>
              <a:spcAft>
                <a:spcPts val="0"/>
              </a:spcAft>
              <a:buSzPts val="1710"/>
              <a:buNone/>
            </a:pPr>
            <a:r>
              <a:t/>
            </a:r>
            <a:endParaRPr sz="1800"/>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p:txBody>
      </p:sp>
      <p:graphicFrame>
        <p:nvGraphicFramePr>
          <p:cNvPr id="1017" name="Google Shape;1017;p38"/>
          <p:cNvGraphicFramePr/>
          <p:nvPr/>
        </p:nvGraphicFramePr>
        <p:xfrm>
          <a:off x="838200" y="3810000"/>
          <a:ext cx="3000000" cy="3000000"/>
        </p:xfrm>
        <a:graphic>
          <a:graphicData uri="http://schemas.openxmlformats.org/drawingml/2006/table">
            <a:tbl>
              <a:tblPr bandRow="1" firstRow="1">
                <a:noFill/>
                <a:tableStyleId>{C2BE8B88-DE4F-40F9-8EF6-0FD96A1DF877}</a:tableStyleId>
              </a:tblPr>
              <a:tblGrid>
                <a:gridCol w="2667000"/>
                <a:gridCol w="5181600"/>
              </a:tblGrid>
              <a:tr h="2514600">
                <a:tc>
                  <a:txBody>
                    <a:bodyPr/>
                    <a:lstStyle/>
                    <a:p>
                      <a:pPr indent="0" lvl="0" marL="0" marR="0" rtl="0" algn="l">
                        <a:spcBef>
                          <a:spcPts val="0"/>
                        </a:spcBef>
                        <a:spcAft>
                          <a:spcPts val="0"/>
                        </a:spcAft>
                        <a:buNone/>
                      </a:pPr>
                      <a:r>
                        <a:rPr lang="en-US" sz="1800" u="sng">
                          <a:solidFill>
                            <a:srgbClr val="FF0000"/>
                          </a:solidFill>
                        </a:rPr>
                        <a:t>Cộng</a:t>
                      </a:r>
                      <a:r>
                        <a:rPr lang="en-US" sz="1800" u="sng">
                          <a:solidFill>
                            <a:srgbClr val="FF0000"/>
                          </a:solidFill>
                        </a:rPr>
                        <a:t> hòa đại nghị:</a:t>
                      </a:r>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rPr b="0" lang="en-US" sz="1800">
                          <a:solidFill>
                            <a:srgbClr val="FF0000"/>
                          </a:solidFill>
                        </a:rPr>
                        <a:t>Chính phủ chịu trách nhiệm trước nghị viện</a:t>
                      </a:r>
                      <a:endParaRPr b="0" sz="1800">
                        <a:solidFill>
                          <a:srgbClr val="FF0000"/>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t/>
                      </a:r>
                      <a:endParaRPr sz="1800"/>
                    </a:p>
                    <a:p>
                      <a:pPr indent="0" lvl="0" marL="0" marR="0" rtl="0" algn="l">
                        <a:spcBef>
                          <a:spcPts val="0"/>
                        </a:spcBef>
                        <a:spcAft>
                          <a:spcPts val="0"/>
                        </a:spcAft>
                        <a:buNone/>
                      </a:pPr>
                      <a:r>
                        <a:rPr lang="en-US" sz="1800">
                          <a:solidFill>
                            <a:srgbClr val="FF0000"/>
                          </a:solidFill>
                        </a:rPr>
                        <a:t>Nghị</a:t>
                      </a:r>
                      <a:r>
                        <a:rPr lang="en-US" sz="1800">
                          <a:solidFill>
                            <a:srgbClr val="FF0000"/>
                          </a:solidFill>
                        </a:rPr>
                        <a:t> viện                                      Thủ tướng</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rPr lang="en-US" sz="1800">
                          <a:solidFill>
                            <a:srgbClr val="FF0000"/>
                          </a:solidFill>
                        </a:rPr>
                        <a:t>Nhân dân                                      Chính phủ</a:t>
                      </a:r>
                      <a:endParaRPr sz="1800">
                        <a:solidFill>
                          <a:srgbClr val="FF0000"/>
                        </a:solidFill>
                      </a:endParaRPr>
                    </a:p>
                  </a:txBody>
                  <a:tcPr marT="45725" marB="45725" marR="91450" marL="91450">
                    <a:solidFill>
                      <a:schemeClr val="lt2"/>
                    </a:solidFill>
                  </a:tcPr>
                </a:tc>
              </a:tr>
            </a:tbl>
          </a:graphicData>
        </a:graphic>
      </p:graphicFrame>
      <p:sp>
        <p:nvSpPr>
          <p:cNvPr id="1018" name="Google Shape;1018;p38"/>
          <p:cNvSpPr/>
          <p:nvPr/>
        </p:nvSpPr>
        <p:spPr>
          <a:xfrm>
            <a:off x="4038600" y="4495800"/>
            <a:ext cx="76200" cy="762000"/>
          </a:xfrm>
          <a:prstGeom prst="up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9" name="Google Shape;1019;p38"/>
          <p:cNvSpPr/>
          <p:nvPr/>
        </p:nvSpPr>
        <p:spPr>
          <a:xfrm>
            <a:off x="4876800" y="4267200"/>
            <a:ext cx="1524000" cy="76200"/>
          </a:xfrm>
          <a:prstGeom prst="right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0" name="Google Shape;1020;p38"/>
          <p:cNvSpPr/>
          <p:nvPr/>
        </p:nvSpPr>
        <p:spPr>
          <a:xfrm>
            <a:off x="7239000" y="4495800"/>
            <a:ext cx="76200" cy="838200"/>
          </a:xfrm>
          <a:prstGeom prst="down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1" name="Google Shape;1021;p3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022" name="Google Shape;1022;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5"/>
                                        </p:tgtEl>
                                        <p:attrNameLst>
                                          <p:attrName>style.visibility</p:attrName>
                                        </p:attrNameLst>
                                      </p:cBhvr>
                                      <p:to>
                                        <p:strVal val="visible"/>
                                      </p:to>
                                    </p:set>
                                    <p:anim calcmode="lin" valueType="num">
                                      <p:cBhvr additive="base">
                                        <p:cTn dur="500"/>
                                        <p:tgtEl>
                                          <p:spTgt spid="10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0" st="0"/>
                                            </p:txEl>
                                          </p:spTgt>
                                        </p:tgtEl>
                                        <p:attrNameLst>
                                          <p:attrName>style.visibility</p:attrName>
                                        </p:attrNameLst>
                                      </p:cBhvr>
                                      <p:to>
                                        <p:strVal val="visible"/>
                                      </p:to>
                                    </p:set>
                                    <p:animEffect filter="fade" transition="in">
                                      <p:cBhvr>
                                        <p:cTn dur="500"/>
                                        <p:tgtEl>
                                          <p:spTgt spid="10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1" st="1"/>
                                            </p:txEl>
                                          </p:spTgt>
                                        </p:tgtEl>
                                        <p:attrNameLst>
                                          <p:attrName>style.visibility</p:attrName>
                                        </p:attrNameLst>
                                      </p:cBhvr>
                                      <p:to>
                                        <p:strVal val="visible"/>
                                      </p:to>
                                    </p:set>
                                    <p:animEffect filter="fade" transition="in">
                                      <p:cBhvr>
                                        <p:cTn dur="500"/>
                                        <p:tgtEl>
                                          <p:spTgt spid="10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2" st="2"/>
                                            </p:txEl>
                                          </p:spTgt>
                                        </p:tgtEl>
                                        <p:attrNameLst>
                                          <p:attrName>style.visibility</p:attrName>
                                        </p:attrNameLst>
                                      </p:cBhvr>
                                      <p:to>
                                        <p:strVal val="visible"/>
                                      </p:to>
                                    </p:set>
                                    <p:animEffect filter="fade" transition="in">
                                      <p:cBhvr>
                                        <p:cTn dur="500"/>
                                        <p:tgtEl>
                                          <p:spTgt spid="10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3" st="3"/>
                                            </p:txEl>
                                          </p:spTgt>
                                        </p:tgtEl>
                                        <p:attrNameLst>
                                          <p:attrName>style.visibility</p:attrName>
                                        </p:attrNameLst>
                                      </p:cBhvr>
                                      <p:to>
                                        <p:strVal val="visible"/>
                                      </p:to>
                                    </p:set>
                                    <p:animEffect filter="fade" transition="in">
                                      <p:cBhvr>
                                        <p:cTn dur="500"/>
                                        <p:tgtEl>
                                          <p:spTgt spid="10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6">
                                            <p:txEl>
                                              <p:pRg end="4" st="4"/>
                                            </p:txEl>
                                          </p:spTgt>
                                        </p:tgtEl>
                                        <p:attrNameLst>
                                          <p:attrName>style.visibility</p:attrName>
                                        </p:attrNameLst>
                                      </p:cBhvr>
                                      <p:to>
                                        <p:strVal val="visible"/>
                                      </p:to>
                                    </p:set>
                                    <p:animEffect filter="fade" transition="in">
                                      <p:cBhvr>
                                        <p:cTn dur="500"/>
                                        <p:tgtEl>
                                          <p:spTgt spid="10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7"/>
                                        </p:tgtEl>
                                        <p:attrNameLst>
                                          <p:attrName>style.visibility</p:attrName>
                                        </p:attrNameLst>
                                      </p:cBhvr>
                                      <p:to>
                                        <p:strVal val="visible"/>
                                      </p:to>
                                    </p:set>
                                    <p:anim calcmode="lin" valueType="num">
                                      <p:cBhvr additive="base">
                                        <p:cTn dur="500"/>
                                        <p:tgtEl>
                                          <p:spTgt spid="10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39"/>
          <p:cNvSpPr txBox="1"/>
          <p:nvPr>
            <p:ph type="title"/>
          </p:nvPr>
        </p:nvSpPr>
        <p:spPr>
          <a:xfrm>
            <a:off x="381000" y="152400"/>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Cộng hòa lưỡng tính</a:t>
            </a:r>
            <a:endParaRPr sz="3200">
              <a:latin typeface="Times New Roman"/>
              <a:ea typeface="Times New Roman"/>
              <a:cs typeface="Times New Roman"/>
              <a:sym typeface="Times New Roman"/>
            </a:endParaRPr>
          </a:p>
        </p:txBody>
      </p:sp>
      <p:sp>
        <p:nvSpPr>
          <p:cNvPr id="1028" name="Google Shape;1028;p39"/>
          <p:cNvSpPr txBox="1"/>
          <p:nvPr>
            <p:ph idx="1" type="body"/>
          </p:nvPr>
        </p:nvSpPr>
        <p:spPr>
          <a:xfrm>
            <a:off x="457200" y="914400"/>
            <a:ext cx="8534400" cy="533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sz="1800">
                <a:latin typeface="Times New Roman"/>
                <a:ea typeface="Times New Roman"/>
                <a:cs typeface="Times New Roman"/>
                <a:sym typeface="Times New Roman"/>
              </a:rPr>
              <a:t>Cộng hoà “lưỡng tính” nghĩa là vừa mang tính chất cộng hoà đại nghị, vừa mang tính chất cộng hoà tổng thống.</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Nguyên thủ quốc gia do dân bầu. </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Nghị viện có quyền bất tín nhiệm chính phủ và chính phủ cũng có quyền đề nghị nguyên thủ quốc gia giải tán nghị viện.</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Ví dụ: Pháp, Nga…</a:t>
            </a:r>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p:txBody>
      </p:sp>
      <p:graphicFrame>
        <p:nvGraphicFramePr>
          <p:cNvPr id="1029" name="Google Shape;1029;p39"/>
          <p:cNvGraphicFramePr/>
          <p:nvPr/>
        </p:nvGraphicFramePr>
        <p:xfrm>
          <a:off x="609600" y="3276600"/>
          <a:ext cx="3000000" cy="3000000"/>
        </p:xfrm>
        <a:graphic>
          <a:graphicData uri="http://schemas.openxmlformats.org/drawingml/2006/table">
            <a:tbl>
              <a:tblPr bandRow="1" firstRow="1">
                <a:noFill/>
                <a:tableStyleId>{C2BE8B88-DE4F-40F9-8EF6-0FD96A1DF877}</a:tableStyleId>
              </a:tblPr>
              <a:tblGrid>
                <a:gridCol w="3200400"/>
                <a:gridCol w="4800600"/>
              </a:tblGrid>
              <a:tr h="2438400">
                <a:tc>
                  <a:txBody>
                    <a:bodyPr/>
                    <a:lstStyle/>
                    <a:p>
                      <a:pPr indent="0" lvl="0" marL="0" marR="0" rtl="0" algn="l">
                        <a:spcBef>
                          <a:spcPts val="0"/>
                        </a:spcBef>
                        <a:spcAft>
                          <a:spcPts val="0"/>
                        </a:spcAft>
                        <a:buNone/>
                      </a:pPr>
                      <a:r>
                        <a:rPr lang="en-US" sz="1800" u="sng">
                          <a:solidFill>
                            <a:srgbClr val="FF0000"/>
                          </a:solidFill>
                        </a:rPr>
                        <a:t>Cộng</a:t>
                      </a:r>
                      <a:r>
                        <a:rPr lang="en-US" sz="1800" u="sng">
                          <a:solidFill>
                            <a:srgbClr val="FF0000"/>
                          </a:solidFill>
                        </a:rPr>
                        <a:t> hòa lưỡng tính:</a:t>
                      </a:r>
                      <a:endParaRPr/>
                    </a:p>
                    <a:p>
                      <a:pPr indent="0" lvl="0" marL="0" marR="0" rtl="0" algn="l">
                        <a:spcBef>
                          <a:spcPts val="0"/>
                        </a:spcBef>
                        <a:spcAft>
                          <a:spcPts val="0"/>
                        </a:spcAft>
                        <a:buNone/>
                      </a:pPr>
                      <a:r>
                        <a:t/>
                      </a:r>
                      <a:endParaRPr sz="1800" u="sng">
                        <a:solidFill>
                          <a:srgbClr val="FF0000"/>
                        </a:solidFill>
                      </a:endParaRPr>
                    </a:p>
                    <a:p>
                      <a:pPr indent="0" lvl="0" marL="0" marR="0" rtl="0" algn="l">
                        <a:spcBef>
                          <a:spcPts val="0"/>
                        </a:spcBef>
                        <a:spcAft>
                          <a:spcPts val="0"/>
                        </a:spcAft>
                        <a:buNone/>
                      </a:pPr>
                      <a:r>
                        <a:rPr b="0" lang="en-US" sz="1800" u="none">
                          <a:solidFill>
                            <a:srgbClr val="FF0000"/>
                          </a:solidFill>
                        </a:rPr>
                        <a:t>Chính phủ vừa chịu trách nhiệm trước Nghị viện vừa chịu trách nhiệm trước nguyên thủ quốc gia</a:t>
                      </a:r>
                      <a:endParaRPr b="0" sz="1800" u="none">
                        <a:solidFill>
                          <a:srgbClr val="FF0000"/>
                        </a:solidFill>
                      </a:endParaRPr>
                    </a:p>
                    <a:p>
                      <a:pPr indent="0" lvl="0" marL="0" marR="0" rtl="0" algn="l">
                        <a:spcBef>
                          <a:spcPts val="0"/>
                        </a:spcBef>
                        <a:spcAft>
                          <a:spcPts val="0"/>
                        </a:spcAft>
                        <a:buNone/>
                      </a:pPr>
                      <a:r>
                        <a:t/>
                      </a:r>
                      <a:endParaRPr sz="1800">
                        <a:solidFill>
                          <a:srgbClr val="FF0000"/>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lang="en-US" sz="1800"/>
                        <a:t> </a:t>
                      </a:r>
                      <a:r>
                        <a:rPr lang="en-US" sz="1800"/>
                        <a:t> </a:t>
                      </a:r>
                      <a:r>
                        <a:rPr lang="en-US" sz="1800">
                          <a:solidFill>
                            <a:srgbClr val="FF0000"/>
                          </a:solidFill>
                        </a:rPr>
                        <a:t>Nghị viện                 Nguyên thủ quốc gia</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rPr lang="en-US" sz="1800">
                          <a:solidFill>
                            <a:srgbClr val="FF0000"/>
                          </a:solidFill>
                        </a:rPr>
                        <a:t>                     Chính phủ</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t/>
                      </a:r>
                      <a:endParaRPr sz="1800">
                        <a:solidFill>
                          <a:srgbClr val="FF0000"/>
                        </a:solidFill>
                      </a:endParaRPr>
                    </a:p>
                    <a:p>
                      <a:pPr indent="0" lvl="0" marL="0" marR="0" rtl="0" algn="l">
                        <a:spcBef>
                          <a:spcPts val="0"/>
                        </a:spcBef>
                        <a:spcAft>
                          <a:spcPts val="0"/>
                        </a:spcAft>
                        <a:buNone/>
                      </a:pPr>
                      <a:r>
                        <a:rPr lang="en-US" sz="1800">
                          <a:solidFill>
                            <a:srgbClr val="FF0000"/>
                          </a:solidFill>
                        </a:rPr>
                        <a:t>Nhân dân                                    Nhân dân</a:t>
                      </a:r>
                      <a:endParaRPr sz="1800"/>
                    </a:p>
                  </a:txBody>
                  <a:tcPr marT="45725" marB="45725" marR="91450" marL="91450">
                    <a:solidFill>
                      <a:schemeClr val="lt2"/>
                    </a:solidFill>
                  </a:tcPr>
                </a:tc>
              </a:tr>
            </a:tbl>
          </a:graphicData>
        </a:graphic>
      </p:graphicFrame>
      <p:sp>
        <p:nvSpPr>
          <p:cNvPr id="1030" name="Google Shape;1030;p39"/>
          <p:cNvSpPr/>
          <p:nvPr/>
        </p:nvSpPr>
        <p:spPr>
          <a:xfrm>
            <a:off x="4419600" y="3810000"/>
            <a:ext cx="76200" cy="1295400"/>
          </a:xfrm>
          <a:prstGeom prst="up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31" name="Google Shape;1031;p39"/>
          <p:cNvCxnSpPr/>
          <p:nvPr/>
        </p:nvCxnSpPr>
        <p:spPr>
          <a:xfrm flipH="1" rot="-5400000">
            <a:off x="4648200" y="3733800"/>
            <a:ext cx="457200" cy="304800"/>
          </a:xfrm>
          <a:prstGeom prst="straightConnector1">
            <a:avLst/>
          </a:prstGeom>
          <a:noFill/>
          <a:ln cap="flat" cmpd="sng" w="9525">
            <a:solidFill>
              <a:srgbClr val="075192"/>
            </a:solidFill>
            <a:prstDash val="solid"/>
            <a:round/>
            <a:headEnd len="sm" w="sm" type="none"/>
            <a:tailEnd len="med" w="med" type="stealth"/>
          </a:ln>
        </p:spPr>
      </p:cxnSp>
      <p:cxnSp>
        <p:nvCxnSpPr>
          <p:cNvPr id="1032" name="Google Shape;1032;p39"/>
          <p:cNvCxnSpPr/>
          <p:nvPr/>
        </p:nvCxnSpPr>
        <p:spPr>
          <a:xfrm rot="5400000">
            <a:off x="5943600" y="3733800"/>
            <a:ext cx="457200" cy="304800"/>
          </a:xfrm>
          <a:prstGeom prst="straightConnector1">
            <a:avLst/>
          </a:prstGeom>
          <a:noFill/>
          <a:ln cap="flat" cmpd="sng" w="9525">
            <a:solidFill>
              <a:srgbClr val="075192"/>
            </a:solidFill>
            <a:prstDash val="solid"/>
            <a:round/>
            <a:headEnd len="sm" w="sm" type="none"/>
            <a:tailEnd len="med" w="med" type="stealth"/>
          </a:ln>
        </p:spPr>
      </p:cxnSp>
      <p:sp>
        <p:nvSpPr>
          <p:cNvPr id="1033" name="Google Shape;1033;p39"/>
          <p:cNvSpPr/>
          <p:nvPr/>
        </p:nvSpPr>
        <p:spPr>
          <a:xfrm>
            <a:off x="7467600" y="3733800"/>
            <a:ext cx="76200" cy="1371600"/>
          </a:xfrm>
          <a:prstGeom prst="up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4" name="Google Shape;1034;p39"/>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035" name="Google Shape;1035;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500"/>
                                        <p:tgtEl>
                                          <p:spTgt spid="102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0" st="0"/>
                                            </p:txEl>
                                          </p:spTgt>
                                        </p:tgtEl>
                                        <p:attrNameLst>
                                          <p:attrName>style.visibility</p:attrName>
                                        </p:attrNameLst>
                                      </p:cBhvr>
                                      <p:to>
                                        <p:strVal val="visible"/>
                                      </p:to>
                                    </p:set>
                                    <p:animEffect filter="fade" transition="in">
                                      <p:cBhvr>
                                        <p:cTn dur="2000"/>
                                        <p:tgtEl>
                                          <p:spTgt spid="10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1" st="1"/>
                                            </p:txEl>
                                          </p:spTgt>
                                        </p:tgtEl>
                                        <p:attrNameLst>
                                          <p:attrName>style.visibility</p:attrName>
                                        </p:attrNameLst>
                                      </p:cBhvr>
                                      <p:to>
                                        <p:strVal val="visible"/>
                                      </p:to>
                                    </p:set>
                                    <p:animEffect filter="fade" transition="in">
                                      <p:cBhvr>
                                        <p:cTn dur="2000"/>
                                        <p:tgtEl>
                                          <p:spTgt spid="10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2" st="2"/>
                                            </p:txEl>
                                          </p:spTgt>
                                        </p:tgtEl>
                                        <p:attrNameLst>
                                          <p:attrName>style.visibility</p:attrName>
                                        </p:attrNameLst>
                                      </p:cBhvr>
                                      <p:to>
                                        <p:strVal val="visible"/>
                                      </p:to>
                                    </p:set>
                                    <p:animEffect filter="fade" transition="in">
                                      <p:cBhvr>
                                        <p:cTn dur="2000"/>
                                        <p:tgtEl>
                                          <p:spTgt spid="10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3" st="3"/>
                                            </p:txEl>
                                          </p:spTgt>
                                        </p:tgtEl>
                                        <p:attrNameLst>
                                          <p:attrName>style.visibility</p:attrName>
                                        </p:attrNameLst>
                                      </p:cBhvr>
                                      <p:to>
                                        <p:strVal val="visible"/>
                                      </p:to>
                                    </p:set>
                                    <p:animEffect filter="fade" transition="in">
                                      <p:cBhvr>
                                        <p:cTn dur="2000"/>
                                        <p:tgtEl>
                                          <p:spTgt spid="10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xEl>
                                              <p:pRg end="4" st="4"/>
                                            </p:txEl>
                                          </p:spTgt>
                                        </p:tgtEl>
                                        <p:attrNameLst>
                                          <p:attrName>style.visibility</p:attrName>
                                        </p:attrNameLst>
                                      </p:cBhvr>
                                      <p:to>
                                        <p:strVal val="visible"/>
                                      </p:to>
                                    </p:set>
                                    <p:animEffect filter="fade" transition="in">
                                      <p:cBhvr>
                                        <p:cTn dur="2000"/>
                                        <p:tgtEl>
                                          <p:spTgt spid="10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9"/>
                                        </p:tgtEl>
                                        <p:attrNameLst>
                                          <p:attrName>style.visibility</p:attrName>
                                        </p:attrNameLst>
                                      </p:cBhvr>
                                      <p:to>
                                        <p:strVal val="visible"/>
                                      </p:to>
                                    </p:set>
                                    <p:anim calcmode="lin" valueType="num">
                                      <p:cBhvr additive="base">
                                        <p:cTn dur="500"/>
                                        <p:tgtEl>
                                          <p:spTgt spid="10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40"/>
          <p:cNvSpPr txBox="1"/>
          <p:nvPr>
            <p:ph type="title"/>
          </p:nvPr>
        </p:nvSpPr>
        <p:spPr>
          <a:xfrm>
            <a:off x="381000" y="152400"/>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2.5.2 Hình thức cấu trúc nhà nước</a:t>
            </a:r>
            <a:endParaRPr sz="3200">
              <a:latin typeface="Times New Roman"/>
              <a:ea typeface="Times New Roman"/>
              <a:cs typeface="Times New Roman"/>
              <a:sym typeface="Times New Roman"/>
            </a:endParaRPr>
          </a:p>
        </p:txBody>
      </p:sp>
      <p:sp>
        <p:nvSpPr>
          <p:cNvPr id="1041" name="Google Shape;1041;p40"/>
          <p:cNvSpPr txBox="1"/>
          <p:nvPr>
            <p:ph idx="1" type="body"/>
          </p:nvPr>
        </p:nvSpPr>
        <p:spPr>
          <a:xfrm>
            <a:off x="381000" y="1066800"/>
            <a:ext cx="8382000" cy="5257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latin typeface="Times New Roman"/>
                <a:ea typeface="Times New Roman"/>
                <a:cs typeface="Times New Roman"/>
                <a:sym typeface="Times New Roman"/>
              </a:rPr>
              <a:t>  Là sự cấu tạo (tổ chức) nhà nước thành các đơn vị hành chính lãnh thổ và tính chất quan hệ giữa các bộ phận câu thành nhà nước với nhau, giữa các cơ quan nhà nước ở trung ương với các cơ quan nhà nước ở địa phương.</a:t>
            </a:r>
            <a:endParaRPr/>
          </a:p>
          <a:p>
            <a:pPr indent="-274320" lvl="0" marL="274320" rtl="0" algn="l">
              <a:spcBef>
                <a:spcPts val="520"/>
              </a:spcBef>
              <a:spcAft>
                <a:spcPts val="0"/>
              </a:spcAft>
              <a:buSzPts val="2470"/>
              <a:buChar char="⚫"/>
            </a:pPr>
            <a:r>
              <a:rPr lang="en-US">
                <a:latin typeface="Times New Roman"/>
                <a:ea typeface="Times New Roman"/>
                <a:cs typeface="Times New Roman"/>
                <a:sym typeface="Times New Roman"/>
              </a:rPr>
              <a:t>Có 2 loại:</a:t>
            </a:r>
            <a:endParaRPr/>
          </a:p>
          <a:p>
            <a:pPr indent="-274320" lvl="0" marL="274320" rtl="0" algn="l">
              <a:spcBef>
                <a:spcPts val="520"/>
              </a:spcBef>
              <a:spcAft>
                <a:spcPts val="0"/>
              </a:spcAft>
              <a:buSzPts val="2470"/>
              <a:buFont typeface="Times New Roman"/>
              <a:buChar char="-"/>
            </a:pPr>
            <a:r>
              <a:rPr lang="en-US">
                <a:latin typeface="Times New Roman"/>
                <a:ea typeface="Times New Roman"/>
                <a:cs typeface="Times New Roman"/>
                <a:sym typeface="Times New Roman"/>
              </a:rPr>
              <a:t>Nhà nước đơn nhất</a:t>
            </a:r>
            <a:endParaRPr>
              <a:latin typeface="Times New Roman"/>
              <a:ea typeface="Times New Roman"/>
              <a:cs typeface="Times New Roman"/>
              <a:sym typeface="Times New Roman"/>
            </a:endParaRPr>
          </a:p>
          <a:p>
            <a:pPr indent="-274320" lvl="0" marL="274320" rtl="0" algn="l">
              <a:spcBef>
                <a:spcPts val="520"/>
              </a:spcBef>
              <a:spcAft>
                <a:spcPts val="0"/>
              </a:spcAft>
              <a:buSzPts val="2470"/>
              <a:buFont typeface="Times New Roman"/>
              <a:buChar char="-"/>
            </a:pPr>
            <a:r>
              <a:rPr lang="en-US">
                <a:latin typeface="Times New Roman"/>
                <a:ea typeface="Times New Roman"/>
                <a:cs typeface="Times New Roman"/>
                <a:sym typeface="Times New Roman"/>
              </a:rPr>
              <a:t>Nhà nước liên bang</a:t>
            </a:r>
            <a:endParaRPr>
              <a:latin typeface="Times New Roman"/>
              <a:ea typeface="Times New Roman"/>
              <a:cs typeface="Times New Roman"/>
              <a:sym typeface="Times New Roman"/>
            </a:endParaRPr>
          </a:p>
        </p:txBody>
      </p:sp>
      <p:sp>
        <p:nvSpPr>
          <p:cNvPr id="1042" name="Google Shape;1042;p40"/>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043" name="Google Shape;1043;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500"/>
                                        <p:tgtEl>
                                          <p:spTgt spid="1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1">
                                            <p:txEl>
                                              <p:pRg end="0" st="0"/>
                                            </p:txEl>
                                          </p:spTgt>
                                        </p:tgtEl>
                                        <p:attrNameLst>
                                          <p:attrName>style.visibility</p:attrName>
                                        </p:attrNameLst>
                                      </p:cBhvr>
                                      <p:to>
                                        <p:strVal val="visible"/>
                                      </p:to>
                                    </p:set>
                                    <p:anim calcmode="lin" valueType="num">
                                      <p:cBhvr additive="base">
                                        <p:cTn dur="500"/>
                                        <p:tgtEl>
                                          <p:spTgt spid="104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1">
                                            <p:txEl>
                                              <p:pRg end="1" st="1"/>
                                            </p:txEl>
                                          </p:spTgt>
                                        </p:tgtEl>
                                        <p:attrNameLst>
                                          <p:attrName>style.visibility</p:attrName>
                                        </p:attrNameLst>
                                      </p:cBhvr>
                                      <p:to>
                                        <p:strVal val="visible"/>
                                      </p:to>
                                    </p:set>
                                    <p:anim calcmode="lin" valueType="num">
                                      <p:cBhvr additive="base">
                                        <p:cTn dur="500"/>
                                        <p:tgtEl>
                                          <p:spTgt spid="104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1">
                                            <p:txEl>
                                              <p:pRg end="2" st="2"/>
                                            </p:txEl>
                                          </p:spTgt>
                                        </p:tgtEl>
                                        <p:attrNameLst>
                                          <p:attrName>style.visibility</p:attrName>
                                        </p:attrNameLst>
                                      </p:cBhvr>
                                      <p:to>
                                        <p:strVal val="visible"/>
                                      </p:to>
                                    </p:set>
                                    <p:anim calcmode="lin" valueType="num">
                                      <p:cBhvr additive="base">
                                        <p:cTn dur="500"/>
                                        <p:tgtEl>
                                          <p:spTgt spid="104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1">
                                            <p:txEl>
                                              <p:pRg end="3" st="3"/>
                                            </p:txEl>
                                          </p:spTgt>
                                        </p:tgtEl>
                                        <p:attrNameLst>
                                          <p:attrName>style.visibility</p:attrName>
                                        </p:attrNameLst>
                                      </p:cBhvr>
                                      <p:to>
                                        <p:strVal val="visible"/>
                                      </p:to>
                                    </p:set>
                                    <p:anim calcmode="lin" valueType="num">
                                      <p:cBhvr additive="base">
                                        <p:cTn dur="500"/>
                                        <p:tgtEl>
                                          <p:spTgt spid="104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41"/>
          <p:cNvSpPr txBox="1"/>
          <p:nvPr>
            <p:ph type="title"/>
          </p:nvPr>
        </p:nvSpPr>
        <p:spPr>
          <a:xfrm>
            <a:off x="381000" y="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Nhà nước đơn nhất</a:t>
            </a:r>
            <a:endParaRPr sz="3200">
              <a:latin typeface="Times New Roman"/>
              <a:ea typeface="Times New Roman"/>
              <a:cs typeface="Times New Roman"/>
              <a:sym typeface="Times New Roman"/>
            </a:endParaRPr>
          </a:p>
        </p:txBody>
      </p:sp>
      <p:sp>
        <p:nvSpPr>
          <p:cNvPr id="1049" name="Google Shape;1049;p41"/>
          <p:cNvSpPr txBox="1"/>
          <p:nvPr>
            <p:ph idx="1" type="body"/>
          </p:nvPr>
        </p:nvSpPr>
        <p:spPr>
          <a:xfrm>
            <a:off x="457200" y="1447800"/>
            <a:ext cx="4724400" cy="4434840"/>
          </a:xfrm>
          <a:prstGeom prst="rect">
            <a:avLst/>
          </a:prstGeom>
          <a:noFill/>
          <a:ln>
            <a:noFill/>
          </a:ln>
        </p:spPr>
        <p:txBody>
          <a:bodyPr anchorCtr="0" anchor="t" bIns="45700" lIns="91425" spcFirstLastPara="1" rIns="91425" wrap="square" tIns="45700">
            <a:normAutofit fontScale="85000" lnSpcReduction="10000"/>
          </a:bodyPr>
          <a:lstStyle/>
          <a:p>
            <a:pPr indent="-514350" lvl="0" marL="514350" rtl="0" algn="l">
              <a:spcBef>
                <a:spcPts val="0"/>
              </a:spcBef>
              <a:spcAft>
                <a:spcPts val="0"/>
              </a:spcAft>
              <a:buSzPct val="95000"/>
              <a:buAutoNum type="arabicPeriod"/>
            </a:pPr>
            <a:r>
              <a:rPr lang="en-US"/>
              <a:t>Có chủ quyền chung</a:t>
            </a:r>
            <a:endParaRPr/>
          </a:p>
          <a:p>
            <a:pPr indent="-514350" lvl="0" marL="514350" rtl="0" algn="l">
              <a:spcBef>
                <a:spcPts val="442"/>
              </a:spcBef>
              <a:spcAft>
                <a:spcPts val="0"/>
              </a:spcAft>
              <a:buSzPct val="95000"/>
              <a:buAutoNum type="arabicPeriod"/>
            </a:pPr>
            <a:r>
              <a:rPr lang="en-US"/>
              <a:t>Có lãnh thổ toàn vẹn, thống nhất</a:t>
            </a:r>
            <a:endParaRPr/>
          </a:p>
          <a:p>
            <a:pPr indent="-514350" lvl="0" marL="514350" rtl="0" algn="l">
              <a:spcBef>
                <a:spcPts val="442"/>
              </a:spcBef>
              <a:spcAft>
                <a:spcPts val="0"/>
              </a:spcAft>
              <a:buSzPct val="95000"/>
              <a:buAutoNum type="arabicPeriod"/>
            </a:pPr>
            <a:r>
              <a:rPr lang="en-US"/>
              <a:t>Các bộ phận hợp thành nhà nước không có chủ quyền riêng</a:t>
            </a:r>
            <a:endParaRPr/>
          </a:p>
          <a:p>
            <a:pPr indent="-514350" lvl="0" marL="514350" rtl="0" algn="l">
              <a:spcBef>
                <a:spcPts val="442"/>
              </a:spcBef>
              <a:spcAft>
                <a:spcPts val="0"/>
              </a:spcAft>
              <a:buSzPct val="95000"/>
              <a:buAutoNum type="arabicPeriod"/>
            </a:pPr>
            <a:r>
              <a:rPr lang="en-US"/>
              <a:t>Có 1 hệ thống cơ quan thống nhất từ trung ương đến địa phương</a:t>
            </a:r>
            <a:endParaRPr/>
          </a:p>
          <a:p>
            <a:pPr indent="-514350" lvl="0" marL="514350" rtl="0" algn="l">
              <a:spcBef>
                <a:spcPts val="442"/>
              </a:spcBef>
              <a:spcAft>
                <a:spcPts val="0"/>
              </a:spcAft>
              <a:buSzPct val="95000"/>
              <a:buAutoNum type="arabicPeriod"/>
            </a:pPr>
            <a:r>
              <a:rPr lang="en-US"/>
              <a:t>Có một hệ thống pháp luật thống nhất trên toàn lãnh thổ quốc gia</a:t>
            </a:r>
            <a:endParaRPr/>
          </a:p>
          <a:p>
            <a:pPr indent="-514350" lvl="0" marL="514350" rtl="0" algn="l">
              <a:spcBef>
                <a:spcPts val="442"/>
              </a:spcBef>
              <a:spcAft>
                <a:spcPts val="0"/>
              </a:spcAft>
              <a:buSzPct val="95000"/>
              <a:buAutoNum type="arabicPeriod"/>
            </a:pPr>
            <a:r>
              <a:rPr lang="en-US"/>
              <a:t>Công dân thường có 1 quốc tịch</a:t>
            </a:r>
            <a:endParaRPr/>
          </a:p>
          <a:p>
            <a:pPr indent="-274320" lvl="0" marL="274320" rtl="0" algn="l">
              <a:spcBef>
                <a:spcPts val="442"/>
              </a:spcBef>
              <a:spcAft>
                <a:spcPts val="0"/>
              </a:spcAft>
              <a:buSzPct val="95000"/>
              <a:buChar char="⚫"/>
            </a:pPr>
            <a:r>
              <a:rPr lang="en-US"/>
              <a:t>Ví dụ: Việt Nam,Trung Quốc, Pháp, Anh ...</a:t>
            </a:r>
            <a:endParaRPr/>
          </a:p>
          <a:p>
            <a:pPr indent="-141001" lvl="0" marL="274320" rtl="0" algn="l">
              <a:spcBef>
                <a:spcPts val="442"/>
              </a:spcBef>
              <a:spcAft>
                <a:spcPts val="0"/>
              </a:spcAft>
              <a:buSzPct val="95000"/>
              <a:buNone/>
            </a:pPr>
            <a:r>
              <a:t/>
            </a:r>
            <a:endParaRPr/>
          </a:p>
        </p:txBody>
      </p:sp>
      <p:sp>
        <p:nvSpPr>
          <p:cNvPr id="1050" name="Google Shape;1050;p41"/>
          <p:cNvSpPr txBox="1"/>
          <p:nvPr>
            <p:ph idx="2" type="body"/>
          </p:nvPr>
        </p:nvSpPr>
        <p:spPr>
          <a:xfrm>
            <a:off x="5486400" y="1920085"/>
            <a:ext cx="3200400" cy="4434840"/>
          </a:xfrm>
          <a:prstGeom prst="rect">
            <a:avLst/>
          </a:prstGeom>
          <a:noFill/>
          <a:ln>
            <a:noFill/>
          </a:ln>
        </p:spPr>
        <p:txBody>
          <a:bodyPr anchorCtr="0" anchor="t" bIns="45700" lIns="91425" spcFirstLastPara="1" rIns="91425" wrap="square" tIns="45700">
            <a:normAutofit fontScale="85000" lnSpcReduction="10000"/>
          </a:bodyPr>
          <a:lstStyle/>
          <a:p>
            <a:pPr indent="-141001" lvl="0" marL="274320" rtl="0" algn="l">
              <a:spcBef>
                <a:spcPts val="0"/>
              </a:spcBef>
              <a:spcAft>
                <a:spcPts val="0"/>
              </a:spcAft>
              <a:buSzPct val="95000"/>
              <a:buNone/>
            </a:pPr>
            <a:r>
              <a:t/>
            </a:r>
            <a:endParaRPr/>
          </a:p>
        </p:txBody>
      </p:sp>
      <p:pic>
        <p:nvPicPr>
          <p:cNvPr descr="vietnam" id="1051" name="Google Shape;1051;p41"/>
          <p:cNvPicPr preferRelativeResize="0"/>
          <p:nvPr/>
        </p:nvPicPr>
        <p:blipFill rotWithShape="1">
          <a:blip r:embed="rId3">
            <a:alphaModFix/>
          </a:blip>
          <a:srcRect b="0" l="0" r="0" t="0"/>
          <a:stretch/>
        </p:blipFill>
        <p:spPr>
          <a:xfrm>
            <a:off x="5562600" y="1524000"/>
            <a:ext cx="2951162" cy="4114800"/>
          </a:xfrm>
          <a:prstGeom prst="rect">
            <a:avLst/>
          </a:prstGeom>
          <a:noFill/>
          <a:ln>
            <a:noFill/>
          </a:ln>
        </p:spPr>
      </p:pic>
      <p:sp>
        <p:nvSpPr>
          <p:cNvPr id="1052" name="Google Shape;1052;p41"/>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053" name="Google Shape;1053;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500"/>
                                        <p:tgtEl>
                                          <p:spTgt spid="1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0" st="0"/>
                                            </p:txEl>
                                          </p:spTgt>
                                        </p:tgtEl>
                                        <p:attrNameLst>
                                          <p:attrName>style.visibility</p:attrName>
                                        </p:attrNameLst>
                                      </p:cBhvr>
                                      <p:to>
                                        <p:strVal val="visible"/>
                                      </p:to>
                                    </p:set>
                                    <p:animEffect filter="fade" transition="in">
                                      <p:cBhvr>
                                        <p:cTn dur="2000"/>
                                        <p:tgtEl>
                                          <p:spTgt spid="10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1" st="1"/>
                                            </p:txEl>
                                          </p:spTgt>
                                        </p:tgtEl>
                                        <p:attrNameLst>
                                          <p:attrName>style.visibility</p:attrName>
                                        </p:attrNameLst>
                                      </p:cBhvr>
                                      <p:to>
                                        <p:strVal val="visible"/>
                                      </p:to>
                                    </p:set>
                                    <p:animEffect filter="fade" transition="in">
                                      <p:cBhvr>
                                        <p:cTn dur="2000"/>
                                        <p:tgtEl>
                                          <p:spTgt spid="10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2" st="2"/>
                                            </p:txEl>
                                          </p:spTgt>
                                        </p:tgtEl>
                                        <p:attrNameLst>
                                          <p:attrName>style.visibility</p:attrName>
                                        </p:attrNameLst>
                                      </p:cBhvr>
                                      <p:to>
                                        <p:strVal val="visible"/>
                                      </p:to>
                                    </p:set>
                                    <p:animEffect filter="fade" transition="in">
                                      <p:cBhvr>
                                        <p:cTn dur="2000"/>
                                        <p:tgtEl>
                                          <p:spTgt spid="10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3" st="3"/>
                                            </p:txEl>
                                          </p:spTgt>
                                        </p:tgtEl>
                                        <p:attrNameLst>
                                          <p:attrName>style.visibility</p:attrName>
                                        </p:attrNameLst>
                                      </p:cBhvr>
                                      <p:to>
                                        <p:strVal val="visible"/>
                                      </p:to>
                                    </p:set>
                                    <p:animEffect filter="fade" transition="in">
                                      <p:cBhvr>
                                        <p:cTn dur="2000"/>
                                        <p:tgtEl>
                                          <p:spTgt spid="10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4" st="4"/>
                                            </p:txEl>
                                          </p:spTgt>
                                        </p:tgtEl>
                                        <p:attrNameLst>
                                          <p:attrName>style.visibility</p:attrName>
                                        </p:attrNameLst>
                                      </p:cBhvr>
                                      <p:to>
                                        <p:strVal val="visible"/>
                                      </p:to>
                                    </p:set>
                                    <p:animEffect filter="fade" transition="in">
                                      <p:cBhvr>
                                        <p:cTn dur="2000"/>
                                        <p:tgtEl>
                                          <p:spTgt spid="10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5" st="5"/>
                                            </p:txEl>
                                          </p:spTgt>
                                        </p:tgtEl>
                                        <p:attrNameLst>
                                          <p:attrName>style.visibility</p:attrName>
                                        </p:attrNameLst>
                                      </p:cBhvr>
                                      <p:to>
                                        <p:strVal val="visible"/>
                                      </p:to>
                                    </p:set>
                                    <p:animEffect filter="fade" transition="in">
                                      <p:cBhvr>
                                        <p:cTn dur="2000"/>
                                        <p:tgtEl>
                                          <p:spTgt spid="10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6" st="6"/>
                                            </p:txEl>
                                          </p:spTgt>
                                        </p:tgtEl>
                                        <p:attrNameLst>
                                          <p:attrName>style.visibility</p:attrName>
                                        </p:attrNameLst>
                                      </p:cBhvr>
                                      <p:to>
                                        <p:strVal val="visible"/>
                                      </p:to>
                                    </p:set>
                                    <p:animEffect filter="fade" transition="in">
                                      <p:cBhvr>
                                        <p:cTn dur="2000"/>
                                        <p:tgtEl>
                                          <p:spTgt spid="10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9">
                                            <p:txEl>
                                              <p:pRg end="7" st="7"/>
                                            </p:txEl>
                                          </p:spTgt>
                                        </p:tgtEl>
                                        <p:attrNameLst>
                                          <p:attrName>style.visibility</p:attrName>
                                        </p:attrNameLst>
                                      </p:cBhvr>
                                      <p:to>
                                        <p:strVal val="visible"/>
                                      </p:to>
                                    </p:set>
                                    <p:animEffect filter="fade" transition="in">
                                      <p:cBhvr>
                                        <p:cTn dur="2000"/>
                                        <p:tgtEl>
                                          <p:spTgt spid="1049">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42"/>
          <p:cNvSpPr txBox="1"/>
          <p:nvPr>
            <p:ph type="title"/>
          </p:nvPr>
        </p:nvSpPr>
        <p:spPr>
          <a:xfrm>
            <a:off x="457200" y="381000"/>
            <a:ext cx="8229600" cy="7437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Nhà nước liên bang</a:t>
            </a:r>
            <a:endParaRPr sz="3200">
              <a:latin typeface="Times New Roman"/>
              <a:ea typeface="Times New Roman"/>
              <a:cs typeface="Times New Roman"/>
              <a:sym typeface="Times New Roman"/>
            </a:endParaRPr>
          </a:p>
        </p:txBody>
      </p:sp>
      <p:sp>
        <p:nvSpPr>
          <p:cNvPr id="1059" name="Google Shape;1059;p42"/>
          <p:cNvSpPr txBox="1"/>
          <p:nvPr>
            <p:ph idx="1" type="body"/>
          </p:nvPr>
        </p:nvSpPr>
        <p:spPr>
          <a:xfrm>
            <a:off x="457200" y="1371600"/>
            <a:ext cx="4038600" cy="4983325"/>
          </a:xfrm>
          <a:prstGeom prst="rect">
            <a:avLst/>
          </a:prstGeom>
          <a:noFill/>
          <a:ln>
            <a:noFill/>
          </a:ln>
        </p:spPr>
        <p:txBody>
          <a:bodyPr anchorCtr="0" anchor="t" bIns="45700" lIns="91425" spcFirstLastPara="1" rIns="91425" wrap="square" tIns="45700">
            <a:normAutofit fontScale="77500" lnSpcReduction="20000"/>
          </a:bodyPr>
          <a:lstStyle/>
          <a:p>
            <a:pPr indent="-514350" lvl="0" marL="514350" rtl="0" algn="l">
              <a:spcBef>
                <a:spcPts val="0"/>
              </a:spcBef>
              <a:spcAft>
                <a:spcPts val="0"/>
              </a:spcAft>
              <a:buSzPct val="95000"/>
              <a:buAutoNum type="arabicPeriod"/>
            </a:pPr>
            <a:r>
              <a:rPr lang="en-US">
                <a:latin typeface="Times New Roman"/>
                <a:ea typeface="Times New Roman"/>
                <a:cs typeface="Times New Roman"/>
                <a:sym typeface="Times New Roman"/>
              </a:rPr>
              <a:t>Được thiết lập từ hai hay nhiều nhà nước thành viên</a:t>
            </a:r>
            <a:endParaRPr>
              <a:latin typeface="Times New Roman"/>
              <a:ea typeface="Times New Roman"/>
              <a:cs typeface="Times New Roman"/>
              <a:sym typeface="Times New Roman"/>
            </a:endParaRPr>
          </a:p>
          <a:p>
            <a:pPr indent="-514350" lvl="0" marL="514350" rtl="0" algn="l">
              <a:spcBef>
                <a:spcPts val="403"/>
              </a:spcBef>
              <a:spcAft>
                <a:spcPts val="0"/>
              </a:spcAft>
              <a:buSzPct val="95000"/>
              <a:buAutoNum type="arabicPeriod"/>
            </a:pPr>
            <a:r>
              <a:rPr lang="en-US">
                <a:latin typeface="Times New Roman"/>
                <a:ea typeface="Times New Roman"/>
                <a:cs typeface="Times New Roman"/>
                <a:sym typeface="Times New Roman"/>
              </a:rPr>
              <a:t>Có chủ quyền chung nhưng mỗi nước thành viên đều có chủ quyền riêng</a:t>
            </a:r>
            <a:endParaRPr>
              <a:latin typeface="Times New Roman"/>
              <a:ea typeface="Times New Roman"/>
              <a:cs typeface="Times New Roman"/>
              <a:sym typeface="Times New Roman"/>
            </a:endParaRPr>
          </a:p>
          <a:p>
            <a:pPr indent="-514350" lvl="0" marL="514350" rtl="0" algn="l">
              <a:spcBef>
                <a:spcPts val="403"/>
              </a:spcBef>
              <a:spcAft>
                <a:spcPts val="0"/>
              </a:spcAft>
              <a:buSzPct val="95000"/>
              <a:buAutoNum type="arabicPeriod"/>
            </a:pPr>
            <a:r>
              <a:rPr lang="en-US">
                <a:latin typeface="Times New Roman"/>
                <a:ea typeface="Times New Roman"/>
                <a:cs typeface="Times New Roman"/>
                <a:sym typeface="Times New Roman"/>
              </a:rPr>
              <a:t>Có 2 hệ thống các cơ quan nhà nước ( liên bang, nước thành viên)</a:t>
            </a:r>
            <a:endParaRPr/>
          </a:p>
          <a:p>
            <a:pPr indent="-514350" lvl="0" marL="514350" rtl="0" algn="l">
              <a:spcBef>
                <a:spcPts val="403"/>
              </a:spcBef>
              <a:spcAft>
                <a:spcPts val="0"/>
              </a:spcAft>
              <a:buSzPct val="95000"/>
              <a:buAutoNum type="arabicPeriod"/>
            </a:pPr>
            <a:r>
              <a:rPr lang="en-US">
                <a:latin typeface="Times New Roman"/>
                <a:ea typeface="Times New Roman"/>
                <a:cs typeface="Times New Roman"/>
                <a:sym typeface="Times New Roman"/>
              </a:rPr>
              <a:t>Có 2 hệ thống pháp luật</a:t>
            </a:r>
            <a:endParaRPr>
              <a:latin typeface="Times New Roman"/>
              <a:ea typeface="Times New Roman"/>
              <a:cs typeface="Times New Roman"/>
              <a:sym typeface="Times New Roman"/>
            </a:endParaRPr>
          </a:p>
          <a:p>
            <a:pPr indent="-514350" lvl="0" marL="514350" rtl="0" algn="l">
              <a:spcBef>
                <a:spcPts val="403"/>
              </a:spcBef>
              <a:spcAft>
                <a:spcPts val="0"/>
              </a:spcAft>
              <a:buSzPct val="95000"/>
              <a:buAutoNum type="arabicPeriod"/>
            </a:pPr>
            <a:r>
              <a:rPr lang="en-US">
                <a:latin typeface="Times New Roman"/>
                <a:ea typeface="Times New Roman"/>
                <a:cs typeface="Times New Roman"/>
                <a:sym typeface="Times New Roman"/>
              </a:rPr>
              <a:t>Công dân mang hai quốc tịch</a:t>
            </a:r>
            <a:endParaRPr>
              <a:latin typeface="Times New Roman"/>
              <a:ea typeface="Times New Roman"/>
              <a:cs typeface="Times New Roman"/>
              <a:sym typeface="Times New Roman"/>
            </a:endParaRPr>
          </a:p>
          <a:p>
            <a:pPr indent="-274320" lvl="0" marL="274320" rtl="0" algn="l">
              <a:spcBef>
                <a:spcPts val="403"/>
              </a:spcBef>
              <a:spcAft>
                <a:spcPts val="0"/>
              </a:spcAft>
              <a:buSzPct val="95000"/>
              <a:buChar char="⚫"/>
            </a:pPr>
            <a:r>
              <a:rPr lang="en-US">
                <a:latin typeface="Times New Roman"/>
                <a:ea typeface="Times New Roman"/>
                <a:cs typeface="Times New Roman"/>
                <a:sym typeface="Times New Roman"/>
              </a:rPr>
              <a:t>Ví dụ: hiện có khoảng 28 nhà nước liên bang như Mỹ, Đức, Áo, Ấn Độ, Mexico, Brazin,..</a:t>
            </a:r>
            <a:endParaRPr/>
          </a:p>
          <a:p>
            <a:pPr indent="-274320" lvl="0" marL="274320" rtl="0" algn="l">
              <a:spcBef>
                <a:spcPts val="403"/>
              </a:spcBef>
              <a:spcAft>
                <a:spcPts val="0"/>
              </a:spcAft>
              <a:buSzPct val="95000"/>
              <a:buChar char="⚫"/>
            </a:pPr>
            <a:r>
              <a:rPr lang="en-US">
                <a:latin typeface="Times New Roman"/>
                <a:ea typeface="Times New Roman"/>
                <a:cs typeface="Times New Roman"/>
                <a:sym typeface="Times New Roman"/>
              </a:rPr>
              <a:t>Nhà nước liên bang cũng có thể tan rã thành các quốc gia độc lập như Nam Tư (1945-1992), Tiệp Khắc (1969-1992) và Liên Xô cũ (1922-1991).</a:t>
            </a:r>
            <a:endParaRPr/>
          </a:p>
          <a:p>
            <a:pPr indent="-152765" lvl="0" marL="274320" rtl="0" algn="l">
              <a:spcBef>
                <a:spcPts val="403"/>
              </a:spcBef>
              <a:spcAft>
                <a:spcPts val="0"/>
              </a:spcAft>
              <a:buSzPct val="95000"/>
              <a:buNone/>
            </a:pPr>
            <a:r>
              <a:t/>
            </a:r>
            <a:endParaRPr>
              <a:latin typeface="Times New Roman"/>
              <a:ea typeface="Times New Roman"/>
              <a:cs typeface="Times New Roman"/>
              <a:sym typeface="Times New Roman"/>
            </a:endParaRPr>
          </a:p>
          <a:p>
            <a:pPr indent="-152765" lvl="0" marL="274320" rtl="0" algn="l">
              <a:spcBef>
                <a:spcPts val="403"/>
              </a:spcBef>
              <a:spcAft>
                <a:spcPts val="0"/>
              </a:spcAft>
              <a:buSzPct val="95000"/>
              <a:buNone/>
            </a:pPr>
            <a:r>
              <a:t/>
            </a:r>
            <a:endParaRPr>
              <a:latin typeface="Times New Roman"/>
              <a:ea typeface="Times New Roman"/>
              <a:cs typeface="Times New Roman"/>
              <a:sym typeface="Times New Roman"/>
            </a:endParaRPr>
          </a:p>
        </p:txBody>
      </p:sp>
      <p:pic>
        <p:nvPicPr>
          <p:cNvPr descr="Map of United States" id="1060" name="Google Shape;1060;p42"/>
          <p:cNvPicPr preferRelativeResize="0"/>
          <p:nvPr>
            <p:ph idx="2" type="body"/>
          </p:nvPr>
        </p:nvPicPr>
        <p:blipFill rotWithShape="1">
          <a:blip r:embed="rId3">
            <a:alphaModFix/>
          </a:blip>
          <a:srcRect b="0" l="0" r="0" t="0"/>
          <a:stretch/>
        </p:blipFill>
        <p:spPr>
          <a:xfrm>
            <a:off x="4648200" y="2749550"/>
            <a:ext cx="4038600" cy="2776538"/>
          </a:xfrm>
          <a:prstGeom prst="rect">
            <a:avLst/>
          </a:prstGeom>
          <a:noFill/>
          <a:ln>
            <a:noFill/>
          </a:ln>
        </p:spPr>
      </p:pic>
      <p:sp>
        <p:nvSpPr>
          <p:cNvPr id="1061" name="Google Shape;1061;p42"/>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062" name="Google Shape;1062;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500"/>
                                        <p:tgtEl>
                                          <p:spTgt spid="10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0" st="0"/>
                                            </p:txEl>
                                          </p:spTgt>
                                        </p:tgtEl>
                                        <p:attrNameLst>
                                          <p:attrName>style.visibility</p:attrName>
                                        </p:attrNameLst>
                                      </p:cBhvr>
                                      <p:to>
                                        <p:strVal val="visible"/>
                                      </p:to>
                                    </p:set>
                                    <p:anim calcmode="lin" valueType="num">
                                      <p:cBhvr additive="base">
                                        <p:cTn dur="500"/>
                                        <p:tgtEl>
                                          <p:spTgt spid="105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1" st="1"/>
                                            </p:txEl>
                                          </p:spTgt>
                                        </p:tgtEl>
                                        <p:attrNameLst>
                                          <p:attrName>style.visibility</p:attrName>
                                        </p:attrNameLst>
                                      </p:cBhvr>
                                      <p:to>
                                        <p:strVal val="visible"/>
                                      </p:to>
                                    </p:set>
                                    <p:anim calcmode="lin" valueType="num">
                                      <p:cBhvr additive="base">
                                        <p:cTn dur="500"/>
                                        <p:tgtEl>
                                          <p:spTgt spid="105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2" st="2"/>
                                            </p:txEl>
                                          </p:spTgt>
                                        </p:tgtEl>
                                        <p:attrNameLst>
                                          <p:attrName>style.visibility</p:attrName>
                                        </p:attrNameLst>
                                      </p:cBhvr>
                                      <p:to>
                                        <p:strVal val="visible"/>
                                      </p:to>
                                    </p:set>
                                    <p:anim calcmode="lin" valueType="num">
                                      <p:cBhvr additive="base">
                                        <p:cTn dur="500"/>
                                        <p:tgtEl>
                                          <p:spTgt spid="105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3" st="3"/>
                                            </p:txEl>
                                          </p:spTgt>
                                        </p:tgtEl>
                                        <p:attrNameLst>
                                          <p:attrName>style.visibility</p:attrName>
                                        </p:attrNameLst>
                                      </p:cBhvr>
                                      <p:to>
                                        <p:strVal val="visible"/>
                                      </p:to>
                                    </p:set>
                                    <p:anim calcmode="lin" valueType="num">
                                      <p:cBhvr additive="base">
                                        <p:cTn dur="500"/>
                                        <p:tgtEl>
                                          <p:spTgt spid="105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4" st="4"/>
                                            </p:txEl>
                                          </p:spTgt>
                                        </p:tgtEl>
                                        <p:attrNameLst>
                                          <p:attrName>style.visibility</p:attrName>
                                        </p:attrNameLst>
                                      </p:cBhvr>
                                      <p:to>
                                        <p:strVal val="visible"/>
                                      </p:to>
                                    </p:set>
                                    <p:anim calcmode="lin" valueType="num">
                                      <p:cBhvr additive="base">
                                        <p:cTn dur="500"/>
                                        <p:tgtEl>
                                          <p:spTgt spid="105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5" st="5"/>
                                            </p:txEl>
                                          </p:spTgt>
                                        </p:tgtEl>
                                        <p:attrNameLst>
                                          <p:attrName>style.visibility</p:attrName>
                                        </p:attrNameLst>
                                      </p:cBhvr>
                                      <p:to>
                                        <p:strVal val="visible"/>
                                      </p:to>
                                    </p:set>
                                    <p:anim calcmode="lin" valueType="num">
                                      <p:cBhvr additive="base">
                                        <p:cTn dur="500"/>
                                        <p:tgtEl>
                                          <p:spTgt spid="105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6" st="6"/>
                                            </p:txEl>
                                          </p:spTgt>
                                        </p:tgtEl>
                                        <p:attrNameLst>
                                          <p:attrName>style.visibility</p:attrName>
                                        </p:attrNameLst>
                                      </p:cBhvr>
                                      <p:to>
                                        <p:strVal val="visible"/>
                                      </p:to>
                                    </p:set>
                                    <p:anim calcmode="lin" valueType="num">
                                      <p:cBhvr additive="base">
                                        <p:cTn dur="500"/>
                                        <p:tgtEl>
                                          <p:spTgt spid="105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7" st="7"/>
                                            </p:txEl>
                                          </p:spTgt>
                                        </p:tgtEl>
                                        <p:attrNameLst>
                                          <p:attrName>style.visibility</p:attrName>
                                        </p:attrNameLst>
                                      </p:cBhvr>
                                      <p:to>
                                        <p:strVal val="visible"/>
                                      </p:to>
                                    </p:set>
                                    <p:anim calcmode="lin" valueType="num">
                                      <p:cBhvr additive="base">
                                        <p:cTn dur="500"/>
                                        <p:tgtEl>
                                          <p:spTgt spid="105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9">
                                            <p:txEl>
                                              <p:pRg end="8" st="8"/>
                                            </p:txEl>
                                          </p:spTgt>
                                        </p:tgtEl>
                                        <p:attrNameLst>
                                          <p:attrName>style.visibility</p:attrName>
                                        </p:attrNameLst>
                                      </p:cBhvr>
                                      <p:to>
                                        <p:strVal val="visible"/>
                                      </p:to>
                                    </p:set>
                                    <p:anim calcmode="lin" valueType="num">
                                      <p:cBhvr additive="base">
                                        <p:cTn dur="500"/>
                                        <p:tgtEl>
                                          <p:spTgt spid="105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43"/>
          <p:cNvSpPr txBox="1"/>
          <p:nvPr>
            <p:ph type="title"/>
          </p:nvPr>
        </p:nvSpPr>
        <p:spPr>
          <a:xfrm>
            <a:off x="457200" y="228600"/>
            <a:ext cx="8229600" cy="4572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2800"/>
              <a:buFont typeface="Arial"/>
              <a:buNone/>
            </a:pPr>
            <a:r>
              <a:rPr lang="en-US" sz="2800"/>
              <a:t>Hình thức nhà nước</a:t>
            </a:r>
            <a:endParaRPr sz="2800"/>
          </a:p>
        </p:txBody>
      </p:sp>
      <p:sp>
        <p:nvSpPr>
          <p:cNvPr id="1068" name="Google Shape;1068;p43"/>
          <p:cNvSpPr txBox="1"/>
          <p:nvPr>
            <p:ph idx="1" type="body"/>
          </p:nvPr>
        </p:nvSpPr>
        <p:spPr>
          <a:xfrm>
            <a:off x="457200" y="762000"/>
            <a:ext cx="8382000" cy="5791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n-US"/>
              <a:t>Sơ đồ hình thức nhà nước:</a:t>
            </a:r>
            <a:endParaRPr/>
          </a:p>
          <a:p>
            <a:pPr indent="-274320" lvl="0" marL="274320" rtl="0" algn="l">
              <a:spcBef>
                <a:spcPts val="520"/>
              </a:spcBef>
              <a:spcAft>
                <a:spcPts val="0"/>
              </a:spcAft>
              <a:buSzPts val="2470"/>
              <a:buNone/>
            </a:pPr>
            <a:r>
              <a:t/>
            </a:r>
            <a:endParaRPr/>
          </a:p>
        </p:txBody>
      </p:sp>
      <p:sp>
        <p:nvSpPr>
          <p:cNvPr id="1069" name="Google Shape;1069;p43"/>
          <p:cNvSpPr/>
          <p:nvPr/>
        </p:nvSpPr>
        <p:spPr>
          <a:xfrm>
            <a:off x="4495800" y="1066800"/>
            <a:ext cx="2590800" cy="762000"/>
          </a:xfrm>
          <a:prstGeom prst="rect">
            <a:avLst/>
          </a:prstGeom>
          <a:solidFill>
            <a:srgbClr val="8EC5F7"/>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Hình thức Nhà nước</a:t>
            </a:r>
            <a:endParaRPr sz="1800">
              <a:solidFill>
                <a:srgbClr val="FF0000"/>
              </a:solidFill>
              <a:latin typeface="Arial"/>
              <a:ea typeface="Arial"/>
              <a:cs typeface="Arial"/>
              <a:sym typeface="Arial"/>
            </a:endParaRPr>
          </a:p>
        </p:txBody>
      </p:sp>
      <p:cxnSp>
        <p:nvCxnSpPr>
          <p:cNvPr id="1070" name="Google Shape;1070;p43"/>
          <p:cNvCxnSpPr>
            <a:stCxn id="1069" idx="2"/>
          </p:cNvCxnSpPr>
          <p:nvPr/>
        </p:nvCxnSpPr>
        <p:spPr>
          <a:xfrm flipH="1">
            <a:off x="4114800" y="1828800"/>
            <a:ext cx="1676400" cy="457200"/>
          </a:xfrm>
          <a:prstGeom prst="straightConnector1">
            <a:avLst/>
          </a:prstGeom>
          <a:noFill/>
          <a:ln cap="flat" cmpd="sng" w="9525">
            <a:solidFill>
              <a:srgbClr val="075192"/>
            </a:solidFill>
            <a:prstDash val="solid"/>
            <a:round/>
            <a:headEnd len="sm" w="sm" type="none"/>
            <a:tailEnd len="med" w="med" type="stealth"/>
          </a:ln>
        </p:spPr>
      </p:cxnSp>
      <p:cxnSp>
        <p:nvCxnSpPr>
          <p:cNvPr id="1071" name="Google Shape;1071;p43"/>
          <p:cNvCxnSpPr>
            <a:stCxn id="1069" idx="2"/>
          </p:cNvCxnSpPr>
          <p:nvPr/>
        </p:nvCxnSpPr>
        <p:spPr>
          <a:xfrm>
            <a:off x="5791200" y="1828800"/>
            <a:ext cx="1828800" cy="457200"/>
          </a:xfrm>
          <a:prstGeom prst="straightConnector1">
            <a:avLst/>
          </a:prstGeom>
          <a:noFill/>
          <a:ln cap="flat" cmpd="sng" w="9525">
            <a:solidFill>
              <a:srgbClr val="075192"/>
            </a:solidFill>
            <a:prstDash val="solid"/>
            <a:round/>
            <a:headEnd len="sm" w="sm" type="none"/>
            <a:tailEnd len="med" w="med" type="stealth"/>
          </a:ln>
        </p:spPr>
      </p:cxnSp>
      <p:sp>
        <p:nvSpPr>
          <p:cNvPr id="1072" name="Google Shape;1072;p43"/>
          <p:cNvSpPr/>
          <p:nvPr/>
        </p:nvSpPr>
        <p:spPr>
          <a:xfrm>
            <a:off x="2514600" y="2362200"/>
            <a:ext cx="2514600" cy="838200"/>
          </a:xfrm>
          <a:prstGeom prst="roundRect">
            <a:avLst>
              <a:gd fmla="val 16667" name="adj"/>
            </a:avLst>
          </a:prstGeom>
          <a:solidFill>
            <a:schemeClr val="lt2"/>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Hình thức chính thể</a:t>
            </a:r>
            <a:endParaRPr sz="1800">
              <a:solidFill>
                <a:srgbClr val="FF0000"/>
              </a:solidFill>
              <a:latin typeface="Arial"/>
              <a:ea typeface="Arial"/>
              <a:cs typeface="Arial"/>
              <a:sym typeface="Arial"/>
            </a:endParaRPr>
          </a:p>
        </p:txBody>
      </p:sp>
      <p:sp>
        <p:nvSpPr>
          <p:cNvPr id="1073" name="Google Shape;1073;p43"/>
          <p:cNvSpPr/>
          <p:nvPr/>
        </p:nvSpPr>
        <p:spPr>
          <a:xfrm>
            <a:off x="6400800" y="2362200"/>
            <a:ext cx="2590800" cy="762000"/>
          </a:xfrm>
          <a:prstGeom prst="roundRect">
            <a:avLst>
              <a:gd fmla="val 16667" name="adj"/>
            </a:avLst>
          </a:prstGeom>
          <a:solidFill>
            <a:schemeClr val="lt2"/>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Hình thức cấu trúc</a:t>
            </a:r>
            <a:endParaRPr sz="1800">
              <a:solidFill>
                <a:srgbClr val="FF0000"/>
              </a:solidFill>
              <a:latin typeface="Arial"/>
              <a:ea typeface="Arial"/>
              <a:cs typeface="Arial"/>
              <a:sym typeface="Arial"/>
            </a:endParaRPr>
          </a:p>
        </p:txBody>
      </p:sp>
      <p:cxnSp>
        <p:nvCxnSpPr>
          <p:cNvPr id="1074" name="Google Shape;1074;p43"/>
          <p:cNvCxnSpPr>
            <a:stCxn id="1072" idx="2"/>
          </p:cNvCxnSpPr>
          <p:nvPr/>
        </p:nvCxnSpPr>
        <p:spPr>
          <a:xfrm flipH="1">
            <a:off x="2514600" y="3200400"/>
            <a:ext cx="1257300" cy="533400"/>
          </a:xfrm>
          <a:prstGeom prst="straightConnector1">
            <a:avLst/>
          </a:prstGeom>
          <a:noFill/>
          <a:ln cap="flat" cmpd="sng" w="9525">
            <a:solidFill>
              <a:srgbClr val="075192"/>
            </a:solidFill>
            <a:prstDash val="solid"/>
            <a:round/>
            <a:headEnd len="sm" w="sm" type="none"/>
            <a:tailEnd len="med" w="med" type="stealth"/>
          </a:ln>
        </p:spPr>
      </p:cxnSp>
      <p:cxnSp>
        <p:nvCxnSpPr>
          <p:cNvPr id="1075" name="Google Shape;1075;p43"/>
          <p:cNvCxnSpPr>
            <a:stCxn id="1072" idx="2"/>
          </p:cNvCxnSpPr>
          <p:nvPr/>
        </p:nvCxnSpPr>
        <p:spPr>
          <a:xfrm>
            <a:off x="3771900" y="3200400"/>
            <a:ext cx="1333500" cy="533400"/>
          </a:xfrm>
          <a:prstGeom prst="straightConnector1">
            <a:avLst/>
          </a:prstGeom>
          <a:noFill/>
          <a:ln cap="flat" cmpd="sng" w="9525">
            <a:solidFill>
              <a:srgbClr val="075192"/>
            </a:solidFill>
            <a:prstDash val="solid"/>
            <a:round/>
            <a:headEnd len="sm" w="sm" type="none"/>
            <a:tailEnd len="med" w="med" type="stealth"/>
          </a:ln>
        </p:spPr>
      </p:cxnSp>
      <p:cxnSp>
        <p:nvCxnSpPr>
          <p:cNvPr id="1076" name="Google Shape;1076;p43"/>
          <p:cNvCxnSpPr>
            <a:stCxn id="1073" idx="2"/>
            <a:endCxn id="1077" idx="0"/>
          </p:cNvCxnSpPr>
          <p:nvPr/>
        </p:nvCxnSpPr>
        <p:spPr>
          <a:xfrm flipH="1">
            <a:off x="6781800" y="3124200"/>
            <a:ext cx="914400" cy="533400"/>
          </a:xfrm>
          <a:prstGeom prst="straightConnector1">
            <a:avLst/>
          </a:prstGeom>
          <a:noFill/>
          <a:ln cap="flat" cmpd="sng" w="9525">
            <a:solidFill>
              <a:srgbClr val="075192"/>
            </a:solidFill>
            <a:prstDash val="solid"/>
            <a:round/>
            <a:headEnd len="sm" w="sm" type="none"/>
            <a:tailEnd len="med" w="med" type="stealth"/>
          </a:ln>
        </p:spPr>
      </p:cxnSp>
      <p:cxnSp>
        <p:nvCxnSpPr>
          <p:cNvPr id="1078" name="Google Shape;1078;p43"/>
          <p:cNvCxnSpPr>
            <a:stCxn id="1073" idx="2"/>
          </p:cNvCxnSpPr>
          <p:nvPr/>
        </p:nvCxnSpPr>
        <p:spPr>
          <a:xfrm>
            <a:off x="7696200" y="3124200"/>
            <a:ext cx="609600" cy="533400"/>
          </a:xfrm>
          <a:prstGeom prst="straightConnector1">
            <a:avLst/>
          </a:prstGeom>
          <a:noFill/>
          <a:ln cap="flat" cmpd="sng" w="9525">
            <a:solidFill>
              <a:srgbClr val="075192"/>
            </a:solidFill>
            <a:prstDash val="solid"/>
            <a:round/>
            <a:headEnd len="sm" w="sm" type="none"/>
            <a:tailEnd len="med" w="med" type="stealth"/>
          </a:ln>
        </p:spPr>
      </p:cxnSp>
      <p:sp>
        <p:nvSpPr>
          <p:cNvPr id="1079" name="Google Shape;1079;p43"/>
          <p:cNvSpPr/>
          <p:nvPr/>
        </p:nvSpPr>
        <p:spPr>
          <a:xfrm>
            <a:off x="1371600" y="3733800"/>
            <a:ext cx="1524000" cy="838200"/>
          </a:xfrm>
          <a:prstGeom prst="rect">
            <a:avLst/>
          </a:prstGeom>
          <a:solidFill>
            <a:srgbClr val="D8D8D8"/>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Chính thể quân chủ</a:t>
            </a:r>
            <a:endParaRPr sz="1800">
              <a:solidFill>
                <a:srgbClr val="FF0000"/>
              </a:solidFill>
              <a:latin typeface="Arial"/>
              <a:ea typeface="Arial"/>
              <a:cs typeface="Arial"/>
              <a:sym typeface="Arial"/>
            </a:endParaRPr>
          </a:p>
        </p:txBody>
      </p:sp>
      <p:sp>
        <p:nvSpPr>
          <p:cNvPr id="1080" name="Google Shape;1080;p43"/>
          <p:cNvSpPr/>
          <p:nvPr/>
        </p:nvSpPr>
        <p:spPr>
          <a:xfrm>
            <a:off x="4572000" y="3733800"/>
            <a:ext cx="1447800" cy="762000"/>
          </a:xfrm>
          <a:prstGeom prst="rect">
            <a:avLst/>
          </a:prstGeom>
          <a:solidFill>
            <a:srgbClr val="D8D8D8"/>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Chính thể  cộng hòa</a:t>
            </a:r>
            <a:endParaRPr sz="1800">
              <a:solidFill>
                <a:srgbClr val="FF0000"/>
              </a:solidFill>
              <a:latin typeface="Arial"/>
              <a:ea typeface="Arial"/>
              <a:cs typeface="Arial"/>
              <a:sym typeface="Arial"/>
            </a:endParaRPr>
          </a:p>
        </p:txBody>
      </p:sp>
      <p:sp>
        <p:nvSpPr>
          <p:cNvPr id="1077" name="Google Shape;1077;p43"/>
          <p:cNvSpPr/>
          <p:nvPr/>
        </p:nvSpPr>
        <p:spPr>
          <a:xfrm>
            <a:off x="6172200" y="3657600"/>
            <a:ext cx="1219200" cy="914400"/>
          </a:xfrm>
          <a:prstGeom prst="rect">
            <a:avLst/>
          </a:prstGeom>
          <a:solidFill>
            <a:srgbClr val="D8D8D8"/>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Nhà nước đơn nhất</a:t>
            </a:r>
            <a:endParaRPr sz="1800">
              <a:solidFill>
                <a:srgbClr val="FF0000"/>
              </a:solidFill>
              <a:latin typeface="Arial"/>
              <a:ea typeface="Arial"/>
              <a:cs typeface="Arial"/>
              <a:sym typeface="Arial"/>
            </a:endParaRPr>
          </a:p>
        </p:txBody>
      </p:sp>
      <p:sp>
        <p:nvSpPr>
          <p:cNvPr id="1081" name="Google Shape;1081;p43"/>
          <p:cNvSpPr/>
          <p:nvPr/>
        </p:nvSpPr>
        <p:spPr>
          <a:xfrm>
            <a:off x="7543800" y="3657600"/>
            <a:ext cx="1295400" cy="914400"/>
          </a:xfrm>
          <a:prstGeom prst="rect">
            <a:avLst/>
          </a:prstGeom>
          <a:solidFill>
            <a:srgbClr val="D8D8D8"/>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Nhà nước liên bang</a:t>
            </a:r>
            <a:endParaRPr sz="1800">
              <a:solidFill>
                <a:srgbClr val="FF0000"/>
              </a:solidFill>
              <a:latin typeface="Arial"/>
              <a:ea typeface="Arial"/>
              <a:cs typeface="Arial"/>
              <a:sym typeface="Arial"/>
            </a:endParaRPr>
          </a:p>
        </p:txBody>
      </p:sp>
      <p:cxnSp>
        <p:nvCxnSpPr>
          <p:cNvPr id="1082" name="Google Shape;1082;p43"/>
          <p:cNvCxnSpPr>
            <a:endCxn id="1083" idx="0"/>
          </p:cNvCxnSpPr>
          <p:nvPr/>
        </p:nvCxnSpPr>
        <p:spPr>
          <a:xfrm flipH="1">
            <a:off x="1066800" y="4572000"/>
            <a:ext cx="1066800" cy="533400"/>
          </a:xfrm>
          <a:prstGeom prst="straightConnector1">
            <a:avLst/>
          </a:prstGeom>
          <a:noFill/>
          <a:ln cap="flat" cmpd="sng" w="9525">
            <a:solidFill>
              <a:srgbClr val="075192"/>
            </a:solidFill>
            <a:prstDash val="solid"/>
            <a:round/>
            <a:headEnd len="sm" w="sm" type="none"/>
            <a:tailEnd len="med" w="med" type="stealth"/>
          </a:ln>
        </p:spPr>
      </p:cxnSp>
      <p:cxnSp>
        <p:nvCxnSpPr>
          <p:cNvPr id="1084" name="Google Shape;1084;p43"/>
          <p:cNvCxnSpPr>
            <a:stCxn id="1079" idx="2"/>
            <a:endCxn id="1085" idx="0"/>
          </p:cNvCxnSpPr>
          <p:nvPr/>
        </p:nvCxnSpPr>
        <p:spPr>
          <a:xfrm>
            <a:off x="2133600" y="4572000"/>
            <a:ext cx="876300" cy="533400"/>
          </a:xfrm>
          <a:prstGeom prst="straightConnector1">
            <a:avLst/>
          </a:prstGeom>
          <a:noFill/>
          <a:ln cap="flat" cmpd="sng" w="9525">
            <a:solidFill>
              <a:srgbClr val="075192"/>
            </a:solidFill>
            <a:prstDash val="solid"/>
            <a:round/>
            <a:headEnd len="sm" w="sm" type="none"/>
            <a:tailEnd len="med" w="med" type="stealth"/>
          </a:ln>
        </p:spPr>
      </p:cxnSp>
      <p:cxnSp>
        <p:nvCxnSpPr>
          <p:cNvPr id="1086" name="Google Shape;1086;p43"/>
          <p:cNvCxnSpPr/>
          <p:nvPr/>
        </p:nvCxnSpPr>
        <p:spPr>
          <a:xfrm flipH="1">
            <a:off x="4572000" y="4495800"/>
            <a:ext cx="914400" cy="609600"/>
          </a:xfrm>
          <a:prstGeom prst="straightConnector1">
            <a:avLst/>
          </a:prstGeom>
          <a:noFill/>
          <a:ln cap="flat" cmpd="sng" w="9525">
            <a:solidFill>
              <a:srgbClr val="075192"/>
            </a:solidFill>
            <a:prstDash val="solid"/>
            <a:round/>
            <a:headEnd len="sm" w="sm" type="none"/>
            <a:tailEnd len="med" w="med" type="stealth"/>
          </a:ln>
        </p:spPr>
      </p:cxnSp>
      <p:cxnSp>
        <p:nvCxnSpPr>
          <p:cNvPr id="1087" name="Google Shape;1087;p43"/>
          <p:cNvCxnSpPr/>
          <p:nvPr/>
        </p:nvCxnSpPr>
        <p:spPr>
          <a:xfrm>
            <a:off x="5486400" y="4495800"/>
            <a:ext cx="1219200" cy="685800"/>
          </a:xfrm>
          <a:prstGeom prst="straightConnector1">
            <a:avLst/>
          </a:prstGeom>
          <a:noFill/>
          <a:ln cap="flat" cmpd="sng" w="9525">
            <a:solidFill>
              <a:srgbClr val="075192"/>
            </a:solidFill>
            <a:prstDash val="solid"/>
            <a:round/>
            <a:headEnd len="sm" w="sm" type="none"/>
            <a:tailEnd len="med" w="med" type="stealth"/>
          </a:ln>
        </p:spPr>
      </p:cxnSp>
      <p:sp>
        <p:nvSpPr>
          <p:cNvPr id="1083" name="Google Shape;1083;p43"/>
          <p:cNvSpPr/>
          <p:nvPr/>
        </p:nvSpPr>
        <p:spPr>
          <a:xfrm>
            <a:off x="228600" y="5105400"/>
            <a:ext cx="1676400" cy="990600"/>
          </a:xfrm>
          <a:prstGeom prst="ellipse">
            <a:avLst/>
          </a:prstGeom>
          <a:solidFill>
            <a:srgbClr val="F2F2F2"/>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Quân chủ tuyệt đối</a:t>
            </a:r>
            <a:endParaRPr sz="1800">
              <a:solidFill>
                <a:srgbClr val="FF0000"/>
              </a:solidFill>
              <a:latin typeface="Arial"/>
              <a:ea typeface="Arial"/>
              <a:cs typeface="Arial"/>
              <a:sym typeface="Arial"/>
            </a:endParaRPr>
          </a:p>
        </p:txBody>
      </p:sp>
      <p:sp>
        <p:nvSpPr>
          <p:cNvPr id="1085" name="Google Shape;1085;p43"/>
          <p:cNvSpPr/>
          <p:nvPr/>
        </p:nvSpPr>
        <p:spPr>
          <a:xfrm>
            <a:off x="2133600" y="5105400"/>
            <a:ext cx="1752600" cy="1066800"/>
          </a:xfrm>
          <a:prstGeom prst="ellipse">
            <a:avLst/>
          </a:prstGeom>
          <a:solidFill>
            <a:srgbClr val="F2F2F2"/>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Quân chủ hạn chế</a:t>
            </a:r>
            <a:endParaRPr sz="1800">
              <a:solidFill>
                <a:srgbClr val="FF0000"/>
              </a:solidFill>
              <a:latin typeface="Arial"/>
              <a:ea typeface="Arial"/>
              <a:cs typeface="Arial"/>
              <a:sym typeface="Arial"/>
            </a:endParaRPr>
          </a:p>
        </p:txBody>
      </p:sp>
      <p:sp>
        <p:nvSpPr>
          <p:cNvPr id="1088" name="Google Shape;1088;p43"/>
          <p:cNvSpPr/>
          <p:nvPr/>
        </p:nvSpPr>
        <p:spPr>
          <a:xfrm>
            <a:off x="3962400" y="5105400"/>
            <a:ext cx="1828800" cy="990600"/>
          </a:xfrm>
          <a:prstGeom prst="ellipse">
            <a:avLst/>
          </a:prstGeom>
          <a:solidFill>
            <a:srgbClr val="F2F2F2"/>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Cộng hòa dan chu</a:t>
            </a:r>
            <a:endParaRPr sz="1800">
              <a:solidFill>
                <a:srgbClr val="FF0000"/>
              </a:solidFill>
              <a:latin typeface="Arial"/>
              <a:ea typeface="Arial"/>
              <a:cs typeface="Arial"/>
              <a:sym typeface="Arial"/>
            </a:endParaRPr>
          </a:p>
        </p:txBody>
      </p:sp>
      <p:sp>
        <p:nvSpPr>
          <p:cNvPr id="1089" name="Google Shape;1089;p43"/>
          <p:cNvSpPr/>
          <p:nvPr/>
        </p:nvSpPr>
        <p:spPr>
          <a:xfrm>
            <a:off x="5943600" y="5181600"/>
            <a:ext cx="1676400" cy="990600"/>
          </a:xfrm>
          <a:prstGeom prst="ellipse">
            <a:avLst/>
          </a:prstGeom>
          <a:solidFill>
            <a:srgbClr val="F2F2F2"/>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Cộng hòa quy toc</a:t>
            </a:r>
            <a:endParaRPr sz="1800">
              <a:solidFill>
                <a:srgbClr val="FF0000"/>
              </a:solidFill>
              <a:latin typeface="Arial"/>
              <a:ea typeface="Arial"/>
              <a:cs typeface="Arial"/>
              <a:sym typeface="Arial"/>
            </a:endParaRPr>
          </a:p>
        </p:txBody>
      </p:sp>
      <p:sp>
        <p:nvSpPr>
          <p:cNvPr id="1090" name="Google Shape;1090;p43"/>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091" name="Google Shape;1091;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8">
                                            <p:txEl>
                                              <p:pRg end="0" st="0"/>
                                            </p:txEl>
                                          </p:spTgt>
                                        </p:tgtEl>
                                        <p:attrNameLst>
                                          <p:attrName>style.visibility</p:attrName>
                                        </p:attrNameLst>
                                      </p:cBhvr>
                                      <p:to>
                                        <p:strVal val="visible"/>
                                      </p:to>
                                    </p:set>
                                    <p:anim calcmode="lin" valueType="num">
                                      <p:cBhvr additive="base">
                                        <p:cTn dur="500"/>
                                        <p:tgtEl>
                                          <p:spTgt spid="106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8">
                                            <p:txEl>
                                              <p:pRg end="1" st="1"/>
                                            </p:txEl>
                                          </p:spTgt>
                                        </p:tgtEl>
                                        <p:attrNameLst>
                                          <p:attrName>style.visibility</p:attrName>
                                        </p:attrNameLst>
                                      </p:cBhvr>
                                      <p:to>
                                        <p:strVal val="visible"/>
                                      </p:to>
                                    </p:set>
                                    <p:anim calcmode="lin" valueType="num">
                                      <p:cBhvr additive="base">
                                        <p:cTn dur="500"/>
                                        <p:tgtEl>
                                          <p:spTgt spid="106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2000"/>
                                        <p:tgtEl>
                                          <p:spTgt spid="10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2"/>
                                        </p:tgtEl>
                                        <p:attrNameLst>
                                          <p:attrName>style.visibility</p:attrName>
                                        </p:attrNameLst>
                                      </p:cBhvr>
                                      <p:to>
                                        <p:strVal val="visible"/>
                                      </p:to>
                                    </p:set>
                                    <p:anim calcmode="lin" valueType="num">
                                      <p:cBhvr additive="base">
                                        <p:cTn dur="500"/>
                                        <p:tgtEl>
                                          <p:spTgt spid="10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3"/>
                                        </p:tgtEl>
                                        <p:attrNameLst>
                                          <p:attrName>style.visibility</p:attrName>
                                        </p:attrNameLst>
                                      </p:cBhvr>
                                      <p:to>
                                        <p:strVal val="visible"/>
                                      </p:to>
                                    </p:set>
                                    <p:anim calcmode="lin" valueType="num">
                                      <p:cBhvr additive="base">
                                        <p:cTn dur="500"/>
                                        <p:tgtEl>
                                          <p:spTgt spid="107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500"/>
                                        <p:tgtEl>
                                          <p:spTgt spid="10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0"/>
                                        </p:tgtEl>
                                        <p:attrNameLst>
                                          <p:attrName>style.visibility</p:attrName>
                                        </p:attrNameLst>
                                      </p:cBhvr>
                                      <p:to>
                                        <p:strVal val="visible"/>
                                      </p:to>
                                    </p:set>
                                    <p:animEffect filter="fade" transition="in">
                                      <p:cBhvr>
                                        <p:cTn dur="500"/>
                                        <p:tgtEl>
                                          <p:spTgt spid="10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77"/>
                                        </p:tgtEl>
                                        <p:attrNameLst>
                                          <p:attrName>style.visibility</p:attrName>
                                        </p:attrNameLst>
                                      </p:cBhvr>
                                      <p:to>
                                        <p:strVal val="visible"/>
                                      </p:to>
                                    </p:set>
                                    <p:anim calcmode="lin" valueType="num">
                                      <p:cBhvr additive="base">
                                        <p:cTn dur="500"/>
                                        <p:tgtEl>
                                          <p:spTgt spid="10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81"/>
                                        </p:tgtEl>
                                        <p:attrNameLst>
                                          <p:attrName>style.visibility</p:attrName>
                                        </p:attrNameLst>
                                      </p:cBhvr>
                                      <p:to>
                                        <p:strVal val="visible"/>
                                      </p:to>
                                    </p:set>
                                    <p:anim calcmode="lin" valueType="num">
                                      <p:cBhvr additive="base">
                                        <p:cTn dur="500"/>
                                        <p:tgtEl>
                                          <p:spTgt spid="108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3"/>
                                        </p:tgtEl>
                                        <p:attrNameLst>
                                          <p:attrName>style.visibility</p:attrName>
                                        </p:attrNameLst>
                                      </p:cBhvr>
                                      <p:to>
                                        <p:strVal val="visible"/>
                                      </p:to>
                                    </p:set>
                                    <p:animEffect filter="fade" transition="in">
                                      <p:cBhvr>
                                        <p:cTn dur="2000"/>
                                        <p:tgtEl>
                                          <p:spTgt spid="10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5"/>
                                        </p:tgtEl>
                                        <p:attrNameLst>
                                          <p:attrName>style.visibility</p:attrName>
                                        </p:attrNameLst>
                                      </p:cBhvr>
                                      <p:to>
                                        <p:strVal val="visible"/>
                                      </p:to>
                                    </p:set>
                                    <p:animEffect filter="fade" transition="in">
                                      <p:cBhvr>
                                        <p:cTn dur="2000"/>
                                        <p:tgtEl>
                                          <p:spTgt spid="10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8"/>
                                        </p:tgtEl>
                                        <p:attrNameLst>
                                          <p:attrName>style.visibility</p:attrName>
                                        </p:attrNameLst>
                                      </p:cBhvr>
                                      <p:to>
                                        <p:strVal val="visible"/>
                                      </p:to>
                                    </p:set>
                                    <p:animEffect filter="fade" transition="in">
                                      <p:cBhvr>
                                        <p:cTn dur="2000"/>
                                        <p:tgtEl>
                                          <p:spTgt spid="10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88"/>
                                        </p:tgtEl>
                                        <p:attrNameLst>
                                          <p:attrName>style.visibility</p:attrName>
                                        </p:attrNameLst>
                                      </p:cBhvr>
                                      <p:to>
                                        <p:strVal val="visible"/>
                                      </p:to>
                                    </p:set>
                                    <p:anim calcmode="lin" valueType="num">
                                      <p:cBhvr additive="base">
                                        <p:cTn dur="500"/>
                                        <p:tgtEl>
                                          <p:spTgt spid="10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89"/>
                                        </p:tgtEl>
                                        <p:attrNameLst>
                                          <p:attrName>style.visibility</p:attrName>
                                        </p:attrNameLst>
                                      </p:cBhvr>
                                      <p:to>
                                        <p:strVal val="visible"/>
                                      </p:to>
                                    </p:set>
                                    <p:anim calcmode="lin" valueType="num">
                                      <p:cBhvr additive="base">
                                        <p:cTn dur="500"/>
                                        <p:tgtEl>
                                          <p:spTgt spid="108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4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Arial"/>
              <a:buNone/>
            </a:pPr>
            <a:r>
              <a:rPr lang="en-US"/>
              <a:t>2.5.3 Chế độ chính trị</a:t>
            </a:r>
            <a:endParaRPr/>
          </a:p>
        </p:txBody>
      </p:sp>
      <p:sp>
        <p:nvSpPr>
          <p:cNvPr id="1097" name="Google Shape;1097;p4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660"/>
              <a:buChar char="⚫"/>
            </a:pPr>
            <a:r>
              <a:rPr i="1" lang="en-US" sz="2800"/>
              <a:t>Chế độ chính trị là tổng thể các phương pháp, cách thức, phương tiện mà cơ quan nhà nước sử dụng để thực hiện quyền lực nhà nước.</a:t>
            </a:r>
            <a:endParaRPr/>
          </a:p>
          <a:p>
            <a:pPr indent="-274320" lvl="0" marL="274320" rtl="0" algn="l">
              <a:spcBef>
                <a:spcPts val="560"/>
              </a:spcBef>
              <a:spcAft>
                <a:spcPts val="0"/>
              </a:spcAft>
              <a:buSzPts val="2660"/>
              <a:buChar char="⚫"/>
            </a:pPr>
            <a:r>
              <a:rPr lang="en-US" sz="2800"/>
              <a:t>Chế độ chính trị của các nhà nước trong lịch sử rất đa dạng nhưng tựu trung lại thì có hai loại chính:</a:t>
            </a:r>
            <a:endParaRPr/>
          </a:p>
          <a:p>
            <a:pPr indent="-274320" lvl="0" marL="274320" rtl="0" algn="l">
              <a:spcBef>
                <a:spcPts val="560"/>
              </a:spcBef>
              <a:spcAft>
                <a:spcPts val="0"/>
              </a:spcAft>
              <a:buSzPts val="2660"/>
              <a:buChar char="⚫"/>
            </a:pPr>
            <a:r>
              <a:rPr lang="en-US" sz="2800"/>
              <a:t>Chế độ phản dân chủ (chế độ chuyên chế của chủ nô và phong kiến, chế độ phát xít) </a:t>
            </a:r>
            <a:endParaRPr/>
          </a:p>
          <a:p>
            <a:pPr indent="-274320" lvl="0" marL="274320" rtl="0" algn="l">
              <a:spcBef>
                <a:spcPts val="560"/>
              </a:spcBef>
              <a:spcAft>
                <a:spcPts val="0"/>
              </a:spcAft>
              <a:buSzPts val="2660"/>
              <a:buChar char="⚫"/>
            </a:pPr>
            <a:r>
              <a:rPr lang="en-US" sz="2800"/>
              <a:t>Chế độ dân chủ (chế độ dân chủ quý tộc, chế độ dân chủ tư sản, chế độ dân chủ xã hội chủ nghĩa).</a:t>
            </a:r>
            <a:endParaRPr/>
          </a:p>
          <a:p>
            <a:pPr indent="-117475" lvl="0" marL="274320" rtl="0" algn="l">
              <a:spcBef>
                <a:spcPts val="520"/>
              </a:spcBef>
              <a:spcAft>
                <a:spcPts val="0"/>
              </a:spcAft>
              <a:buSzPts val="2470"/>
              <a:buNone/>
            </a:pPr>
            <a:r>
              <a:t/>
            </a:r>
            <a:endParaRPr/>
          </a:p>
        </p:txBody>
      </p:sp>
      <p:sp>
        <p:nvSpPr>
          <p:cNvPr id="1098" name="Google Shape;1098;p44"/>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099" name="Google Shape;1099;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6"/>
                                        </p:tgtEl>
                                        <p:attrNameLst>
                                          <p:attrName>style.visibility</p:attrName>
                                        </p:attrNameLst>
                                      </p:cBhvr>
                                      <p:to>
                                        <p:strVal val="visible"/>
                                      </p:to>
                                    </p:set>
                                    <p:anim calcmode="lin" valueType="num">
                                      <p:cBhvr additive="base">
                                        <p:cTn dur="500"/>
                                        <p:tgtEl>
                                          <p:spTgt spid="109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7">
                                            <p:txEl>
                                              <p:pRg end="0" st="0"/>
                                            </p:txEl>
                                          </p:spTgt>
                                        </p:tgtEl>
                                        <p:attrNameLst>
                                          <p:attrName>style.visibility</p:attrName>
                                        </p:attrNameLst>
                                      </p:cBhvr>
                                      <p:to>
                                        <p:strVal val="visible"/>
                                      </p:to>
                                    </p:set>
                                    <p:anim calcmode="lin" valueType="num">
                                      <p:cBhvr additive="base">
                                        <p:cTn dur="500"/>
                                        <p:tgtEl>
                                          <p:spTgt spid="109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7">
                                            <p:txEl>
                                              <p:pRg end="1" st="1"/>
                                            </p:txEl>
                                          </p:spTgt>
                                        </p:tgtEl>
                                        <p:attrNameLst>
                                          <p:attrName>style.visibility</p:attrName>
                                        </p:attrNameLst>
                                      </p:cBhvr>
                                      <p:to>
                                        <p:strVal val="visible"/>
                                      </p:to>
                                    </p:set>
                                    <p:anim calcmode="lin" valueType="num">
                                      <p:cBhvr additive="base">
                                        <p:cTn dur="500"/>
                                        <p:tgtEl>
                                          <p:spTgt spid="109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7">
                                            <p:txEl>
                                              <p:pRg end="2" st="2"/>
                                            </p:txEl>
                                          </p:spTgt>
                                        </p:tgtEl>
                                        <p:attrNameLst>
                                          <p:attrName>style.visibility</p:attrName>
                                        </p:attrNameLst>
                                      </p:cBhvr>
                                      <p:to>
                                        <p:strVal val="visible"/>
                                      </p:to>
                                    </p:set>
                                    <p:anim calcmode="lin" valueType="num">
                                      <p:cBhvr additive="base">
                                        <p:cTn dur="500"/>
                                        <p:tgtEl>
                                          <p:spTgt spid="109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7">
                                            <p:txEl>
                                              <p:pRg end="3" st="3"/>
                                            </p:txEl>
                                          </p:spTgt>
                                        </p:tgtEl>
                                        <p:attrNameLst>
                                          <p:attrName>style.visibility</p:attrName>
                                        </p:attrNameLst>
                                      </p:cBhvr>
                                      <p:to>
                                        <p:strVal val="visible"/>
                                      </p:to>
                                    </p:set>
                                    <p:anim calcmode="lin" valueType="num">
                                      <p:cBhvr additive="base">
                                        <p:cTn dur="500"/>
                                        <p:tgtEl>
                                          <p:spTgt spid="109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7">
                                            <p:txEl>
                                              <p:pRg end="4" st="4"/>
                                            </p:txEl>
                                          </p:spTgt>
                                        </p:tgtEl>
                                        <p:attrNameLst>
                                          <p:attrName>style.visibility</p:attrName>
                                        </p:attrNameLst>
                                      </p:cBhvr>
                                      <p:to>
                                        <p:strVal val="visible"/>
                                      </p:to>
                                    </p:set>
                                    <p:anim calcmode="lin" valueType="num">
                                      <p:cBhvr additive="base">
                                        <p:cTn dur="500"/>
                                        <p:tgtEl>
                                          <p:spTgt spid="109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45"/>
          <p:cNvSpPr txBox="1"/>
          <p:nvPr>
            <p:ph type="title"/>
          </p:nvPr>
        </p:nvSpPr>
        <p:spPr>
          <a:xfrm>
            <a:off x="457200" y="304800"/>
            <a:ext cx="8229600" cy="6675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Phương pháp dân chủ</a:t>
            </a:r>
            <a:endParaRPr sz="3200">
              <a:latin typeface="Times New Roman"/>
              <a:ea typeface="Times New Roman"/>
              <a:cs typeface="Times New Roman"/>
              <a:sym typeface="Times New Roman"/>
            </a:endParaRPr>
          </a:p>
        </p:txBody>
      </p:sp>
      <p:sp>
        <p:nvSpPr>
          <p:cNvPr id="1105" name="Google Shape;1105;p45"/>
          <p:cNvSpPr txBox="1"/>
          <p:nvPr>
            <p:ph idx="1" type="body"/>
          </p:nvPr>
        </p:nvSpPr>
        <p:spPr>
          <a:xfrm>
            <a:off x="457200" y="1447800"/>
            <a:ext cx="4724400" cy="4907125"/>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Char char="⚫"/>
            </a:pPr>
            <a:r>
              <a:rPr lang="en-US">
                <a:latin typeface="Times New Roman"/>
                <a:ea typeface="Times New Roman"/>
                <a:cs typeface="Times New Roman"/>
                <a:sym typeface="Times New Roman"/>
              </a:rPr>
              <a:t>Là những cách thực hiện quyền lực NN, trong đó đảm bảo được địa vị làm chủ của nhân dân đối vơi quyền lực của NN, thể hiện qua các quyền của nhân dân trong việc hình thành bộ máy của nhà nước, tham gia vào các hoạt động của NN, kiểm tra, giám sát hoạt động của Bô máy NN…</a:t>
            </a:r>
            <a:endParaRPr>
              <a:latin typeface="Times New Roman"/>
              <a:ea typeface="Times New Roman"/>
              <a:cs typeface="Times New Roman"/>
              <a:sym typeface="Times New Roman"/>
            </a:endParaRPr>
          </a:p>
          <a:p>
            <a:pPr indent="-274320" lvl="0" marL="274320" rtl="0" algn="l">
              <a:spcBef>
                <a:spcPts val="481"/>
              </a:spcBef>
              <a:spcAft>
                <a:spcPts val="0"/>
              </a:spcAft>
              <a:buSzPct val="95000"/>
              <a:buChar char="⚫"/>
            </a:pPr>
            <a:r>
              <a:rPr lang="en-US">
                <a:latin typeface="Times New Roman"/>
                <a:ea typeface="Times New Roman"/>
                <a:cs typeface="Times New Roman"/>
                <a:sym typeface="Times New Roman"/>
              </a:rPr>
              <a:t>Tương ứng là chế độ dân chủ: Chế độ dân chủ chủ nô, chế độ dân chủ Phong kiến, chế độ dân chủ tư sản, chế độ dân chủ XHCN.</a:t>
            </a:r>
            <a:endParaRPr/>
          </a:p>
          <a:p>
            <a:pPr indent="-274320" lvl="0" marL="274320" rtl="0" algn="l">
              <a:spcBef>
                <a:spcPts val="481"/>
              </a:spcBef>
              <a:spcAft>
                <a:spcPts val="0"/>
              </a:spcAft>
              <a:buSzPct val="95000"/>
              <a:buNone/>
            </a:pPr>
            <a:r>
              <a:t/>
            </a:r>
            <a:endParaRPr>
              <a:latin typeface="Times New Roman"/>
              <a:ea typeface="Times New Roman"/>
              <a:cs typeface="Times New Roman"/>
              <a:sym typeface="Times New Roman"/>
            </a:endParaRPr>
          </a:p>
        </p:txBody>
      </p:sp>
      <p:sp>
        <p:nvSpPr>
          <p:cNvPr id="1106" name="Google Shape;1106;p45"/>
          <p:cNvSpPr txBox="1"/>
          <p:nvPr>
            <p:ph idx="2" type="body"/>
          </p:nvPr>
        </p:nvSpPr>
        <p:spPr>
          <a:xfrm>
            <a:off x="5257800" y="1524000"/>
            <a:ext cx="3429000" cy="4830925"/>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None/>
            </a:pPr>
            <a:r>
              <a:rPr lang="en-US"/>
              <a:t>.</a:t>
            </a:r>
            <a:endParaRPr/>
          </a:p>
        </p:txBody>
      </p:sp>
      <p:pic>
        <p:nvPicPr>
          <p:cNvPr descr="E:\Bai giang\PL DC\image-208871-galleryV9-afud.jpg" id="1107" name="Google Shape;1107;p45"/>
          <p:cNvPicPr preferRelativeResize="0"/>
          <p:nvPr/>
        </p:nvPicPr>
        <p:blipFill rotWithShape="1">
          <a:blip r:embed="rId3">
            <a:alphaModFix/>
          </a:blip>
          <a:srcRect b="0" l="0" r="0" t="0"/>
          <a:stretch/>
        </p:blipFill>
        <p:spPr>
          <a:xfrm>
            <a:off x="5410200" y="2514600"/>
            <a:ext cx="3048000" cy="2028825"/>
          </a:xfrm>
          <a:prstGeom prst="rect">
            <a:avLst/>
          </a:prstGeom>
          <a:noFill/>
          <a:ln>
            <a:noFill/>
          </a:ln>
        </p:spPr>
      </p:pic>
      <p:sp>
        <p:nvSpPr>
          <p:cNvPr id="1108" name="Google Shape;1108;p45"/>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09" name="Google Shape;1109;p4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500"/>
                                        <p:tgtEl>
                                          <p:spTgt spid="1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5">
                                            <p:txEl>
                                              <p:pRg end="0" st="0"/>
                                            </p:txEl>
                                          </p:spTgt>
                                        </p:tgtEl>
                                        <p:attrNameLst>
                                          <p:attrName>style.visibility</p:attrName>
                                        </p:attrNameLst>
                                      </p:cBhvr>
                                      <p:to>
                                        <p:strVal val="visible"/>
                                      </p:to>
                                    </p:set>
                                    <p:anim calcmode="lin" valueType="num">
                                      <p:cBhvr additive="base">
                                        <p:cTn dur="500"/>
                                        <p:tgtEl>
                                          <p:spTgt spid="11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5">
                                            <p:txEl>
                                              <p:pRg end="1" st="1"/>
                                            </p:txEl>
                                          </p:spTgt>
                                        </p:tgtEl>
                                        <p:attrNameLst>
                                          <p:attrName>style.visibility</p:attrName>
                                        </p:attrNameLst>
                                      </p:cBhvr>
                                      <p:to>
                                        <p:strVal val="visible"/>
                                      </p:to>
                                    </p:set>
                                    <p:anim calcmode="lin" valueType="num">
                                      <p:cBhvr additive="base">
                                        <p:cTn dur="500"/>
                                        <p:tgtEl>
                                          <p:spTgt spid="11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5">
                                            <p:txEl>
                                              <p:pRg end="2" st="2"/>
                                            </p:txEl>
                                          </p:spTgt>
                                        </p:tgtEl>
                                        <p:attrNameLst>
                                          <p:attrName>style.visibility</p:attrName>
                                        </p:attrNameLst>
                                      </p:cBhvr>
                                      <p:to>
                                        <p:strVal val="visible"/>
                                      </p:to>
                                    </p:set>
                                    <p:anim calcmode="lin" valueType="num">
                                      <p:cBhvr additive="base">
                                        <p:cTn dur="500"/>
                                        <p:tgtEl>
                                          <p:spTgt spid="11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46"/>
          <p:cNvSpPr txBox="1"/>
          <p:nvPr>
            <p:ph type="title"/>
          </p:nvPr>
        </p:nvSpPr>
        <p:spPr>
          <a:xfrm>
            <a:off x="457200" y="457200"/>
            <a:ext cx="8229600" cy="81991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Arial"/>
              <a:buNone/>
            </a:pPr>
            <a:r>
              <a:rPr lang="en-US"/>
              <a:t>Phương pháp phản dân chủ</a:t>
            </a:r>
            <a:endParaRPr/>
          </a:p>
        </p:txBody>
      </p:sp>
      <p:sp>
        <p:nvSpPr>
          <p:cNvPr id="1115" name="Google Shape;1115;p46"/>
          <p:cNvSpPr txBox="1"/>
          <p:nvPr>
            <p:ph idx="1" type="body"/>
          </p:nvPr>
        </p:nvSpPr>
        <p:spPr>
          <a:xfrm>
            <a:off x="609600" y="1676400"/>
            <a:ext cx="4038600" cy="4434840"/>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95000"/>
              <a:buChar char="⚫"/>
            </a:pPr>
            <a:r>
              <a:rPr lang="en-US"/>
              <a:t>Là những cách thức thực hiện quyền lực NN trong đó KHÔNG đảm bảo được quyền tự do của công dân, nguyên tắc NN thuộc về nhân dân.</a:t>
            </a:r>
            <a:r>
              <a:rPr i="1" lang="en-US"/>
              <a:t> </a:t>
            </a:r>
            <a:endParaRPr/>
          </a:p>
          <a:p>
            <a:pPr indent="-274320" lvl="0" marL="274320" rtl="0" algn="l">
              <a:spcBef>
                <a:spcPts val="481"/>
              </a:spcBef>
              <a:spcAft>
                <a:spcPts val="0"/>
              </a:spcAft>
              <a:buSzPct val="95000"/>
              <a:buChar char="⚫"/>
            </a:pPr>
            <a:r>
              <a:rPr i="1" lang="en-US"/>
              <a:t>T</a:t>
            </a:r>
            <a:r>
              <a:rPr lang="en-US"/>
              <a:t>ương ứng là chế độ phản dân chủ (chế độ độc tài chuyên chế chủ nô; chế độ độc tài chuyên chế phong kiến…..)</a:t>
            </a:r>
            <a:endParaRPr/>
          </a:p>
          <a:p>
            <a:pPr indent="-129238" lvl="0" marL="274320" rtl="0" algn="l">
              <a:spcBef>
                <a:spcPts val="481"/>
              </a:spcBef>
              <a:spcAft>
                <a:spcPts val="0"/>
              </a:spcAft>
              <a:buSzPct val="95000"/>
              <a:buNone/>
            </a:pPr>
            <a:r>
              <a:t/>
            </a:r>
            <a:endParaRPr/>
          </a:p>
        </p:txBody>
      </p:sp>
      <p:pic>
        <p:nvPicPr>
          <p:cNvPr descr="Adolf Hitler" id="1116" name="Google Shape;1116;p46">
            <a:hlinkClick r:id="rId3"/>
          </p:cNvPr>
          <p:cNvPicPr preferRelativeResize="0"/>
          <p:nvPr>
            <p:ph idx="2" type="body"/>
          </p:nvPr>
        </p:nvPicPr>
        <p:blipFill rotWithShape="1">
          <a:blip r:embed="rId4">
            <a:alphaModFix/>
          </a:blip>
          <a:srcRect b="0" l="0" r="0" t="0"/>
          <a:stretch/>
        </p:blipFill>
        <p:spPr>
          <a:xfrm>
            <a:off x="5651500" y="2861469"/>
            <a:ext cx="2032000" cy="2552700"/>
          </a:xfrm>
          <a:prstGeom prst="rect">
            <a:avLst/>
          </a:prstGeom>
          <a:noFill/>
          <a:ln>
            <a:noFill/>
          </a:ln>
        </p:spPr>
      </p:pic>
      <p:sp>
        <p:nvSpPr>
          <p:cNvPr id="1117" name="Google Shape;1117;p46"/>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18" name="Google Shape;1118;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500"/>
                                        <p:tgtEl>
                                          <p:spTgt spid="1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5">
                                            <p:txEl>
                                              <p:pRg end="0" st="0"/>
                                            </p:txEl>
                                          </p:spTgt>
                                        </p:tgtEl>
                                        <p:attrNameLst>
                                          <p:attrName>style.visibility</p:attrName>
                                        </p:attrNameLst>
                                      </p:cBhvr>
                                      <p:to>
                                        <p:strVal val="visible"/>
                                      </p:to>
                                    </p:set>
                                    <p:anim calcmode="lin" valueType="num">
                                      <p:cBhvr additive="base">
                                        <p:cTn dur="500"/>
                                        <p:tgtEl>
                                          <p:spTgt spid="111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5">
                                            <p:txEl>
                                              <p:pRg end="1" st="1"/>
                                            </p:txEl>
                                          </p:spTgt>
                                        </p:tgtEl>
                                        <p:attrNameLst>
                                          <p:attrName>style.visibility</p:attrName>
                                        </p:attrNameLst>
                                      </p:cBhvr>
                                      <p:to>
                                        <p:strVal val="visible"/>
                                      </p:to>
                                    </p:set>
                                    <p:anim calcmode="lin" valueType="num">
                                      <p:cBhvr additive="base">
                                        <p:cTn dur="500"/>
                                        <p:tgtEl>
                                          <p:spTgt spid="111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5">
                                            <p:txEl>
                                              <p:pRg end="2" st="2"/>
                                            </p:txEl>
                                          </p:spTgt>
                                        </p:tgtEl>
                                        <p:attrNameLst>
                                          <p:attrName>style.visibility</p:attrName>
                                        </p:attrNameLst>
                                      </p:cBhvr>
                                      <p:to>
                                        <p:strVal val="visible"/>
                                      </p:to>
                                    </p:set>
                                    <p:anim calcmode="lin" valueType="num">
                                      <p:cBhvr additive="base">
                                        <p:cTn dur="500"/>
                                        <p:tgtEl>
                                          <p:spTgt spid="111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p47"/>
          <p:cNvSpPr txBox="1"/>
          <p:nvPr>
            <p:ph type="title"/>
          </p:nvPr>
        </p:nvSpPr>
        <p:spPr>
          <a:xfrm>
            <a:off x="533400" y="0"/>
            <a:ext cx="8229600" cy="6096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Hình thức nhà nước Việt Nam</a:t>
            </a:r>
            <a:endParaRPr sz="3200">
              <a:latin typeface="Times New Roman"/>
              <a:ea typeface="Times New Roman"/>
              <a:cs typeface="Times New Roman"/>
              <a:sym typeface="Times New Roman"/>
            </a:endParaRPr>
          </a:p>
        </p:txBody>
      </p:sp>
      <p:sp>
        <p:nvSpPr>
          <p:cNvPr id="1124" name="Google Shape;1124;p47"/>
          <p:cNvSpPr txBox="1"/>
          <p:nvPr>
            <p:ph idx="1" type="body"/>
          </p:nvPr>
        </p:nvSpPr>
        <p:spPr>
          <a:xfrm>
            <a:off x="457200" y="609600"/>
            <a:ext cx="8229600" cy="62484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900"/>
              <a:buChar char="⚫"/>
            </a:pPr>
            <a:r>
              <a:rPr lang="en-US" sz="2000">
                <a:latin typeface="Times New Roman"/>
                <a:ea typeface="Times New Roman"/>
                <a:cs typeface="Times New Roman"/>
                <a:sym typeface="Times New Roman"/>
              </a:rPr>
              <a:t>Hình thức chính thể:</a:t>
            </a:r>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HP 1946: VNDCCH (pt điểm giống với Cộng hòa Đại nghị và CH Tổng thống trước khi đi đến kết luận chính thể HP 1946 là gần giống với CH lưàng tính)</a:t>
            </a:r>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HP 1959: VNDCCH (Chế định nguyên thủ quốc gia đã thay đổi ntn? Vai trò lãnh đạo của ĐCSVNlúc này đã được ghi nhận trong lời nói đầu của HP)</a:t>
            </a:r>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HP 1980: CHXHCN ( Nguyên thủ quốc gia tập thể = Hội đồng nhà nước, Vai trò lãnh đạo của Đảng được “luật hóa”)</a:t>
            </a:r>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HP 1992: CHXHCN (Vai trò lãnh đạo của Đảng tiếp tục được khẳng định tại điều 4 HP, thừa nhận sự tồn tại của hình thức sở hữu tư nhân, HĐNN tách ra thành UBTVQH và Chủ tịch nước, HĐBT được đổi thành Chính phủ, vai trò, trách nhiệm cá nhân được xác định cụ thể rõ ràng, ghi nhận 5 đặc trưng của chính thể Hp 1992)</a:t>
            </a:r>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HP 2013: giữ nguyên</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Hình thức cấu trúc: Nhà nước CHXHCNVN là nhà nước đơn nhất</a:t>
            </a:r>
            <a:endParaRPr sz="2000">
              <a:latin typeface="Times New Roman"/>
              <a:ea typeface="Times New Roman"/>
              <a:cs typeface="Times New Roman"/>
              <a:sym typeface="Times New Roman"/>
            </a:endParaRPr>
          </a:p>
        </p:txBody>
      </p:sp>
      <p:sp>
        <p:nvSpPr>
          <p:cNvPr id="1125" name="Google Shape;1125;p4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26" name="Google Shape;1126;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48"/>
          <p:cNvSpPr txBox="1"/>
          <p:nvPr>
            <p:ph type="title"/>
          </p:nvPr>
        </p:nvSpPr>
        <p:spPr>
          <a:xfrm>
            <a:off x="1150938" y="214313"/>
            <a:ext cx="7793037" cy="1462087"/>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Arial"/>
              <a:buNone/>
            </a:pPr>
            <a:r>
              <a:rPr b="1" lang="en-US"/>
              <a:t>2.6 Kiểu nhà nước </a:t>
            </a:r>
            <a:endParaRPr/>
          </a:p>
        </p:txBody>
      </p:sp>
      <p:sp>
        <p:nvSpPr>
          <p:cNvPr id="1132" name="Google Shape;1132;p48"/>
          <p:cNvSpPr txBox="1"/>
          <p:nvPr>
            <p:ph idx="1" type="body"/>
          </p:nvPr>
        </p:nvSpPr>
        <p:spPr>
          <a:xfrm>
            <a:off x="1182688" y="2017713"/>
            <a:ext cx="3810000" cy="41148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280"/>
              <a:buChar char="⚫"/>
            </a:pPr>
            <a:r>
              <a:rPr i="1" lang="en-US" sz="2400"/>
              <a:t>Kiểu nhà nước là tổng thể các dấu hiệu cơ  bản đặc thù của NN, thể hiện bản chất và những điều kiện tồn tại và phát triển của NN trong một hình thái kinh tế - xã hội nhất  định. </a:t>
            </a:r>
            <a:endParaRPr/>
          </a:p>
          <a:p>
            <a:pPr indent="-274320" lvl="0" marL="274320" rtl="0" algn="l">
              <a:spcBef>
                <a:spcPts val="480"/>
              </a:spcBef>
              <a:spcAft>
                <a:spcPts val="0"/>
              </a:spcAft>
              <a:buSzPts val="2280"/>
              <a:buChar char="⚫"/>
            </a:pPr>
            <a:r>
              <a:rPr lang="en-US" sz="2400"/>
              <a:t>Lịch sử xã hội có bốn kiểu NN - kiểu NN chủ nô, phong kiến, tư sản, xã hội chủ nghĩa.</a:t>
            </a:r>
            <a:endParaRPr/>
          </a:p>
        </p:txBody>
      </p:sp>
      <p:pic>
        <p:nvPicPr>
          <p:cNvPr descr="13th century slave market in the Yemen" id="1133" name="Google Shape;1133;p48">
            <a:hlinkClick r:id="rId3"/>
          </p:cNvPr>
          <p:cNvPicPr preferRelativeResize="0"/>
          <p:nvPr>
            <p:ph idx="2" type="body"/>
          </p:nvPr>
        </p:nvPicPr>
        <p:blipFill rotWithShape="1">
          <a:blip r:embed="rId4">
            <a:alphaModFix/>
          </a:blip>
          <a:srcRect b="0" l="0" r="0" t="0"/>
          <a:stretch/>
        </p:blipFill>
        <p:spPr>
          <a:xfrm>
            <a:off x="5715000" y="1981200"/>
            <a:ext cx="2992438" cy="3741738"/>
          </a:xfrm>
          <a:prstGeom prst="rect">
            <a:avLst/>
          </a:prstGeom>
          <a:noFill/>
          <a:ln>
            <a:noFill/>
          </a:ln>
        </p:spPr>
      </p:pic>
      <p:sp>
        <p:nvSpPr>
          <p:cNvPr id="1134" name="Google Shape;1134;p4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35" name="Google Shape;1135;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49"/>
          <p:cNvSpPr txBox="1"/>
          <p:nvPr>
            <p:ph type="title"/>
          </p:nvPr>
        </p:nvSpPr>
        <p:spPr>
          <a:xfrm>
            <a:off x="457200" y="152400"/>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 2.7	BỘ MÁY NHÀ NƯỚC</a:t>
            </a:r>
            <a:endParaRPr sz="3600">
              <a:latin typeface="Times New Roman"/>
              <a:ea typeface="Times New Roman"/>
              <a:cs typeface="Times New Roman"/>
              <a:sym typeface="Times New Roman"/>
            </a:endParaRPr>
          </a:p>
        </p:txBody>
      </p:sp>
      <p:sp>
        <p:nvSpPr>
          <p:cNvPr id="1142" name="Google Shape;1142;p4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Bộ máy nhà nước đối với từng kiểu Nhà nước</a:t>
            </a:r>
            <a:endParaRPr/>
          </a:p>
          <a:p>
            <a:pPr indent="-274320" lvl="0" marL="274320" rtl="0" algn="l">
              <a:spcBef>
                <a:spcPts val="520"/>
              </a:spcBef>
              <a:spcAft>
                <a:spcPts val="0"/>
              </a:spcAft>
              <a:buSzPts val="2470"/>
              <a:buChar char="⚫"/>
            </a:pPr>
            <a:r>
              <a:rPr lang="en-US"/>
              <a:t>Bộ máy nhà nước Cộng hòa XHCN Việt Nam</a:t>
            </a:r>
            <a:endParaRPr/>
          </a:p>
          <a:p>
            <a:pPr indent="-274320" lvl="0" marL="274320" rtl="0" algn="l">
              <a:spcBef>
                <a:spcPts val="520"/>
              </a:spcBef>
              <a:spcAft>
                <a:spcPts val="0"/>
              </a:spcAft>
              <a:buSzPts val="2470"/>
              <a:buNone/>
            </a:pPr>
            <a:r>
              <a:t/>
            </a:r>
            <a:endParaRPr/>
          </a:p>
          <a:p>
            <a:pPr indent="-274320" lvl="0" marL="274320" rtl="0" algn="l">
              <a:spcBef>
                <a:spcPts val="520"/>
              </a:spcBef>
              <a:spcAft>
                <a:spcPts val="0"/>
              </a:spcAft>
              <a:buSzPts val="2470"/>
              <a:buNone/>
            </a:pPr>
            <a:r>
              <a:t/>
            </a:r>
            <a:endParaRPr/>
          </a:p>
        </p:txBody>
      </p:sp>
      <p:sp>
        <p:nvSpPr>
          <p:cNvPr id="1143" name="Google Shape;1143;p49"/>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44" name="Google Shape;1144;p4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50"/>
          <p:cNvSpPr txBox="1"/>
          <p:nvPr>
            <p:ph type="title"/>
          </p:nvPr>
        </p:nvSpPr>
        <p:spPr>
          <a:xfrm>
            <a:off x="457200" y="457200"/>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Arial"/>
              <a:buNone/>
            </a:pPr>
            <a:r>
              <a:rPr lang="en-US" sz="3600"/>
              <a:t>Chương 3:	Nhà nước CHXHCN Việt Nam</a:t>
            </a:r>
            <a:endParaRPr sz="3600"/>
          </a:p>
        </p:txBody>
      </p:sp>
      <p:sp>
        <p:nvSpPr>
          <p:cNvPr id="1150" name="Google Shape;1150;p5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Font typeface="Arial"/>
              <a:buChar char="-"/>
            </a:pPr>
            <a:r>
              <a:rPr lang="en-US"/>
              <a:t>Đọc giáo trình</a:t>
            </a:r>
            <a:endParaRPr/>
          </a:p>
          <a:p>
            <a:pPr indent="-274320" lvl="0" marL="274320" rtl="0" algn="l">
              <a:spcBef>
                <a:spcPts val="520"/>
              </a:spcBef>
              <a:spcAft>
                <a:spcPts val="0"/>
              </a:spcAft>
              <a:buSzPts val="2470"/>
              <a:buFont typeface="Arial"/>
              <a:buChar char="-"/>
            </a:pPr>
            <a:r>
              <a:rPr lang="en-US"/>
              <a:t>Liên hệ tương ứng từng vấn đề Nhà nước</a:t>
            </a:r>
            <a:endParaRPr/>
          </a:p>
        </p:txBody>
      </p:sp>
      <p:sp>
        <p:nvSpPr>
          <p:cNvPr id="1151" name="Google Shape;1151;p50"/>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52" name="Google Shape;1152;p5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51"/>
          <p:cNvSpPr txBox="1"/>
          <p:nvPr>
            <p:ph type="title"/>
          </p:nvPr>
        </p:nvSpPr>
        <p:spPr>
          <a:xfrm>
            <a:off x="381000" y="228600"/>
            <a:ext cx="8229600" cy="762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Chương 4: Những vấn đề chung về Pháp luật</a:t>
            </a:r>
            <a:endParaRPr sz="3200">
              <a:latin typeface="Times New Roman"/>
              <a:ea typeface="Times New Roman"/>
              <a:cs typeface="Times New Roman"/>
              <a:sym typeface="Times New Roman"/>
            </a:endParaRPr>
          </a:p>
        </p:txBody>
      </p:sp>
      <p:sp>
        <p:nvSpPr>
          <p:cNvPr id="1159" name="Google Shape;1159;p51"/>
          <p:cNvSpPr txBox="1"/>
          <p:nvPr>
            <p:ph idx="1" type="body"/>
          </p:nvPr>
        </p:nvSpPr>
        <p:spPr>
          <a:xfrm>
            <a:off x="457200" y="1143000"/>
            <a:ext cx="8229600" cy="51816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1900"/>
              <a:buNone/>
            </a:pPr>
            <a:r>
              <a:rPr lang="en-US" sz="2000">
                <a:latin typeface="Times New Roman"/>
                <a:ea typeface="Times New Roman"/>
                <a:cs typeface="Times New Roman"/>
                <a:sym typeface="Times New Roman"/>
              </a:rPr>
              <a:t>4.1	Nguồn gốc của pháp luật</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4.2	Khái niệm pháp luật</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4.3	Bản chất, chức năng và các thuộc tính cơ bản của pháp luật</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4.4	Các mối liên hệ của pháp luật</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4.5	Các kiểu pháp luật trong lịch sử</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4.6	Hình thức pháp luật</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4.7	Quan hệ pháp luật</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4.8	Thuc hien phap luat va giai thich pháp luật</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4.9	Vi phạm pháp luật và trách nhiệm pháp lý</a:t>
            </a:r>
            <a:endParaRPr sz="2000">
              <a:latin typeface="Times New Roman"/>
              <a:ea typeface="Times New Roman"/>
              <a:cs typeface="Times New Roman"/>
              <a:sym typeface="Times New Roman"/>
            </a:endParaRPr>
          </a:p>
          <a:p>
            <a:pPr indent="-514350" lvl="0" marL="514350" rtl="0" algn="l">
              <a:spcBef>
                <a:spcPts val="400"/>
              </a:spcBef>
              <a:spcAft>
                <a:spcPts val="0"/>
              </a:spcAft>
              <a:buSzPts val="1900"/>
              <a:buNone/>
            </a:pPr>
            <a:r>
              <a:rPr lang="en-US" sz="2000">
                <a:latin typeface="Times New Roman"/>
                <a:ea typeface="Times New Roman"/>
                <a:cs typeface="Times New Roman"/>
                <a:sym typeface="Times New Roman"/>
              </a:rPr>
              <a:t>4.10	Ý thức pháp luật và pháp chế</a:t>
            </a:r>
            <a:endParaRPr sz="2000">
              <a:latin typeface="Times New Roman"/>
              <a:ea typeface="Times New Roman"/>
              <a:cs typeface="Times New Roman"/>
              <a:sym typeface="Times New Roman"/>
            </a:endParaRPr>
          </a:p>
          <a:p>
            <a:pPr indent="-393700" lvl="0" marL="514350" rtl="0" algn="l">
              <a:spcBef>
                <a:spcPts val="400"/>
              </a:spcBef>
              <a:spcAft>
                <a:spcPts val="0"/>
              </a:spcAft>
              <a:buSzPts val="1900"/>
              <a:buNone/>
            </a:pPr>
            <a:r>
              <a:t/>
            </a:r>
            <a:endParaRPr sz="2000">
              <a:latin typeface="Times New Roman"/>
              <a:ea typeface="Times New Roman"/>
              <a:cs typeface="Times New Roman"/>
              <a:sym typeface="Times New Roman"/>
            </a:endParaRPr>
          </a:p>
          <a:p>
            <a:pPr indent="-393700" lvl="0" marL="514350" rtl="0" algn="l">
              <a:spcBef>
                <a:spcPts val="400"/>
              </a:spcBef>
              <a:spcAft>
                <a:spcPts val="0"/>
              </a:spcAft>
              <a:buSzPts val="1900"/>
              <a:buNone/>
            </a:pPr>
            <a:r>
              <a:t/>
            </a:r>
            <a:endParaRPr sz="2000">
              <a:latin typeface="Times New Roman"/>
              <a:ea typeface="Times New Roman"/>
              <a:cs typeface="Times New Roman"/>
              <a:sym typeface="Times New Roman"/>
            </a:endParaRPr>
          </a:p>
        </p:txBody>
      </p:sp>
      <p:pic>
        <p:nvPicPr>
          <p:cNvPr descr="E:\Bai giang\PL DC\imagesn.jpg" id="1160" name="Google Shape;1160;p51"/>
          <p:cNvPicPr preferRelativeResize="0"/>
          <p:nvPr/>
        </p:nvPicPr>
        <p:blipFill rotWithShape="1">
          <a:blip r:embed="rId3">
            <a:alphaModFix/>
          </a:blip>
          <a:srcRect b="0" l="0" r="0" t="0"/>
          <a:stretch/>
        </p:blipFill>
        <p:spPr>
          <a:xfrm>
            <a:off x="5486400" y="4191000"/>
            <a:ext cx="3243719" cy="2152650"/>
          </a:xfrm>
          <a:prstGeom prst="rect">
            <a:avLst/>
          </a:prstGeom>
          <a:noFill/>
          <a:ln>
            <a:noFill/>
          </a:ln>
        </p:spPr>
      </p:pic>
      <p:sp>
        <p:nvSpPr>
          <p:cNvPr id="1161" name="Google Shape;1161;p51"/>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62" name="Google Shape;1162;p5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8"/>
                                        </p:tgtEl>
                                        <p:attrNameLst>
                                          <p:attrName>style.visibility</p:attrName>
                                        </p:attrNameLst>
                                      </p:cBhvr>
                                      <p:to>
                                        <p:strVal val="visible"/>
                                      </p:to>
                                    </p:set>
                                    <p:anim calcmode="lin" valueType="num">
                                      <p:cBhvr additive="base">
                                        <p:cTn dur="500"/>
                                        <p:tgtEl>
                                          <p:spTgt spid="115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0" st="0"/>
                                            </p:txEl>
                                          </p:spTgt>
                                        </p:tgtEl>
                                        <p:attrNameLst>
                                          <p:attrName>style.visibility</p:attrName>
                                        </p:attrNameLst>
                                      </p:cBhvr>
                                      <p:to>
                                        <p:strVal val="visible"/>
                                      </p:to>
                                    </p:set>
                                    <p:animEffect filter="fade" transition="in">
                                      <p:cBhvr>
                                        <p:cTn dur="500"/>
                                        <p:tgtEl>
                                          <p:spTgt spid="11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1" st="1"/>
                                            </p:txEl>
                                          </p:spTgt>
                                        </p:tgtEl>
                                        <p:attrNameLst>
                                          <p:attrName>style.visibility</p:attrName>
                                        </p:attrNameLst>
                                      </p:cBhvr>
                                      <p:to>
                                        <p:strVal val="visible"/>
                                      </p:to>
                                    </p:set>
                                    <p:animEffect filter="fade" transition="in">
                                      <p:cBhvr>
                                        <p:cTn dur="500"/>
                                        <p:tgtEl>
                                          <p:spTgt spid="11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2" st="2"/>
                                            </p:txEl>
                                          </p:spTgt>
                                        </p:tgtEl>
                                        <p:attrNameLst>
                                          <p:attrName>style.visibility</p:attrName>
                                        </p:attrNameLst>
                                      </p:cBhvr>
                                      <p:to>
                                        <p:strVal val="visible"/>
                                      </p:to>
                                    </p:set>
                                    <p:animEffect filter="fade" transition="in">
                                      <p:cBhvr>
                                        <p:cTn dur="500"/>
                                        <p:tgtEl>
                                          <p:spTgt spid="11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3" st="3"/>
                                            </p:txEl>
                                          </p:spTgt>
                                        </p:tgtEl>
                                        <p:attrNameLst>
                                          <p:attrName>style.visibility</p:attrName>
                                        </p:attrNameLst>
                                      </p:cBhvr>
                                      <p:to>
                                        <p:strVal val="visible"/>
                                      </p:to>
                                    </p:set>
                                    <p:animEffect filter="fade" transition="in">
                                      <p:cBhvr>
                                        <p:cTn dur="500"/>
                                        <p:tgtEl>
                                          <p:spTgt spid="11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4" st="4"/>
                                            </p:txEl>
                                          </p:spTgt>
                                        </p:tgtEl>
                                        <p:attrNameLst>
                                          <p:attrName>style.visibility</p:attrName>
                                        </p:attrNameLst>
                                      </p:cBhvr>
                                      <p:to>
                                        <p:strVal val="visible"/>
                                      </p:to>
                                    </p:set>
                                    <p:animEffect filter="fade" transition="in">
                                      <p:cBhvr>
                                        <p:cTn dur="500"/>
                                        <p:tgtEl>
                                          <p:spTgt spid="11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5" st="5"/>
                                            </p:txEl>
                                          </p:spTgt>
                                        </p:tgtEl>
                                        <p:attrNameLst>
                                          <p:attrName>style.visibility</p:attrName>
                                        </p:attrNameLst>
                                      </p:cBhvr>
                                      <p:to>
                                        <p:strVal val="visible"/>
                                      </p:to>
                                    </p:set>
                                    <p:animEffect filter="fade" transition="in">
                                      <p:cBhvr>
                                        <p:cTn dur="500"/>
                                        <p:tgtEl>
                                          <p:spTgt spid="11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6" st="6"/>
                                            </p:txEl>
                                          </p:spTgt>
                                        </p:tgtEl>
                                        <p:attrNameLst>
                                          <p:attrName>style.visibility</p:attrName>
                                        </p:attrNameLst>
                                      </p:cBhvr>
                                      <p:to>
                                        <p:strVal val="visible"/>
                                      </p:to>
                                    </p:set>
                                    <p:animEffect filter="fade" transition="in">
                                      <p:cBhvr>
                                        <p:cTn dur="500"/>
                                        <p:tgtEl>
                                          <p:spTgt spid="115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7" st="7"/>
                                            </p:txEl>
                                          </p:spTgt>
                                        </p:tgtEl>
                                        <p:attrNameLst>
                                          <p:attrName>style.visibility</p:attrName>
                                        </p:attrNameLst>
                                      </p:cBhvr>
                                      <p:to>
                                        <p:strVal val="visible"/>
                                      </p:to>
                                    </p:set>
                                    <p:animEffect filter="fade" transition="in">
                                      <p:cBhvr>
                                        <p:cTn dur="500"/>
                                        <p:tgtEl>
                                          <p:spTgt spid="115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8" st="8"/>
                                            </p:txEl>
                                          </p:spTgt>
                                        </p:tgtEl>
                                        <p:attrNameLst>
                                          <p:attrName>style.visibility</p:attrName>
                                        </p:attrNameLst>
                                      </p:cBhvr>
                                      <p:to>
                                        <p:strVal val="visible"/>
                                      </p:to>
                                    </p:set>
                                    <p:animEffect filter="fade" transition="in">
                                      <p:cBhvr>
                                        <p:cTn dur="500"/>
                                        <p:tgtEl>
                                          <p:spTgt spid="115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9" st="9"/>
                                            </p:txEl>
                                          </p:spTgt>
                                        </p:tgtEl>
                                        <p:attrNameLst>
                                          <p:attrName>style.visibility</p:attrName>
                                        </p:attrNameLst>
                                      </p:cBhvr>
                                      <p:to>
                                        <p:strVal val="visible"/>
                                      </p:to>
                                    </p:set>
                                    <p:animEffect filter="fade" transition="in">
                                      <p:cBhvr>
                                        <p:cTn dur="500"/>
                                        <p:tgtEl>
                                          <p:spTgt spid="115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10" st="10"/>
                                            </p:txEl>
                                          </p:spTgt>
                                        </p:tgtEl>
                                        <p:attrNameLst>
                                          <p:attrName>style.visibility</p:attrName>
                                        </p:attrNameLst>
                                      </p:cBhvr>
                                      <p:to>
                                        <p:strVal val="visible"/>
                                      </p:to>
                                    </p:set>
                                    <p:animEffect filter="fade" transition="in">
                                      <p:cBhvr>
                                        <p:cTn dur="500"/>
                                        <p:tgtEl>
                                          <p:spTgt spid="115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9">
                                            <p:txEl>
                                              <p:pRg end="11" st="11"/>
                                            </p:txEl>
                                          </p:spTgt>
                                        </p:tgtEl>
                                        <p:attrNameLst>
                                          <p:attrName>style.visibility</p:attrName>
                                        </p:attrNameLst>
                                      </p:cBhvr>
                                      <p:to>
                                        <p:strVal val="visible"/>
                                      </p:to>
                                    </p:set>
                                    <p:animEffect filter="fade" transition="in">
                                      <p:cBhvr>
                                        <p:cTn dur="500"/>
                                        <p:tgtEl>
                                          <p:spTgt spid="115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52"/>
          <p:cNvSpPr txBox="1"/>
          <p:nvPr>
            <p:ph type="title"/>
          </p:nvPr>
        </p:nvSpPr>
        <p:spPr>
          <a:xfrm>
            <a:off x="381000" y="152400"/>
            <a:ext cx="8229600" cy="762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4.1	Nguồn gốc pháp luật</a:t>
            </a:r>
            <a:endParaRPr sz="3200">
              <a:solidFill>
                <a:srgbClr val="FF0000"/>
              </a:solidFill>
              <a:latin typeface="Times New Roman"/>
              <a:ea typeface="Times New Roman"/>
              <a:cs typeface="Times New Roman"/>
              <a:sym typeface="Times New Roman"/>
            </a:endParaRPr>
          </a:p>
        </p:txBody>
      </p:sp>
      <p:sp>
        <p:nvSpPr>
          <p:cNvPr id="1168" name="Google Shape;1168;p52"/>
          <p:cNvSpPr/>
          <p:nvPr/>
        </p:nvSpPr>
        <p:spPr>
          <a:xfrm>
            <a:off x="228600" y="2514600"/>
            <a:ext cx="2133600" cy="2971800"/>
          </a:xfrm>
          <a:prstGeom prst="roundRect">
            <a:avLst>
              <a:gd fmla="val 16667" name="adj"/>
            </a:avLst>
          </a:prstGeom>
          <a:solidFill>
            <a:srgbClr val="FF00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Quan điểm về nguồn gốc pháp luật</a:t>
            </a:r>
            <a:endParaRPr sz="2400">
              <a:solidFill>
                <a:schemeClr val="lt1"/>
              </a:solidFill>
              <a:latin typeface="Times New Roman"/>
              <a:ea typeface="Times New Roman"/>
              <a:cs typeface="Times New Roman"/>
              <a:sym typeface="Times New Roman"/>
            </a:endParaRPr>
          </a:p>
        </p:txBody>
      </p:sp>
      <p:sp>
        <p:nvSpPr>
          <p:cNvPr id="1169" name="Google Shape;1169;p52"/>
          <p:cNvSpPr/>
          <p:nvPr/>
        </p:nvSpPr>
        <p:spPr>
          <a:xfrm>
            <a:off x="2971800" y="1447800"/>
            <a:ext cx="2819400" cy="13716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PL là sản phẩm sáng tạo của thượng đế</a:t>
            </a:r>
            <a:endParaRPr sz="1800">
              <a:solidFill>
                <a:schemeClr val="lt1"/>
              </a:solidFill>
              <a:latin typeface="Times New Roman"/>
              <a:ea typeface="Times New Roman"/>
              <a:cs typeface="Times New Roman"/>
              <a:sym typeface="Times New Roman"/>
            </a:endParaRPr>
          </a:p>
        </p:txBody>
      </p:sp>
      <p:sp>
        <p:nvSpPr>
          <p:cNvPr id="1170" name="Google Shape;1170;p52"/>
          <p:cNvSpPr/>
          <p:nvPr/>
        </p:nvSpPr>
        <p:spPr>
          <a:xfrm>
            <a:off x="2895600" y="3276600"/>
            <a:ext cx="2895600" cy="13716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Pháp luật sinh ra như một lẽ tự nhiên: “ở đâu có xã hội, ở đó có pháp luật”</a:t>
            </a:r>
            <a:endParaRPr sz="1800">
              <a:solidFill>
                <a:schemeClr val="lt1"/>
              </a:solidFill>
              <a:latin typeface="Times New Roman"/>
              <a:ea typeface="Times New Roman"/>
              <a:cs typeface="Times New Roman"/>
              <a:sym typeface="Times New Roman"/>
            </a:endParaRPr>
          </a:p>
        </p:txBody>
      </p:sp>
      <p:sp>
        <p:nvSpPr>
          <p:cNvPr id="1171" name="Google Shape;1171;p52"/>
          <p:cNvSpPr/>
          <p:nvPr/>
        </p:nvSpPr>
        <p:spPr>
          <a:xfrm>
            <a:off x="2819400" y="4953000"/>
            <a:ext cx="3200400" cy="15240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Quan điểm Mac – Lênin: khi nhà nước ra đời và phát triển đã đưa ra các quy tắc mới để điều chỉnh các quan hệ xã hội được gọi là pháp luật</a:t>
            </a:r>
            <a:endParaRPr sz="1800">
              <a:solidFill>
                <a:schemeClr val="lt1"/>
              </a:solidFill>
              <a:latin typeface="Times New Roman"/>
              <a:ea typeface="Times New Roman"/>
              <a:cs typeface="Times New Roman"/>
              <a:sym typeface="Times New Roman"/>
            </a:endParaRPr>
          </a:p>
        </p:txBody>
      </p:sp>
      <p:sp>
        <p:nvSpPr>
          <p:cNvPr id="1172" name="Google Shape;1172;p52"/>
          <p:cNvSpPr/>
          <p:nvPr/>
        </p:nvSpPr>
        <p:spPr>
          <a:xfrm>
            <a:off x="6248400" y="2286000"/>
            <a:ext cx="2743200" cy="3505200"/>
          </a:xfrm>
          <a:prstGeom prst="roundRect">
            <a:avLst>
              <a:gd fmla="val 16667" name="adj"/>
            </a:avLst>
          </a:prstGeom>
          <a:solidFill>
            <a:srgbClr val="C000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Pháp luật ra đời và tồn tại gắn liền với nhà nước và xã hội có giai cấp, là sản phẩm của sự phát triển xã hội vừa mang tính khách quan (sinh ra do nhu cầu đòi hỏi của xã hội) vừa mang tính chủ quan (phụ thuộc ý chí nhà nước) </a:t>
            </a:r>
            <a:endParaRPr sz="1800">
              <a:solidFill>
                <a:schemeClr val="lt1"/>
              </a:solidFill>
              <a:latin typeface="Times New Roman"/>
              <a:ea typeface="Times New Roman"/>
              <a:cs typeface="Times New Roman"/>
              <a:sym typeface="Times New Roman"/>
            </a:endParaRPr>
          </a:p>
        </p:txBody>
      </p:sp>
      <p:cxnSp>
        <p:nvCxnSpPr>
          <p:cNvPr id="1173" name="Google Shape;1173;p52"/>
          <p:cNvCxnSpPr>
            <a:stCxn id="1168" idx="3"/>
            <a:endCxn id="1169" idx="1"/>
          </p:cNvCxnSpPr>
          <p:nvPr/>
        </p:nvCxnSpPr>
        <p:spPr>
          <a:xfrm flipH="1" rot="10800000">
            <a:off x="2362200" y="2133600"/>
            <a:ext cx="609600" cy="1866900"/>
          </a:xfrm>
          <a:prstGeom prst="straightConnector1">
            <a:avLst/>
          </a:prstGeom>
          <a:noFill/>
          <a:ln cap="flat" cmpd="sng" w="38100">
            <a:solidFill>
              <a:schemeClr val="accent1"/>
            </a:solidFill>
            <a:prstDash val="solid"/>
            <a:round/>
            <a:headEnd len="sm" w="sm" type="none"/>
            <a:tailEnd len="med" w="med" type="stealth"/>
          </a:ln>
          <a:effectLst>
            <a:outerShdw blurRad="57150" rotWithShape="0" algn="ctr" dir="5400000" dist="38100">
              <a:srgbClr val="000000"/>
            </a:outerShdw>
          </a:effectLst>
        </p:spPr>
      </p:cxnSp>
      <p:cxnSp>
        <p:nvCxnSpPr>
          <p:cNvPr id="1174" name="Google Shape;1174;p52"/>
          <p:cNvCxnSpPr>
            <a:stCxn id="1168" idx="3"/>
            <a:endCxn id="1170" idx="1"/>
          </p:cNvCxnSpPr>
          <p:nvPr/>
        </p:nvCxnSpPr>
        <p:spPr>
          <a:xfrm flipH="1" rot="10800000">
            <a:off x="2362200" y="3962400"/>
            <a:ext cx="533400" cy="38100"/>
          </a:xfrm>
          <a:prstGeom prst="straightConnector1">
            <a:avLst/>
          </a:prstGeom>
          <a:noFill/>
          <a:ln cap="flat" cmpd="sng" w="38100">
            <a:solidFill>
              <a:schemeClr val="accent1"/>
            </a:solidFill>
            <a:prstDash val="solid"/>
            <a:round/>
            <a:headEnd len="sm" w="sm" type="none"/>
            <a:tailEnd len="med" w="med" type="stealth"/>
          </a:ln>
          <a:effectLst>
            <a:outerShdw blurRad="57150" rotWithShape="0" algn="ctr" dir="5400000" dist="38100">
              <a:srgbClr val="000000"/>
            </a:outerShdw>
          </a:effectLst>
        </p:spPr>
      </p:cxnSp>
      <p:cxnSp>
        <p:nvCxnSpPr>
          <p:cNvPr id="1175" name="Google Shape;1175;p52"/>
          <p:cNvCxnSpPr>
            <a:stCxn id="1168" idx="3"/>
            <a:endCxn id="1171" idx="1"/>
          </p:cNvCxnSpPr>
          <p:nvPr/>
        </p:nvCxnSpPr>
        <p:spPr>
          <a:xfrm>
            <a:off x="2362200" y="4000500"/>
            <a:ext cx="457200" cy="1714500"/>
          </a:xfrm>
          <a:prstGeom prst="straightConnector1">
            <a:avLst/>
          </a:prstGeom>
          <a:noFill/>
          <a:ln cap="flat" cmpd="sng" w="38100">
            <a:solidFill>
              <a:schemeClr val="accent1"/>
            </a:solidFill>
            <a:prstDash val="solid"/>
            <a:round/>
            <a:headEnd len="sm" w="sm" type="none"/>
            <a:tailEnd len="med" w="med" type="stealth"/>
          </a:ln>
          <a:effectLst>
            <a:outerShdw blurRad="57150" rotWithShape="0" algn="ctr" dir="5400000" dist="38100">
              <a:srgbClr val="000000"/>
            </a:outerShdw>
          </a:effectLst>
        </p:spPr>
      </p:cxnSp>
      <p:cxnSp>
        <p:nvCxnSpPr>
          <p:cNvPr id="1176" name="Google Shape;1176;p52"/>
          <p:cNvCxnSpPr>
            <a:stCxn id="1169" idx="3"/>
            <a:endCxn id="1172" idx="1"/>
          </p:cNvCxnSpPr>
          <p:nvPr/>
        </p:nvCxnSpPr>
        <p:spPr>
          <a:xfrm>
            <a:off x="5791200" y="2133600"/>
            <a:ext cx="457200" cy="1905000"/>
          </a:xfrm>
          <a:prstGeom prst="straightConnector1">
            <a:avLst/>
          </a:prstGeom>
          <a:noFill/>
          <a:ln cap="flat" cmpd="sng" w="38100">
            <a:solidFill>
              <a:schemeClr val="accent1"/>
            </a:solidFill>
            <a:prstDash val="solid"/>
            <a:round/>
            <a:headEnd len="sm" w="sm" type="none"/>
            <a:tailEnd len="med" w="med" type="stealth"/>
          </a:ln>
          <a:effectLst>
            <a:outerShdw blurRad="57150" rotWithShape="0" algn="ctr" dir="5400000" dist="38100">
              <a:srgbClr val="000000"/>
            </a:outerShdw>
          </a:effectLst>
        </p:spPr>
      </p:cxnSp>
      <p:cxnSp>
        <p:nvCxnSpPr>
          <p:cNvPr id="1177" name="Google Shape;1177;p52"/>
          <p:cNvCxnSpPr>
            <a:stCxn id="1170" idx="3"/>
            <a:endCxn id="1172" idx="1"/>
          </p:cNvCxnSpPr>
          <p:nvPr/>
        </p:nvCxnSpPr>
        <p:spPr>
          <a:xfrm>
            <a:off x="5791200" y="3962400"/>
            <a:ext cx="457200" cy="76200"/>
          </a:xfrm>
          <a:prstGeom prst="straightConnector1">
            <a:avLst/>
          </a:prstGeom>
          <a:noFill/>
          <a:ln cap="flat" cmpd="sng" w="38100">
            <a:solidFill>
              <a:schemeClr val="accent1"/>
            </a:solidFill>
            <a:prstDash val="solid"/>
            <a:round/>
            <a:headEnd len="sm" w="sm" type="none"/>
            <a:tailEnd len="med" w="med" type="stealth"/>
          </a:ln>
          <a:effectLst>
            <a:outerShdw blurRad="57150" rotWithShape="0" algn="ctr" dir="5400000" dist="38100">
              <a:srgbClr val="000000"/>
            </a:outerShdw>
          </a:effectLst>
        </p:spPr>
      </p:cxnSp>
      <p:cxnSp>
        <p:nvCxnSpPr>
          <p:cNvPr id="1178" name="Google Shape;1178;p52"/>
          <p:cNvCxnSpPr>
            <a:stCxn id="1171" idx="3"/>
            <a:endCxn id="1172" idx="1"/>
          </p:cNvCxnSpPr>
          <p:nvPr/>
        </p:nvCxnSpPr>
        <p:spPr>
          <a:xfrm flipH="1" rot="10800000">
            <a:off x="6019800" y="4038600"/>
            <a:ext cx="228600" cy="1676400"/>
          </a:xfrm>
          <a:prstGeom prst="straightConnector1">
            <a:avLst/>
          </a:prstGeom>
          <a:noFill/>
          <a:ln cap="flat" cmpd="sng" w="38100">
            <a:solidFill>
              <a:schemeClr val="accent1"/>
            </a:solidFill>
            <a:prstDash val="solid"/>
            <a:round/>
            <a:headEnd len="sm" w="sm" type="none"/>
            <a:tailEnd len="med" w="med" type="stealth"/>
          </a:ln>
          <a:effectLst>
            <a:outerShdw blurRad="57150" rotWithShape="0" algn="ctr" dir="5400000" dist="38100">
              <a:srgbClr val="000000"/>
            </a:outerShdw>
          </a:effectLst>
        </p:spPr>
      </p:cxnSp>
      <p:sp>
        <p:nvSpPr>
          <p:cNvPr id="1179" name="Google Shape;1179;p52"/>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80" name="Google Shape;1180;p5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500"/>
                                        <p:tgtEl>
                                          <p:spTgt spid="1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8"/>
                                        </p:tgtEl>
                                        <p:attrNameLst>
                                          <p:attrName>style.visibility</p:attrName>
                                        </p:attrNameLst>
                                      </p:cBhvr>
                                      <p:to>
                                        <p:strVal val="visible"/>
                                      </p:to>
                                    </p:set>
                                    <p:anim calcmode="lin" valueType="num">
                                      <p:cBhvr additive="base">
                                        <p:cTn dur="500"/>
                                        <p:tgtEl>
                                          <p:spTgt spid="11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500"/>
                                        <p:tgtEl>
                                          <p:spTgt spid="1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500"/>
                                        <p:tgtEl>
                                          <p:spTgt spid="1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2000"/>
                                        <p:tgtEl>
                                          <p:spTgt spid="1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2000"/>
                                        <p:tgtEl>
                                          <p:spTgt spid="1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53"/>
          <p:cNvSpPr txBox="1"/>
          <p:nvPr>
            <p:ph type="title"/>
          </p:nvPr>
        </p:nvSpPr>
        <p:spPr>
          <a:xfrm>
            <a:off x="457200" y="0"/>
            <a:ext cx="8229600" cy="2286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Arial"/>
              <a:buNone/>
            </a:pPr>
            <a:r>
              <a:rPr lang="en-US" sz="3200"/>
              <a:t>.</a:t>
            </a:r>
            <a:endParaRPr/>
          </a:p>
        </p:txBody>
      </p:sp>
      <p:sp>
        <p:nvSpPr>
          <p:cNvPr id="1186" name="Google Shape;1186;p53"/>
          <p:cNvSpPr/>
          <p:nvPr/>
        </p:nvSpPr>
        <p:spPr>
          <a:xfrm>
            <a:off x="3505200" y="3200400"/>
            <a:ext cx="2286000" cy="2209800"/>
          </a:xfrm>
          <a:prstGeom prst="ellipse">
            <a:avLst/>
          </a:prstGeom>
          <a:solidFill>
            <a:srgbClr val="FF00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Arial"/>
                <a:ea typeface="Arial"/>
                <a:cs typeface="Arial"/>
                <a:sym typeface="Arial"/>
              </a:rPr>
              <a:t>Nguồn của pháp luật</a:t>
            </a:r>
            <a:endParaRPr sz="2800">
              <a:solidFill>
                <a:schemeClr val="lt1"/>
              </a:solidFill>
              <a:latin typeface="Arial"/>
              <a:ea typeface="Arial"/>
              <a:cs typeface="Arial"/>
              <a:sym typeface="Arial"/>
            </a:endParaRPr>
          </a:p>
        </p:txBody>
      </p:sp>
      <p:sp>
        <p:nvSpPr>
          <p:cNvPr id="1187" name="Google Shape;1187;p53"/>
          <p:cNvSpPr/>
          <p:nvPr/>
        </p:nvSpPr>
        <p:spPr>
          <a:xfrm>
            <a:off x="152400" y="2743200"/>
            <a:ext cx="2209800" cy="3276600"/>
          </a:xfrm>
          <a:prstGeom prst="roundRect">
            <a:avLst>
              <a:gd fmla="val 16667"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Tập quán pháp: những quy tắc xử sự do con người đặt ra để điều chỉnh hành vi của con người được truyền từ đời này sang đời khác trở thành những xử sự quen thuộc được nhà nước thừa nhận là pháp luật.</a:t>
            </a:r>
            <a:endParaRPr sz="1800">
              <a:solidFill>
                <a:schemeClr val="dk1"/>
              </a:solidFill>
              <a:latin typeface="Times New Roman"/>
              <a:ea typeface="Times New Roman"/>
              <a:cs typeface="Times New Roman"/>
              <a:sym typeface="Times New Roman"/>
            </a:endParaRPr>
          </a:p>
        </p:txBody>
      </p:sp>
      <p:sp>
        <p:nvSpPr>
          <p:cNvPr id="1188" name="Google Shape;1188;p53"/>
          <p:cNvSpPr/>
          <p:nvPr/>
        </p:nvSpPr>
        <p:spPr>
          <a:xfrm>
            <a:off x="1905000" y="304800"/>
            <a:ext cx="5943600" cy="1981200"/>
          </a:xfrm>
          <a:prstGeom prst="roundRect">
            <a:avLst>
              <a:gd fmla="val 16667"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Quy tắc xử sự mới (hệ thống văn bản pháp luật): Những quyết định do cơ quan nhà nước có thẩm quyền ban hành, được thể hiện dưới hình thức văn bản theo những trình tự, thủ tục nhất định nhằm điều chỉnh các quan hệ xã hội mang tính bắt buộc chung và được nhà nước đảm bảo thực hiện.</a:t>
            </a:r>
            <a:endParaRPr sz="1800">
              <a:solidFill>
                <a:schemeClr val="dk1"/>
              </a:solidFill>
              <a:latin typeface="Times New Roman"/>
              <a:ea typeface="Times New Roman"/>
              <a:cs typeface="Times New Roman"/>
              <a:sym typeface="Times New Roman"/>
            </a:endParaRPr>
          </a:p>
        </p:txBody>
      </p:sp>
      <p:sp>
        <p:nvSpPr>
          <p:cNvPr id="1189" name="Google Shape;1189;p53"/>
          <p:cNvSpPr/>
          <p:nvPr/>
        </p:nvSpPr>
        <p:spPr>
          <a:xfrm>
            <a:off x="6934200" y="2514600"/>
            <a:ext cx="2209800" cy="3276600"/>
          </a:xfrm>
          <a:prstGeom prst="roundRect">
            <a:avLst>
              <a:gd fmla="val 16667"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Tiền lệ pháp: Những quyết định hành chính hoặc những bản án của tòa án đã có hiệu lực pháp luật, trở thành khuôn mẫu để giải quyết những vụ việc tương tự.</a:t>
            </a:r>
            <a:endParaRPr sz="1800">
              <a:solidFill>
                <a:schemeClr val="dk1"/>
              </a:solidFill>
              <a:latin typeface="Times New Roman"/>
              <a:ea typeface="Times New Roman"/>
              <a:cs typeface="Times New Roman"/>
              <a:sym typeface="Times New Roman"/>
            </a:endParaRPr>
          </a:p>
        </p:txBody>
      </p:sp>
      <p:sp>
        <p:nvSpPr>
          <p:cNvPr id="1190" name="Google Shape;1190;p53"/>
          <p:cNvSpPr/>
          <p:nvPr/>
        </p:nvSpPr>
        <p:spPr>
          <a:xfrm>
            <a:off x="4343400" y="2438400"/>
            <a:ext cx="533400" cy="685800"/>
          </a:xfrm>
          <a:prstGeom prst="up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1" name="Google Shape;1191;p53"/>
          <p:cNvSpPr/>
          <p:nvPr/>
        </p:nvSpPr>
        <p:spPr>
          <a:xfrm>
            <a:off x="5867400" y="4114800"/>
            <a:ext cx="1066800" cy="457200"/>
          </a:xfrm>
          <a:prstGeom prst="right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2" name="Google Shape;1192;p53"/>
          <p:cNvSpPr/>
          <p:nvPr/>
        </p:nvSpPr>
        <p:spPr>
          <a:xfrm>
            <a:off x="2514600" y="4191000"/>
            <a:ext cx="914400" cy="381000"/>
          </a:xfrm>
          <a:prstGeom prst="leftArrow">
            <a:avLst>
              <a:gd fmla="val 50000" name="adj1"/>
              <a:gd fmla="val 41667"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E:\Bai giang\PL DC\anle.jpg" id="1193" name="Google Shape;1193;p53"/>
          <p:cNvPicPr preferRelativeResize="0"/>
          <p:nvPr/>
        </p:nvPicPr>
        <p:blipFill rotWithShape="1">
          <a:blip r:embed="rId3">
            <a:alphaModFix/>
          </a:blip>
          <a:srcRect b="0" l="0" r="0" t="0"/>
          <a:stretch/>
        </p:blipFill>
        <p:spPr>
          <a:xfrm>
            <a:off x="5410201" y="5029200"/>
            <a:ext cx="1540300" cy="1066800"/>
          </a:xfrm>
          <a:prstGeom prst="rect">
            <a:avLst/>
          </a:prstGeom>
          <a:noFill/>
          <a:ln>
            <a:noFill/>
          </a:ln>
        </p:spPr>
      </p:pic>
      <p:pic>
        <p:nvPicPr>
          <p:cNvPr descr="E:\Bai giang\PL DC\imagesp.jpg" id="1194" name="Google Shape;1194;p53"/>
          <p:cNvPicPr preferRelativeResize="0"/>
          <p:nvPr/>
        </p:nvPicPr>
        <p:blipFill rotWithShape="1">
          <a:blip r:embed="rId4">
            <a:alphaModFix/>
          </a:blip>
          <a:srcRect b="0" l="0" r="0" t="0"/>
          <a:stretch/>
        </p:blipFill>
        <p:spPr>
          <a:xfrm>
            <a:off x="2438400" y="5029200"/>
            <a:ext cx="1447800" cy="1042416"/>
          </a:xfrm>
          <a:prstGeom prst="rect">
            <a:avLst/>
          </a:prstGeom>
          <a:noFill/>
          <a:ln>
            <a:noFill/>
          </a:ln>
        </p:spPr>
      </p:pic>
      <p:pic>
        <p:nvPicPr>
          <p:cNvPr descr="E:\Bai giang\PL DC\vbpl.jpg" id="1195" name="Google Shape;1195;p53"/>
          <p:cNvPicPr preferRelativeResize="0"/>
          <p:nvPr/>
        </p:nvPicPr>
        <p:blipFill rotWithShape="1">
          <a:blip r:embed="rId5">
            <a:alphaModFix/>
          </a:blip>
          <a:srcRect b="0" l="0" r="0" t="0"/>
          <a:stretch/>
        </p:blipFill>
        <p:spPr>
          <a:xfrm>
            <a:off x="3048000" y="2362200"/>
            <a:ext cx="1219200" cy="913223"/>
          </a:xfrm>
          <a:prstGeom prst="rect">
            <a:avLst/>
          </a:prstGeom>
          <a:noFill/>
          <a:ln>
            <a:noFill/>
          </a:ln>
        </p:spPr>
      </p:pic>
      <p:pic>
        <p:nvPicPr>
          <p:cNvPr descr="E:\Bai giang\PL DC\imagesb.jpg" id="1196" name="Google Shape;1196;p53"/>
          <p:cNvPicPr preferRelativeResize="0"/>
          <p:nvPr/>
        </p:nvPicPr>
        <p:blipFill rotWithShape="1">
          <a:blip r:embed="rId6">
            <a:alphaModFix/>
          </a:blip>
          <a:srcRect b="0" l="0" r="0" t="0"/>
          <a:stretch/>
        </p:blipFill>
        <p:spPr>
          <a:xfrm>
            <a:off x="5105400" y="2438400"/>
            <a:ext cx="1620520" cy="838200"/>
          </a:xfrm>
          <a:prstGeom prst="rect">
            <a:avLst/>
          </a:prstGeom>
          <a:noFill/>
          <a:ln>
            <a:noFill/>
          </a:ln>
        </p:spPr>
      </p:pic>
      <p:sp>
        <p:nvSpPr>
          <p:cNvPr id="1197" name="Google Shape;1197;p5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198" name="Google Shape;1198;p5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500"/>
                                        <p:tgtEl>
                                          <p:spTgt spid="1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0"/>
                                        </p:tgtEl>
                                        <p:attrNameLst>
                                          <p:attrName>style.visibility</p:attrName>
                                        </p:attrNameLst>
                                      </p:cBhvr>
                                      <p:to>
                                        <p:strVal val="visible"/>
                                      </p:to>
                                    </p:set>
                                    <p:animEffect filter="fade" transition="in">
                                      <p:cBhvr>
                                        <p:cTn dur="500"/>
                                        <p:tgtEl>
                                          <p:spTgt spid="1190"/>
                                        </p:tgtEl>
                                      </p:cBhvr>
                                    </p:animEffect>
                                  </p:childTnLst>
                                </p:cTn>
                              </p:par>
                              <p:par>
                                <p:cTn fill="hold" nodeType="withEffect" presetClass="entr" presetID="10" presetSubtype="0">
                                  <p:stCondLst>
                                    <p:cond delay="0"/>
                                  </p:stCondLst>
                                  <p:childTnLst>
                                    <p:set>
                                      <p:cBhvr>
                                        <p:cTn dur="1" fill="hold">
                                          <p:stCondLst>
                                            <p:cond delay="0"/>
                                          </p:stCondLst>
                                        </p:cTn>
                                        <p:tgtEl>
                                          <p:spTgt spid="1192"/>
                                        </p:tgtEl>
                                        <p:attrNameLst>
                                          <p:attrName>style.visibility</p:attrName>
                                        </p:attrNameLst>
                                      </p:cBhvr>
                                      <p:to>
                                        <p:strVal val="visible"/>
                                      </p:to>
                                    </p:set>
                                    <p:animEffect filter="fade" transition="in">
                                      <p:cBhvr>
                                        <p:cTn dur="500"/>
                                        <p:tgtEl>
                                          <p:spTgt spid="1192"/>
                                        </p:tgtEl>
                                      </p:cBhvr>
                                    </p:animEffect>
                                  </p:childTnLst>
                                </p:cTn>
                              </p:par>
                              <p:par>
                                <p:cTn fill="hold" nodeType="withEffect" presetClass="entr" presetID="10" presetSubtype="0">
                                  <p:stCondLst>
                                    <p:cond delay="0"/>
                                  </p:stCondLst>
                                  <p:childTnLst>
                                    <p:set>
                                      <p:cBhvr>
                                        <p:cTn dur="1" fill="hold">
                                          <p:stCondLst>
                                            <p:cond delay="0"/>
                                          </p:stCondLst>
                                        </p:cTn>
                                        <p:tgtEl>
                                          <p:spTgt spid="1191"/>
                                        </p:tgtEl>
                                        <p:attrNameLst>
                                          <p:attrName>style.visibility</p:attrName>
                                        </p:attrNameLst>
                                      </p:cBhvr>
                                      <p:to>
                                        <p:strVal val="visible"/>
                                      </p:to>
                                    </p:set>
                                    <p:animEffect filter="fade" transition="in">
                                      <p:cBhvr>
                                        <p:cTn dur="500"/>
                                        <p:tgtEl>
                                          <p:spTgt spid="1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94"/>
                                        </p:tgtEl>
                                        <p:attrNameLst>
                                          <p:attrName>style.visibility</p:attrName>
                                        </p:attrNameLst>
                                      </p:cBhvr>
                                      <p:to>
                                        <p:strVal val="visible"/>
                                      </p:to>
                                    </p:set>
                                    <p:anim calcmode="lin" valueType="num">
                                      <p:cBhvr additive="base">
                                        <p:cTn dur="500"/>
                                        <p:tgtEl>
                                          <p:spTgt spid="11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93"/>
                                        </p:tgtEl>
                                        <p:attrNameLst>
                                          <p:attrName>style.visibility</p:attrName>
                                        </p:attrNameLst>
                                      </p:cBhvr>
                                      <p:to>
                                        <p:strVal val="visible"/>
                                      </p:to>
                                    </p:set>
                                    <p:anim calcmode="lin" valueType="num">
                                      <p:cBhvr additive="base">
                                        <p:cTn dur="500"/>
                                        <p:tgtEl>
                                          <p:spTgt spid="11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96"/>
                                        </p:tgtEl>
                                        <p:attrNameLst>
                                          <p:attrName>style.visibility</p:attrName>
                                        </p:attrNameLst>
                                      </p:cBhvr>
                                      <p:to>
                                        <p:strVal val="visible"/>
                                      </p:to>
                                    </p:set>
                                    <p:anim calcmode="lin" valueType="num">
                                      <p:cBhvr additive="base">
                                        <p:cTn dur="500"/>
                                        <p:tgtEl>
                                          <p:spTgt spid="11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95"/>
                                        </p:tgtEl>
                                        <p:attrNameLst>
                                          <p:attrName>style.visibility</p:attrName>
                                        </p:attrNameLst>
                                      </p:cBhvr>
                                      <p:to>
                                        <p:strVal val="visible"/>
                                      </p:to>
                                    </p:set>
                                    <p:anim calcmode="lin" valueType="num">
                                      <p:cBhvr additive="base">
                                        <p:cTn dur="500"/>
                                        <p:tgtEl>
                                          <p:spTgt spid="11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4"/>
                                        </p:tgtEl>
                                        <p:attrNameLst>
                                          <p:attrName>style.visibility</p:attrName>
                                        </p:attrNameLst>
                                      </p:cBhvr>
                                      <p:to>
                                        <p:strVal val="visible"/>
                                      </p:to>
                                    </p:set>
                                    <p:animEffect filter="fade" transition="in">
                                      <p:cBhvr>
                                        <p:cTn dur="500"/>
                                        <p:tgtEl>
                                          <p:spTgt spid="1194"/>
                                        </p:tgtEl>
                                      </p:cBhvr>
                                    </p:animEffect>
                                  </p:childTnLst>
                                </p:cTn>
                              </p:par>
                              <p:par>
                                <p:cTn fill="hold" nodeType="withEffect" presetClass="entr" presetID="10" presetSubtype="0">
                                  <p:stCondLst>
                                    <p:cond delay="0"/>
                                  </p:stCondLst>
                                  <p:childTnLst>
                                    <p:set>
                                      <p:cBhvr>
                                        <p:cTn dur="1" fill="hold">
                                          <p:stCondLst>
                                            <p:cond delay="0"/>
                                          </p:stCondLst>
                                        </p:cTn>
                                        <p:tgtEl>
                                          <p:spTgt spid="1193"/>
                                        </p:tgtEl>
                                        <p:attrNameLst>
                                          <p:attrName>style.visibility</p:attrName>
                                        </p:attrNameLst>
                                      </p:cBhvr>
                                      <p:to>
                                        <p:strVal val="visible"/>
                                      </p:to>
                                    </p:set>
                                    <p:animEffect filter="fade" transition="in">
                                      <p:cBhvr>
                                        <p:cTn dur="500"/>
                                        <p:tgtEl>
                                          <p:spTgt spid="1193"/>
                                        </p:tgtEl>
                                      </p:cBhvr>
                                    </p:animEffect>
                                  </p:childTnLst>
                                </p:cTn>
                              </p:par>
                              <p:par>
                                <p:cTn fill="hold" nodeType="withEffect" presetClass="entr" presetID="10" presetSubtype="0">
                                  <p:stCondLst>
                                    <p:cond delay="0"/>
                                  </p:stCondLst>
                                  <p:childTnLst>
                                    <p:set>
                                      <p:cBhvr>
                                        <p:cTn dur="1" fill="hold">
                                          <p:stCondLst>
                                            <p:cond delay="0"/>
                                          </p:stCondLst>
                                        </p:cTn>
                                        <p:tgtEl>
                                          <p:spTgt spid="1196"/>
                                        </p:tgtEl>
                                        <p:attrNameLst>
                                          <p:attrName>style.visibility</p:attrName>
                                        </p:attrNameLst>
                                      </p:cBhvr>
                                      <p:to>
                                        <p:strVal val="visible"/>
                                      </p:to>
                                    </p:set>
                                    <p:animEffect filter="fade" transition="in">
                                      <p:cBhvr>
                                        <p:cTn dur="500"/>
                                        <p:tgtEl>
                                          <p:spTgt spid="1196"/>
                                        </p:tgtEl>
                                      </p:cBhvr>
                                    </p:animEffect>
                                  </p:childTnLst>
                                </p:cTn>
                              </p:par>
                              <p:par>
                                <p:cTn fill="hold" nodeType="withEffect" presetClass="entr" presetID="10" presetSubtype="0">
                                  <p:stCondLst>
                                    <p:cond delay="0"/>
                                  </p:stCondLst>
                                  <p:childTnLst>
                                    <p:set>
                                      <p:cBhvr>
                                        <p:cTn dur="1" fill="hold">
                                          <p:stCondLst>
                                            <p:cond delay="0"/>
                                          </p:stCondLst>
                                        </p:cTn>
                                        <p:tgtEl>
                                          <p:spTgt spid="1195"/>
                                        </p:tgtEl>
                                        <p:attrNameLst>
                                          <p:attrName>style.visibility</p:attrName>
                                        </p:attrNameLst>
                                      </p:cBhvr>
                                      <p:to>
                                        <p:strVal val="visible"/>
                                      </p:to>
                                    </p:set>
                                    <p:animEffect filter="fade" transition="in">
                                      <p:cBhvr>
                                        <p:cTn dur="500"/>
                                        <p:tgtEl>
                                          <p:spTgt spid="1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gtEl>
                                        <p:attrNameLst>
                                          <p:attrName>style.visibility</p:attrName>
                                        </p:attrNameLst>
                                      </p:cBhvr>
                                      <p:to>
                                        <p:strVal val="visible"/>
                                      </p:to>
                                    </p:set>
                                    <p:animEffect filter="fade" transition="in">
                                      <p:cBhvr>
                                        <p:cTn dur="2000"/>
                                        <p:tgtEl>
                                          <p:spTgt spid="1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9"/>
                                        </p:tgtEl>
                                        <p:attrNameLst>
                                          <p:attrName>style.visibility</p:attrName>
                                        </p:attrNameLst>
                                      </p:cBhvr>
                                      <p:to>
                                        <p:strVal val="visible"/>
                                      </p:to>
                                    </p:set>
                                    <p:animEffect filter="fade" transition="in">
                                      <p:cBhvr>
                                        <p:cTn dur="500"/>
                                        <p:tgtEl>
                                          <p:spTgt spid="1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8"/>
                                        </p:tgtEl>
                                        <p:attrNameLst>
                                          <p:attrName>style.visibility</p:attrName>
                                        </p:attrNameLst>
                                      </p:cBhvr>
                                      <p:to>
                                        <p:strVal val="visible"/>
                                      </p:to>
                                    </p:set>
                                    <p:animEffect filter="fade" transition="in">
                                      <p:cBhvr>
                                        <p:cTn dur="500"/>
                                        <p:tgtEl>
                                          <p:spTgt spid="1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54"/>
          <p:cNvSpPr txBox="1"/>
          <p:nvPr>
            <p:ph type="title"/>
          </p:nvPr>
        </p:nvSpPr>
        <p:spPr>
          <a:xfrm>
            <a:off x="533400" y="304800"/>
            <a:ext cx="8229600" cy="5334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Bộ luật thành văn đầu tiên của nước ta</a:t>
            </a:r>
            <a:endParaRPr sz="3200">
              <a:latin typeface="Times New Roman"/>
              <a:ea typeface="Times New Roman"/>
              <a:cs typeface="Times New Roman"/>
              <a:sym typeface="Times New Roman"/>
            </a:endParaRPr>
          </a:p>
        </p:txBody>
      </p:sp>
      <p:sp>
        <p:nvSpPr>
          <p:cNvPr id="1204" name="Google Shape;1204;p54"/>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205" name="Google Shape;1205;p5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206" name="Google Shape;1206;p5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Add clip “Bộ luật Hình thư”</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55"/>
          <p:cNvSpPr/>
          <p:nvPr/>
        </p:nvSpPr>
        <p:spPr>
          <a:xfrm>
            <a:off x="250825" y="5876925"/>
            <a:ext cx="8642350" cy="576263"/>
          </a:xfrm>
          <a:prstGeom prst="rect">
            <a:avLst/>
          </a:prstGeom>
        </p:spPr>
      </p:sp>
      <p:sp>
        <p:nvSpPr>
          <p:cNvPr id="1212" name="Google Shape;1212;p55"/>
          <p:cNvSpPr/>
          <p:nvPr/>
        </p:nvSpPr>
        <p:spPr>
          <a:xfrm>
            <a:off x="0" y="5661025"/>
            <a:ext cx="9144000" cy="73025"/>
          </a:xfrm>
          <a:prstGeom prst="flowChartPredefinedProcess">
            <a:avLst/>
          </a:prstGeom>
          <a:gradFill>
            <a:gsLst>
              <a:gs pos="0">
                <a:srgbClr val="000000"/>
              </a:gs>
              <a:gs pos="10001">
                <a:srgbClr val="000040"/>
              </a:gs>
              <a:gs pos="25000">
                <a:srgbClr val="400040"/>
              </a:gs>
              <a:gs pos="37500">
                <a:srgbClr val="8F0040"/>
              </a:gs>
              <a:gs pos="45000">
                <a:srgbClr val="F27300"/>
              </a:gs>
              <a:gs pos="50000">
                <a:srgbClr val="FFBF00"/>
              </a:gs>
              <a:gs pos="55000">
                <a:srgbClr val="F27300"/>
              </a:gs>
              <a:gs pos="62500">
                <a:srgbClr val="8F0040"/>
              </a:gs>
              <a:gs pos="75000">
                <a:srgbClr val="400040"/>
              </a:gs>
              <a:gs pos="89999">
                <a:srgbClr val="000040"/>
              </a:gs>
              <a:gs pos="100000">
                <a:srgbClr val="000000"/>
              </a:gs>
            </a:gsLst>
            <a:lin ang="54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3" name="Google Shape;1213;p55"/>
          <p:cNvSpPr/>
          <p:nvPr/>
        </p:nvSpPr>
        <p:spPr>
          <a:xfrm>
            <a:off x="4356100" y="2276475"/>
            <a:ext cx="2590800" cy="2952750"/>
          </a:xfrm>
          <a:custGeom>
            <a:rect b="b" l="l" r="r" t="t"/>
            <a:pathLst>
              <a:path extrusionOk="0" h="2648" w="1824">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a:gsLst>
              <a:gs pos="0">
                <a:srgbClr val="D11364"/>
              </a:gs>
              <a:gs pos="100000">
                <a:srgbClr val="61092E"/>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214" name="Google Shape;1214;p55"/>
          <p:cNvGrpSpPr/>
          <p:nvPr/>
        </p:nvGrpSpPr>
        <p:grpSpPr>
          <a:xfrm>
            <a:off x="533400" y="1905000"/>
            <a:ext cx="5594350" cy="2438400"/>
            <a:chOff x="1624" y="1440"/>
            <a:chExt cx="2936" cy="1066"/>
          </a:xfrm>
        </p:grpSpPr>
        <p:sp>
          <p:nvSpPr>
            <p:cNvPr id="1215" name="Google Shape;1215;p55"/>
            <p:cNvSpPr/>
            <p:nvPr/>
          </p:nvSpPr>
          <p:spPr>
            <a:xfrm>
              <a:off x="4218" y="1440"/>
              <a:ext cx="338" cy="358"/>
            </a:xfrm>
            <a:custGeom>
              <a:rect b="b" l="l" r="r" t="t"/>
              <a:pathLst>
                <a:path extrusionOk="0" h="444" w="308">
                  <a:moveTo>
                    <a:pt x="308" y="120"/>
                  </a:moveTo>
                  <a:lnTo>
                    <a:pt x="0" y="444"/>
                  </a:lnTo>
                  <a:lnTo>
                    <a:pt x="0" y="286"/>
                  </a:lnTo>
                  <a:lnTo>
                    <a:pt x="308" y="0"/>
                  </a:lnTo>
                  <a:lnTo>
                    <a:pt x="308" y="120"/>
                  </a:lnTo>
                  <a:close/>
                </a:path>
              </a:pathLst>
            </a:custGeom>
            <a:gradFill>
              <a:gsLst>
                <a:gs pos="0">
                  <a:srgbClr val="00281D"/>
                </a:gs>
                <a:gs pos="50000">
                  <a:srgbClr val="00563F"/>
                </a:gs>
                <a:gs pos="100000">
                  <a:srgbClr val="00281D"/>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6" name="Google Shape;1216;p55"/>
            <p:cNvSpPr/>
            <p:nvPr/>
          </p:nvSpPr>
          <p:spPr>
            <a:xfrm>
              <a:off x="2597" y="1440"/>
              <a:ext cx="1963" cy="229"/>
            </a:xfrm>
            <a:custGeom>
              <a:rect b="b" l="l" r="r" t="t"/>
              <a:pathLst>
                <a:path extrusionOk="0" h="284" w="1786">
                  <a:moveTo>
                    <a:pt x="1478" y="284"/>
                  </a:moveTo>
                  <a:lnTo>
                    <a:pt x="0" y="284"/>
                  </a:lnTo>
                  <a:lnTo>
                    <a:pt x="446" y="0"/>
                  </a:lnTo>
                  <a:lnTo>
                    <a:pt x="1786" y="0"/>
                  </a:lnTo>
                  <a:lnTo>
                    <a:pt x="1478" y="284"/>
                  </a:lnTo>
                  <a:close/>
                </a:path>
              </a:pathLst>
            </a:custGeom>
            <a:solidFill>
              <a:srgbClr val="00CC9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7" name="Google Shape;1217;p55"/>
            <p:cNvSpPr/>
            <p:nvPr/>
          </p:nvSpPr>
          <p:spPr>
            <a:xfrm>
              <a:off x="3877" y="1796"/>
              <a:ext cx="338" cy="356"/>
            </a:xfrm>
            <a:custGeom>
              <a:rect b="b" l="l" r="r" t="t"/>
              <a:pathLst>
                <a:path extrusionOk="0" h="442" w="308">
                  <a:moveTo>
                    <a:pt x="308" y="120"/>
                  </a:moveTo>
                  <a:lnTo>
                    <a:pt x="0" y="442"/>
                  </a:lnTo>
                  <a:lnTo>
                    <a:pt x="0" y="286"/>
                  </a:lnTo>
                  <a:lnTo>
                    <a:pt x="308" y="0"/>
                  </a:lnTo>
                  <a:lnTo>
                    <a:pt x="308" y="120"/>
                  </a:lnTo>
                  <a:close/>
                </a:path>
              </a:pathLst>
            </a:custGeom>
            <a:gradFill>
              <a:gsLst>
                <a:gs pos="0">
                  <a:srgbClr val="230744"/>
                </a:gs>
                <a:gs pos="50000">
                  <a:srgbClr val="4B1092"/>
                </a:gs>
                <a:gs pos="100000">
                  <a:srgbClr val="230744"/>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8" name="Google Shape;1218;p55"/>
            <p:cNvSpPr/>
            <p:nvPr/>
          </p:nvSpPr>
          <p:spPr>
            <a:xfrm>
              <a:off x="2109" y="1796"/>
              <a:ext cx="2110" cy="228"/>
            </a:xfrm>
            <a:custGeom>
              <a:rect b="b" l="l" r="r" t="t"/>
              <a:pathLst>
                <a:path extrusionOk="0" h="284" w="1920">
                  <a:moveTo>
                    <a:pt x="1612" y="284"/>
                  </a:moveTo>
                  <a:lnTo>
                    <a:pt x="0" y="284"/>
                  </a:lnTo>
                  <a:lnTo>
                    <a:pt x="446" y="0"/>
                  </a:lnTo>
                  <a:lnTo>
                    <a:pt x="1920" y="0"/>
                  </a:lnTo>
                  <a:lnTo>
                    <a:pt x="1612" y="284"/>
                  </a:lnTo>
                  <a:close/>
                </a:path>
              </a:pathLst>
            </a:custGeom>
            <a:solidFill>
              <a:srgbClr val="A77B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19" name="Google Shape;1219;p55"/>
            <p:cNvSpPr/>
            <p:nvPr/>
          </p:nvSpPr>
          <p:spPr>
            <a:xfrm>
              <a:off x="3536" y="2148"/>
              <a:ext cx="337" cy="358"/>
            </a:xfrm>
            <a:custGeom>
              <a:rect b="b" l="l" r="r" t="t"/>
              <a:pathLst>
                <a:path extrusionOk="0" h="444" w="306">
                  <a:moveTo>
                    <a:pt x="306" y="122"/>
                  </a:moveTo>
                  <a:lnTo>
                    <a:pt x="0" y="444"/>
                  </a:lnTo>
                  <a:lnTo>
                    <a:pt x="0" y="286"/>
                  </a:lnTo>
                  <a:lnTo>
                    <a:pt x="306" y="0"/>
                  </a:lnTo>
                  <a:lnTo>
                    <a:pt x="306" y="122"/>
                  </a:lnTo>
                  <a:close/>
                </a:path>
              </a:pathLst>
            </a:custGeom>
            <a:gradFill>
              <a:gsLst>
                <a:gs pos="0">
                  <a:srgbClr val="431805"/>
                </a:gs>
                <a:gs pos="50000">
                  <a:srgbClr val="90330A"/>
                </a:gs>
                <a:gs pos="100000">
                  <a:srgbClr val="431805"/>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0" name="Google Shape;1220;p55"/>
            <p:cNvSpPr/>
            <p:nvPr/>
          </p:nvSpPr>
          <p:spPr>
            <a:xfrm>
              <a:off x="2600" y="1669"/>
              <a:ext cx="1625" cy="129"/>
            </a:xfrm>
            <a:prstGeom prst="rect">
              <a:avLst/>
            </a:prstGeom>
            <a:gradFill>
              <a:gsLst>
                <a:gs pos="0">
                  <a:srgbClr val="00684D"/>
                </a:gs>
                <a:gs pos="50000">
                  <a:srgbClr val="00906A"/>
                </a:gs>
                <a:gs pos="100000">
                  <a:srgbClr val="00684D"/>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Hệ thống quy tắc xử sự</a:t>
              </a:r>
              <a:endParaRPr sz="1800">
                <a:solidFill>
                  <a:schemeClr val="lt1"/>
                </a:solidFill>
                <a:latin typeface="Arial"/>
                <a:ea typeface="Arial"/>
                <a:cs typeface="Arial"/>
                <a:sym typeface="Arial"/>
              </a:endParaRPr>
            </a:p>
          </p:txBody>
        </p:sp>
        <p:sp>
          <p:nvSpPr>
            <p:cNvPr id="1221" name="Google Shape;1221;p55"/>
            <p:cNvSpPr/>
            <p:nvPr/>
          </p:nvSpPr>
          <p:spPr>
            <a:xfrm>
              <a:off x="1624" y="2148"/>
              <a:ext cx="2252" cy="231"/>
            </a:xfrm>
            <a:custGeom>
              <a:rect b="b" l="l" r="r" t="t"/>
              <a:pathLst>
                <a:path extrusionOk="0" h="286" w="2048">
                  <a:moveTo>
                    <a:pt x="1742" y="286"/>
                  </a:moveTo>
                  <a:lnTo>
                    <a:pt x="0" y="286"/>
                  </a:lnTo>
                  <a:lnTo>
                    <a:pt x="446" y="0"/>
                  </a:lnTo>
                  <a:lnTo>
                    <a:pt x="2048" y="0"/>
                  </a:lnTo>
                  <a:lnTo>
                    <a:pt x="1742" y="286"/>
                  </a:lnTo>
                  <a:close/>
                </a:path>
              </a:pathLst>
            </a:custGeom>
            <a:solidFill>
              <a:srgbClr val="FF996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2" name="Google Shape;1222;p55"/>
            <p:cNvSpPr/>
            <p:nvPr/>
          </p:nvSpPr>
          <p:spPr>
            <a:xfrm>
              <a:off x="1626" y="2378"/>
              <a:ext cx="1917" cy="126"/>
            </a:xfrm>
            <a:prstGeom prst="rect">
              <a:avLst/>
            </a:prstGeom>
            <a:gradFill>
              <a:gsLst>
                <a:gs pos="0">
                  <a:srgbClr val="A0523A"/>
                </a:gs>
                <a:gs pos="50000">
                  <a:srgbClr val="DC7150"/>
                </a:gs>
                <a:gs pos="100000">
                  <a:srgbClr val="A0523A"/>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Nhà nước đảm bảo thực hiện</a:t>
              </a:r>
              <a:endParaRPr sz="1800">
                <a:solidFill>
                  <a:schemeClr val="lt1"/>
                </a:solidFill>
                <a:latin typeface="Arial"/>
                <a:ea typeface="Arial"/>
                <a:cs typeface="Arial"/>
                <a:sym typeface="Arial"/>
              </a:endParaRPr>
            </a:p>
          </p:txBody>
        </p:sp>
      </p:grpSp>
      <p:grpSp>
        <p:nvGrpSpPr>
          <p:cNvPr id="1223" name="Google Shape;1223;p55"/>
          <p:cNvGrpSpPr/>
          <p:nvPr/>
        </p:nvGrpSpPr>
        <p:grpSpPr>
          <a:xfrm>
            <a:off x="0" y="4437063"/>
            <a:ext cx="7235825" cy="957262"/>
            <a:chOff x="696" y="3312"/>
            <a:chExt cx="2398" cy="358"/>
          </a:xfrm>
        </p:grpSpPr>
        <p:sp>
          <p:nvSpPr>
            <p:cNvPr id="1224" name="Google Shape;1224;p55"/>
            <p:cNvSpPr/>
            <p:nvPr/>
          </p:nvSpPr>
          <p:spPr>
            <a:xfrm>
              <a:off x="2755" y="3312"/>
              <a:ext cx="339" cy="358"/>
            </a:xfrm>
            <a:custGeom>
              <a:rect b="b" l="l" r="r" t="t"/>
              <a:pathLst>
                <a:path extrusionOk="0" h="444" w="308">
                  <a:moveTo>
                    <a:pt x="308" y="122"/>
                  </a:moveTo>
                  <a:lnTo>
                    <a:pt x="0" y="444"/>
                  </a:lnTo>
                  <a:lnTo>
                    <a:pt x="0" y="286"/>
                  </a:lnTo>
                  <a:lnTo>
                    <a:pt x="308" y="0"/>
                  </a:lnTo>
                  <a:lnTo>
                    <a:pt x="308" y="122"/>
                  </a:lnTo>
                  <a:close/>
                </a:path>
              </a:pathLst>
            </a:custGeom>
            <a:gradFill>
              <a:gsLst>
                <a:gs pos="0">
                  <a:srgbClr val="433206"/>
                </a:gs>
                <a:gs pos="50000">
                  <a:srgbClr val="906B0E"/>
                </a:gs>
                <a:gs pos="100000">
                  <a:srgbClr val="433206"/>
                </a:gs>
              </a:gsLst>
              <a:lin ang="27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5" name="Google Shape;1225;p55"/>
            <p:cNvSpPr/>
            <p:nvPr/>
          </p:nvSpPr>
          <p:spPr>
            <a:xfrm>
              <a:off x="697" y="3314"/>
              <a:ext cx="2397" cy="228"/>
            </a:xfrm>
            <a:custGeom>
              <a:rect b="b" l="l" r="r" t="t"/>
              <a:pathLst>
                <a:path extrusionOk="0" h="284" w="2180">
                  <a:moveTo>
                    <a:pt x="1872" y="284"/>
                  </a:moveTo>
                  <a:lnTo>
                    <a:pt x="0" y="284"/>
                  </a:lnTo>
                  <a:lnTo>
                    <a:pt x="446" y="0"/>
                  </a:lnTo>
                  <a:lnTo>
                    <a:pt x="2180" y="0"/>
                  </a:lnTo>
                  <a:lnTo>
                    <a:pt x="1872" y="284"/>
                  </a:lnTo>
                  <a:close/>
                </a:path>
              </a:pathLst>
            </a:custGeom>
            <a:solidFill>
              <a:srgbClr val="F2E16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6" name="Google Shape;1226;p55"/>
            <p:cNvSpPr/>
            <p:nvPr/>
          </p:nvSpPr>
          <p:spPr>
            <a:xfrm>
              <a:off x="696" y="3543"/>
              <a:ext cx="2063" cy="126"/>
            </a:xfrm>
            <a:prstGeom prst="rect">
              <a:avLst/>
            </a:prstGeom>
            <a:gradFill>
              <a:gsLst>
                <a:gs pos="0">
                  <a:srgbClr val="977514"/>
                </a:gs>
                <a:gs pos="50000">
                  <a:srgbClr val="D0A11C"/>
                </a:gs>
                <a:gs pos="100000">
                  <a:srgbClr val="977514"/>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    Điều chỉnh các quan hệ xã hội</a:t>
              </a:r>
              <a:endParaRPr sz="1800">
                <a:solidFill>
                  <a:schemeClr val="lt1"/>
                </a:solidFill>
                <a:latin typeface="Arial"/>
                <a:ea typeface="Arial"/>
                <a:cs typeface="Arial"/>
                <a:sym typeface="Arial"/>
              </a:endParaRPr>
            </a:p>
          </p:txBody>
        </p:sp>
      </p:grpSp>
      <p:sp>
        <p:nvSpPr>
          <p:cNvPr id="1227" name="Google Shape;1227;p55"/>
          <p:cNvSpPr/>
          <p:nvPr/>
        </p:nvSpPr>
        <p:spPr>
          <a:xfrm>
            <a:off x="5940424" y="1268412"/>
            <a:ext cx="2746376" cy="1168539"/>
          </a:xfrm>
          <a:prstGeom prst="ellipse">
            <a:avLst/>
          </a:prstGeom>
          <a:solidFill>
            <a:srgbClr val="FF0000">
              <a:alpha val="31764"/>
            </a:srgbClr>
          </a:solidFill>
          <a:ln cap="flat" cmpd="sng" w="38100">
            <a:solidFill>
              <a:srgbClr val="FFFF00"/>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400">
                <a:solidFill>
                  <a:srgbClr val="FFFF00"/>
                </a:solidFill>
                <a:latin typeface="Times New Roman"/>
                <a:ea typeface="Times New Roman"/>
                <a:cs typeface="Times New Roman"/>
                <a:sym typeface="Times New Roman"/>
              </a:rPr>
              <a:t>PHÁP LUẬT</a:t>
            </a:r>
            <a:endParaRPr/>
          </a:p>
          <a:p>
            <a:pPr indent="0" lvl="0" marL="0" marR="0" rtl="0" algn="ctr">
              <a:spcBef>
                <a:spcPts val="0"/>
              </a:spcBef>
              <a:spcAft>
                <a:spcPts val="0"/>
              </a:spcAft>
              <a:buNone/>
            </a:pPr>
            <a:r>
              <a:t/>
            </a:r>
            <a:endParaRPr b="1" sz="2400">
              <a:solidFill>
                <a:srgbClr val="FFFF00"/>
              </a:solidFill>
              <a:latin typeface="Times New Roman"/>
              <a:ea typeface="Times New Roman"/>
              <a:cs typeface="Times New Roman"/>
              <a:sym typeface="Times New Roman"/>
            </a:endParaRPr>
          </a:p>
        </p:txBody>
      </p:sp>
      <p:sp>
        <p:nvSpPr>
          <p:cNvPr id="1228" name="Google Shape;1228;p55"/>
          <p:cNvSpPr/>
          <p:nvPr/>
        </p:nvSpPr>
        <p:spPr>
          <a:xfrm>
            <a:off x="611188" y="333375"/>
            <a:ext cx="8066087" cy="431800"/>
          </a:xfrm>
          <a:prstGeom prst="rect">
            <a:avLst/>
          </a:prstGeom>
        </p:spPr>
      </p:sp>
      <p:sp>
        <p:nvSpPr>
          <p:cNvPr id="1229" name="Google Shape;1229;p55"/>
          <p:cNvSpPr/>
          <p:nvPr/>
        </p:nvSpPr>
        <p:spPr>
          <a:xfrm>
            <a:off x="1390650" y="3179763"/>
            <a:ext cx="3376613" cy="290512"/>
          </a:xfrm>
          <a:prstGeom prst="rect">
            <a:avLst/>
          </a:prstGeom>
          <a:gradFill>
            <a:gsLst>
              <a:gs pos="0">
                <a:srgbClr val="5D2FB9"/>
              </a:gs>
              <a:gs pos="50000">
                <a:srgbClr val="8041FF"/>
              </a:gs>
              <a:gs pos="100000">
                <a:srgbClr val="5D2FB9"/>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 Nhà nước đặt ra hoặc thừa nhận</a:t>
            </a:r>
            <a:endParaRPr sz="1800">
              <a:solidFill>
                <a:schemeClr val="lt1"/>
              </a:solidFill>
              <a:latin typeface="Arial"/>
              <a:ea typeface="Arial"/>
              <a:cs typeface="Arial"/>
              <a:sym typeface="Arial"/>
            </a:endParaRPr>
          </a:p>
        </p:txBody>
      </p:sp>
      <p:sp>
        <p:nvSpPr>
          <p:cNvPr id="1230" name="Google Shape;1230;p55"/>
          <p:cNvSpPr txBox="1"/>
          <p:nvPr>
            <p:ph type="title"/>
          </p:nvPr>
        </p:nvSpPr>
        <p:spPr>
          <a:xfrm>
            <a:off x="457200" y="152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Arial"/>
              <a:buNone/>
            </a:pPr>
            <a:r>
              <a:rPr lang="en-US"/>
              <a:t>4.2	Khái niệm</a:t>
            </a:r>
            <a:endParaRPr/>
          </a:p>
        </p:txBody>
      </p:sp>
      <p:sp>
        <p:nvSpPr>
          <p:cNvPr id="1231" name="Google Shape;1231;p55"/>
          <p:cNvSpPr/>
          <p:nvPr/>
        </p:nvSpPr>
        <p:spPr>
          <a:xfrm>
            <a:off x="533400" y="5715000"/>
            <a:ext cx="80010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FF0000"/>
                </a:solidFill>
                <a:latin typeface="Times New Roman"/>
                <a:ea typeface="Times New Roman"/>
                <a:cs typeface="Times New Roman"/>
                <a:sym typeface="Times New Roman"/>
              </a:rPr>
              <a:t>Pháp luật là hệ thống các quy tắc xử sự do nhà nước đặt ra hoặc thừa nhận và đảm bảo thực hiện, nhằm điều chỉnh các quan hệ xã hội, hướng các quan hệ xã hội phát triển theo ý chí của nhà nước.</a:t>
            </a:r>
            <a:endParaRPr sz="2000">
              <a:solidFill>
                <a:srgbClr val="FF0000"/>
              </a:solidFill>
              <a:latin typeface="Times New Roman"/>
              <a:ea typeface="Times New Roman"/>
              <a:cs typeface="Times New Roman"/>
              <a:sym typeface="Times New Roman"/>
            </a:endParaRPr>
          </a:p>
        </p:txBody>
      </p:sp>
      <p:sp>
        <p:nvSpPr>
          <p:cNvPr id="1232" name="Google Shape;1232;p55"/>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233" name="Google Shape;1233;p5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500"/>
                                        <p:tgtEl>
                                          <p:spTgt spid="1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4"/>
                                        </p:tgtEl>
                                        <p:attrNameLst>
                                          <p:attrName>style.visibility</p:attrName>
                                        </p:attrNameLst>
                                      </p:cBhvr>
                                      <p:to>
                                        <p:strVal val="visible"/>
                                      </p:to>
                                    </p:set>
                                    <p:animEffect filter="fade" transition="in">
                                      <p:cBhvr>
                                        <p:cTn dur="500"/>
                                        <p:tgtEl>
                                          <p:spTgt spid="1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3"/>
                                        </p:tgtEl>
                                        <p:attrNameLst>
                                          <p:attrName>style.visibility</p:attrName>
                                        </p:attrNameLst>
                                      </p:cBhvr>
                                      <p:to>
                                        <p:strVal val="visible"/>
                                      </p:to>
                                    </p:set>
                                    <p:animEffect filter="fade" transition="in">
                                      <p:cBhvr>
                                        <p:cTn dur="500"/>
                                        <p:tgtEl>
                                          <p:spTgt spid="1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1"/>
                                        </p:tgtEl>
                                        <p:attrNameLst>
                                          <p:attrName>style.visibility</p:attrName>
                                        </p:attrNameLst>
                                      </p:cBhvr>
                                      <p:to>
                                        <p:strVal val="visible"/>
                                      </p:to>
                                    </p:set>
                                    <p:animEffect filter="fade" transition="in">
                                      <p:cBhvr>
                                        <p:cTn dur="500"/>
                                        <p:tgtEl>
                                          <p:spTgt spid="1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56"/>
          <p:cNvSpPr txBox="1"/>
          <p:nvPr>
            <p:ph type="title"/>
          </p:nvPr>
        </p:nvSpPr>
        <p:spPr>
          <a:xfrm>
            <a:off x="381000" y="0"/>
            <a:ext cx="7848600" cy="762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rgbClr val="FF0000"/>
              </a:buClr>
              <a:buSzPts val="2400"/>
              <a:buFont typeface="Times New Roman"/>
              <a:buNone/>
            </a:pPr>
            <a:r>
              <a:rPr lang="en-US" sz="2400">
                <a:solidFill>
                  <a:srgbClr val="FF0000"/>
                </a:solidFill>
                <a:latin typeface="Times New Roman"/>
                <a:ea typeface="Times New Roman"/>
                <a:cs typeface="Times New Roman"/>
                <a:sym typeface="Times New Roman"/>
              </a:rPr>
              <a:t>4.3	Bản chất, thuộc tính và chức năng</a:t>
            </a:r>
            <a:br>
              <a:rPr lang="en-US" sz="2400">
                <a:solidFill>
                  <a:srgbClr val="FF0000"/>
                </a:solidFill>
                <a:latin typeface="Times New Roman"/>
                <a:ea typeface="Times New Roman"/>
                <a:cs typeface="Times New Roman"/>
                <a:sym typeface="Times New Roman"/>
              </a:rPr>
            </a:br>
            <a:r>
              <a:rPr lang="en-US" sz="2000">
                <a:solidFill>
                  <a:schemeClr val="dk1"/>
                </a:solidFill>
                <a:latin typeface="Times New Roman"/>
                <a:ea typeface="Times New Roman"/>
                <a:cs typeface="Times New Roman"/>
                <a:sym typeface="Times New Roman"/>
              </a:rPr>
              <a:t>4.3.1 Bản chất</a:t>
            </a:r>
            <a:endParaRPr sz="2400">
              <a:solidFill>
                <a:schemeClr val="dk1"/>
              </a:solidFill>
              <a:latin typeface="Times New Roman"/>
              <a:ea typeface="Times New Roman"/>
              <a:cs typeface="Times New Roman"/>
              <a:sym typeface="Times New Roman"/>
            </a:endParaRPr>
          </a:p>
        </p:txBody>
      </p:sp>
      <p:sp>
        <p:nvSpPr>
          <p:cNvPr id="1239" name="Google Shape;1239;p56"/>
          <p:cNvSpPr txBox="1"/>
          <p:nvPr>
            <p:ph idx="1" type="body"/>
          </p:nvPr>
        </p:nvSpPr>
        <p:spPr>
          <a:xfrm>
            <a:off x="457200" y="609600"/>
            <a:ext cx="8153400" cy="6096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p:txBody>
      </p:sp>
      <p:sp>
        <p:nvSpPr>
          <p:cNvPr id="1240" name="Google Shape;1240;p56"/>
          <p:cNvSpPr/>
          <p:nvPr/>
        </p:nvSpPr>
        <p:spPr>
          <a:xfrm>
            <a:off x="762000" y="1219200"/>
            <a:ext cx="1066800" cy="1600200"/>
          </a:xfrm>
          <a:prstGeom prst="ellipse">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Bản chất giai cấp</a:t>
            </a:r>
            <a:endParaRPr sz="1800">
              <a:solidFill>
                <a:schemeClr val="lt1"/>
              </a:solidFill>
              <a:latin typeface="Arial"/>
              <a:ea typeface="Arial"/>
              <a:cs typeface="Arial"/>
              <a:sym typeface="Arial"/>
            </a:endParaRPr>
          </a:p>
        </p:txBody>
      </p:sp>
      <p:sp>
        <p:nvSpPr>
          <p:cNvPr id="1241" name="Google Shape;1241;p56"/>
          <p:cNvSpPr/>
          <p:nvPr/>
        </p:nvSpPr>
        <p:spPr>
          <a:xfrm>
            <a:off x="1752600" y="762000"/>
            <a:ext cx="6477000" cy="2362200"/>
          </a:xfrm>
          <a:prstGeom prst="roundRect">
            <a:avLst>
              <a:gd fmla="val 16667" name="adj"/>
            </a:avLst>
          </a:prstGeom>
          <a:solidFill>
            <a:srgbClr val="DBE6B4"/>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just">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Phản ánh ý chí của giai cấp thống trị</a:t>
            </a:r>
            <a:endParaRPr sz="1800">
              <a:solidFill>
                <a:schemeClr val="dk1"/>
              </a:solidFill>
              <a:latin typeface="Arial"/>
              <a:ea typeface="Arial"/>
              <a:cs typeface="Arial"/>
              <a:sym typeface="Arial"/>
            </a:endParaRPr>
          </a:p>
          <a:p>
            <a:pPr indent="-114300" lvl="0" marL="0" marR="0" rtl="0" algn="just">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Được quy định bởi điều kiện sinh hoạt vật chất của giai cấp thống trị</a:t>
            </a:r>
            <a:endParaRPr sz="1800">
              <a:solidFill>
                <a:schemeClr val="dk1"/>
              </a:solidFill>
              <a:latin typeface="Arial"/>
              <a:ea typeface="Arial"/>
              <a:cs typeface="Arial"/>
              <a:sym typeface="Arial"/>
            </a:endParaRPr>
          </a:p>
          <a:p>
            <a:pPr indent="-114300" lvl="0" marL="0" marR="0" rtl="0" algn="just">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Nâng ý chí của giai cấp thành ý chí nhà nước</a:t>
            </a:r>
            <a:endParaRPr sz="1800">
              <a:solidFill>
                <a:schemeClr val="dk1"/>
              </a:solidFill>
              <a:latin typeface="Arial"/>
              <a:ea typeface="Arial"/>
              <a:cs typeface="Arial"/>
              <a:sym typeface="Arial"/>
            </a:endParaRPr>
          </a:p>
          <a:p>
            <a:pPr indent="-114300" lvl="0" marL="0" marR="0" rtl="0" algn="just">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Cụ thể hóa trong các văn bản pháp luật </a:t>
            </a:r>
            <a:endParaRPr/>
          </a:p>
          <a:p>
            <a:pPr indent="-114300" lvl="0" marL="0" marR="0" rtl="0" algn="just">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Thể hiện khác nhau trong các kiểu pháp luật khác nhau</a:t>
            </a:r>
            <a:endParaRPr sz="1800">
              <a:solidFill>
                <a:schemeClr val="dk1"/>
              </a:solidFill>
              <a:latin typeface="Arial"/>
              <a:ea typeface="Arial"/>
              <a:cs typeface="Arial"/>
              <a:sym typeface="Arial"/>
            </a:endParaRPr>
          </a:p>
        </p:txBody>
      </p:sp>
      <p:sp>
        <p:nvSpPr>
          <p:cNvPr id="1242" name="Google Shape;1242;p56"/>
          <p:cNvSpPr/>
          <p:nvPr/>
        </p:nvSpPr>
        <p:spPr>
          <a:xfrm>
            <a:off x="7086600" y="3505200"/>
            <a:ext cx="1143000" cy="1828800"/>
          </a:xfrm>
          <a:prstGeom prst="ellipse">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Tính xã hội</a:t>
            </a:r>
            <a:endParaRPr sz="1800">
              <a:solidFill>
                <a:schemeClr val="lt1"/>
              </a:solidFill>
              <a:latin typeface="Arial"/>
              <a:ea typeface="Arial"/>
              <a:cs typeface="Arial"/>
              <a:sym typeface="Arial"/>
            </a:endParaRPr>
          </a:p>
        </p:txBody>
      </p:sp>
      <p:sp>
        <p:nvSpPr>
          <p:cNvPr id="1243" name="Google Shape;1243;p56"/>
          <p:cNvSpPr/>
          <p:nvPr/>
        </p:nvSpPr>
        <p:spPr>
          <a:xfrm>
            <a:off x="381000" y="3352800"/>
            <a:ext cx="6705600" cy="2362200"/>
          </a:xfrm>
          <a:prstGeom prst="roundRect">
            <a:avLst>
              <a:gd fmla="val 16667" name="adj"/>
            </a:avLst>
          </a:prstGeom>
          <a:solidFill>
            <a:srgbClr val="DBE6B4"/>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Công cụ ghi nhận, bảo vệ lợi ích của các giai cấp, tầng lớp khác</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“nhà nước hóa” những nhu cầu, đòi hỏi mang tính khách quan của các quan hệ xã hội cơ bản</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Công cụ điều chỉnh các quan hệ xã hội, hành vi của con người</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Quy phạm pháp luật xét đến cùng là sự ghi nhận cách xử sự hợp lý, được đa số cá nhân trong xã hội thừa nhận, phù hợp với số đông</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
        <p:nvSpPr>
          <p:cNvPr id="1244" name="Google Shape;1244;p56"/>
          <p:cNvSpPr/>
          <p:nvPr/>
        </p:nvSpPr>
        <p:spPr>
          <a:xfrm>
            <a:off x="2057400" y="5791200"/>
            <a:ext cx="4953000" cy="838200"/>
          </a:xfrm>
          <a:prstGeom prst="horizontalScroll">
            <a:avLst>
              <a:gd fmla="val 12500"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Tính dân tộc, tính mở, tính nhân loại</a:t>
            </a:r>
            <a:endParaRPr sz="1800">
              <a:solidFill>
                <a:schemeClr val="lt1"/>
              </a:solidFill>
              <a:latin typeface="Arial"/>
              <a:ea typeface="Arial"/>
              <a:cs typeface="Arial"/>
              <a:sym typeface="Arial"/>
            </a:endParaRPr>
          </a:p>
        </p:txBody>
      </p:sp>
      <p:sp>
        <p:nvSpPr>
          <p:cNvPr id="1245" name="Google Shape;1245;p56"/>
          <p:cNvSpPr txBox="1"/>
          <p:nvPr>
            <p:ph idx="11" type="ftr"/>
          </p:nvPr>
        </p:nvSpPr>
        <p:spPr>
          <a:xfrm rot="5400000">
            <a:off x="7285038" y="1493839"/>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246" name="Google Shape;1246;p5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500"/>
                                        <p:tgtEl>
                                          <p:spTgt spid="1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1"/>
                                        </p:tgtEl>
                                        <p:attrNameLst>
                                          <p:attrName>style.visibility</p:attrName>
                                        </p:attrNameLst>
                                      </p:cBhvr>
                                      <p:to>
                                        <p:strVal val="visible"/>
                                      </p:to>
                                    </p:set>
                                    <p:animEffect filter="fade" transition="in">
                                      <p:cBhvr>
                                        <p:cTn dur="2000"/>
                                        <p:tgtEl>
                                          <p:spTgt spid="1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gtEl>
                                        <p:attrNameLst>
                                          <p:attrName>style.visibility</p:attrName>
                                        </p:attrNameLst>
                                      </p:cBhvr>
                                      <p:to>
                                        <p:strVal val="visible"/>
                                      </p:to>
                                    </p:set>
                                    <p:animEffect filter="fade" transition="in">
                                      <p:cBhvr>
                                        <p:cTn dur="500"/>
                                        <p:tgtEl>
                                          <p:spTgt spid="1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3"/>
                                        </p:tgtEl>
                                        <p:attrNameLst>
                                          <p:attrName>style.visibility</p:attrName>
                                        </p:attrNameLst>
                                      </p:cBhvr>
                                      <p:to>
                                        <p:strVal val="visible"/>
                                      </p:to>
                                    </p:set>
                                    <p:animEffect filter="fade" transition="in">
                                      <p:cBhvr>
                                        <p:cTn dur="2000"/>
                                        <p:tgtEl>
                                          <p:spTgt spid="1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500"/>
                                        <p:tgtEl>
                                          <p:spTgt spid="1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57"/>
          <p:cNvSpPr txBox="1"/>
          <p:nvPr>
            <p:ph type="title"/>
          </p:nvPr>
        </p:nvSpPr>
        <p:spPr>
          <a:xfrm>
            <a:off x="457200" y="175627"/>
            <a:ext cx="8229600" cy="728875"/>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Arial"/>
              <a:buNone/>
            </a:pPr>
            <a:r>
              <a:rPr lang="en-US">
                <a:solidFill>
                  <a:srgbClr val="FF0000"/>
                </a:solidFill>
              </a:rPr>
              <a:t>Bản chất pháp luật XHCN</a:t>
            </a:r>
            <a:endParaRPr>
              <a:solidFill>
                <a:srgbClr val="FF0000"/>
              </a:solidFill>
            </a:endParaRPr>
          </a:p>
        </p:txBody>
      </p:sp>
      <p:sp>
        <p:nvSpPr>
          <p:cNvPr id="1252" name="Google Shape;1252;p57"/>
          <p:cNvSpPr txBox="1"/>
          <p:nvPr>
            <p:ph idx="1" type="body"/>
          </p:nvPr>
        </p:nvSpPr>
        <p:spPr>
          <a:xfrm>
            <a:off x="457200" y="1066800"/>
            <a:ext cx="8229600" cy="5410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lang="en-US" sz="2000">
                <a:latin typeface="Times New Roman"/>
                <a:ea typeface="Times New Roman"/>
                <a:cs typeface="Times New Roman"/>
                <a:sym typeface="Times New Roman"/>
              </a:rPr>
              <a:t>Pháp luật XHCN là một hệ thống quy tắc xử sự có tính thống nhất nội tại cao, cao hơn bất kỳ một kiểu pháp luật nào khác, bởi nó được xây dựng trên cơ sở của quan hệ kinh tế XHCN định hướng XHCN.</a:t>
            </a:r>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Thể hiện ý chí của giai cấp công nhân và đông đảo nhân dân lao động</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Do nhà nước XHCN – nhà nước dân chủ, thể hiện quyền lực đông đảo của nhân dân lao động ban hành và đảm bảo thực hiện. Trong xã hội chỉ có duy nhất 1 hệ thống pháp luật. Chủ yếu sử dụng biện pháp giáo dục, thuyết phục bên cạnh biện pháp cưỡng chế.</a:t>
            </a:r>
            <a:endParaRPr/>
          </a:p>
          <a:p>
            <a:pPr indent="-274320" lvl="0" marL="274320" rtl="0" algn="l">
              <a:spcBef>
                <a:spcPts val="400"/>
              </a:spcBef>
              <a:spcAft>
                <a:spcPts val="0"/>
              </a:spcAft>
              <a:buSzPts val="1900"/>
              <a:buChar char="⚫"/>
            </a:pPr>
            <a:r>
              <a:rPr lang="en-US" sz="2000">
                <a:latin typeface="Times New Roman"/>
                <a:ea typeface="Times New Roman"/>
                <a:cs typeface="Times New Roman"/>
                <a:sym typeface="Times New Roman"/>
              </a:rPr>
              <a:t>Có quan hệ chặt chẽ với chế độ kinh tế XHCN; đường lối, chủ trương, chính sách của Đảng; các quy phạm xã hội khác.</a:t>
            </a:r>
            <a:endParaRPr sz="2000">
              <a:solidFill>
                <a:srgbClr val="FF0000"/>
              </a:solidFill>
              <a:latin typeface="Times New Roman"/>
              <a:ea typeface="Times New Roman"/>
              <a:cs typeface="Times New Roman"/>
              <a:sym typeface="Times New Roman"/>
            </a:endParaRPr>
          </a:p>
        </p:txBody>
      </p:sp>
      <p:pic>
        <p:nvPicPr>
          <p:cNvPr descr="E:\Bai giang\PL DC\imagesx.jpg" id="1253" name="Google Shape;1253;p57"/>
          <p:cNvPicPr preferRelativeResize="0"/>
          <p:nvPr/>
        </p:nvPicPr>
        <p:blipFill rotWithShape="1">
          <a:blip r:embed="rId3">
            <a:alphaModFix/>
          </a:blip>
          <a:srcRect b="0" l="0" r="0" t="0"/>
          <a:stretch/>
        </p:blipFill>
        <p:spPr>
          <a:xfrm>
            <a:off x="5105400" y="4495800"/>
            <a:ext cx="3505199" cy="2020956"/>
          </a:xfrm>
          <a:prstGeom prst="rect">
            <a:avLst/>
          </a:prstGeom>
          <a:noFill/>
          <a:ln>
            <a:noFill/>
          </a:ln>
        </p:spPr>
      </p:pic>
      <p:sp>
        <p:nvSpPr>
          <p:cNvPr id="1254" name="Google Shape;1254;p57"/>
          <p:cNvSpPr txBox="1"/>
          <p:nvPr>
            <p:ph idx="11" type="ftr"/>
          </p:nvPr>
        </p:nvSpPr>
        <p:spPr>
          <a:xfrm>
            <a:off x="60198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255" name="Google Shape;1255;p5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2">
                                            <p:txEl>
                                              <p:pRg end="0" st="0"/>
                                            </p:txEl>
                                          </p:spTgt>
                                        </p:tgtEl>
                                        <p:attrNameLst>
                                          <p:attrName>style.visibility</p:attrName>
                                        </p:attrNameLst>
                                      </p:cBhvr>
                                      <p:to>
                                        <p:strVal val="visible"/>
                                      </p:to>
                                    </p:set>
                                    <p:animEffect filter="fade" transition="in">
                                      <p:cBhvr>
                                        <p:cTn dur="500"/>
                                        <p:tgtEl>
                                          <p:spTgt spid="12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2">
                                            <p:txEl>
                                              <p:pRg end="1" st="1"/>
                                            </p:txEl>
                                          </p:spTgt>
                                        </p:tgtEl>
                                        <p:attrNameLst>
                                          <p:attrName>style.visibility</p:attrName>
                                        </p:attrNameLst>
                                      </p:cBhvr>
                                      <p:to>
                                        <p:strVal val="visible"/>
                                      </p:to>
                                    </p:set>
                                    <p:animEffect filter="fade" transition="in">
                                      <p:cBhvr>
                                        <p:cTn dur="500"/>
                                        <p:tgtEl>
                                          <p:spTgt spid="12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2">
                                            <p:txEl>
                                              <p:pRg end="2" st="2"/>
                                            </p:txEl>
                                          </p:spTgt>
                                        </p:tgtEl>
                                        <p:attrNameLst>
                                          <p:attrName>style.visibility</p:attrName>
                                        </p:attrNameLst>
                                      </p:cBhvr>
                                      <p:to>
                                        <p:strVal val="visible"/>
                                      </p:to>
                                    </p:set>
                                    <p:animEffect filter="fade" transition="in">
                                      <p:cBhvr>
                                        <p:cTn dur="500"/>
                                        <p:tgtEl>
                                          <p:spTgt spid="12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2">
                                            <p:txEl>
                                              <p:pRg end="3" st="3"/>
                                            </p:txEl>
                                          </p:spTgt>
                                        </p:tgtEl>
                                        <p:attrNameLst>
                                          <p:attrName>style.visibility</p:attrName>
                                        </p:attrNameLst>
                                      </p:cBhvr>
                                      <p:to>
                                        <p:strVal val="visible"/>
                                      </p:to>
                                    </p:set>
                                    <p:animEffect filter="fade" transition="in">
                                      <p:cBhvr>
                                        <p:cTn dur="500"/>
                                        <p:tgtEl>
                                          <p:spTgt spid="125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58"/>
          <p:cNvSpPr/>
          <p:nvPr/>
        </p:nvSpPr>
        <p:spPr>
          <a:xfrm rot="5400000">
            <a:off x="-2930525" y="3324225"/>
            <a:ext cx="6400800" cy="361950"/>
          </a:xfrm>
          <a:prstGeom prst="rect">
            <a:avLst/>
          </a:prstGeom>
        </p:spPr>
      </p:sp>
      <p:grpSp>
        <p:nvGrpSpPr>
          <p:cNvPr id="1261" name="Google Shape;1261;p58"/>
          <p:cNvGrpSpPr/>
          <p:nvPr/>
        </p:nvGrpSpPr>
        <p:grpSpPr>
          <a:xfrm>
            <a:off x="2927797" y="2286000"/>
            <a:ext cx="6216203" cy="3810000"/>
            <a:chOff x="816" y="960"/>
            <a:chExt cx="4320" cy="2648"/>
          </a:xfrm>
        </p:grpSpPr>
        <p:sp>
          <p:nvSpPr>
            <p:cNvPr id="1262" name="Google Shape;1262;p58"/>
            <p:cNvSpPr/>
            <p:nvPr/>
          </p:nvSpPr>
          <p:spPr>
            <a:xfrm>
              <a:off x="3552" y="963"/>
              <a:ext cx="1430" cy="1435"/>
            </a:xfrm>
            <a:prstGeom prst="ellipse">
              <a:avLst/>
            </a:prstGeom>
            <a:solidFill>
              <a:srgbClr val="6A83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Times New Roman"/>
                  <a:ea typeface="Times New Roman"/>
                  <a:cs typeface="Times New Roman"/>
                  <a:sym typeface="Times New Roman"/>
                </a:rPr>
                <a:t>Được nhà nước đảm bảo thực hiện bằng biện pháp cưỡng chế</a:t>
              </a:r>
              <a:endParaRPr sz="2000">
                <a:solidFill>
                  <a:schemeClr val="lt1"/>
                </a:solidFill>
                <a:latin typeface="Times New Roman"/>
                <a:ea typeface="Times New Roman"/>
                <a:cs typeface="Times New Roman"/>
                <a:sym typeface="Times New Roman"/>
              </a:endParaRPr>
            </a:p>
          </p:txBody>
        </p:sp>
        <p:sp>
          <p:nvSpPr>
            <p:cNvPr id="1263" name="Google Shape;1263;p58"/>
            <p:cNvSpPr/>
            <p:nvPr/>
          </p:nvSpPr>
          <p:spPr>
            <a:xfrm>
              <a:off x="2304" y="960"/>
              <a:ext cx="1467" cy="1455"/>
            </a:xfrm>
            <a:prstGeom prst="ellipse">
              <a:avLst/>
            </a:prstGeom>
            <a:solidFill>
              <a:srgbClr val="FF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663300"/>
                  </a:solidFill>
                  <a:latin typeface="Times New Roman"/>
                  <a:ea typeface="Times New Roman"/>
                  <a:cs typeface="Times New Roman"/>
                  <a:sym typeface="Times New Roman"/>
                </a:rPr>
                <a:t>Tính quy phạm phổ biến, bắt buộc chung</a:t>
              </a:r>
              <a:endParaRPr sz="2000">
                <a:solidFill>
                  <a:srgbClr val="663300"/>
                </a:solidFill>
                <a:latin typeface="Times New Roman"/>
                <a:ea typeface="Times New Roman"/>
                <a:cs typeface="Times New Roman"/>
                <a:sym typeface="Times New Roman"/>
              </a:endParaRPr>
            </a:p>
          </p:txBody>
        </p:sp>
        <p:sp>
          <p:nvSpPr>
            <p:cNvPr id="1264" name="Google Shape;1264;p58"/>
            <p:cNvSpPr/>
            <p:nvPr/>
          </p:nvSpPr>
          <p:spPr>
            <a:xfrm>
              <a:off x="912" y="960"/>
              <a:ext cx="1535" cy="1457"/>
            </a:xfrm>
            <a:prstGeom prst="ellipse">
              <a:avLst/>
            </a:prstGeom>
            <a:solidFill>
              <a:srgbClr val="CC9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Tính xác định chặt chẽ về mặt hình thức</a:t>
              </a:r>
              <a:endParaRPr sz="1900">
                <a:solidFill>
                  <a:srgbClr val="663300"/>
                </a:solidFill>
                <a:latin typeface="Times New Roman"/>
                <a:ea typeface="Times New Roman"/>
                <a:cs typeface="Times New Roman"/>
                <a:sym typeface="Times New Roman"/>
              </a:endParaRPr>
            </a:p>
          </p:txBody>
        </p:sp>
        <p:grpSp>
          <p:nvGrpSpPr>
            <p:cNvPr id="1265" name="Google Shape;1265;p58"/>
            <p:cNvGrpSpPr/>
            <p:nvPr/>
          </p:nvGrpSpPr>
          <p:grpSpPr>
            <a:xfrm>
              <a:off x="816" y="1768"/>
              <a:ext cx="4320" cy="1477"/>
              <a:chOff x="816" y="1768"/>
              <a:chExt cx="4320" cy="1477"/>
            </a:xfrm>
          </p:grpSpPr>
          <p:grpSp>
            <p:nvGrpSpPr>
              <p:cNvPr id="1266" name="Google Shape;1266;p58"/>
              <p:cNvGrpSpPr/>
              <p:nvPr/>
            </p:nvGrpSpPr>
            <p:grpSpPr>
              <a:xfrm>
                <a:off x="816" y="1768"/>
                <a:ext cx="720" cy="1469"/>
                <a:chOff x="816" y="1768"/>
                <a:chExt cx="720" cy="1469"/>
              </a:xfrm>
            </p:grpSpPr>
            <p:cxnSp>
              <p:nvCxnSpPr>
                <p:cNvPr id="1267" name="Google Shape;1267;p58"/>
                <p:cNvCxnSpPr/>
                <p:nvPr/>
              </p:nvCxnSpPr>
              <p:spPr>
                <a:xfrm rot="10800000">
                  <a:off x="816" y="1768"/>
                  <a:ext cx="116" cy="0"/>
                </a:xfrm>
                <a:prstGeom prst="straightConnector1">
                  <a:avLst/>
                </a:prstGeom>
                <a:noFill/>
                <a:ln cap="flat" cmpd="sng" w="57150">
                  <a:solidFill>
                    <a:srgbClr val="CC0000"/>
                  </a:solidFill>
                  <a:prstDash val="solid"/>
                  <a:round/>
                  <a:headEnd len="med" w="med" type="none"/>
                  <a:tailEnd len="med" w="med" type="none"/>
                </a:ln>
              </p:spPr>
            </p:cxnSp>
            <p:cxnSp>
              <p:nvCxnSpPr>
                <p:cNvPr id="1268" name="Google Shape;1268;p58"/>
                <p:cNvCxnSpPr/>
                <p:nvPr/>
              </p:nvCxnSpPr>
              <p:spPr>
                <a:xfrm>
                  <a:off x="816" y="1768"/>
                  <a:ext cx="0" cy="1469"/>
                </a:xfrm>
                <a:prstGeom prst="straightConnector1">
                  <a:avLst/>
                </a:prstGeom>
                <a:noFill/>
                <a:ln cap="flat" cmpd="sng" w="57150">
                  <a:solidFill>
                    <a:srgbClr val="CC0000"/>
                  </a:solidFill>
                  <a:prstDash val="solid"/>
                  <a:round/>
                  <a:headEnd len="med" w="med" type="none"/>
                  <a:tailEnd len="med" w="med" type="none"/>
                </a:ln>
              </p:spPr>
            </p:cxnSp>
            <p:cxnSp>
              <p:nvCxnSpPr>
                <p:cNvPr id="1269" name="Google Shape;1269;p58"/>
                <p:cNvCxnSpPr/>
                <p:nvPr/>
              </p:nvCxnSpPr>
              <p:spPr>
                <a:xfrm>
                  <a:off x="816" y="3237"/>
                  <a:ext cx="720" cy="0"/>
                </a:xfrm>
                <a:prstGeom prst="straightConnector1">
                  <a:avLst/>
                </a:prstGeom>
                <a:noFill/>
                <a:ln cap="flat" cmpd="sng" w="57150">
                  <a:solidFill>
                    <a:srgbClr val="CC0000"/>
                  </a:solidFill>
                  <a:prstDash val="solid"/>
                  <a:round/>
                  <a:headEnd len="med" w="med" type="none"/>
                  <a:tailEnd len="med" w="med" type="triangle"/>
                </a:ln>
              </p:spPr>
            </p:cxnSp>
          </p:grpSp>
          <p:cxnSp>
            <p:nvCxnSpPr>
              <p:cNvPr id="1270" name="Google Shape;1270;p58"/>
              <p:cNvCxnSpPr/>
              <p:nvPr/>
            </p:nvCxnSpPr>
            <p:spPr>
              <a:xfrm>
                <a:off x="3015" y="2421"/>
                <a:ext cx="0" cy="430"/>
              </a:xfrm>
              <a:prstGeom prst="straightConnector1">
                <a:avLst/>
              </a:prstGeom>
              <a:noFill/>
              <a:ln cap="flat" cmpd="sng" w="57150">
                <a:solidFill>
                  <a:srgbClr val="CC0000"/>
                </a:solidFill>
                <a:prstDash val="solid"/>
                <a:round/>
                <a:headEnd len="med" w="med" type="none"/>
                <a:tailEnd len="med" w="med" type="triangle"/>
              </a:ln>
            </p:spPr>
          </p:cxnSp>
          <p:grpSp>
            <p:nvGrpSpPr>
              <p:cNvPr id="1271" name="Google Shape;1271;p58"/>
              <p:cNvGrpSpPr/>
              <p:nvPr/>
            </p:nvGrpSpPr>
            <p:grpSpPr>
              <a:xfrm>
                <a:off x="4416" y="1776"/>
                <a:ext cx="720" cy="1469"/>
                <a:chOff x="4416" y="1776"/>
                <a:chExt cx="720" cy="1469"/>
              </a:xfrm>
            </p:grpSpPr>
            <p:cxnSp>
              <p:nvCxnSpPr>
                <p:cNvPr id="1272" name="Google Shape;1272;p58"/>
                <p:cNvCxnSpPr/>
                <p:nvPr/>
              </p:nvCxnSpPr>
              <p:spPr>
                <a:xfrm>
                  <a:off x="4982" y="1776"/>
                  <a:ext cx="154" cy="0"/>
                </a:xfrm>
                <a:prstGeom prst="straightConnector1">
                  <a:avLst/>
                </a:prstGeom>
                <a:noFill/>
                <a:ln cap="flat" cmpd="sng" w="57150">
                  <a:solidFill>
                    <a:srgbClr val="CC0000"/>
                  </a:solidFill>
                  <a:prstDash val="solid"/>
                  <a:round/>
                  <a:headEnd len="med" w="med" type="none"/>
                  <a:tailEnd len="med" w="med" type="none"/>
                </a:ln>
              </p:spPr>
            </p:cxnSp>
            <p:cxnSp>
              <p:nvCxnSpPr>
                <p:cNvPr id="1273" name="Google Shape;1273;p58"/>
                <p:cNvCxnSpPr/>
                <p:nvPr/>
              </p:nvCxnSpPr>
              <p:spPr>
                <a:xfrm>
                  <a:off x="5136" y="1776"/>
                  <a:ext cx="0" cy="1469"/>
                </a:xfrm>
                <a:prstGeom prst="straightConnector1">
                  <a:avLst/>
                </a:prstGeom>
                <a:noFill/>
                <a:ln cap="flat" cmpd="sng" w="57150">
                  <a:solidFill>
                    <a:srgbClr val="CC0000"/>
                  </a:solidFill>
                  <a:prstDash val="solid"/>
                  <a:round/>
                  <a:headEnd len="med" w="med" type="none"/>
                  <a:tailEnd len="med" w="med" type="none"/>
                </a:ln>
              </p:spPr>
            </p:cxnSp>
            <p:cxnSp>
              <p:nvCxnSpPr>
                <p:cNvPr id="1274" name="Google Shape;1274;p58"/>
                <p:cNvCxnSpPr/>
                <p:nvPr/>
              </p:nvCxnSpPr>
              <p:spPr>
                <a:xfrm rot="10800000">
                  <a:off x="4416" y="3245"/>
                  <a:ext cx="720" cy="0"/>
                </a:xfrm>
                <a:prstGeom prst="straightConnector1">
                  <a:avLst/>
                </a:prstGeom>
                <a:noFill/>
                <a:ln cap="flat" cmpd="sng" w="57150">
                  <a:solidFill>
                    <a:srgbClr val="CC0000"/>
                  </a:solidFill>
                  <a:prstDash val="solid"/>
                  <a:round/>
                  <a:headEnd len="med" w="med" type="none"/>
                  <a:tailEnd len="med" w="med" type="triangle"/>
                </a:ln>
              </p:spPr>
            </p:cxnSp>
          </p:grpSp>
        </p:grpSp>
        <p:grpSp>
          <p:nvGrpSpPr>
            <p:cNvPr id="1275" name="Google Shape;1275;p58"/>
            <p:cNvGrpSpPr/>
            <p:nvPr/>
          </p:nvGrpSpPr>
          <p:grpSpPr>
            <a:xfrm>
              <a:off x="1416" y="2858"/>
              <a:ext cx="3120" cy="750"/>
              <a:chOff x="1104" y="2850"/>
              <a:chExt cx="3696" cy="750"/>
            </a:xfrm>
          </p:grpSpPr>
          <p:sp>
            <p:nvSpPr>
              <p:cNvPr id="1276" name="Google Shape;1276;p58"/>
              <p:cNvSpPr txBox="1"/>
              <p:nvPr/>
            </p:nvSpPr>
            <p:spPr>
              <a:xfrm>
                <a:off x="1264" y="2850"/>
                <a:ext cx="3355" cy="750"/>
              </a:xfrm>
              <a:prstGeom prst="rect">
                <a:avLst/>
              </a:prstGeom>
              <a:solidFill>
                <a:srgbClr val="FFFFCC"/>
              </a:solidFill>
              <a:ln>
                <a:noFill/>
              </a:ln>
              <a:effectLst>
                <a:outerShdw rotWithShape="0" algn="ctr" dir="2700000" dist="107763">
                  <a:srgbClr val="808080">
                    <a:alpha val="4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lt1"/>
                  </a:solidFill>
                  <a:latin typeface="Times New Roman"/>
                  <a:ea typeface="Times New Roman"/>
                  <a:cs typeface="Times New Roman"/>
                  <a:sym typeface="Times New Roman"/>
                </a:endParaRPr>
              </a:p>
            </p:txBody>
          </p:sp>
          <p:sp>
            <p:nvSpPr>
              <p:cNvPr id="1277" name="Google Shape;1277;p58"/>
              <p:cNvSpPr/>
              <p:nvPr/>
            </p:nvSpPr>
            <p:spPr>
              <a:xfrm>
                <a:off x="1104" y="2880"/>
                <a:ext cx="3696" cy="720"/>
              </a:xfrm>
              <a:prstGeom prst="rect">
                <a:avLst/>
              </a:prstGeom>
              <a:solidFill>
                <a:schemeClr val="accent2"/>
              </a:solidFill>
              <a:ln>
                <a:noFill/>
              </a:ln>
            </p:spPr>
            <p:txBody>
              <a:bodyPr anchorCtr="1" anchor="ctr" bIns="45700" lIns="91425" spcFirstLastPara="1" rIns="91425" wrap="square" tIns="45700">
                <a:noAutofit/>
              </a:bodyPr>
              <a:lstStyle/>
              <a:p>
                <a:pPr indent="-342900" lvl="0" marL="342900" marR="0" rtl="0" algn="ctr">
                  <a:spcBef>
                    <a:spcPts val="0"/>
                  </a:spcBef>
                  <a:spcAft>
                    <a:spcPts val="0"/>
                  </a:spcAft>
                  <a:buNone/>
                </a:pPr>
                <a:r>
                  <a:rPr lang="en-US" sz="2600">
                    <a:solidFill>
                      <a:srgbClr val="100800"/>
                    </a:solidFill>
                    <a:latin typeface="Arial"/>
                    <a:ea typeface="Arial"/>
                    <a:cs typeface="Arial"/>
                    <a:sym typeface="Arial"/>
                  </a:rPr>
                  <a:t>Ba thuộc tính căn bản của pháp luật</a:t>
                </a:r>
                <a:endParaRPr sz="2600">
                  <a:solidFill>
                    <a:srgbClr val="100800"/>
                  </a:solidFill>
                  <a:latin typeface="Arial"/>
                  <a:ea typeface="Arial"/>
                  <a:cs typeface="Arial"/>
                  <a:sym typeface="Arial"/>
                </a:endParaRPr>
              </a:p>
            </p:txBody>
          </p:sp>
        </p:grpSp>
      </p:grpSp>
      <p:sp>
        <p:nvSpPr>
          <p:cNvPr id="1278" name="Google Shape;1278;p58"/>
          <p:cNvSpPr/>
          <p:nvPr/>
        </p:nvSpPr>
        <p:spPr>
          <a:xfrm>
            <a:off x="0" y="1295400"/>
            <a:ext cx="3124200" cy="5029200"/>
          </a:xfrm>
          <a:prstGeom prst="verticalScroll">
            <a:avLst>
              <a:gd fmla="val 12500" name="adj"/>
            </a:avLst>
          </a:prstGeom>
          <a:solidFill>
            <a:srgbClr val="FFE6CD"/>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000">
                <a:solidFill>
                  <a:srgbClr val="FF0000"/>
                </a:solidFill>
                <a:latin typeface="Times New Roman"/>
                <a:ea typeface="Times New Roman"/>
                <a:cs typeface="Times New Roman"/>
                <a:sym typeface="Times New Roman"/>
              </a:rPr>
              <a:t>Thuộc tính của pháp luật là những dấu hiệu đặc trưng riêng có của pháp luật để qua đó phân biệt pháp luật với các hiện tượng xã hội khác như đạo đức, tập quán, tôn giáo…, là sự biểu hiện sức mạnh, uy thế của pháp luật trong hệ thống các loại công cụ điều chỉnh xã hội.</a:t>
            </a:r>
            <a:endParaRPr sz="2000">
              <a:solidFill>
                <a:srgbClr val="FF0000"/>
              </a:solidFill>
              <a:latin typeface="Times New Roman"/>
              <a:ea typeface="Times New Roman"/>
              <a:cs typeface="Times New Roman"/>
              <a:sym typeface="Times New Roman"/>
            </a:endParaRPr>
          </a:p>
        </p:txBody>
      </p:sp>
      <p:sp>
        <p:nvSpPr>
          <p:cNvPr id="1279" name="Google Shape;1279;p58"/>
          <p:cNvSpPr/>
          <p:nvPr/>
        </p:nvSpPr>
        <p:spPr>
          <a:xfrm>
            <a:off x="609600" y="381000"/>
            <a:ext cx="75438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FF0000"/>
                </a:solidFill>
                <a:latin typeface="Times New Roman"/>
                <a:ea typeface="Times New Roman"/>
                <a:cs typeface="Times New Roman"/>
                <a:sym typeface="Times New Roman"/>
              </a:rPr>
              <a:t>4.3.2	Thuộc tính của pháp luật</a:t>
            </a:r>
            <a:endParaRPr sz="3200">
              <a:solidFill>
                <a:srgbClr val="FF0000"/>
              </a:solidFill>
              <a:latin typeface="Times New Roman"/>
              <a:ea typeface="Times New Roman"/>
              <a:cs typeface="Times New Roman"/>
              <a:sym typeface="Times New Roman"/>
            </a:endParaRPr>
          </a:p>
        </p:txBody>
      </p:sp>
      <p:sp>
        <p:nvSpPr>
          <p:cNvPr id="1280" name="Google Shape;1280;p5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281" name="Google Shape;1281;p5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8"/>
                                        </p:tgtEl>
                                        <p:attrNameLst>
                                          <p:attrName>style.visibility</p:attrName>
                                        </p:attrNameLst>
                                      </p:cBhvr>
                                      <p:to>
                                        <p:strVal val="visible"/>
                                      </p:to>
                                    </p:set>
                                    <p:animEffect filter="fade" transition="in">
                                      <p:cBhvr>
                                        <p:cTn dur="500"/>
                                        <p:tgtEl>
                                          <p:spTgt spid="1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1"/>
                                        </p:tgtEl>
                                        <p:attrNameLst>
                                          <p:attrName>style.visibility</p:attrName>
                                        </p:attrNameLst>
                                      </p:cBhvr>
                                      <p:to>
                                        <p:strVal val="visible"/>
                                      </p:to>
                                    </p:set>
                                    <p:animEffect filter="fade" transition="in">
                                      <p:cBhvr>
                                        <p:cTn dur="2000"/>
                                        <p:tgtEl>
                                          <p:spTgt spid="1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59"/>
          <p:cNvSpPr/>
          <p:nvPr/>
        </p:nvSpPr>
        <p:spPr>
          <a:xfrm>
            <a:off x="609600" y="2743200"/>
            <a:ext cx="2514600" cy="2514600"/>
          </a:xfrm>
          <a:prstGeom prst="flowChartOnlineStorage">
            <a:avLst/>
          </a:prstGeom>
          <a:solidFill>
            <a:schemeClr val="lt1"/>
          </a:solidFill>
          <a:ln cap="flat" cmpd="sng" w="25400">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US" sz="2800">
                <a:solidFill>
                  <a:srgbClr val="FF0000"/>
                </a:solidFill>
                <a:latin typeface="Times New Roman"/>
                <a:ea typeface="Times New Roman"/>
                <a:cs typeface="Times New Roman"/>
                <a:sym typeface="Times New Roman"/>
              </a:rPr>
              <a:t>1) </a:t>
            </a:r>
            <a:endParaRPr/>
          </a:p>
          <a:p>
            <a:pPr indent="0" lvl="0" marL="0" marR="0" rtl="0" algn="ctr">
              <a:spcBef>
                <a:spcPts val="0"/>
              </a:spcBef>
              <a:spcAft>
                <a:spcPts val="0"/>
              </a:spcAft>
              <a:buNone/>
            </a:pPr>
            <a:r>
              <a:rPr lang="en-US" sz="2800">
                <a:solidFill>
                  <a:srgbClr val="FF0000"/>
                </a:solidFill>
                <a:latin typeface="Times New Roman"/>
                <a:ea typeface="Times New Roman"/>
                <a:cs typeface="Times New Roman"/>
                <a:sym typeface="Times New Roman"/>
              </a:rPr>
              <a:t>Tính xác định chặt chẽ về mặt hình thức</a:t>
            </a:r>
            <a:endParaRPr sz="2800">
              <a:solidFill>
                <a:srgbClr val="FF0000"/>
              </a:solidFill>
              <a:latin typeface="Times New Roman"/>
              <a:ea typeface="Times New Roman"/>
              <a:cs typeface="Times New Roman"/>
              <a:sym typeface="Times New Roman"/>
            </a:endParaRPr>
          </a:p>
        </p:txBody>
      </p:sp>
      <p:sp>
        <p:nvSpPr>
          <p:cNvPr id="1287" name="Google Shape;1287;p59"/>
          <p:cNvSpPr txBox="1"/>
          <p:nvPr/>
        </p:nvSpPr>
        <p:spPr>
          <a:xfrm>
            <a:off x="3810000" y="1295401"/>
            <a:ext cx="3962400" cy="1676399"/>
          </a:xfrm>
          <a:prstGeom prst="rect">
            <a:avLst/>
          </a:prstGeom>
          <a:solidFill>
            <a:srgbClr val="CCFF99"/>
          </a:solidFill>
          <a:ln cap="flat" cmpd="sng" w="9525">
            <a:solidFill>
              <a:srgbClr val="000000"/>
            </a:solidFill>
            <a:prstDash val="solid"/>
            <a:miter lim="800000"/>
            <a:headEnd len="sm" w="sm" type="none"/>
            <a:tailEnd len="sm" w="sm" type="none"/>
          </a:ln>
          <a:effectLst>
            <a:outerShdw rotWithShape="0" algn="ctr" dir="2700000" dist="53882">
              <a:srgbClr val="000000"/>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Nội dung của pháp luật phải được thể hiện dưới những hình thức nhất định, bằng ngôn ngữ pháp lý rõ ràng, chính xác</a:t>
            </a:r>
            <a:endParaRPr b="1" sz="2000">
              <a:solidFill>
                <a:schemeClr val="dk1"/>
              </a:solidFill>
              <a:latin typeface="Times New Roman"/>
              <a:ea typeface="Times New Roman"/>
              <a:cs typeface="Times New Roman"/>
              <a:sym typeface="Times New Roman"/>
            </a:endParaRPr>
          </a:p>
        </p:txBody>
      </p:sp>
      <p:sp>
        <p:nvSpPr>
          <p:cNvPr id="1288" name="Google Shape;1288;p59"/>
          <p:cNvSpPr txBox="1"/>
          <p:nvPr/>
        </p:nvSpPr>
        <p:spPr>
          <a:xfrm>
            <a:off x="3733800" y="3276600"/>
            <a:ext cx="4038600" cy="1066800"/>
          </a:xfrm>
          <a:prstGeom prst="rect">
            <a:avLst/>
          </a:prstGeom>
          <a:solidFill>
            <a:srgbClr val="FFCCFF"/>
          </a:solidFill>
          <a:ln cap="flat" cmpd="sng" w="9525">
            <a:solidFill>
              <a:srgbClr val="000000"/>
            </a:solidFill>
            <a:prstDash val="solid"/>
            <a:miter lim="800000"/>
            <a:headEnd len="sm" w="sm" type="none"/>
            <a:tailEnd len="sm" w="sm" type="none"/>
          </a:ln>
          <a:effectLst>
            <a:outerShdw rotWithShape="0" algn="ctr" dir="2700000" dist="53882">
              <a:srgbClr val="000000"/>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Do nhà nước ban hành hoặc thừa nhận</a:t>
            </a:r>
            <a:endParaRPr sz="2000">
              <a:solidFill>
                <a:schemeClr val="dk1"/>
              </a:solidFill>
              <a:latin typeface="Times New Roman"/>
              <a:ea typeface="Times New Roman"/>
              <a:cs typeface="Times New Roman"/>
              <a:sym typeface="Times New Roman"/>
            </a:endParaRPr>
          </a:p>
        </p:txBody>
      </p:sp>
      <p:sp>
        <p:nvSpPr>
          <p:cNvPr id="1289" name="Google Shape;1289;p59"/>
          <p:cNvSpPr txBox="1"/>
          <p:nvPr/>
        </p:nvSpPr>
        <p:spPr>
          <a:xfrm>
            <a:off x="3810000" y="4800600"/>
            <a:ext cx="3886200" cy="1066800"/>
          </a:xfrm>
          <a:prstGeom prst="rect">
            <a:avLst/>
          </a:prstGeom>
          <a:solidFill>
            <a:schemeClr val="folHlink"/>
          </a:solidFill>
          <a:ln cap="flat" cmpd="sng" w="9525">
            <a:solidFill>
              <a:srgbClr val="000000"/>
            </a:solidFill>
            <a:prstDash val="solid"/>
            <a:miter lim="800000"/>
            <a:headEnd len="sm" w="sm" type="none"/>
            <a:tailEnd len="sm" w="sm" type="none"/>
          </a:ln>
          <a:effectLst>
            <a:outerShdw rotWithShape="0" algn="ctr" dir="2700000" dist="53882">
              <a:srgbClr val="000000"/>
            </a:outerShdw>
          </a:effectLst>
        </p:spPr>
        <p:txBody>
          <a:bodyPr anchorCtr="0" anchor="t" bIns="45700" lIns="91425" spcFirstLastPara="1" rIns="91425" wrap="square" tIns="45700">
            <a:no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Là điều kiện để phân biệt giữa pháp luật với những quy định ko phải là pháp luật</a:t>
            </a:r>
            <a:endParaRPr b="1" sz="2000">
              <a:solidFill>
                <a:schemeClr val="dk1"/>
              </a:solidFill>
              <a:latin typeface="Times New Roman"/>
              <a:ea typeface="Times New Roman"/>
              <a:cs typeface="Times New Roman"/>
              <a:sym typeface="Times New Roman"/>
            </a:endParaRPr>
          </a:p>
        </p:txBody>
      </p:sp>
      <p:sp>
        <p:nvSpPr>
          <p:cNvPr id="1290" name="Google Shape;1290;p59"/>
          <p:cNvSpPr/>
          <p:nvPr/>
        </p:nvSpPr>
        <p:spPr>
          <a:xfrm>
            <a:off x="2713039" y="2362200"/>
            <a:ext cx="1096962" cy="2889250"/>
          </a:xfrm>
          <a:custGeom>
            <a:rect b="b" l="l" r="r" t="t"/>
            <a:pathLst>
              <a:path extrusionOk="0" h="3907" w="2016">
                <a:moveTo>
                  <a:pt x="1988" y="0"/>
                </a:moveTo>
                <a:lnTo>
                  <a:pt x="0" y="1987"/>
                </a:lnTo>
                <a:lnTo>
                  <a:pt x="2016" y="3907"/>
                </a:lnTo>
              </a:path>
            </a:pathLst>
          </a:custGeom>
          <a:noFill/>
          <a:ln cap="flat" cmpd="sng" w="9525">
            <a:solidFill>
              <a:srgbClr val="000000"/>
            </a:solidFill>
            <a:prstDash val="solid"/>
            <a:round/>
            <a:headEnd len="med" w="med" type="stealth"/>
            <a:tailEnd len="med" w="med"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200">
              <a:solidFill>
                <a:schemeClr val="dk1"/>
              </a:solidFill>
              <a:latin typeface="Arial"/>
              <a:ea typeface="Arial"/>
              <a:cs typeface="Arial"/>
              <a:sym typeface="Arial"/>
            </a:endParaRPr>
          </a:p>
        </p:txBody>
      </p:sp>
      <p:cxnSp>
        <p:nvCxnSpPr>
          <p:cNvPr id="1291" name="Google Shape;1291;p59"/>
          <p:cNvCxnSpPr/>
          <p:nvPr/>
        </p:nvCxnSpPr>
        <p:spPr>
          <a:xfrm>
            <a:off x="2743200" y="3809997"/>
            <a:ext cx="990600" cy="45719"/>
          </a:xfrm>
          <a:prstGeom prst="straightConnector1">
            <a:avLst/>
          </a:prstGeom>
          <a:noFill/>
          <a:ln cap="flat" cmpd="sng" w="9525">
            <a:solidFill>
              <a:srgbClr val="000000"/>
            </a:solidFill>
            <a:prstDash val="solid"/>
            <a:round/>
            <a:headEnd len="med" w="med" type="none"/>
            <a:tailEnd len="med" w="med" type="stealth"/>
          </a:ln>
        </p:spPr>
      </p:cxnSp>
      <p:sp>
        <p:nvSpPr>
          <p:cNvPr id="1292" name="Google Shape;1292;p59"/>
          <p:cNvSpPr/>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3200">
                <a:solidFill>
                  <a:schemeClr val="accent2"/>
                </a:solidFill>
                <a:latin typeface="Times New Roman"/>
                <a:ea typeface="Times New Roman"/>
                <a:cs typeface="Times New Roman"/>
                <a:sym typeface="Times New Roman"/>
              </a:rPr>
              <a:t>Ba thuộc tính của pháp luật</a:t>
            </a:r>
            <a:endParaRPr b="1" sz="3200">
              <a:solidFill>
                <a:srgbClr val="0000CC"/>
              </a:solidFill>
              <a:latin typeface="Times New Roman"/>
              <a:ea typeface="Times New Roman"/>
              <a:cs typeface="Times New Roman"/>
              <a:sym typeface="Times New Roman"/>
            </a:endParaRPr>
          </a:p>
        </p:txBody>
      </p:sp>
      <p:sp>
        <p:nvSpPr>
          <p:cNvPr id="1293" name="Google Shape;1293;p59"/>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294" name="Google Shape;1294;p5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2000"/>
                                        <p:tgtEl>
                                          <p:spTgt spid="1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gtEl>
                                        <p:attrNameLst>
                                          <p:attrName>style.visibility</p:attrName>
                                        </p:attrNameLst>
                                      </p:cBhvr>
                                      <p:to>
                                        <p:strVal val="visible"/>
                                      </p:to>
                                    </p:set>
                                    <p:animEffect filter="fade" transition="in">
                                      <p:cBhvr>
                                        <p:cTn dur="2000"/>
                                        <p:tgtEl>
                                          <p:spTgt spid="1290"/>
                                        </p:tgtEl>
                                      </p:cBhvr>
                                    </p:animEffect>
                                  </p:childTnLst>
                                </p:cTn>
                              </p:par>
                              <p:par>
                                <p:cTn fill="hold" nodeType="withEffect" presetClass="entr" presetID="10" presetSubtype="0">
                                  <p:stCondLst>
                                    <p:cond delay="0"/>
                                  </p:stCondLst>
                                  <p:childTnLst>
                                    <p:set>
                                      <p:cBhvr>
                                        <p:cTn dur="1" fill="hold">
                                          <p:stCondLst>
                                            <p:cond delay="0"/>
                                          </p:stCondLst>
                                        </p:cTn>
                                        <p:tgtEl>
                                          <p:spTgt spid="1291"/>
                                        </p:tgtEl>
                                        <p:attrNameLst>
                                          <p:attrName>style.visibility</p:attrName>
                                        </p:attrNameLst>
                                      </p:cBhvr>
                                      <p:to>
                                        <p:strVal val="visible"/>
                                      </p:to>
                                    </p:set>
                                    <p:animEffect filter="fade" transition="in">
                                      <p:cBhvr>
                                        <p:cTn dur="2000"/>
                                        <p:tgtEl>
                                          <p:spTgt spid="1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7"/>
                                        </p:tgtEl>
                                        <p:attrNameLst>
                                          <p:attrName>style.visibility</p:attrName>
                                        </p:attrNameLst>
                                      </p:cBhvr>
                                      <p:to>
                                        <p:strVal val="visible"/>
                                      </p:to>
                                    </p:set>
                                    <p:anim calcmode="lin" valueType="num">
                                      <p:cBhvr additive="base">
                                        <p:cTn dur="500"/>
                                        <p:tgtEl>
                                          <p:spTgt spid="12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8"/>
                                        </p:tgtEl>
                                        <p:attrNameLst>
                                          <p:attrName>style.visibility</p:attrName>
                                        </p:attrNameLst>
                                      </p:cBhvr>
                                      <p:to>
                                        <p:strVal val="visible"/>
                                      </p:to>
                                    </p:set>
                                    <p:anim calcmode="lin" valueType="num">
                                      <p:cBhvr additive="base">
                                        <p:cTn dur="500"/>
                                        <p:tgtEl>
                                          <p:spTgt spid="12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89"/>
                                        </p:tgtEl>
                                        <p:attrNameLst>
                                          <p:attrName>style.visibility</p:attrName>
                                        </p:attrNameLst>
                                      </p:cBhvr>
                                      <p:to>
                                        <p:strVal val="visible"/>
                                      </p:to>
                                    </p:set>
                                    <p:anim calcmode="lin" valueType="num">
                                      <p:cBhvr additive="base">
                                        <p:cTn dur="500"/>
                                        <p:tgtEl>
                                          <p:spTgt spid="128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60"/>
          <p:cNvSpPr/>
          <p:nvPr/>
        </p:nvSpPr>
        <p:spPr>
          <a:xfrm>
            <a:off x="0" y="1066800"/>
            <a:ext cx="4648200" cy="3352800"/>
          </a:xfrm>
          <a:prstGeom prst="irregularSeal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2)Tính quy phạm phổ biến, bắt buộc chung</a:t>
            </a:r>
            <a:endParaRPr b="1" sz="2400">
              <a:solidFill>
                <a:schemeClr val="lt1"/>
              </a:solidFill>
              <a:latin typeface="Times New Roman"/>
              <a:ea typeface="Times New Roman"/>
              <a:cs typeface="Times New Roman"/>
              <a:sym typeface="Times New Roman"/>
            </a:endParaRPr>
          </a:p>
        </p:txBody>
      </p:sp>
      <p:sp>
        <p:nvSpPr>
          <p:cNvPr id="1300" name="Google Shape;1300;p60"/>
          <p:cNvSpPr/>
          <p:nvPr/>
        </p:nvSpPr>
        <p:spPr>
          <a:xfrm>
            <a:off x="3200400" y="2590800"/>
            <a:ext cx="5486400" cy="3733800"/>
          </a:xfrm>
          <a:prstGeom prst="round2SameRect">
            <a:avLst>
              <a:gd fmla="val 16667" name="adj1"/>
              <a:gd fmla="val 0" name="adj2"/>
            </a:avLst>
          </a:prstGeom>
          <a:solidFill>
            <a:srgbClr val="CAE9BF"/>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Quy phạm pháp luật được áp dụng nhiều lần, chỉ bị điều chỉnh khi cơ quan nhà nước có thẩm quyền hủy bỏ sửa đổi, bổ sung</a:t>
            </a:r>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Quy phạm pháp luật ko phải xuất phát từ 1 trường hợp cụ thể mà là sự khái quát hóa từ rất nhiều những trường hợp có tính phổ biến trong xã hội, làm cho quy định pháp luật có tính khái quát cao, phổ biến</a:t>
            </a:r>
            <a:endParaRPr sz="18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Trong cùng 1 phạm vi ko gian, thời gian mà pháp luật tác động thì bất cứ cá nhân, tổ chức nào cũng đều chịu sự chi phối của pháp luật, ko có ngoại lệ</a:t>
            </a:r>
            <a:endParaRPr sz="1800">
              <a:solidFill>
                <a:schemeClr val="dk1"/>
              </a:solidFill>
              <a:latin typeface="Times New Roman"/>
              <a:ea typeface="Times New Roman"/>
              <a:cs typeface="Times New Roman"/>
              <a:sym typeface="Times New Roman"/>
            </a:endParaRPr>
          </a:p>
        </p:txBody>
      </p:sp>
      <p:sp>
        <p:nvSpPr>
          <p:cNvPr id="1301" name="Google Shape;1301;p60"/>
          <p:cNvSpPr/>
          <p:nvPr/>
        </p:nvSpPr>
        <p:spPr>
          <a:xfrm>
            <a:off x="3048000" y="304800"/>
            <a:ext cx="4572000" cy="1981200"/>
          </a:xfrm>
          <a:prstGeom prst="wedgeEllipseCallout">
            <a:avLst>
              <a:gd fmla="val -20833" name="adj1"/>
              <a:gd fmla="val 62500" name="adj2"/>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Quy phạm là tế bào của pháp luật, chứa đựng những thuộc tính, khuôn mẫu, mô hình xử sự chung được xã hội thừa nhận</a:t>
            </a:r>
            <a:endParaRPr sz="20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p:txBody>
      </p:sp>
      <p:sp>
        <p:nvSpPr>
          <p:cNvPr id="1302" name="Google Shape;1302;p60"/>
          <p:cNvSpPr txBox="1"/>
          <p:nvPr>
            <p:ph idx="11" type="ftr"/>
          </p:nvPr>
        </p:nvSpPr>
        <p:spPr>
          <a:xfrm>
            <a:off x="6172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03" name="Google Shape;1303;p6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500"/>
                                        <p:tgtEl>
                                          <p:spTgt spid="1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1"/>
                                        </p:tgtEl>
                                        <p:attrNameLst>
                                          <p:attrName>style.visibility</p:attrName>
                                        </p:attrNameLst>
                                      </p:cBhvr>
                                      <p:to>
                                        <p:strVal val="visible"/>
                                      </p:to>
                                    </p:set>
                                    <p:anim calcmode="lin" valueType="num">
                                      <p:cBhvr additive="base">
                                        <p:cTn dur="500"/>
                                        <p:tgtEl>
                                          <p:spTgt spid="13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2000"/>
                                        <p:tgtEl>
                                          <p:spTgt spid="1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61"/>
          <p:cNvSpPr/>
          <p:nvPr/>
        </p:nvSpPr>
        <p:spPr>
          <a:xfrm>
            <a:off x="762000" y="838200"/>
            <a:ext cx="4191000" cy="1524000"/>
          </a:xfrm>
          <a:prstGeom prst="flowChartPunchedTape">
            <a:avLst/>
          </a:prstGeom>
          <a:solidFill>
            <a:srgbClr val="C000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Times New Roman"/>
                <a:ea typeface="Times New Roman"/>
                <a:cs typeface="Times New Roman"/>
                <a:sym typeface="Times New Roman"/>
              </a:rPr>
              <a:t>3) Được nhà nước đảm bảo thực hiện bằng biện pháp cưỡng chế</a:t>
            </a:r>
            <a:endParaRPr sz="2000">
              <a:solidFill>
                <a:schemeClr val="lt1"/>
              </a:solidFill>
              <a:latin typeface="Times New Roman"/>
              <a:ea typeface="Times New Roman"/>
              <a:cs typeface="Times New Roman"/>
              <a:sym typeface="Times New Roman"/>
            </a:endParaRPr>
          </a:p>
        </p:txBody>
      </p:sp>
      <p:sp>
        <p:nvSpPr>
          <p:cNvPr id="1309" name="Google Shape;1309;p61"/>
          <p:cNvSpPr/>
          <p:nvPr/>
        </p:nvSpPr>
        <p:spPr>
          <a:xfrm>
            <a:off x="228600" y="2438400"/>
            <a:ext cx="4343400" cy="2209800"/>
          </a:xfrm>
          <a:prstGeom prst="flowChartMagneticTape">
            <a:avLst/>
          </a:prstGeom>
          <a:solidFill>
            <a:srgbClr val="92F7DB"/>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Cưỡng chế nhà nước là sử dụng sức mạnh của nhà nước để buộc các cá nhân, tổ chức trong xã hội phục tùng ý chí nhà nước.</a:t>
            </a:r>
            <a:endParaRPr/>
          </a:p>
          <a:p>
            <a:pPr indent="0" lvl="0" marL="0" marR="0" rtl="0" algn="just">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1310" name="Google Shape;1310;p61"/>
          <p:cNvSpPr/>
          <p:nvPr/>
        </p:nvSpPr>
        <p:spPr>
          <a:xfrm>
            <a:off x="4876800" y="1752600"/>
            <a:ext cx="4038600" cy="3962400"/>
          </a:xfrm>
          <a:prstGeom prst="flowChartDisplay">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Pháp luật do nhà nước ban hành hoặc thừa nhận nên được đảm bảo thực hiện bằng sức mạnh cưỡng chế của quyền lực nhà nước, có như vậy pháp luật mới trở thành quy tắc xử sự mang tính bắt buộc chung và là công cụ hữu hiệu trong tay nhà nước để quản lý xã hội</a:t>
            </a:r>
            <a:endParaRPr sz="1800">
              <a:solidFill>
                <a:schemeClr val="lt1"/>
              </a:solidFill>
              <a:latin typeface="Arial"/>
              <a:ea typeface="Arial"/>
              <a:cs typeface="Arial"/>
              <a:sym typeface="Arial"/>
            </a:endParaRPr>
          </a:p>
        </p:txBody>
      </p:sp>
      <p:sp>
        <p:nvSpPr>
          <p:cNvPr id="1311" name="Google Shape;1311;p61"/>
          <p:cNvSpPr/>
          <p:nvPr/>
        </p:nvSpPr>
        <p:spPr>
          <a:xfrm>
            <a:off x="1828800" y="4724400"/>
            <a:ext cx="3429000" cy="1828800"/>
          </a:xfrm>
          <a:prstGeom prst="roundRect">
            <a:avLst>
              <a:gd fmla="val 16667" name="adj"/>
            </a:avLst>
          </a:prstGeom>
          <a:solidFill>
            <a:schemeClr val="accent6"/>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Cưỡng chế mang tính trừng phạt</a:t>
            </a:r>
            <a:endParaRPr sz="2000">
              <a:solidFill>
                <a:schemeClr val="dk1"/>
              </a:solidFill>
              <a:latin typeface="Times New Roman"/>
              <a:ea typeface="Times New Roman"/>
              <a:cs typeface="Times New Roman"/>
              <a:sym typeface="Times New Roman"/>
            </a:endParaRPr>
          </a:p>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 Cưỡng chế ko mang tính trừng phạt</a:t>
            </a:r>
            <a:endParaRPr sz="2000">
              <a:solidFill>
                <a:schemeClr val="dk1"/>
              </a:solidFill>
              <a:latin typeface="Times New Roman"/>
              <a:ea typeface="Times New Roman"/>
              <a:cs typeface="Times New Roman"/>
              <a:sym typeface="Times New Roman"/>
            </a:endParaRPr>
          </a:p>
        </p:txBody>
      </p:sp>
      <p:sp>
        <p:nvSpPr>
          <p:cNvPr id="1312" name="Google Shape;1312;p61"/>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13" name="Google Shape;1313;p6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08"/>
                                        </p:tgtEl>
                                        <p:attrNameLst>
                                          <p:attrName>style.visibility</p:attrName>
                                        </p:attrNameLst>
                                      </p:cBhvr>
                                      <p:to>
                                        <p:strVal val="visible"/>
                                      </p:to>
                                    </p:set>
                                    <p:anim calcmode="lin" valueType="num">
                                      <p:cBhvr additive="base">
                                        <p:cTn dur="500"/>
                                        <p:tgtEl>
                                          <p:spTgt spid="130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9"/>
                                        </p:tgtEl>
                                        <p:attrNameLst>
                                          <p:attrName>style.visibility</p:attrName>
                                        </p:attrNameLst>
                                      </p:cBhvr>
                                      <p:to>
                                        <p:strVal val="visible"/>
                                      </p:to>
                                    </p:set>
                                    <p:animEffect filter="fade" transition="in">
                                      <p:cBhvr>
                                        <p:cTn dur="500"/>
                                        <p:tgtEl>
                                          <p:spTgt spid="1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0"/>
                                        </p:tgtEl>
                                        <p:attrNameLst>
                                          <p:attrName>style.visibility</p:attrName>
                                        </p:attrNameLst>
                                      </p:cBhvr>
                                      <p:to>
                                        <p:strVal val="visible"/>
                                      </p:to>
                                    </p:set>
                                    <p:animEffect filter="fade" transition="in">
                                      <p:cBhvr>
                                        <p:cTn dur="500"/>
                                        <p:tgtEl>
                                          <p:spTgt spid="1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1"/>
                                        </p:tgtEl>
                                        <p:attrNameLst>
                                          <p:attrName>style.visibility</p:attrName>
                                        </p:attrNameLst>
                                      </p:cBhvr>
                                      <p:to>
                                        <p:strVal val="visible"/>
                                      </p:to>
                                    </p:set>
                                    <p:animEffect filter="fade" transition="in">
                                      <p:cBhvr>
                                        <p:cTn dur="500"/>
                                        <p:tgtEl>
                                          <p:spTgt spid="1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62"/>
          <p:cNvSpPr txBox="1"/>
          <p:nvPr>
            <p:ph idx="1" type="body"/>
          </p:nvPr>
        </p:nvSpPr>
        <p:spPr>
          <a:xfrm>
            <a:off x="381000" y="990600"/>
            <a:ext cx="2057400" cy="5029200"/>
          </a:xfrm>
          <a:prstGeom prst="rect">
            <a:avLst/>
          </a:prstGeom>
          <a:noFill/>
          <a:ln>
            <a:noFill/>
          </a:ln>
        </p:spPr>
        <p:txBody>
          <a:bodyPr anchorCtr="0" anchor="t" bIns="45700" lIns="64000" spcFirstLastPara="1" rIns="45700" wrap="square" tIns="45700">
            <a:noAutofit/>
          </a:bodyPr>
          <a:lstStyle/>
          <a:p>
            <a:pPr indent="0" lvl="0" marL="0" rtl="0" algn="ctr">
              <a:spcBef>
                <a:spcPts val="0"/>
              </a:spcBef>
              <a:spcAft>
                <a:spcPts val="0"/>
              </a:spcAft>
              <a:buSzPts val="1900"/>
              <a:buNone/>
            </a:pPr>
            <a:r>
              <a:t/>
            </a:r>
            <a:endParaRPr b="1" sz="2000">
              <a:latin typeface="Times New Roman"/>
              <a:ea typeface="Times New Roman"/>
              <a:cs typeface="Times New Roman"/>
              <a:sym typeface="Times New Roman"/>
            </a:endParaRPr>
          </a:p>
        </p:txBody>
      </p:sp>
      <p:sp>
        <p:nvSpPr>
          <p:cNvPr id="1319" name="Google Shape;1319;p62"/>
          <p:cNvSpPr/>
          <p:nvPr/>
        </p:nvSpPr>
        <p:spPr>
          <a:xfrm>
            <a:off x="2514600" y="381000"/>
            <a:ext cx="6172200" cy="2133600"/>
          </a:xfrm>
          <a:prstGeom prst="cube">
            <a:avLst>
              <a:gd fmla="val 25000" name="adj"/>
            </a:avLst>
          </a:prstGeom>
          <a:solidFill>
            <a:srgbClr val="C000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Chức năng điều chỉnh</a:t>
            </a:r>
            <a:endParaRPr b="1" sz="1800">
              <a:solidFill>
                <a:schemeClr val="lt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Tạo điều kiện cho các quan hệ xã hội phát triển theo chiều hướng nhất định.</a:t>
            </a:r>
            <a:endParaRPr/>
          </a:p>
          <a:p>
            <a:pPr indent="-114300" lvl="0" marL="0" marR="0" rtl="0" algn="just">
              <a:spcBef>
                <a:spcPts val="0"/>
              </a:spcBef>
              <a:spcAft>
                <a:spcPts val="0"/>
              </a:spcAft>
              <a:buClr>
                <a:schemeClr val="lt1"/>
              </a:buClr>
              <a:buSzPts val="1800"/>
              <a:buFont typeface="Times New Roman"/>
              <a:buChar char="-"/>
            </a:pPr>
            <a:r>
              <a:rPr b="1" lang="en-US" sz="1800">
                <a:solidFill>
                  <a:schemeClr val="lt1"/>
                </a:solidFill>
                <a:latin typeface="Times New Roman"/>
                <a:ea typeface="Times New Roman"/>
                <a:cs typeface="Times New Roman"/>
                <a:sym typeface="Times New Roman"/>
              </a:rPr>
              <a:t> </a:t>
            </a:r>
            <a:r>
              <a:rPr lang="en-US" sz="1800">
                <a:solidFill>
                  <a:schemeClr val="lt1"/>
                </a:solidFill>
                <a:latin typeface="Times New Roman"/>
                <a:ea typeface="Times New Roman"/>
                <a:cs typeface="Times New Roman"/>
                <a:sym typeface="Times New Roman"/>
              </a:rPr>
              <a:t>Pháp luật làm nhiệm vụ trật tự hóa các quan hệ xã hội </a:t>
            </a:r>
            <a:endParaRPr/>
          </a:p>
          <a:p>
            <a:pPr indent="-114300" lvl="0" marL="0" marR="0" rtl="0" algn="just">
              <a:spcBef>
                <a:spcPts val="0"/>
              </a:spcBef>
              <a:spcAft>
                <a:spcPts val="0"/>
              </a:spcAft>
              <a:buClr>
                <a:schemeClr val="lt1"/>
              </a:buClr>
              <a:buSzPts val="1800"/>
              <a:buFont typeface="Times New Roman"/>
              <a:buChar char="-"/>
            </a:pPr>
            <a:r>
              <a:rPr lang="en-US" sz="1800">
                <a:solidFill>
                  <a:schemeClr val="lt1"/>
                </a:solidFill>
                <a:latin typeface="Times New Roman"/>
                <a:ea typeface="Times New Roman"/>
                <a:cs typeface="Times New Roman"/>
                <a:sym typeface="Times New Roman"/>
              </a:rPr>
              <a:t>Pháp luật tác động đến hành vi con người</a:t>
            </a:r>
            <a:endParaRPr b="1"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1320" name="Google Shape;1320;p62"/>
          <p:cNvSpPr/>
          <p:nvPr/>
        </p:nvSpPr>
        <p:spPr>
          <a:xfrm>
            <a:off x="2514600" y="2590800"/>
            <a:ext cx="6172200" cy="1828800"/>
          </a:xfrm>
          <a:prstGeom prst="cube">
            <a:avLst>
              <a:gd fmla="val 25000" name="adj"/>
            </a:avLst>
          </a:prstGeom>
          <a:solidFill>
            <a:srgbClr val="7030A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Chức năng bảo vệ</a:t>
            </a:r>
            <a:endParaRPr b="1"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lt1"/>
                </a:solidFill>
                <a:latin typeface="Times New Roman"/>
                <a:ea typeface="Times New Roman"/>
                <a:cs typeface="Times New Roman"/>
                <a:sym typeface="Times New Roman"/>
              </a:rPr>
              <a:t>- Bảo đảm trật tự hệ thống các quan hệ xã hội</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lt1"/>
                </a:solidFill>
                <a:latin typeface="Times New Roman"/>
                <a:ea typeface="Times New Roman"/>
                <a:cs typeface="Times New Roman"/>
                <a:sym typeface="Times New Roman"/>
              </a:rPr>
              <a:t>- Quy định những phương tiện nhằm mục đích bảo vệ các quan hệ xã hội</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b="1" sz="1800">
              <a:solidFill>
                <a:schemeClr val="lt1"/>
              </a:solidFill>
              <a:latin typeface="Times New Roman"/>
              <a:ea typeface="Times New Roman"/>
              <a:cs typeface="Times New Roman"/>
              <a:sym typeface="Times New Roman"/>
            </a:endParaRPr>
          </a:p>
        </p:txBody>
      </p:sp>
      <p:sp>
        <p:nvSpPr>
          <p:cNvPr id="1321" name="Google Shape;1321;p62"/>
          <p:cNvSpPr/>
          <p:nvPr/>
        </p:nvSpPr>
        <p:spPr>
          <a:xfrm>
            <a:off x="2590800" y="4419600"/>
            <a:ext cx="5562600" cy="1905000"/>
          </a:xfrm>
          <a:prstGeom prst="cube">
            <a:avLst>
              <a:gd fmla="val 25000"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Times New Roman"/>
                <a:ea typeface="Times New Roman"/>
                <a:cs typeface="Times New Roman"/>
                <a:sym typeface="Times New Roman"/>
              </a:rPr>
              <a:t>Chức năng giáo dục</a:t>
            </a:r>
            <a:endParaRPr sz="2000">
              <a:solidFill>
                <a:schemeClr val="lt1"/>
              </a:solidFill>
              <a:latin typeface="Times New Roman"/>
              <a:ea typeface="Times New Roman"/>
              <a:cs typeface="Times New Roman"/>
              <a:sym typeface="Times New Roman"/>
            </a:endParaRPr>
          </a:p>
          <a:p>
            <a:pPr indent="-127000" lvl="0" marL="0" marR="0" rtl="0" algn="just">
              <a:spcBef>
                <a:spcPts val="0"/>
              </a:spcBef>
              <a:spcAft>
                <a:spcPts val="0"/>
              </a:spcAft>
              <a:buClr>
                <a:schemeClr val="lt1"/>
              </a:buClr>
              <a:buSzPts val="2000"/>
              <a:buFont typeface="Times New Roman"/>
              <a:buChar char="-"/>
            </a:pPr>
            <a:r>
              <a:rPr lang="en-US" sz="2000">
                <a:solidFill>
                  <a:schemeClr val="lt1"/>
                </a:solidFill>
                <a:latin typeface="Times New Roman"/>
                <a:ea typeface="Times New Roman"/>
                <a:cs typeface="Times New Roman"/>
                <a:sym typeface="Times New Roman"/>
              </a:rPr>
              <a:t>Tác động tới ý thức và tâm lý con người</a:t>
            </a:r>
            <a:endParaRPr sz="2000">
              <a:solidFill>
                <a:schemeClr val="lt1"/>
              </a:solidFill>
              <a:latin typeface="Times New Roman"/>
              <a:ea typeface="Times New Roman"/>
              <a:cs typeface="Times New Roman"/>
              <a:sym typeface="Times New Roman"/>
            </a:endParaRPr>
          </a:p>
          <a:p>
            <a:pPr indent="-127000" lvl="0" marL="0" marR="0" rtl="0" algn="just">
              <a:spcBef>
                <a:spcPts val="0"/>
              </a:spcBef>
              <a:spcAft>
                <a:spcPts val="0"/>
              </a:spcAft>
              <a:buClr>
                <a:schemeClr val="lt1"/>
              </a:buClr>
              <a:buSzPts val="2000"/>
              <a:buFont typeface="Times New Roman"/>
              <a:buChar char="-"/>
            </a:pPr>
            <a:r>
              <a:rPr lang="en-US" sz="2000">
                <a:solidFill>
                  <a:schemeClr val="lt1"/>
                </a:solidFill>
                <a:latin typeface="Times New Roman"/>
                <a:ea typeface="Times New Roman"/>
                <a:cs typeface="Times New Roman"/>
                <a:sym typeface="Times New Roman"/>
              </a:rPr>
              <a:t>Hình thành tư duy pháp lý và nhân sinh quan pháp lý phù hợp yêu cầu pháp luật</a:t>
            </a:r>
            <a:endParaRPr sz="2000">
              <a:solidFill>
                <a:schemeClr val="lt1"/>
              </a:solidFill>
              <a:latin typeface="Times New Roman"/>
              <a:ea typeface="Times New Roman"/>
              <a:cs typeface="Times New Roman"/>
              <a:sym typeface="Times New Roman"/>
            </a:endParaRPr>
          </a:p>
        </p:txBody>
      </p:sp>
      <p:sp>
        <p:nvSpPr>
          <p:cNvPr id="1322" name="Google Shape;1322;p62"/>
          <p:cNvSpPr/>
          <p:nvPr/>
        </p:nvSpPr>
        <p:spPr>
          <a:xfrm>
            <a:off x="228600" y="762000"/>
            <a:ext cx="2133600" cy="5562600"/>
          </a:xfrm>
          <a:prstGeom prst="roundRect">
            <a:avLst>
              <a:gd fmla="val 16667" name="adj"/>
            </a:avLst>
          </a:prstGeom>
          <a:solidFill>
            <a:srgbClr val="C8DA90"/>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Times New Roman"/>
                <a:ea typeface="Times New Roman"/>
                <a:cs typeface="Times New Roman"/>
                <a:sym typeface="Times New Roman"/>
              </a:rPr>
              <a:t>4.3.3</a:t>
            </a:r>
            <a:endParaRPr/>
          </a:p>
          <a:p>
            <a:pPr indent="0" lvl="0" marL="0" marR="0" rtl="0" algn="ctr">
              <a:spcBef>
                <a:spcPts val="0"/>
              </a:spcBef>
              <a:spcAft>
                <a:spcPts val="0"/>
              </a:spcAft>
              <a:buNone/>
            </a:pPr>
            <a:r>
              <a:rPr b="1" lang="en-US" sz="2000">
                <a:solidFill>
                  <a:schemeClr val="dk1"/>
                </a:solidFill>
                <a:latin typeface="Times New Roman"/>
                <a:ea typeface="Times New Roman"/>
                <a:cs typeface="Times New Roman"/>
                <a:sym typeface="Times New Roman"/>
              </a:rPr>
              <a:t>Chức năng của pháp luật </a:t>
            </a:r>
            <a:r>
              <a:rPr lang="en-US" sz="2000">
                <a:solidFill>
                  <a:schemeClr val="dk1"/>
                </a:solidFill>
                <a:latin typeface="Times New Roman"/>
                <a:ea typeface="Times New Roman"/>
                <a:cs typeface="Times New Roman"/>
                <a:sym typeface="Times New Roman"/>
              </a:rPr>
              <a:t>là những phương diện (mặt) tác động của pháp luật tới các quan hệ xã hội quan trọng nhất mà pháp luật điều chỉnh, thể hiện bản chất, điều kiện tồn tại thực tế và giá trị xã hội của pháp luật</a:t>
            </a:r>
            <a:endParaRPr b="1" sz="2000">
              <a:solidFill>
                <a:schemeClr val="dk1"/>
              </a:solidFill>
              <a:latin typeface="Times New Roman"/>
              <a:ea typeface="Times New Roman"/>
              <a:cs typeface="Times New Roman"/>
              <a:sym typeface="Times New Roman"/>
            </a:endParaRPr>
          </a:p>
        </p:txBody>
      </p:sp>
      <p:sp>
        <p:nvSpPr>
          <p:cNvPr id="1323" name="Google Shape;1323;p62"/>
          <p:cNvSpPr txBox="1"/>
          <p:nvPr>
            <p:ph idx="11" type="ftr"/>
          </p:nvPr>
        </p:nvSpPr>
        <p:spPr>
          <a:xfrm>
            <a:off x="60960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24" name="Google Shape;1324;p62"/>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8">
                                            <p:txEl>
                                              <p:pRg end="0" st="0"/>
                                            </p:txEl>
                                          </p:spTgt>
                                        </p:tgtEl>
                                        <p:attrNameLst>
                                          <p:attrName>style.visibility</p:attrName>
                                        </p:attrNameLst>
                                      </p:cBhvr>
                                      <p:to>
                                        <p:strVal val="visible"/>
                                      </p:to>
                                    </p:set>
                                    <p:animEffect filter="fade" transition="in">
                                      <p:cBhvr>
                                        <p:cTn dur="2000"/>
                                        <p:tgtEl>
                                          <p:spTgt spid="13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xEl>
                                              <p:pRg end="0" st="0"/>
                                            </p:txEl>
                                          </p:spTgt>
                                        </p:tgtEl>
                                        <p:attrNameLst>
                                          <p:attrName>style.visibility</p:attrName>
                                        </p:attrNameLst>
                                      </p:cBhvr>
                                      <p:to>
                                        <p:strVal val="visible"/>
                                      </p:to>
                                    </p:set>
                                    <p:animEffect filter="fade" transition="in">
                                      <p:cBhvr>
                                        <p:cTn dur="2000"/>
                                        <p:tgtEl>
                                          <p:spTgt spid="13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xEl>
                                              <p:pRg end="1" st="1"/>
                                            </p:txEl>
                                          </p:spTgt>
                                        </p:tgtEl>
                                        <p:attrNameLst>
                                          <p:attrName>style.visibility</p:attrName>
                                        </p:attrNameLst>
                                      </p:cBhvr>
                                      <p:to>
                                        <p:strVal val="visible"/>
                                      </p:to>
                                    </p:set>
                                    <p:animEffect filter="fade" transition="in">
                                      <p:cBhvr>
                                        <p:cTn dur="2000"/>
                                        <p:tgtEl>
                                          <p:spTgt spid="13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xEl>
                                              <p:pRg end="2" st="2"/>
                                            </p:txEl>
                                          </p:spTgt>
                                        </p:tgtEl>
                                        <p:attrNameLst>
                                          <p:attrName>style.visibility</p:attrName>
                                        </p:attrNameLst>
                                      </p:cBhvr>
                                      <p:to>
                                        <p:strVal val="visible"/>
                                      </p:to>
                                    </p:set>
                                    <p:animEffect filter="fade" transition="in">
                                      <p:cBhvr>
                                        <p:cTn dur="2000"/>
                                        <p:tgtEl>
                                          <p:spTgt spid="13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xEl>
                                              <p:pRg end="3" st="3"/>
                                            </p:txEl>
                                          </p:spTgt>
                                        </p:tgtEl>
                                        <p:attrNameLst>
                                          <p:attrName>style.visibility</p:attrName>
                                        </p:attrNameLst>
                                      </p:cBhvr>
                                      <p:to>
                                        <p:strVal val="visible"/>
                                      </p:to>
                                    </p:set>
                                    <p:animEffect filter="fade" transition="in">
                                      <p:cBhvr>
                                        <p:cTn dur="2000"/>
                                        <p:tgtEl>
                                          <p:spTgt spid="13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9">
                                            <p:txEl>
                                              <p:pRg end="4" st="4"/>
                                            </p:txEl>
                                          </p:spTgt>
                                        </p:tgtEl>
                                        <p:attrNameLst>
                                          <p:attrName>style.visibility</p:attrName>
                                        </p:attrNameLst>
                                      </p:cBhvr>
                                      <p:to>
                                        <p:strVal val="visible"/>
                                      </p:to>
                                    </p:set>
                                    <p:animEffect filter="fade" transition="in">
                                      <p:cBhvr>
                                        <p:cTn dur="2000"/>
                                        <p:tgtEl>
                                          <p:spTgt spid="13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0" st="0"/>
                                            </p:txEl>
                                          </p:spTgt>
                                        </p:tgtEl>
                                        <p:attrNameLst>
                                          <p:attrName>style.visibility</p:attrName>
                                        </p:attrNameLst>
                                      </p:cBhvr>
                                      <p:to>
                                        <p:strVal val="visible"/>
                                      </p:to>
                                    </p:set>
                                    <p:animEffect filter="fade" transition="in">
                                      <p:cBhvr>
                                        <p:cTn dur="500"/>
                                        <p:tgtEl>
                                          <p:spTgt spid="13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1" st="1"/>
                                            </p:txEl>
                                          </p:spTgt>
                                        </p:tgtEl>
                                        <p:attrNameLst>
                                          <p:attrName>style.visibility</p:attrName>
                                        </p:attrNameLst>
                                      </p:cBhvr>
                                      <p:to>
                                        <p:strVal val="visible"/>
                                      </p:to>
                                    </p:set>
                                    <p:animEffect filter="fade" transition="in">
                                      <p:cBhvr>
                                        <p:cTn dur="500"/>
                                        <p:tgtEl>
                                          <p:spTgt spid="13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2" st="2"/>
                                            </p:txEl>
                                          </p:spTgt>
                                        </p:tgtEl>
                                        <p:attrNameLst>
                                          <p:attrName>style.visibility</p:attrName>
                                        </p:attrNameLst>
                                      </p:cBhvr>
                                      <p:to>
                                        <p:strVal val="visible"/>
                                      </p:to>
                                    </p:set>
                                    <p:animEffect filter="fade" transition="in">
                                      <p:cBhvr>
                                        <p:cTn dur="500"/>
                                        <p:tgtEl>
                                          <p:spTgt spid="13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0">
                                            <p:txEl>
                                              <p:pRg end="3" st="3"/>
                                            </p:txEl>
                                          </p:spTgt>
                                        </p:tgtEl>
                                        <p:attrNameLst>
                                          <p:attrName>style.visibility</p:attrName>
                                        </p:attrNameLst>
                                      </p:cBhvr>
                                      <p:to>
                                        <p:strVal val="visible"/>
                                      </p:to>
                                    </p:set>
                                    <p:animEffect filter="fade" transition="in">
                                      <p:cBhvr>
                                        <p:cTn dur="500"/>
                                        <p:tgtEl>
                                          <p:spTgt spid="13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1">
                                            <p:txEl>
                                              <p:pRg end="0" st="0"/>
                                            </p:txEl>
                                          </p:spTgt>
                                        </p:tgtEl>
                                        <p:attrNameLst>
                                          <p:attrName>style.visibility</p:attrName>
                                        </p:attrNameLst>
                                      </p:cBhvr>
                                      <p:to>
                                        <p:strVal val="visible"/>
                                      </p:to>
                                    </p:set>
                                    <p:anim calcmode="lin" valueType="num">
                                      <p:cBhvr additive="base">
                                        <p:cTn dur="500"/>
                                        <p:tgtEl>
                                          <p:spTgt spid="132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1">
                                            <p:txEl>
                                              <p:pRg end="1" st="1"/>
                                            </p:txEl>
                                          </p:spTgt>
                                        </p:tgtEl>
                                        <p:attrNameLst>
                                          <p:attrName>style.visibility</p:attrName>
                                        </p:attrNameLst>
                                      </p:cBhvr>
                                      <p:to>
                                        <p:strVal val="visible"/>
                                      </p:to>
                                    </p:set>
                                    <p:anim calcmode="lin" valueType="num">
                                      <p:cBhvr additive="base">
                                        <p:cTn dur="500"/>
                                        <p:tgtEl>
                                          <p:spTgt spid="132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1">
                                            <p:txEl>
                                              <p:pRg end="2" st="2"/>
                                            </p:txEl>
                                          </p:spTgt>
                                        </p:tgtEl>
                                        <p:attrNameLst>
                                          <p:attrName>style.visibility</p:attrName>
                                        </p:attrNameLst>
                                      </p:cBhvr>
                                      <p:to>
                                        <p:strVal val="visible"/>
                                      </p:to>
                                    </p:set>
                                    <p:anim calcmode="lin" valueType="num">
                                      <p:cBhvr additive="base">
                                        <p:cTn dur="500"/>
                                        <p:tgtEl>
                                          <p:spTgt spid="132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63"/>
          <p:cNvSpPr txBox="1"/>
          <p:nvPr>
            <p:ph type="title"/>
          </p:nvPr>
        </p:nvSpPr>
        <p:spPr>
          <a:xfrm>
            <a:off x="1435608" y="274638"/>
            <a:ext cx="7498080" cy="6397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4.4	Các mối liên hệ của pháp luật</a:t>
            </a:r>
            <a:endParaRPr sz="3200">
              <a:solidFill>
                <a:srgbClr val="FF0000"/>
              </a:solidFill>
              <a:latin typeface="Times New Roman"/>
              <a:ea typeface="Times New Roman"/>
              <a:cs typeface="Times New Roman"/>
              <a:sym typeface="Times New Roman"/>
            </a:endParaRPr>
          </a:p>
        </p:txBody>
      </p:sp>
      <p:sp>
        <p:nvSpPr>
          <p:cNvPr id="1330" name="Google Shape;1330;p63"/>
          <p:cNvSpPr txBox="1"/>
          <p:nvPr>
            <p:ph idx="1" type="body"/>
          </p:nvPr>
        </p:nvSpPr>
        <p:spPr>
          <a:xfrm>
            <a:off x="1435608" y="990600"/>
            <a:ext cx="7498080" cy="5257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sp>
        <p:nvSpPr>
          <p:cNvPr id="1331" name="Google Shape;1331;p63"/>
          <p:cNvSpPr/>
          <p:nvPr/>
        </p:nvSpPr>
        <p:spPr>
          <a:xfrm>
            <a:off x="762000" y="1295400"/>
            <a:ext cx="7848600" cy="4953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Pháp luật</a:t>
            </a:r>
            <a:endParaRPr b="0" i="0" sz="1800" u="none" cap="none" strike="noStrike">
              <a:solidFill>
                <a:schemeClr val="lt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Kinh tế</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QPXH khác</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Phong tục tập quán</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Chính trị</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Đạo đức</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Nhà nước</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32" name="Google Shape;1332;p63"/>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33" name="Google Shape;1333;p6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7" name="Shape 1337"/>
        <p:cNvGrpSpPr/>
        <p:nvPr/>
      </p:nvGrpSpPr>
      <p:grpSpPr>
        <a:xfrm>
          <a:off x="0" y="0"/>
          <a:ext cx="0" cy="0"/>
          <a:chOff x="0" y="0"/>
          <a:chExt cx="0" cy="0"/>
        </a:xfrm>
      </p:grpSpPr>
      <p:sp>
        <p:nvSpPr>
          <p:cNvPr id="1338" name="Google Shape;1338;p64"/>
          <p:cNvSpPr txBox="1"/>
          <p:nvPr>
            <p:ph type="title"/>
          </p:nvPr>
        </p:nvSpPr>
        <p:spPr>
          <a:xfrm>
            <a:off x="1435608" y="274638"/>
            <a:ext cx="7498080" cy="6397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4.4.1	Pháp luật và Kinh tế</a:t>
            </a:r>
            <a:endParaRPr sz="3200">
              <a:latin typeface="Times New Roman"/>
              <a:ea typeface="Times New Roman"/>
              <a:cs typeface="Times New Roman"/>
              <a:sym typeface="Times New Roman"/>
            </a:endParaRPr>
          </a:p>
        </p:txBody>
      </p:sp>
      <p:sp>
        <p:nvSpPr>
          <p:cNvPr id="1339" name="Google Shape;1339;p64"/>
          <p:cNvSpPr txBox="1"/>
          <p:nvPr>
            <p:ph idx="1" type="body"/>
          </p:nvPr>
        </p:nvSpPr>
        <p:spPr>
          <a:xfrm>
            <a:off x="1435608" y="1066800"/>
            <a:ext cx="7498080" cy="5181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None/>
            </a:pPr>
            <a:r>
              <a:rPr lang="en-US" sz="2000">
                <a:latin typeface="Times New Roman"/>
                <a:ea typeface="Times New Roman"/>
                <a:cs typeface="Times New Roman"/>
                <a:sym typeface="Times New Roman"/>
              </a:rPr>
              <a:t>                                     </a:t>
            </a:r>
            <a:endParaRPr/>
          </a:p>
          <a:p>
            <a:pPr indent="-274320" lvl="0" marL="274320" rtl="0" algn="l">
              <a:spcBef>
                <a:spcPts val="400"/>
              </a:spcBef>
              <a:spcAft>
                <a:spcPts val="0"/>
              </a:spcAft>
              <a:buSzPts val="1900"/>
              <a:buNone/>
            </a:pPr>
            <a:r>
              <a:rPr lang="en-US" sz="2000">
                <a:latin typeface="Times New Roman"/>
                <a:ea typeface="Times New Roman"/>
                <a:cs typeface="Times New Roman"/>
                <a:sym typeface="Times New Roman"/>
              </a:rPr>
              <a:t>                                         quyết định</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rPr lang="en-US" sz="2000">
                <a:latin typeface="Times New Roman"/>
                <a:ea typeface="Times New Roman"/>
                <a:cs typeface="Times New Roman"/>
                <a:sym typeface="Times New Roman"/>
              </a:rPr>
              <a:t>                                      tác động trở lại</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p:txBody>
      </p:sp>
      <p:sp>
        <p:nvSpPr>
          <p:cNvPr id="1340" name="Google Shape;1340;p64"/>
          <p:cNvSpPr/>
          <p:nvPr/>
        </p:nvSpPr>
        <p:spPr>
          <a:xfrm>
            <a:off x="1752600" y="1600200"/>
            <a:ext cx="1600200" cy="1066800"/>
          </a:xfrm>
          <a:prstGeom prst="roundRect">
            <a:avLst>
              <a:gd fmla="val 16667" name="adj"/>
            </a:avLst>
          </a:prstGeom>
          <a:solidFill>
            <a:srgbClr val="C000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Kinh tế</a:t>
            </a:r>
            <a:endParaRPr sz="1800">
              <a:solidFill>
                <a:schemeClr val="lt1"/>
              </a:solidFill>
              <a:latin typeface="Times New Roman"/>
              <a:ea typeface="Times New Roman"/>
              <a:cs typeface="Times New Roman"/>
              <a:sym typeface="Times New Roman"/>
            </a:endParaRPr>
          </a:p>
        </p:txBody>
      </p:sp>
      <p:cxnSp>
        <p:nvCxnSpPr>
          <p:cNvPr id="1341" name="Google Shape;1341;p64"/>
          <p:cNvCxnSpPr/>
          <p:nvPr/>
        </p:nvCxnSpPr>
        <p:spPr>
          <a:xfrm>
            <a:off x="3657600" y="1905000"/>
            <a:ext cx="2209800" cy="1588"/>
          </a:xfrm>
          <a:prstGeom prst="straightConnector1">
            <a:avLst/>
          </a:prstGeom>
          <a:noFill/>
          <a:ln cap="flat" cmpd="sng" w="9525">
            <a:solidFill>
              <a:srgbClr val="075192"/>
            </a:solidFill>
            <a:prstDash val="solid"/>
            <a:round/>
            <a:headEnd len="sm" w="sm" type="none"/>
            <a:tailEnd len="med" w="med" type="stealth"/>
          </a:ln>
        </p:spPr>
      </p:cxnSp>
      <p:cxnSp>
        <p:nvCxnSpPr>
          <p:cNvPr id="1342" name="Google Shape;1342;p64"/>
          <p:cNvCxnSpPr/>
          <p:nvPr/>
        </p:nvCxnSpPr>
        <p:spPr>
          <a:xfrm rot="10800000">
            <a:off x="3657600" y="2590800"/>
            <a:ext cx="2209800" cy="1588"/>
          </a:xfrm>
          <a:prstGeom prst="straightConnector1">
            <a:avLst/>
          </a:prstGeom>
          <a:noFill/>
          <a:ln cap="flat" cmpd="sng" w="9525">
            <a:solidFill>
              <a:srgbClr val="075192"/>
            </a:solidFill>
            <a:prstDash val="solid"/>
            <a:round/>
            <a:headEnd len="sm" w="sm" type="none"/>
            <a:tailEnd len="med" w="med" type="stealth"/>
          </a:ln>
        </p:spPr>
      </p:cxnSp>
      <p:sp>
        <p:nvSpPr>
          <p:cNvPr id="1343" name="Google Shape;1343;p64"/>
          <p:cNvSpPr/>
          <p:nvPr/>
        </p:nvSpPr>
        <p:spPr>
          <a:xfrm>
            <a:off x="6400800" y="1524000"/>
            <a:ext cx="1752600" cy="11430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Pháp luật</a:t>
            </a:r>
            <a:endParaRPr sz="1800">
              <a:solidFill>
                <a:schemeClr val="lt1"/>
              </a:solidFill>
              <a:latin typeface="Times New Roman"/>
              <a:ea typeface="Times New Roman"/>
              <a:cs typeface="Times New Roman"/>
              <a:sym typeface="Times New Roman"/>
            </a:endParaRPr>
          </a:p>
        </p:txBody>
      </p:sp>
      <p:sp>
        <p:nvSpPr>
          <p:cNvPr id="1344" name="Google Shape;1344;p64"/>
          <p:cNvSpPr/>
          <p:nvPr/>
        </p:nvSpPr>
        <p:spPr>
          <a:xfrm>
            <a:off x="1066800" y="2667000"/>
            <a:ext cx="2133600" cy="1981200"/>
          </a:xfrm>
          <a:prstGeom prst="irregularSeal1">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Cơ sở hạ tầng</a:t>
            </a:r>
            <a:endParaRPr sz="1800">
              <a:solidFill>
                <a:schemeClr val="dk1"/>
              </a:solidFill>
              <a:latin typeface="Times New Roman"/>
              <a:ea typeface="Times New Roman"/>
              <a:cs typeface="Times New Roman"/>
              <a:sym typeface="Times New Roman"/>
            </a:endParaRPr>
          </a:p>
        </p:txBody>
      </p:sp>
      <p:sp>
        <p:nvSpPr>
          <p:cNvPr id="1345" name="Google Shape;1345;p64"/>
          <p:cNvSpPr/>
          <p:nvPr/>
        </p:nvSpPr>
        <p:spPr>
          <a:xfrm>
            <a:off x="6477000" y="2590800"/>
            <a:ext cx="2362200" cy="1828800"/>
          </a:xfrm>
          <a:prstGeom prst="irregularSeal1">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Kiến trúc thượng tầng</a:t>
            </a:r>
            <a:endParaRPr sz="1800">
              <a:solidFill>
                <a:schemeClr val="dk1"/>
              </a:solidFill>
              <a:latin typeface="Times New Roman"/>
              <a:ea typeface="Times New Roman"/>
              <a:cs typeface="Times New Roman"/>
              <a:sym typeface="Times New Roman"/>
            </a:endParaRPr>
          </a:p>
        </p:txBody>
      </p:sp>
      <p:pic>
        <p:nvPicPr>
          <p:cNvPr descr="E:\Bai giang\PL DC\images (5).jpg" id="1346" name="Google Shape;1346;p64"/>
          <p:cNvPicPr preferRelativeResize="0"/>
          <p:nvPr/>
        </p:nvPicPr>
        <p:blipFill rotWithShape="1">
          <a:blip r:embed="rId3">
            <a:alphaModFix/>
          </a:blip>
          <a:srcRect b="0" l="0" r="0" t="0"/>
          <a:stretch/>
        </p:blipFill>
        <p:spPr>
          <a:xfrm>
            <a:off x="3733800" y="3962400"/>
            <a:ext cx="1847850" cy="2466975"/>
          </a:xfrm>
          <a:prstGeom prst="rect">
            <a:avLst/>
          </a:prstGeom>
          <a:noFill/>
          <a:ln>
            <a:noFill/>
          </a:ln>
        </p:spPr>
      </p:pic>
      <p:sp>
        <p:nvSpPr>
          <p:cNvPr id="1347" name="Google Shape;1347;p64"/>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48" name="Google Shape;1348;p6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500"/>
                                        <p:tgtEl>
                                          <p:spTgt spid="1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3"/>
                                        </p:tgtEl>
                                        <p:attrNameLst>
                                          <p:attrName>style.visibility</p:attrName>
                                        </p:attrNameLst>
                                      </p:cBhvr>
                                      <p:to>
                                        <p:strVal val="visible"/>
                                      </p:to>
                                    </p:set>
                                    <p:animEffect filter="fade" transition="in">
                                      <p:cBhvr>
                                        <p:cTn dur="2000"/>
                                        <p:tgtEl>
                                          <p:spTgt spid="1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44"/>
                                        </p:tgtEl>
                                        <p:attrNameLst>
                                          <p:attrName>style.visibility</p:attrName>
                                        </p:attrNameLst>
                                      </p:cBhvr>
                                      <p:to>
                                        <p:strVal val="visible"/>
                                      </p:to>
                                    </p:set>
                                    <p:anim calcmode="lin" valueType="num">
                                      <p:cBhvr additive="base">
                                        <p:cTn dur="500"/>
                                        <p:tgtEl>
                                          <p:spTgt spid="134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5"/>
                                        </p:tgtEl>
                                        <p:attrNameLst>
                                          <p:attrName>style.visibility</p:attrName>
                                        </p:attrNameLst>
                                      </p:cBhvr>
                                      <p:to>
                                        <p:strVal val="visible"/>
                                      </p:to>
                                    </p:set>
                                    <p:animEffect filter="fade" transition="in">
                                      <p:cBhvr>
                                        <p:cTn dur="500"/>
                                        <p:tgtEl>
                                          <p:spTgt spid="1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65"/>
          <p:cNvSpPr txBox="1"/>
          <p:nvPr>
            <p:ph type="title"/>
          </p:nvPr>
        </p:nvSpPr>
        <p:spPr>
          <a:xfrm>
            <a:off x="152400" y="533400"/>
            <a:ext cx="7498080" cy="6397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4.4.1	Pháp luật và kinh tế</a:t>
            </a:r>
            <a:endParaRPr sz="3200">
              <a:latin typeface="Times New Roman"/>
              <a:ea typeface="Times New Roman"/>
              <a:cs typeface="Times New Roman"/>
              <a:sym typeface="Times New Roman"/>
            </a:endParaRPr>
          </a:p>
        </p:txBody>
      </p:sp>
      <p:sp>
        <p:nvSpPr>
          <p:cNvPr id="1354" name="Google Shape;1354;p65"/>
          <p:cNvSpPr/>
          <p:nvPr/>
        </p:nvSpPr>
        <p:spPr>
          <a:xfrm>
            <a:off x="1066800" y="1066800"/>
            <a:ext cx="7867650" cy="5638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Kinh tế quyết định</a:t>
            </a:r>
            <a:endParaRPr b="0" i="0" sz="20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Sự ra đời, thay đổi, bổ sung, hoàn thiện pháp luật</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Tính chất của các quan hệ pháp luật, mức độ và phương pháp điều chỉnh pháp luật</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Các tổ chức thiết chế pháp lý (lập pháp, hành pháp, tư pháp) chịu ảnh hưởng từ chế độ kinh tế</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Kinh tế thay đổi 🡪 sự thay đổi tương ứng trong hệ thống pháp luật</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Pháp luật suy cho cùng là biểu hiện về mặt hình thức pháp lý những nội dung kinh tế</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Pháp luật cần phản ánh đúng những vấn đề kinh tế</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55" name="Google Shape;1355;p65"/>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56" name="Google Shape;1356;p6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66"/>
          <p:cNvSpPr txBox="1"/>
          <p:nvPr>
            <p:ph type="title"/>
          </p:nvPr>
        </p:nvSpPr>
        <p:spPr>
          <a:xfrm>
            <a:off x="304800" y="457200"/>
            <a:ext cx="7498080" cy="411162"/>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Times New Roman"/>
              <a:buNone/>
            </a:pPr>
            <a:r>
              <a:rPr lang="en-US" sz="2800">
                <a:latin typeface="Times New Roman"/>
                <a:ea typeface="Times New Roman"/>
                <a:cs typeface="Times New Roman"/>
                <a:sym typeface="Times New Roman"/>
              </a:rPr>
              <a:t>4.4.1	Pháp luật và kinh tế</a:t>
            </a:r>
            <a:endParaRPr sz="2800">
              <a:latin typeface="Times New Roman"/>
              <a:ea typeface="Times New Roman"/>
              <a:cs typeface="Times New Roman"/>
              <a:sym typeface="Times New Roman"/>
            </a:endParaRPr>
          </a:p>
        </p:txBody>
      </p:sp>
      <p:sp>
        <p:nvSpPr>
          <p:cNvPr id="1362" name="Google Shape;1362;p66"/>
          <p:cNvSpPr/>
          <p:nvPr/>
        </p:nvSpPr>
        <p:spPr>
          <a:xfrm>
            <a:off x="1143000" y="914400"/>
            <a:ext cx="7791450" cy="5867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Pháp luật tác động trở lại kinh tế</a:t>
            </a:r>
            <a:endParaRPr b="0" i="0" sz="20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Tích cực</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(Pháp luật phản ánh đầy đủ, kịp thời tình hình kinh tế đất nước 🡪 thúc đẩy kinh tế phát triển)</a:t>
            </a:r>
            <a:endParaRPr b="0" i="0" sz="1800" u="none" cap="none" strike="noStrike">
              <a:solidFill>
                <a:schemeClr val="dk1"/>
              </a:solidFill>
              <a:latin typeface="Times New Roman"/>
              <a:ea typeface="Times New Roman"/>
              <a:cs typeface="Times New Roman"/>
              <a:sym typeface="Times New Roman"/>
            </a:endParaRPr>
          </a:p>
          <a:p>
            <a:pPr indent="-114300" lvl="3" marL="342900" marR="0" rtl="0" algn="l">
              <a:lnSpc>
                <a:spcPct val="75000"/>
              </a:lnSpc>
              <a:spcBef>
                <a:spcPts val="18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Lực lượng cầm quyền có tư tưởng, quan điểm tiến bộ 🡪 đưa ra chính sách đúng, phù hợp 🡪 kinh tế phát triển</a:t>
            </a:r>
            <a:endParaRPr b="0" i="0" sz="1600" u="none" cap="none" strike="noStrike">
              <a:solidFill>
                <a:schemeClr val="dk1"/>
              </a:solidFill>
              <a:latin typeface="Times New Roman"/>
              <a:ea typeface="Times New Roman"/>
              <a:cs typeface="Times New Roman"/>
              <a:sym typeface="Times New Roman"/>
            </a:endParaRPr>
          </a:p>
          <a:p>
            <a:pPr indent="0" lvl="3" marL="3429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3" marL="342900" marR="0" rtl="0" algn="l">
              <a:lnSpc>
                <a:spcPct val="75000"/>
              </a:lnSpc>
              <a:spcBef>
                <a:spcPts val="18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Ví dụ:  Luật doanh nghiệp, Luật phá sản, pháp luật linh động phù hợp nền kinh tế thị trường…</a:t>
            </a:r>
            <a:endParaRPr b="0" i="0" sz="1600" u="none" cap="none" strike="noStrike">
              <a:solidFill>
                <a:schemeClr val="dk1"/>
              </a:solidFill>
              <a:latin typeface="Times New Roman"/>
              <a:ea typeface="Times New Roman"/>
              <a:cs typeface="Times New Roman"/>
              <a:sym typeface="Times New Roman"/>
            </a:endParaRPr>
          </a:p>
          <a:p>
            <a:pPr indent="0" lvl="3" marL="3429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Tiêu cực</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(Pháp luật phản ánh không đúng,  được xây dựng quá cao hoặc quá thấp so với sự phát triển kinh tế 🡪kìm hãm sự phát triển của kinh tế)</a:t>
            </a:r>
            <a:endParaRPr b="0" i="0" sz="1800" u="none" cap="none" strike="noStrike">
              <a:solidFill>
                <a:schemeClr val="dk1"/>
              </a:solidFill>
              <a:latin typeface="Times New Roman"/>
              <a:ea typeface="Times New Roman"/>
              <a:cs typeface="Times New Roman"/>
              <a:sym typeface="Times New Roman"/>
            </a:endParaRPr>
          </a:p>
          <a:p>
            <a:pPr indent="-114300" lvl="3" marL="342900" marR="0" rtl="0" algn="l">
              <a:lnSpc>
                <a:spcPct val="75000"/>
              </a:lnSpc>
              <a:spcBef>
                <a:spcPts val="18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Ví dụ: cấm Đảng viên kinh doanh, cấm kinh doanh karaoke…</a:t>
            </a:r>
            <a:endParaRPr b="0" i="0" sz="1600" u="none" cap="none" strike="noStrike">
              <a:solidFill>
                <a:schemeClr val="dk1"/>
              </a:solidFill>
              <a:latin typeface="Times New Roman"/>
              <a:ea typeface="Times New Roman"/>
              <a:cs typeface="Times New Roman"/>
              <a:sym typeface="Times New Roman"/>
            </a:endParaRPr>
          </a:p>
          <a:p>
            <a:pPr indent="0" lvl="3" marL="3429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Pháp luật kích thích kinh tế phát triển ở một số mặt nhưng lại kìm hãm sự phát triển kinh tế ở một số mặt khác</a:t>
            </a:r>
            <a:endParaRPr b="0" i="0" sz="1800" u="none" cap="none" strike="noStrike">
              <a:solidFill>
                <a:schemeClr val="dk1"/>
              </a:solidFill>
              <a:latin typeface="Times New Roman"/>
              <a:ea typeface="Times New Roman"/>
              <a:cs typeface="Times New Roman"/>
              <a:sym typeface="Times New Roman"/>
            </a:endParaRPr>
          </a:p>
          <a:p>
            <a:pPr indent="-114300" lvl="3" marL="3429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Ví dụ:pháp luật trong các thời kỳ  quá độ</a:t>
            </a:r>
            <a:endParaRPr b="0" i="0" sz="1800" u="none" cap="none" strike="noStrike">
              <a:solidFill>
                <a:schemeClr val="dk1"/>
              </a:solidFill>
              <a:latin typeface="Times New Roman"/>
              <a:ea typeface="Times New Roman"/>
              <a:cs typeface="Times New Roman"/>
              <a:sym typeface="Times New Roman"/>
            </a:endParaRPr>
          </a:p>
          <a:p>
            <a:pPr indent="0" lvl="3" marL="3429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63" name="Google Shape;1363;p66"/>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64" name="Google Shape;1364;p6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67"/>
          <p:cNvSpPr txBox="1"/>
          <p:nvPr>
            <p:ph type="title"/>
          </p:nvPr>
        </p:nvSpPr>
        <p:spPr>
          <a:xfrm>
            <a:off x="914400" y="304800"/>
            <a:ext cx="7498080" cy="487362"/>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Times New Roman"/>
              <a:buNone/>
            </a:pPr>
            <a:r>
              <a:rPr lang="en-US" sz="3200">
                <a:solidFill>
                  <a:srgbClr val="FF0000"/>
                </a:solidFill>
                <a:latin typeface="Times New Roman"/>
                <a:ea typeface="Times New Roman"/>
                <a:cs typeface="Times New Roman"/>
                <a:sym typeface="Times New Roman"/>
              </a:rPr>
              <a:t>4.4.2	Pháp luật và chính trị</a:t>
            </a:r>
            <a:endParaRPr sz="3200">
              <a:solidFill>
                <a:srgbClr val="FF0000"/>
              </a:solidFill>
              <a:latin typeface="Times New Roman"/>
              <a:ea typeface="Times New Roman"/>
              <a:cs typeface="Times New Roman"/>
              <a:sym typeface="Times New Roman"/>
            </a:endParaRPr>
          </a:p>
        </p:txBody>
      </p:sp>
      <p:sp>
        <p:nvSpPr>
          <p:cNvPr id="1370" name="Google Shape;1370;p67"/>
          <p:cNvSpPr txBox="1"/>
          <p:nvPr>
            <p:ph idx="1" type="body"/>
          </p:nvPr>
        </p:nvSpPr>
        <p:spPr>
          <a:xfrm>
            <a:off x="1435608" y="838200"/>
            <a:ext cx="7498080" cy="579120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pic>
        <p:nvPicPr>
          <p:cNvPr descr="E:\Bai giang\PL DC\images (14).jpg" id="1371" name="Google Shape;1371;p67"/>
          <p:cNvPicPr preferRelativeResize="0"/>
          <p:nvPr/>
        </p:nvPicPr>
        <p:blipFill rotWithShape="1">
          <a:blip r:embed="rId3">
            <a:alphaModFix/>
          </a:blip>
          <a:srcRect b="0" l="0" r="0" t="0"/>
          <a:stretch/>
        </p:blipFill>
        <p:spPr>
          <a:xfrm>
            <a:off x="3505200" y="4953000"/>
            <a:ext cx="2762250" cy="1657350"/>
          </a:xfrm>
          <a:prstGeom prst="rect">
            <a:avLst/>
          </a:prstGeom>
          <a:noFill/>
          <a:ln>
            <a:noFill/>
          </a:ln>
        </p:spPr>
      </p:pic>
      <p:sp>
        <p:nvSpPr>
          <p:cNvPr id="1372" name="Google Shape;1372;p67"/>
          <p:cNvSpPr/>
          <p:nvPr/>
        </p:nvSpPr>
        <p:spPr>
          <a:xfrm>
            <a:off x="2209800" y="762000"/>
            <a:ext cx="6324600" cy="1066800"/>
          </a:xfrm>
          <a:prstGeom prst="horizontalScroll">
            <a:avLst>
              <a:gd fmla="val 12500"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Chính trị là toàn bộ hoạt động liên quan đến giành, giữ, tổ chức quyền lực.</a:t>
            </a:r>
            <a:endParaRPr/>
          </a:p>
        </p:txBody>
      </p:sp>
      <p:sp>
        <p:nvSpPr>
          <p:cNvPr id="1373" name="Google Shape;1373;p67"/>
          <p:cNvSpPr/>
          <p:nvPr/>
        </p:nvSpPr>
        <p:spPr>
          <a:xfrm>
            <a:off x="1371600" y="2209800"/>
            <a:ext cx="1905000" cy="914400"/>
          </a:xfrm>
          <a:prstGeom prst="roundRect">
            <a:avLst>
              <a:gd fmla="val 16667" name="adj"/>
            </a:avLst>
          </a:prstGeom>
          <a:solidFill>
            <a:srgbClr val="C8FBE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546321"/>
                </a:solidFill>
                <a:latin typeface="Times New Roman"/>
                <a:ea typeface="Times New Roman"/>
                <a:cs typeface="Times New Roman"/>
                <a:sym typeface="Times New Roman"/>
              </a:rPr>
              <a:t>Pháp luật</a:t>
            </a:r>
            <a:endParaRPr sz="2400">
              <a:solidFill>
                <a:srgbClr val="546321"/>
              </a:solidFill>
              <a:latin typeface="Times New Roman"/>
              <a:ea typeface="Times New Roman"/>
              <a:cs typeface="Times New Roman"/>
              <a:sym typeface="Times New Roman"/>
            </a:endParaRPr>
          </a:p>
        </p:txBody>
      </p:sp>
      <p:sp>
        <p:nvSpPr>
          <p:cNvPr id="1374" name="Google Shape;1374;p67"/>
          <p:cNvSpPr/>
          <p:nvPr/>
        </p:nvSpPr>
        <p:spPr>
          <a:xfrm>
            <a:off x="6629400" y="2286000"/>
            <a:ext cx="1905000" cy="838200"/>
          </a:xfrm>
          <a:prstGeom prst="roundRect">
            <a:avLst>
              <a:gd fmla="val 16667" name="adj"/>
            </a:avLst>
          </a:prstGeom>
          <a:solidFill>
            <a:srgbClr val="C8FBE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546321"/>
                </a:solidFill>
                <a:latin typeface="Times New Roman"/>
                <a:ea typeface="Times New Roman"/>
                <a:cs typeface="Times New Roman"/>
                <a:sym typeface="Times New Roman"/>
              </a:rPr>
              <a:t>Chính trị</a:t>
            </a:r>
            <a:endParaRPr sz="2400">
              <a:solidFill>
                <a:srgbClr val="546321"/>
              </a:solidFill>
              <a:latin typeface="Times New Roman"/>
              <a:ea typeface="Times New Roman"/>
              <a:cs typeface="Times New Roman"/>
              <a:sym typeface="Times New Roman"/>
            </a:endParaRPr>
          </a:p>
        </p:txBody>
      </p:sp>
      <p:cxnSp>
        <p:nvCxnSpPr>
          <p:cNvPr id="1375" name="Google Shape;1375;p67"/>
          <p:cNvCxnSpPr/>
          <p:nvPr/>
        </p:nvCxnSpPr>
        <p:spPr>
          <a:xfrm>
            <a:off x="3581400" y="2667000"/>
            <a:ext cx="2743200" cy="1588"/>
          </a:xfrm>
          <a:prstGeom prst="straightConnector1">
            <a:avLst/>
          </a:prstGeom>
          <a:noFill/>
          <a:ln cap="flat" cmpd="sng" w="9525">
            <a:solidFill>
              <a:srgbClr val="075192"/>
            </a:solidFill>
            <a:prstDash val="solid"/>
            <a:round/>
            <a:headEnd len="sm" w="sm" type="none"/>
            <a:tailEnd len="sm" w="sm" type="none"/>
          </a:ln>
        </p:spPr>
      </p:cxnSp>
      <p:sp>
        <p:nvSpPr>
          <p:cNvPr id="1376" name="Google Shape;1376;p67"/>
          <p:cNvSpPr/>
          <p:nvPr/>
        </p:nvSpPr>
        <p:spPr>
          <a:xfrm>
            <a:off x="3581400" y="2133600"/>
            <a:ext cx="2819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mối quan hệ biện chứng</a:t>
            </a:r>
            <a:endParaRPr sz="1800">
              <a:solidFill>
                <a:schemeClr val="dk1"/>
              </a:solidFill>
              <a:latin typeface="Arial"/>
              <a:ea typeface="Arial"/>
              <a:cs typeface="Arial"/>
              <a:sym typeface="Arial"/>
            </a:endParaRPr>
          </a:p>
        </p:txBody>
      </p:sp>
      <p:sp>
        <p:nvSpPr>
          <p:cNvPr id="1377" name="Google Shape;1377;p67"/>
          <p:cNvSpPr/>
          <p:nvPr/>
        </p:nvSpPr>
        <p:spPr>
          <a:xfrm>
            <a:off x="3886200" y="2819400"/>
            <a:ext cx="212109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mang tính trực tiếp</a:t>
            </a:r>
            <a:endParaRPr sz="1800">
              <a:solidFill>
                <a:schemeClr val="dk1"/>
              </a:solidFill>
              <a:latin typeface="Arial"/>
              <a:ea typeface="Arial"/>
              <a:cs typeface="Arial"/>
              <a:sym typeface="Arial"/>
            </a:endParaRPr>
          </a:p>
        </p:txBody>
      </p:sp>
      <p:sp>
        <p:nvSpPr>
          <p:cNvPr id="1378" name="Google Shape;1378;p67"/>
          <p:cNvSpPr/>
          <p:nvPr/>
        </p:nvSpPr>
        <p:spPr>
          <a:xfrm>
            <a:off x="2286000" y="3124200"/>
            <a:ext cx="76200" cy="609600"/>
          </a:xfrm>
          <a:prstGeom prst="down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79" name="Google Shape;1379;p67"/>
          <p:cNvSpPr/>
          <p:nvPr/>
        </p:nvSpPr>
        <p:spPr>
          <a:xfrm>
            <a:off x="1676400" y="3733800"/>
            <a:ext cx="2590800" cy="1066800"/>
          </a:xfrm>
          <a:prstGeom prst="ellipse">
            <a:avLst/>
          </a:prstGeom>
          <a:solidFill>
            <a:srgbClr val="C8F9F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546321"/>
                </a:solidFill>
                <a:latin typeface="Times New Roman"/>
                <a:ea typeface="Times New Roman"/>
                <a:cs typeface="Times New Roman"/>
                <a:sym typeface="Times New Roman"/>
              </a:rPr>
              <a:t>Pháp luật của nhà nước</a:t>
            </a:r>
            <a:endParaRPr sz="2000">
              <a:solidFill>
                <a:srgbClr val="546321"/>
              </a:solidFill>
              <a:latin typeface="Times New Roman"/>
              <a:ea typeface="Times New Roman"/>
              <a:cs typeface="Times New Roman"/>
              <a:sym typeface="Times New Roman"/>
            </a:endParaRPr>
          </a:p>
        </p:txBody>
      </p:sp>
      <p:sp>
        <p:nvSpPr>
          <p:cNvPr id="1380" name="Google Shape;1380;p67"/>
          <p:cNvSpPr/>
          <p:nvPr/>
        </p:nvSpPr>
        <p:spPr>
          <a:xfrm>
            <a:off x="7620000" y="3200400"/>
            <a:ext cx="45719" cy="609600"/>
          </a:xfrm>
          <a:prstGeom prst="downArrow">
            <a:avLst>
              <a:gd fmla="val 50000"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1" name="Google Shape;1381;p67"/>
          <p:cNvSpPr/>
          <p:nvPr/>
        </p:nvSpPr>
        <p:spPr>
          <a:xfrm>
            <a:off x="5486400" y="3733800"/>
            <a:ext cx="2819400" cy="1143000"/>
          </a:xfrm>
          <a:prstGeom prst="ellipse">
            <a:avLst/>
          </a:prstGeom>
          <a:solidFill>
            <a:srgbClr val="C8F9F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rgbClr val="546321"/>
                </a:solidFill>
                <a:latin typeface="Times New Roman"/>
                <a:ea typeface="Times New Roman"/>
                <a:cs typeface="Times New Roman"/>
                <a:sym typeface="Times New Roman"/>
              </a:rPr>
              <a:t>Đường lối, chính sách của Đảng cầm quyền</a:t>
            </a:r>
            <a:endParaRPr sz="2000">
              <a:solidFill>
                <a:srgbClr val="546321"/>
              </a:solidFill>
              <a:latin typeface="Times New Roman"/>
              <a:ea typeface="Times New Roman"/>
              <a:cs typeface="Times New Roman"/>
              <a:sym typeface="Times New Roman"/>
            </a:endParaRPr>
          </a:p>
        </p:txBody>
      </p:sp>
      <p:sp>
        <p:nvSpPr>
          <p:cNvPr id="1382" name="Google Shape;1382;p6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83" name="Google Shape;1383;p6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2"/>
                                        </p:tgtEl>
                                        <p:attrNameLst>
                                          <p:attrName>style.visibility</p:attrName>
                                        </p:attrNameLst>
                                      </p:cBhvr>
                                      <p:to>
                                        <p:strVal val="visible"/>
                                      </p:to>
                                    </p:set>
                                    <p:animEffect filter="fade" transition="in">
                                      <p:cBhvr>
                                        <p:cTn dur="500"/>
                                        <p:tgtEl>
                                          <p:spTgt spid="1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3"/>
                                        </p:tgtEl>
                                        <p:attrNameLst>
                                          <p:attrName>style.visibility</p:attrName>
                                        </p:attrNameLst>
                                      </p:cBhvr>
                                      <p:to>
                                        <p:strVal val="visible"/>
                                      </p:to>
                                    </p:set>
                                    <p:animEffect filter="fade" transition="in">
                                      <p:cBhvr>
                                        <p:cTn dur="500"/>
                                        <p:tgtEl>
                                          <p:spTgt spid="1373"/>
                                        </p:tgtEl>
                                      </p:cBhvr>
                                    </p:animEffect>
                                  </p:childTnLst>
                                </p:cTn>
                              </p:par>
                              <p:par>
                                <p:cTn fill="hold" nodeType="withEffect" presetClass="entr" presetID="10" presetSubtype="0">
                                  <p:stCondLst>
                                    <p:cond delay="0"/>
                                  </p:stCondLst>
                                  <p:childTnLst>
                                    <p:set>
                                      <p:cBhvr>
                                        <p:cTn dur="1" fill="hold">
                                          <p:stCondLst>
                                            <p:cond delay="0"/>
                                          </p:stCondLst>
                                        </p:cTn>
                                        <p:tgtEl>
                                          <p:spTgt spid="1374"/>
                                        </p:tgtEl>
                                        <p:attrNameLst>
                                          <p:attrName>style.visibility</p:attrName>
                                        </p:attrNameLst>
                                      </p:cBhvr>
                                      <p:to>
                                        <p:strVal val="visible"/>
                                      </p:to>
                                    </p:set>
                                    <p:animEffect filter="fade" transition="in">
                                      <p:cBhvr>
                                        <p:cTn dur="500"/>
                                        <p:tgtEl>
                                          <p:spTgt spid="1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6">
                                            <p:txEl>
                                              <p:pRg end="0" st="0"/>
                                            </p:txEl>
                                          </p:spTgt>
                                        </p:tgtEl>
                                        <p:attrNameLst>
                                          <p:attrName>style.visibility</p:attrName>
                                        </p:attrNameLst>
                                      </p:cBhvr>
                                      <p:to>
                                        <p:strVal val="visible"/>
                                      </p:to>
                                    </p:set>
                                    <p:animEffect filter="fade" transition="in">
                                      <p:cBhvr>
                                        <p:cTn dur="500"/>
                                        <p:tgtEl>
                                          <p:spTgt spid="13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7">
                                            <p:txEl>
                                              <p:pRg end="0" st="0"/>
                                            </p:txEl>
                                          </p:spTgt>
                                        </p:tgtEl>
                                        <p:attrNameLst>
                                          <p:attrName>style.visibility</p:attrName>
                                        </p:attrNameLst>
                                      </p:cBhvr>
                                      <p:to>
                                        <p:strVal val="visible"/>
                                      </p:to>
                                    </p:set>
                                    <p:animEffect filter="fade" transition="in">
                                      <p:cBhvr>
                                        <p:cTn dur="500"/>
                                        <p:tgtEl>
                                          <p:spTgt spid="13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9"/>
                                        </p:tgtEl>
                                        <p:attrNameLst>
                                          <p:attrName>style.visibility</p:attrName>
                                        </p:attrNameLst>
                                      </p:cBhvr>
                                      <p:to>
                                        <p:strVal val="visible"/>
                                      </p:to>
                                    </p:set>
                                    <p:animEffect filter="fade" transition="in">
                                      <p:cBhvr>
                                        <p:cTn dur="500"/>
                                        <p:tgtEl>
                                          <p:spTgt spid="1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1"/>
                                        </p:tgtEl>
                                        <p:attrNameLst>
                                          <p:attrName>style.visibility</p:attrName>
                                        </p:attrNameLst>
                                      </p:cBhvr>
                                      <p:to>
                                        <p:strVal val="visible"/>
                                      </p:to>
                                    </p:set>
                                    <p:animEffect filter="fade" transition="in">
                                      <p:cBhvr>
                                        <p:cTn dur="500"/>
                                        <p:tgtEl>
                                          <p:spTgt spid="1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68"/>
          <p:cNvSpPr txBox="1"/>
          <p:nvPr>
            <p:ph type="title"/>
          </p:nvPr>
        </p:nvSpPr>
        <p:spPr>
          <a:xfrm>
            <a:off x="685800" y="0"/>
            <a:ext cx="7498080" cy="4873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4.4.2Pháp luật và chính trị</a:t>
            </a:r>
            <a:endParaRPr sz="2800">
              <a:solidFill>
                <a:srgbClr val="FF0000"/>
              </a:solidFill>
              <a:latin typeface="Times New Roman"/>
              <a:ea typeface="Times New Roman"/>
              <a:cs typeface="Times New Roman"/>
              <a:sym typeface="Times New Roman"/>
            </a:endParaRPr>
          </a:p>
        </p:txBody>
      </p:sp>
      <p:sp>
        <p:nvSpPr>
          <p:cNvPr id="1389" name="Google Shape;1389;p68"/>
          <p:cNvSpPr/>
          <p:nvPr/>
        </p:nvSpPr>
        <p:spPr>
          <a:xfrm>
            <a:off x="1066800" y="457200"/>
            <a:ext cx="3358676" cy="1847272"/>
          </a:xfrm>
          <a:prstGeom prst="roundRect">
            <a:avLst>
              <a:gd fmla="val 16667" name="adj"/>
            </a:avLst>
          </a:prstGeom>
          <a:solidFill>
            <a:schemeClr val="accent3"/>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Arial"/>
                <a:ea typeface="Arial"/>
                <a:cs typeface="Arial"/>
                <a:sym typeface="Arial"/>
              </a:rPr>
              <a:t>Chính trị giữ vai trò chỉ đạo đối với nội dung và phương hướng phát triển của pháp luật</a:t>
            </a:r>
            <a:endParaRPr sz="1800">
              <a:solidFill>
                <a:schemeClr val="dk1"/>
              </a:solidFill>
              <a:latin typeface="Arial"/>
              <a:ea typeface="Arial"/>
              <a:cs typeface="Arial"/>
              <a:sym typeface="Arial"/>
            </a:endParaRPr>
          </a:p>
        </p:txBody>
      </p:sp>
      <p:sp>
        <p:nvSpPr>
          <p:cNvPr id="1390" name="Google Shape;1390;p68"/>
          <p:cNvSpPr/>
          <p:nvPr/>
        </p:nvSpPr>
        <p:spPr>
          <a:xfrm rot="5400000">
            <a:off x="5181178" y="-298502"/>
            <a:ext cx="1847272" cy="3358676"/>
          </a:xfrm>
          <a:prstGeom prst="round2SameRect">
            <a:avLst>
              <a:gd fmla="val 16667" name="adj1"/>
              <a:gd fmla="val 0" name="adj2"/>
            </a:avLst>
          </a:prstGeom>
          <a:solidFill>
            <a:srgbClr val="CAEEF1">
              <a:alpha val="89803"/>
            </a:srgbClr>
          </a:solidFill>
          <a:ln cap="flat" cmpd="sng" w="25400">
            <a:solidFill>
              <a:srgbClr val="CAEEF1">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68"/>
          <p:cNvSpPr txBox="1"/>
          <p:nvPr/>
        </p:nvSpPr>
        <p:spPr>
          <a:xfrm>
            <a:off x="4425473" y="547378"/>
            <a:ext cx="3268499" cy="1666919"/>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Chính trị là khâu trung gian để chuyển tải những nhu cầu, đòi hỏi của kinh tế đến với pháp luật. </a:t>
            </a:r>
            <a:endParaRPr b="0" i="0" sz="1400" u="none" cap="none" strike="noStrike">
              <a:solidFill>
                <a:schemeClr val="dk1"/>
              </a:solidFill>
              <a:latin typeface="Arial"/>
              <a:ea typeface="Arial"/>
              <a:cs typeface="Arial"/>
              <a:sym typeface="Arial"/>
            </a:endParaRPr>
          </a:p>
          <a:p>
            <a:pPr indent="-114300" lvl="1" marL="114300" marR="0" rtl="0" algn="l">
              <a:lnSpc>
                <a:spcPct val="75000"/>
              </a:lnSpc>
              <a:spcBef>
                <a:spcPts val="14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Hệ thống pháp luật chịu ảnh hưởng rất lớn bởi hệ thống chính trị của quốc gia đó, đặc biệt đối với các ngành luật như hiến pháp, hình sự, hành chính</a:t>
            </a:r>
            <a:endParaRPr b="0" i="0" sz="1400" u="none" cap="none" strike="noStrike">
              <a:solidFill>
                <a:schemeClr val="dk1"/>
              </a:solidFill>
              <a:latin typeface="Arial"/>
              <a:ea typeface="Arial"/>
              <a:cs typeface="Arial"/>
              <a:sym typeface="Arial"/>
            </a:endParaRPr>
          </a:p>
          <a:p>
            <a:pPr indent="-114300" lvl="1" marL="114300" marR="0" rtl="0" algn="l">
              <a:lnSpc>
                <a:spcPct val="75000"/>
              </a:lnSpc>
              <a:spcBef>
                <a:spcPts val="14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Phương hướng phát triển của pháp luật cũng do đường lối chính sách của lực lượng cầm quyền chỉ đạo, chính là do chính trị chỉ đạo</a:t>
            </a:r>
            <a:endParaRPr b="0" i="0" sz="1400" u="none" cap="none" strike="noStrike">
              <a:solidFill>
                <a:schemeClr val="dk1"/>
              </a:solidFill>
              <a:latin typeface="Arial"/>
              <a:ea typeface="Arial"/>
              <a:cs typeface="Arial"/>
              <a:sym typeface="Arial"/>
            </a:endParaRPr>
          </a:p>
        </p:txBody>
      </p:sp>
      <p:sp>
        <p:nvSpPr>
          <p:cNvPr id="1392" name="Google Shape;1392;p68"/>
          <p:cNvSpPr/>
          <p:nvPr/>
        </p:nvSpPr>
        <p:spPr>
          <a:xfrm>
            <a:off x="1066800" y="3055119"/>
            <a:ext cx="3358676" cy="900157"/>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Arial"/>
                <a:ea typeface="Arial"/>
                <a:cs typeface="Arial"/>
                <a:sym typeface="Arial"/>
              </a:rPr>
              <a:t>Chính trị thay đổi thì pháp luật thay đổi</a:t>
            </a:r>
            <a:endParaRPr sz="1800">
              <a:solidFill>
                <a:schemeClr val="dk1"/>
              </a:solidFill>
              <a:latin typeface="Arial"/>
              <a:ea typeface="Arial"/>
              <a:cs typeface="Arial"/>
              <a:sym typeface="Arial"/>
            </a:endParaRPr>
          </a:p>
        </p:txBody>
      </p:sp>
      <p:sp>
        <p:nvSpPr>
          <p:cNvPr id="1393" name="Google Shape;1393;p68"/>
          <p:cNvSpPr/>
          <p:nvPr/>
        </p:nvSpPr>
        <p:spPr>
          <a:xfrm rot="5400000">
            <a:off x="5654735" y="1825860"/>
            <a:ext cx="900157" cy="3358676"/>
          </a:xfrm>
          <a:prstGeom prst="round2SameRect">
            <a:avLst>
              <a:gd fmla="val 16667" name="adj1"/>
              <a:gd fmla="val 0" name="adj2"/>
            </a:avLst>
          </a:prstGeom>
          <a:solidFill>
            <a:srgbClr val="CAEDDE">
              <a:alpha val="89803"/>
            </a:srgbClr>
          </a:solidFill>
          <a:ln cap="flat" cmpd="sng" w="25400">
            <a:solidFill>
              <a:srgbClr val="CAEDDE">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68"/>
          <p:cNvSpPr txBox="1"/>
          <p:nvPr/>
        </p:nvSpPr>
        <p:spPr>
          <a:xfrm>
            <a:off x="4425466" y="3099052"/>
            <a:ext cx="3314734" cy="812273"/>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Sự thay đổi của chính trị sớm hay muộn đều dẫn đến sự thay đổi trong pháp luật vì pháp luật là một trong những hình thức thể hiện đường lối, chính sách của các lực lượng chính trị cầm quyền trong đất nước</a:t>
            </a:r>
            <a:endParaRPr b="0" i="0" sz="1400" u="none" cap="none" strike="noStrike">
              <a:solidFill>
                <a:schemeClr val="dk1"/>
              </a:solidFill>
              <a:latin typeface="Arial"/>
              <a:ea typeface="Arial"/>
              <a:cs typeface="Arial"/>
              <a:sym typeface="Arial"/>
            </a:endParaRPr>
          </a:p>
        </p:txBody>
      </p:sp>
      <p:sp>
        <p:nvSpPr>
          <p:cNvPr id="1395" name="Google Shape;1395;p68"/>
          <p:cNvSpPr/>
          <p:nvPr/>
        </p:nvSpPr>
        <p:spPr>
          <a:xfrm>
            <a:off x="1066800" y="4544279"/>
            <a:ext cx="3358676" cy="2170563"/>
          </a:xfrm>
          <a:prstGeom prst="roundRect">
            <a:avLst>
              <a:gd fmla="val 16667" name="adj"/>
            </a:avLst>
          </a:prstGeom>
          <a:solidFill>
            <a:schemeClr val="accent3"/>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Arial"/>
                <a:ea typeface="Arial"/>
                <a:cs typeface="Arial"/>
                <a:sym typeface="Arial"/>
              </a:rPr>
              <a:t>Pháp luật là một hình thức biểu hiện tập trung của chính trị và là phương tiện để thực hiện hóa mục tiêu, chính sách của lực lượng cầm quyền</a:t>
            </a:r>
            <a:endParaRPr sz="1800">
              <a:solidFill>
                <a:schemeClr val="dk1"/>
              </a:solidFill>
              <a:latin typeface="Arial"/>
              <a:ea typeface="Arial"/>
              <a:cs typeface="Arial"/>
              <a:sym typeface="Arial"/>
            </a:endParaRPr>
          </a:p>
        </p:txBody>
      </p:sp>
      <p:sp>
        <p:nvSpPr>
          <p:cNvPr id="1396" name="Google Shape;1396;p68"/>
          <p:cNvSpPr/>
          <p:nvPr/>
        </p:nvSpPr>
        <p:spPr>
          <a:xfrm rot="5400000">
            <a:off x="5019532" y="3950223"/>
            <a:ext cx="2170563" cy="3358676"/>
          </a:xfrm>
          <a:prstGeom prst="round2SameRect">
            <a:avLst>
              <a:gd fmla="val 16667" name="adj1"/>
              <a:gd fmla="val 0" name="adj2"/>
            </a:avLst>
          </a:prstGeom>
          <a:solidFill>
            <a:srgbClr val="CAEEF1">
              <a:alpha val="89803"/>
            </a:srgbClr>
          </a:solidFill>
          <a:ln cap="flat" cmpd="sng" w="25400">
            <a:solidFill>
              <a:srgbClr val="CAEEF1">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68"/>
          <p:cNvSpPr txBox="1"/>
          <p:nvPr/>
        </p:nvSpPr>
        <p:spPr>
          <a:xfrm>
            <a:off x="4425468" y="4650215"/>
            <a:ext cx="3252718" cy="1958647"/>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PL ghi nhận yêu cầu, nội dung chính trị của giai cấp cầm quyền</a:t>
            </a:r>
            <a:endParaRPr b="0" i="0" sz="1400" u="none" cap="none" strike="noStrike">
              <a:solidFill>
                <a:schemeClr val="dk1"/>
              </a:solidFill>
              <a:latin typeface="Arial"/>
              <a:ea typeface="Arial"/>
              <a:cs typeface="Arial"/>
              <a:sym typeface="Arial"/>
            </a:endParaRPr>
          </a:p>
          <a:p>
            <a:pPr indent="-114300" lvl="1" marL="114300" marR="0" rtl="0" algn="l">
              <a:lnSpc>
                <a:spcPct val="75000"/>
              </a:lnSpc>
              <a:spcBef>
                <a:spcPts val="140"/>
              </a:spcBef>
              <a:spcAft>
                <a:spcPts val="0"/>
              </a:spcAft>
              <a:buClr>
                <a:srgbClr val="FF0000"/>
              </a:buClr>
              <a:buSzPts val="1400"/>
              <a:buFont typeface="Arial"/>
              <a:buChar char="•"/>
            </a:pPr>
            <a:r>
              <a:rPr b="0" i="0" lang="en-US" sz="1400" u="none" cap="none" strike="noStrike">
                <a:solidFill>
                  <a:srgbClr val="FF0000"/>
                </a:solidFill>
                <a:latin typeface="Arial"/>
                <a:ea typeface="Arial"/>
                <a:cs typeface="Arial"/>
                <a:sym typeface="Arial"/>
              </a:rPr>
              <a:t>Sự gắn bó mật thiết giữa pháp luật với nhà nước chính là biểu hiện sự liên hệ giữa pháp luật và chính trị</a:t>
            </a:r>
            <a:endParaRPr b="0" i="0" sz="1400" u="none" cap="none" strike="noStrike">
              <a:solidFill>
                <a:srgbClr val="FF0000"/>
              </a:solidFill>
              <a:latin typeface="Arial"/>
              <a:ea typeface="Arial"/>
              <a:cs typeface="Arial"/>
              <a:sym typeface="Arial"/>
            </a:endParaRPr>
          </a:p>
          <a:p>
            <a:pPr indent="-114300" lvl="1" marL="114300" marR="0" rtl="0" algn="l">
              <a:lnSpc>
                <a:spcPct val="75000"/>
              </a:lnSpc>
              <a:spcBef>
                <a:spcPts val="14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PL thể hiện đường lối chính trị thông qua việc ghi nhận các chính sách, mục tiêu của lực lượng chính trị</a:t>
            </a:r>
            <a:endParaRPr b="0" i="0" sz="1400" u="none" cap="none" strike="noStrike">
              <a:solidFill>
                <a:schemeClr val="dk1"/>
              </a:solidFill>
              <a:latin typeface="Arial"/>
              <a:ea typeface="Arial"/>
              <a:cs typeface="Arial"/>
              <a:sym typeface="Arial"/>
            </a:endParaRPr>
          </a:p>
          <a:p>
            <a:pPr indent="-114300" lvl="1" marL="114300" marR="0" rtl="0" algn="l">
              <a:lnSpc>
                <a:spcPct val="75000"/>
              </a:lnSpc>
              <a:spcBef>
                <a:spcPts val="140"/>
              </a:spcBef>
              <a:spcAft>
                <a:spcPts val="0"/>
              </a:spcAft>
              <a:buClr>
                <a:srgbClr val="FF0000"/>
              </a:buClr>
              <a:buSzPts val="1400"/>
              <a:buFont typeface="Arial"/>
              <a:buChar char="•"/>
            </a:pPr>
            <a:r>
              <a:rPr b="0" i="0" lang="en-US" sz="1400" u="none" cap="none" strike="noStrike">
                <a:solidFill>
                  <a:srgbClr val="FF0000"/>
                </a:solidFill>
                <a:latin typeface="Arial"/>
                <a:ea typeface="Arial"/>
                <a:cs typeface="Arial"/>
                <a:sym typeface="Arial"/>
              </a:rPr>
              <a:t>PL quy định địa vị thống trị của lực lượng cầm quyền, sự liên minh giữa các giai cấp tầng lớp trong xa hội</a:t>
            </a:r>
            <a:endParaRPr b="0" i="0" sz="1400" u="none" cap="none" strike="noStrike">
              <a:solidFill>
                <a:srgbClr val="FF0000"/>
              </a:solidFill>
              <a:latin typeface="Arial"/>
              <a:ea typeface="Arial"/>
              <a:cs typeface="Arial"/>
              <a:sym typeface="Arial"/>
            </a:endParaRPr>
          </a:p>
          <a:p>
            <a:pPr indent="-114300" lvl="1" marL="114300" marR="0" rtl="0" algn="l">
              <a:lnSpc>
                <a:spcPct val="75000"/>
              </a:lnSpc>
              <a:spcBef>
                <a:spcPts val="14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Dưới hình thức pháp luật, đường lối chính trị trở thành phổ biến, có tính bắt buộc chung đối với toàn xã hội và được bảo đảm thực hiện bằng các biện pháp nhà nước</a:t>
            </a:r>
            <a:endParaRPr b="0" i="0" sz="1400" u="none" cap="none" strike="noStrike">
              <a:solidFill>
                <a:schemeClr val="dk1"/>
              </a:solidFill>
              <a:latin typeface="Arial"/>
              <a:ea typeface="Arial"/>
              <a:cs typeface="Arial"/>
              <a:sym typeface="Arial"/>
            </a:endParaRPr>
          </a:p>
        </p:txBody>
      </p:sp>
      <p:sp>
        <p:nvSpPr>
          <p:cNvPr id="1398" name="Google Shape;1398;p6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399" name="Google Shape;1399;p6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69"/>
          <p:cNvSpPr txBox="1"/>
          <p:nvPr>
            <p:ph type="title"/>
          </p:nvPr>
        </p:nvSpPr>
        <p:spPr>
          <a:xfrm>
            <a:off x="685800" y="381000"/>
            <a:ext cx="7498080" cy="762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2400"/>
              <a:buFont typeface="Times New Roman"/>
              <a:buNone/>
            </a:pPr>
            <a:r>
              <a:rPr lang="en-US" sz="2400">
                <a:solidFill>
                  <a:srgbClr val="FF0000"/>
                </a:solidFill>
                <a:latin typeface="Times New Roman"/>
                <a:ea typeface="Times New Roman"/>
                <a:cs typeface="Times New Roman"/>
                <a:sym typeface="Times New Roman"/>
              </a:rPr>
              <a:t>4.4.3 Pháp luật với đạo đức</a:t>
            </a:r>
            <a:endParaRPr b="1" sz="2400">
              <a:solidFill>
                <a:srgbClr val="FF0000"/>
              </a:solidFill>
            </a:endParaRPr>
          </a:p>
        </p:txBody>
      </p:sp>
      <p:sp>
        <p:nvSpPr>
          <p:cNvPr id="1405" name="Google Shape;1405;p69"/>
          <p:cNvSpPr/>
          <p:nvPr>
            <p:ph idx="1" type="body"/>
          </p:nvPr>
        </p:nvSpPr>
        <p:spPr>
          <a:xfrm>
            <a:off x="4648200" y="914400"/>
            <a:ext cx="3581400" cy="2057400"/>
          </a:xfrm>
          <a:prstGeom prst="wedgeRoundRectCallout">
            <a:avLst>
              <a:gd fmla="val 38657" name="adj1"/>
              <a:gd fmla="val 85019" name="adj2"/>
              <a:gd fmla="val 16667" name="adj3"/>
            </a:avLst>
          </a:prstGeom>
          <a:solidFill>
            <a:srgbClr val="C4EEFF"/>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normAutofit/>
          </a:bodyPr>
          <a:lstStyle/>
          <a:p>
            <a:pPr indent="-274320" lvl="0" marL="274320" rtl="0" algn="l">
              <a:spcBef>
                <a:spcPts val="0"/>
              </a:spcBef>
              <a:spcAft>
                <a:spcPts val="0"/>
              </a:spcAft>
              <a:buSzPts val="1900"/>
              <a:buFont typeface="Times New Roman"/>
              <a:buNone/>
            </a:pPr>
            <a:r>
              <a:rPr lang="en-US" sz="2000">
                <a:solidFill>
                  <a:schemeClr val="dk1"/>
                </a:solidFill>
                <a:latin typeface="Times New Roman"/>
                <a:ea typeface="Times New Roman"/>
                <a:cs typeface="Times New Roman"/>
                <a:sym typeface="Times New Roman"/>
              </a:rPr>
              <a:t>Đạo đức là một hình thái ý thức xã hội, là tổng hợp những quy tắc, chuẩn mực nhằm hướng con người tới chân, thiện, mỹ chống lại cái xấu, cái ác.</a:t>
            </a:r>
            <a:endParaRPr/>
          </a:p>
        </p:txBody>
      </p:sp>
      <p:pic>
        <p:nvPicPr>
          <p:cNvPr descr="AMERROR3" id="1406" name="Google Shape;1406;p69"/>
          <p:cNvPicPr preferRelativeResize="0"/>
          <p:nvPr/>
        </p:nvPicPr>
        <p:blipFill rotWithShape="1">
          <a:blip r:embed="rId4">
            <a:alphaModFix/>
          </a:blip>
          <a:srcRect b="0" l="0" r="0" t="0"/>
          <a:stretch/>
        </p:blipFill>
        <p:spPr>
          <a:xfrm>
            <a:off x="1295400" y="3505200"/>
            <a:ext cx="1066800" cy="2971800"/>
          </a:xfrm>
          <a:prstGeom prst="rect">
            <a:avLst/>
          </a:prstGeom>
          <a:noFill/>
          <a:ln>
            <a:noFill/>
          </a:ln>
        </p:spPr>
      </p:pic>
      <p:graphicFrame>
        <p:nvGraphicFramePr>
          <p:cNvPr id="1407" name="Google Shape;1407;p69"/>
          <p:cNvGraphicFramePr/>
          <p:nvPr/>
        </p:nvGraphicFramePr>
        <p:xfrm>
          <a:off x="6553200" y="3203575"/>
          <a:ext cx="1600200" cy="3654425"/>
        </p:xfrm>
        <a:graphic>
          <a:graphicData uri="http://schemas.openxmlformats.org/presentationml/2006/ole">
            <mc:AlternateContent>
              <mc:Choice Requires="v">
                <p:oleObj r:id="rId5" imgH="3654425" imgW="1600200" progId="" spid="_x0000_s1">
                  <p:embed/>
                </p:oleObj>
              </mc:Choice>
              <mc:Fallback>
                <p:oleObj r:id="rId6" imgH="3654425" imgW="1600200" progId="">
                  <p:embed/>
                  <p:pic>
                    <p:nvPicPr>
                      <p:cNvPr id="1407" name="Google Shape;1407;p69"/>
                      <p:cNvPicPr preferRelativeResize="0"/>
                      <p:nvPr/>
                    </p:nvPicPr>
                    <p:blipFill rotWithShape="1">
                      <a:blip r:embed="rId7">
                        <a:alphaModFix/>
                      </a:blip>
                      <a:srcRect b="0" l="0" r="0" t="0"/>
                      <a:stretch/>
                    </p:blipFill>
                    <p:spPr>
                      <a:xfrm>
                        <a:off x="6553200" y="3203575"/>
                        <a:ext cx="1600200" cy="3654425"/>
                      </a:xfrm>
                      <a:prstGeom prst="rect">
                        <a:avLst/>
                      </a:prstGeom>
                      <a:noFill/>
                      <a:ln>
                        <a:noFill/>
                      </a:ln>
                    </p:spPr>
                  </p:pic>
                </p:oleObj>
              </mc:Fallback>
            </mc:AlternateContent>
          </a:graphicData>
        </a:graphic>
      </p:graphicFrame>
      <p:sp>
        <p:nvSpPr>
          <p:cNvPr id="1408" name="Google Shape;1408;p69"/>
          <p:cNvSpPr/>
          <p:nvPr/>
        </p:nvSpPr>
        <p:spPr>
          <a:xfrm>
            <a:off x="1371600" y="1447800"/>
            <a:ext cx="3124200" cy="1828800"/>
          </a:xfrm>
          <a:prstGeom prst="wedgeEllipseCallout">
            <a:avLst>
              <a:gd fmla="val -20833" name="adj1"/>
              <a:gd fmla="val 62500" name="adj2"/>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FF0000"/>
                </a:solidFill>
                <a:latin typeface="Times New Roman"/>
                <a:ea typeface="Times New Roman"/>
                <a:cs typeface="Times New Roman"/>
                <a:sym typeface="Times New Roman"/>
              </a:rPr>
              <a:t>Đạo đức là gì?</a:t>
            </a:r>
            <a:endParaRPr sz="2400">
              <a:solidFill>
                <a:srgbClr val="FF0000"/>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1800">
              <a:solidFill>
                <a:srgbClr val="FF0000"/>
              </a:solidFill>
              <a:latin typeface="Times New Roman"/>
              <a:ea typeface="Times New Roman"/>
              <a:cs typeface="Times New Roman"/>
              <a:sym typeface="Times New Roman"/>
            </a:endParaRPr>
          </a:p>
        </p:txBody>
      </p:sp>
      <p:sp>
        <p:nvSpPr>
          <p:cNvPr id="1409" name="Google Shape;1409;p69"/>
          <p:cNvSpPr/>
          <p:nvPr/>
        </p:nvSpPr>
        <p:spPr>
          <a:xfrm>
            <a:off x="2438400" y="3886200"/>
            <a:ext cx="4114800" cy="2209800"/>
          </a:xfrm>
          <a:prstGeom prst="rect">
            <a:avLst/>
          </a:prstGeom>
          <a:solidFill>
            <a:srgbClr val="C4E2F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Giống nhau:</a:t>
            </a:r>
            <a:endParaRPr/>
          </a:p>
          <a:p>
            <a:pPr indent="0" lvl="0" marL="0" marR="0" rtl="0" algn="just">
              <a:spcBef>
                <a:spcPts val="0"/>
              </a:spcBef>
              <a:spcAft>
                <a:spcPts val="0"/>
              </a:spcAft>
              <a:buNone/>
            </a:pPr>
            <a:r>
              <a:t/>
            </a:r>
            <a:endParaRPr sz="1000">
              <a:solidFill>
                <a:schemeClr val="dk1"/>
              </a:solidFill>
              <a:latin typeface="Arial"/>
              <a:ea typeface="Arial"/>
              <a:cs typeface="Arial"/>
              <a:sym typeface="Arial"/>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Pháp luật và đạo đức đều là một hình thái ý thức xã hội thuộc kiến trúc thượng tầng, cùng điều chỉnh hành vi của xã hội, mang tính giai cấp, tính dân tộc và tính thời đại.</a:t>
            </a:r>
            <a:endParaRPr sz="2400">
              <a:solidFill>
                <a:schemeClr val="dk1"/>
              </a:solidFill>
              <a:latin typeface="Arial"/>
              <a:ea typeface="Arial"/>
              <a:cs typeface="Arial"/>
              <a:sym typeface="Arial"/>
            </a:endParaRPr>
          </a:p>
        </p:txBody>
      </p:sp>
      <p:sp>
        <p:nvSpPr>
          <p:cNvPr id="1410" name="Google Shape;1410;p69"/>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411" name="Google Shape;1411;p6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4"/>
                                        </p:tgtEl>
                                        <p:attrNameLst>
                                          <p:attrName>style.visibility</p:attrName>
                                        </p:attrNameLst>
                                      </p:cBhvr>
                                      <p:to>
                                        <p:strVal val="visible"/>
                                      </p:to>
                                    </p:set>
                                    <p:animEffect filter="fade" transition="in">
                                      <p:cBhvr>
                                        <p:cTn dur="2000"/>
                                        <p:tgtEl>
                                          <p:spTgt spid="1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06"/>
                                        </p:tgtEl>
                                        <p:attrNameLst>
                                          <p:attrName>style.visibility</p:attrName>
                                        </p:attrNameLst>
                                      </p:cBhvr>
                                      <p:to>
                                        <p:strVal val="visible"/>
                                      </p:to>
                                    </p:set>
                                    <p:anim calcmode="lin" valueType="num">
                                      <p:cBhvr additive="base">
                                        <p:cTn dur="500"/>
                                        <p:tgtEl>
                                          <p:spTgt spid="14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08"/>
                                        </p:tgtEl>
                                        <p:attrNameLst>
                                          <p:attrName>style.visibility</p:attrName>
                                        </p:attrNameLst>
                                      </p:cBhvr>
                                      <p:to>
                                        <p:strVal val="visible"/>
                                      </p:to>
                                    </p:set>
                                    <p:anim calcmode="lin" valueType="num">
                                      <p:cBhvr additive="base">
                                        <p:cTn dur="500"/>
                                        <p:tgtEl>
                                          <p:spTgt spid="140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05">
                                            <p:txEl>
                                              <p:pRg end="0" st="0"/>
                                            </p:txEl>
                                          </p:spTgt>
                                        </p:tgtEl>
                                        <p:attrNameLst>
                                          <p:attrName>style.visibility</p:attrName>
                                        </p:attrNameLst>
                                      </p:cBhvr>
                                      <p:to>
                                        <p:strVal val="visible"/>
                                      </p:to>
                                    </p:set>
                                    <p:anim calcmode="lin" valueType="num">
                                      <p:cBhvr additive="base">
                                        <p:cTn dur="500"/>
                                        <p:tgtEl>
                                          <p:spTgt spid="14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9"/>
                                        </p:tgtEl>
                                        <p:attrNameLst>
                                          <p:attrName>style.visibility</p:attrName>
                                        </p:attrNameLst>
                                      </p:cBhvr>
                                      <p:to>
                                        <p:strVal val="visible"/>
                                      </p:to>
                                    </p:set>
                                    <p:animEffect filter="fade" transition="in">
                                      <p:cBhvr>
                                        <p:cTn dur="500"/>
                                        <p:tgtEl>
                                          <p:spTgt spid="1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5" name="Shape 1415"/>
        <p:cNvGrpSpPr/>
        <p:nvPr/>
      </p:nvGrpSpPr>
      <p:grpSpPr>
        <a:xfrm>
          <a:off x="0" y="0"/>
          <a:ext cx="0" cy="0"/>
          <a:chOff x="0" y="0"/>
          <a:chExt cx="0" cy="0"/>
        </a:xfrm>
      </p:grpSpPr>
      <p:sp>
        <p:nvSpPr>
          <p:cNvPr id="1416" name="Google Shape;1416;p70"/>
          <p:cNvSpPr txBox="1"/>
          <p:nvPr>
            <p:ph type="title"/>
          </p:nvPr>
        </p:nvSpPr>
        <p:spPr>
          <a:xfrm>
            <a:off x="533400" y="0"/>
            <a:ext cx="8336280" cy="4572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2400"/>
              <a:buFont typeface="Times New Roman"/>
              <a:buNone/>
            </a:pPr>
            <a:r>
              <a:rPr lang="en-US" sz="2400">
                <a:solidFill>
                  <a:srgbClr val="FF0000"/>
                </a:solidFill>
                <a:latin typeface="Times New Roman"/>
                <a:ea typeface="Times New Roman"/>
                <a:cs typeface="Times New Roman"/>
                <a:sym typeface="Times New Roman"/>
              </a:rPr>
              <a:t>4.4.3Pháp luật với đạo đức</a:t>
            </a:r>
            <a:endParaRPr sz="2400">
              <a:solidFill>
                <a:srgbClr val="FF0000"/>
              </a:solidFill>
            </a:endParaRPr>
          </a:p>
        </p:txBody>
      </p:sp>
      <p:graphicFrame>
        <p:nvGraphicFramePr>
          <p:cNvPr id="1417" name="Google Shape;1417;p70"/>
          <p:cNvGraphicFramePr/>
          <p:nvPr/>
        </p:nvGraphicFramePr>
        <p:xfrm>
          <a:off x="1066800" y="457200"/>
          <a:ext cx="3000000" cy="3000000"/>
        </p:xfrm>
        <a:graphic>
          <a:graphicData uri="http://schemas.openxmlformats.org/drawingml/2006/table">
            <a:tbl>
              <a:tblPr bandRow="1" firstRow="1">
                <a:noFill/>
                <a:tableStyleId>{C2BE8B88-DE4F-40F9-8EF6-0FD96A1DF877}</a:tableStyleId>
              </a:tblPr>
              <a:tblGrid>
                <a:gridCol w="1295400"/>
                <a:gridCol w="3352800"/>
                <a:gridCol w="3124200"/>
              </a:tblGrid>
              <a:tr h="447050">
                <a:tc>
                  <a:txBody>
                    <a:bodyPr/>
                    <a:lstStyle/>
                    <a:p>
                      <a:pPr indent="0" lvl="0" marL="0" marR="0" rtl="0" algn="ctr">
                        <a:lnSpc>
                          <a:spcPct val="115000"/>
                        </a:lnSpc>
                        <a:spcBef>
                          <a:spcPts val="0"/>
                        </a:spcBef>
                        <a:spcAft>
                          <a:spcPts val="0"/>
                        </a:spcAft>
                        <a:buNone/>
                      </a:pPr>
                      <a:r>
                        <a:rPr lang="en-US" sz="1400">
                          <a:latin typeface="Arial"/>
                          <a:ea typeface="Arial"/>
                          <a:cs typeface="Arial"/>
                          <a:sym typeface="Arial"/>
                        </a:rPr>
                        <a:t>Tiêu chí</a:t>
                      </a:r>
                      <a:endParaRPr sz="1400">
                        <a:latin typeface="Arial"/>
                        <a:ea typeface="Arial"/>
                        <a:cs typeface="Arial"/>
                        <a:sym typeface="Arial"/>
                      </a:endParaRPr>
                    </a:p>
                  </a:txBody>
                  <a:tcPr marT="0" marB="0" marR="68575" marL="68575"/>
                </a:tc>
                <a:tc>
                  <a:txBody>
                    <a:bodyPr/>
                    <a:lstStyle/>
                    <a:p>
                      <a:pPr indent="0" lvl="0" marL="0" marR="0" rtl="0" algn="ctr">
                        <a:lnSpc>
                          <a:spcPct val="115000"/>
                        </a:lnSpc>
                        <a:spcBef>
                          <a:spcPts val="0"/>
                        </a:spcBef>
                        <a:spcAft>
                          <a:spcPts val="0"/>
                        </a:spcAft>
                        <a:buNone/>
                      </a:pPr>
                      <a:r>
                        <a:rPr lang="en-US" sz="1400">
                          <a:latin typeface="Arial"/>
                          <a:ea typeface="Arial"/>
                          <a:cs typeface="Arial"/>
                          <a:sym typeface="Arial"/>
                        </a:rPr>
                        <a:t>Đạo đức</a:t>
                      </a:r>
                      <a:endParaRPr sz="1400">
                        <a:latin typeface="Arial"/>
                        <a:ea typeface="Arial"/>
                        <a:cs typeface="Arial"/>
                        <a:sym typeface="Arial"/>
                      </a:endParaRPr>
                    </a:p>
                  </a:txBody>
                  <a:tcPr marT="0" marB="0" marR="68575" marL="68575"/>
                </a:tc>
                <a:tc>
                  <a:txBody>
                    <a:bodyPr/>
                    <a:lstStyle/>
                    <a:p>
                      <a:pPr indent="0" lvl="0" marL="0" marR="0" rtl="0" algn="ctr">
                        <a:lnSpc>
                          <a:spcPct val="115000"/>
                        </a:lnSpc>
                        <a:spcBef>
                          <a:spcPts val="0"/>
                        </a:spcBef>
                        <a:spcAft>
                          <a:spcPts val="0"/>
                        </a:spcAft>
                        <a:buNone/>
                      </a:pPr>
                      <a:r>
                        <a:rPr lang="en-US" sz="1400">
                          <a:latin typeface="Arial"/>
                          <a:ea typeface="Arial"/>
                          <a:cs typeface="Arial"/>
                          <a:sym typeface="Arial"/>
                        </a:rPr>
                        <a:t>Pháp luật</a:t>
                      </a:r>
                      <a:endParaRPr sz="1400">
                        <a:latin typeface="Arial"/>
                        <a:ea typeface="Arial"/>
                        <a:cs typeface="Arial"/>
                        <a:sym typeface="Arial"/>
                      </a:endParaRPr>
                    </a:p>
                  </a:txBody>
                  <a:tcPr marT="0" marB="0" marR="68575" marL="68575"/>
                </a:tc>
              </a:tr>
              <a:tr h="370850">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Về nguồn gốc</a:t>
                      </a:r>
                      <a:endParaRPr sz="1400">
                        <a:solidFill>
                          <a:srgbClr val="FF0000"/>
                        </a:solidFill>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Đạo đức xuất hiện trước pháp luật, là những quy tắc hành vi tồn tại tự nhiên trong đời sống xã hội trên cơ sở mối quan hệ giữa người với người.</a:t>
                      </a:r>
                      <a:endParaRPr sz="1400">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Pháp luật xuất hiện muộn hơn, là những quy tắc xử sự do nhà nước đặt ra hoặc thừa nhận đề điều chỉnh các quan hệ xã hội.</a:t>
                      </a:r>
                      <a:endParaRPr sz="1400">
                        <a:latin typeface="Arial"/>
                        <a:ea typeface="Arial"/>
                        <a:cs typeface="Arial"/>
                        <a:sym typeface="Arial"/>
                      </a:endParaRPr>
                    </a:p>
                  </a:txBody>
                  <a:tcPr marT="0" marB="0" marR="68575" marL="68575"/>
                </a:tc>
              </a:tr>
              <a:tr h="370850">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Về xu hướng vận động</a:t>
                      </a:r>
                      <a:endParaRPr sz="1400">
                        <a:solidFill>
                          <a:srgbClr val="FF0000"/>
                        </a:solidFill>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Luôn có sự đánh giá, sàng lọc, tẩy chay của dư luận xã hội</a:t>
                      </a:r>
                      <a:endParaRPr sz="1400">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Luôn luôn được sửa đổi, bổ sung cho phù hợp</a:t>
                      </a:r>
                      <a:endParaRPr sz="1400">
                        <a:latin typeface="Arial"/>
                        <a:ea typeface="Arial"/>
                        <a:cs typeface="Arial"/>
                        <a:sym typeface="Arial"/>
                      </a:endParaRPr>
                    </a:p>
                  </a:txBody>
                  <a:tcPr marT="0" marB="0" marR="68575" marL="68575"/>
                </a:tc>
              </a:tr>
              <a:tr h="370850">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Về phạm vi điều chỉnh</a:t>
                      </a:r>
                      <a:endParaRPr sz="1400">
                        <a:solidFill>
                          <a:srgbClr val="FF0000"/>
                        </a:solidFill>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Phạm</a:t>
                      </a:r>
                      <a:r>
                        <a:rPr lang="en-US" sz="1400">
                          <a:latin typeface="Arial"/>
                          <a:ea typeface="Arial"/>
                          <a:cs typeface="Arial"/>
                          <a:sym typeface="Arial"/>
                        </a:rPr>
                        <a:t> vi điều chỉnh rộng hơn.</a:t>
                      </a:r>
                      <a:endParaRPr sz="1400">
                        <a:latin typeface="Arial"/>
                        <a:ea typeface="Arial"/>
                        <a:cs typeface="Arial"/>
                        <a:sym typeface="Arial"/>
                      </a:endParaRPr>
                    </a:p>
                    <a:p>
                      <a:pPr indent="0" lvl="0" marL="0" marR="0" rtl="0" algn="just">
                        <a:lnSpc>
                          <a:spcPct val="115000"/>
                        </a:lnSpc>
                        <a:spcBef>
                          <a:spcPts val="1000"/>
                        </a:spcBef>
                        <a:spcAft>
                          <a:spcPts val="0"/>
                        </a:spcAft>
                        <a:buNone/>
                      </a:pPr>
                      <a:r>
                        <a:rPr lang="en-US" sz="1400">
                          <a:latin typeface="Arial"/>
                          <a:ea typeface="Arial"/>
                          <a:cs typeface="Arial"/>
                          <a:sym typeface="Arial"/>
                        </a:rPr>
                        <a:t>Điều chỉnh các mối quan hệ xã hội trên cơ sở tình cảm, luân lý xã hội, ví dụ: tình bạn, tình yêu, sự giúp đỡ lẫn nhau …</a:t>
                      </a:r>
                      <a:endParaRPr sz="1400">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Điều chỉnh những quan hệ xã hội cơ bản, quan trọng, mang ý nghĩa quốc gia. Ví dụ: quy định, trình tự thủ tục giải quyết các vụ việc…</a:t>
                      </a:r>
                      <a:endParaRPr sz="1400">
                        <a:latin typeface="Arial"/>
                        <a:ea typeface="Arial"/>
                        <a:cs typeface="Arial"/>
                        <a:sym typeface="Arial"/>
                      </a:endParaRPr>
                    </a:p>
                  </a:txBody>
                  <a:tcPr marT="0" marB="0" marR="68575" marL="68575"/>
                </a:tc>
              </a:tr>
              <a:tr h="370850">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Về hình thức, mức độ thể hiện</a:t>
                      </a:r>
                      <a:endParaRPr sz="1400">
                        <a:solidFill>
                          <a:srgbClr val="FF0000"/>
                        </a:solidFill>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 Thường được thể hiện qua ca dao, tục ngữ, thông qua cảm xúc, quan niệm, chuẩn mực là cái tâm ở đời </a:t>
                      </a:r>
                      <a:endParaRPr/>
                    </a:p>
                    <a:p>
                      <a:pPr indent="0" lvl="0" marL="0" marR="0" rtl="0" algn="just">
                        <a:lnSpc>
                          <a:spcPct val="115000"/>
                        </a:lnSpc>
                        <a:spcBef>
                          <a:spcPts val="1000"/>
                        </a:spcBef>
                        <a:spcAft>
                          <a:spcPts val="0"/>
                        </a:spcAft>
                        <a:buNone/>
                      </a:pPr>
                      <a:r>
                        <a:t/>
                      </a:r>
                      <a:endParaRPr sz="1400">
                        <a:latin typeface="Arial"/>
                        <a:ea typeface="Arial"/>
                        <a:cs typeface="Arial"/>
                        <a:sym typeface="Arial"/>
                      </a:endParaRPr>
                    </a:p>
                    <a:p>
                      <a:pPr indent="0" lvl="0" marL="0" marR="0" rtl="0" algn="just">
                        <a:lnSpc>
                          <a:spcPct val="115000"/>
                        </a:lnSpc>
                        <a:spcBef>
                          <a:spcPts val="1000"/>
                        </a:spcBef>
                        <a:spcAft>
                          <a:spcPts val="0"/>
                        </a:spcAft>
                        <a:buNone/>
                      </a:pPr>
                      <a:r>
                        <a:rPr lang="en-US" sz="1400">
                          <a:latin typeface="Arial"/>
                          <a:ea typeface="Arial"/>
                          <a:cs typeface="Arial"/>
                          <a:sym typeface="Arial"/>
                        </a:rPr>
                        <a:t>- Không thể cân đo đong đếm được, mỗi người có thể có một quan niệm khác nhau về đạo đức.</a:t>
                      </a:r>
                      <a:endParaRPr sz="1400">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Được quy định bằng điều tiết, chủ yếu thể hiện trong các điều luật, các quy phạm rõ ràng thể hiện quy tắc xử sự mà nhà nước đặt ra yêu cầu mọi người phải tuân theo. </a:t>
                      </a:r>
                      <a:endParaRPr/>
                    </a:p>
                    <a:p>
                      <a:pPr indent="0" lvl="0" marL="0" marR="0" rtl="0" algn="just">
                        <a:lnSpc>
                          <a:spcPct val="115000"/>
                        </a:lnSpc>
                        <a:spcBef>
                          <a:spcPts val="1000"/>
                        </a:spcBef>
                        <a:spcAft>
                          <a:spcPts val="0"/>
                        </a:spcAft>
                        <a:buNone/>
                      </a:pPr>
                      <a:r>
                        <a:rPr lang="en-US" sz="1400">
                          <a:latin typeface="Arial"/>
                          <a:ea typeface="Arial"/>
                          <a:cs typeface="Arial"/>
                          <a:sym typeface="Arial"/>
                        </a:rPr>
                        <a:t>- Luôn được thể hiện một cách rõ ràng, chính xác, đảm bảo 3 thuộc tính cơ bản, tạo nên một hệ thống pháp luật thống nhất, chặt chẽ.</a:t>
                      </a:r>
                      <a:endParaRPr sz="1400">
                        <a:latin typeface="Arial"/>
                        <a:ea typeface="Arial"/>
                        <a:cs typeface="Arial"/>
                        <a:sym typeface="Arial"/>
                      </a:endParaRPr>
                    </a:p>
                  </a:txBody>
                  <a:tcPr marT="0" marB="0" marR="68575" marL="68575"/>
                </a:tc>
              </a:tr>
              <a:tr h="370850">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Phương pháp bảo đảm thực hiện</a:t>
                      </a:r>
                      <a:endParaRPr sz="1400">
                        <a:solidFill>
                          <a:srgbClr val="FF0000"/>
                        </a:solidFill>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Kích thích nội tâm, dựa vào sức mạnh của dư luận xã hội, trên cơ sở các điều cấm kỵ, các lễ nghi tôn giáo nguyên thủy.</a:t>
                      </a:r>
                      <a:endParaRPr sz="1400">
                        <a:latin typeface="Arial"/>
                        <a:ea typeface="Arial"/>
                        <a:cs typeface="Arial"/>
                        <a:sym typeface="Arial"/>
                      </a:endParaRPr>
                    </a:p>
                  </a:txBody>
                  <a:tcPr marT="0" marB="0" marR="68575" marL="68575"/>
                </a:tc>
                <a:tc>
                  <a:txBody>
                    <a:bodyPr/>
                    <a:lstStyle/>
                    <a:p>
                      <a:pPr indent="0" lvl="0" marL="0" marR="0" rtl="0" algn="just">
                        <a:lnSpc>
                          <a:spcPct val="115000"/>
                        </a:lnSpc>
                        <a:spcBef>
                          <a:spcPts val="0"/>
                        </a:spcBef>
                        <a:spcAft>
                          <a:spcPts val="0"/>
                        </a:spcAft>
                        <a:buNone/>
                      </a:pPr>
                      <a:r>
                        <a:rPr lang="en-US" sz="1400">
                          <a:latin typeface="Arial"/>
                          <a:ea typeface="Arial"/>
                          <a:cs typeface="Arial"/>
                          <a:sym typeface="Arial"/>
                        </a:rPr>
                        <a:t>Được đảm bảo thực hiện bằng các biện pháp cưỡng chế của nhà nước, căn cứ vào thời hạn, thời hiệu, các chế tài, mức độ vi phạm…</a:t>
                      </a:r>
                      <a:endParaRPr sz="1400">
                        <a:latin typeface="Arial"/>
                        <a:ea typeface="Arial"/>
                        <a:cs typeface="Arial"/>
                        <a:sym typeface="Arial"/>
                      </a:endParaRPr>
                    </a:p>
                  </a:txBody>
                  <a:tcPr marT="0" marB="0" marR="68575" marL="68575"/>
                </a:tc>
              </a:tr>
            </a:tbl>
          </a:graphicData>
        </a:graphic>
      </p:graphicFrame>
      <p:sp>
        <p:nvSpPr>
          <p:cNvPr id="1418" name="Google Shape;1418;p70"/>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419" name="Google Shape;1419;p7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6"/>
                                        </p:tgtEl>
                                        <p:attrNameLst>
                                          <p:attrName>style.visibility</p:attrName>
                                        </p:attrNameLst>
                                      </p:cBhvr>
                                      <p:to>
                                        <p:strVal val="visible"/>
                                      </p:to>
                                    </p:set>
                                    <p:animEffect filter="fade" transition="in">
                                      <p:cBhvr>
                                        <p:cTn dur="500"/>
                                        <p:tgtEl>
                                          <p:spTgt spid="1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7"/>
                                        </p:tgtEl>
                                        <p:attrNameLst>
                                          <p:attrName>style.visibility</p:attrName>
                                        </p:attrNameLst>
                                      </p:cBhvr>
                                      <p:to>
                                        <p:strVal val="visible"/>
                                      </p:to>
                                    </p:set>
                                    <p:animEffect filter="fade" transition="in">
                                      <p:cBhvr>
                                        <p:cTn dur="2000"/>
                                        <p:tgtEl>
                                          <p:spTgt spid="1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71"/>
          <p:cNvSpPr txBox="1"/>
          <p:nvPr>
            <p:ph type="title"/>
          </p:nvPr>
        </p:nvSpPr>
        <p:spPr>
          <a:xfrm>
            <a:off x="1447800" y="304800"/>
            <a:ext cx="7498080" cy="6096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2400"/>
              <a:buFont typeface="Times New Roman"/>
              <a:buNone/>
            </a:pPr>
            <a:r>
              <a:rPr lang="en-US" sz="2400">
                <a:solidFill>
                  <a:srgbClr val="FF0000"/>
                </a:solidFill>
                <a:latin typeface="Times New Roman"/>
                <a:ea typeface="Times New Roman"/>
                <a:cs typeface="Times New Roman"/>
                <a:sym typeface="Times New Roman"/>
              </a:rPr>
              <a:t>4.4.4	Pháp luật với nhà nước</a:t>
            </a:r>
            <a:endParaRPr sz="2400">
              <a:solidFill>
                <a:srgbClr val="FF0000"/>
              </a:solidFill>
            </a:endParaRPr>
          </a:p>
        </p:txBody>
      </p:sp>
      <p:sp>
        <p:nvSpPr>
          <p:cNvPr id="1425" name="Google Shape;1425;p71"/>
          <p:cNvSpPr txBox="1"/>
          <p:nvPr>
            <p:ph idx="1" type="body"/>
          </p:nvPr>
        </p:nvSpPr>
        <p:spPr>
          <a:xfrm>
            <a:off x="1447800" y="1219200"/>
            <a:ext cx="7498080" cy="5257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520"/>
              <a:buChar char="⚫"/>
            </a:pPr>
            <a:r>
              <a:rPr lang="en-US" sz="1600">
                <a:latin typeface="Times New Roman"/>
                <a:ea typeface="Times New Roman"/>
                <a:cs typeface="Times New Roman"/>
                <a:sym typeface="Times New Roman"/>
              </a:rPr>
              <a:t>Mối quan hệ biện chứng, tác động qua lại lẫn nhau, phụ thuộc lẫn nhau nhưng vẫn đảm bảo tính độc lập tương đối</a:t>
            </a:r>
            <a:endParaRPr sz="1600">
              <a:latin typeface="Times New Roman"/>
              <a:ea typeface="Times New Roman"/>
              <a:cs typeface="Times New Roman"/>
              <a:sym typeface="Times New Roman"/>
            </a:endParaRPr>
          </a:p>
          <a:p>
            <a:pPr indent="-274320" lvl="0" marL="274320" rtl="0" algn="l">
              <a:spcBef>
                <a:spcPts val="320"/>
              </a:spcBef>
              <a:spcAft>
                <a:spcPts val="0"/>
              </a:spcAft>
              <a:buSzPts val="1520"/>
              <a:buChar char="⚫"/>
            </a:pPr>
            <a:r>
              <a:rPr lang="en-US" sz="1600">
                <a:latin typeface="Times New Roman"/>
                <a:ea typeface="Times New Roman"/>
                <a:cs typeface="Times New Roman"/>
                <a:sym typeface="Times New Roman"/>
              </a:rPr>
              <a:t>Là 2 yếu tố thuộc kiến trúc thượng tầng, chúng có cùng những nguyên nhân, tiền đề xã hội cho sự hình thành, vận động và phát triển</a:t>
            </a:r>
            <a:endParaRPr sz="1600">
              <a:latin typeface="Times New Roman"/>
              <a:ea typeface="Times New Roman"/>
              <a:cs typeface="Times New Roman"/>
              <a:sym typeface="Times New Roman"/>
            </a:endParaRPr>
          </a:p>
          <a:p>
            <a:pPr indent="-274320" lvl="0" marL="274320" rtl="0" algn="l">
              <a:spcBef>
                <a:spcPts val="320"/>
              </a:spcBef>
              <a:spcAft>
                <a:spcPts val="0"/>
              </a:spcAft>
              <a:buSzPts val="1520"/>
              <a:buChar char="⚫"/>
            </a:pPr>
            <a:r>
              <a:rPr lang="en-US" sz="1600">
                <a:latin typeface="Times New Roman"/>
                <a:ea typeface="Times New Roman"/>
                <a:cs typeface="Times New Roman"/>
                <a:sym typeface="Times New Roman"/>
              </a:rPr>
              <a:t>Nhà nước và pháp luật là 2 hiện tượng không thể tồn tại thiếu nhau, là tiền đề của nhau</a:t>
            </a:r>
            <a:endParaRPr sz="1600">
              <a:latin typeface="Times New Roman"/>
              <a:ea typeface="Times New Roman"/>
              <a:cs typeface="Times New Roman"/>
              <a:sym typeface="Times New Roman"/>
            </a:endParaRPr>
          </a:p>
          <a:p>
            <a:pPr indent="-274320" lvl="0" marL="274320" rtl="0" algn="l">
              <a:spcBef>
                <a:spcPts val="320"/>
              </a:spcBef>
              <a:spcAft>
                <a:spcPts val="0"/>
              </a:spcAft>
              <a:buSzPts val="1520"/>
              <a:buChar char="⚫"/>
            </a:pPr>
            <a:r>
              <a:rPr lang="en-US" sz="1600">
                <a:latin typeface="Times New Roman"/>
                <a:ea typeface="Times New Roman"/>
                <a:cs typeface="Times New Roman"/>
                <a:sym typeface="Times New Roman"/>
              </a:rPr>
              <a:t>Bản chất của luật pháp phản ánh bản chất của Nhà nước đặt ra nó. Nhà nước kiểu nào thì pháp luật kiểu đó.</a:t>
            </a:r>
            <a:endParaRPr/>
          </a:p>
          <a:p>
            <a:pPr indent="-274320" lvl="0" marL="274320" rtl="0" algn="l">
              <a:spcBef>
                <a:spcPts val="320"/>
              </a:spcBef>
              <a:spcAft>
                <a:spcPts val="0"/>
              </a:spcAft>
              <a:buSzPts val="1520"/>
              <a:buChar char="⚫"/>
            </a:pPr>
            <a:r>
              <a:rPr lang="en-US" sz="1600">
                <a:latin typeface="Times New Roman"/>
                <a:ea typeface="Times New Roman"/>
                <a:cs typeface="Times New Roman"/>
                <a:sym typeface="Times New Roman"/>
              </a:rPr>
              <a:t>Nhà nước ban hành hay thừa nhận pháp luật nhưng nhà nước lại phải tôn trọng pháp luật, đặt mình dưới pháp luật. NN ban hành PL phải tính đến sự chi phối của các nhân tố khá như các vấn đề về mặt kinh tế, chính trị, xã hội, ko thể ban hành PL tùy tiện theo ý chủ quan của mình</a:t>
            </a:r>
            <a:endParaRPr sz="1600">
              <a:latin typeface="Times New Roman"/>
              <a:ea typeface="Times New Roman"/>
              <a:cs typeface="Times New Roman"/>
              <a:sym typeface="Times New Roman"/>
            </a:endParaRPr>
          </a:p>
          <a:p>
            <a:pPr indent="-274320" lvl="0" marL="274320" rtl="0" algn="l">
              <a:spcBef>
                <a:spcPts val="320"/>
              </a:spcBef>
              <a:spcAft>
                <a:spcPts val="0"/>
              </a:spcAft>
              <a:buSzPts val="1520"/>
              <a:buChar char="⚫"/>
            </a:pPr>
            <a:r>
              <a:rPr lang="en-US" sz="1600">
                <a:latin typeface="Times New Roman"/>
                <a:ea typeface="Times New Roman"/>
                <a:cs typeface="Times New Roman"/>
                <a:sym typeface="Times New Roman"/>
              </a:rPr>
              <a:t>Việc hoàn thiện bộ máy nhà nước phải song song với việc hoàn thiện pháp luật</a:t>
            </a:r>
            <a:endParaRPr sz="1600">
              <a:latin typeface="Times New Roman"/>
              <a:ea typeface="Times New Roman"/>
              <a:cs typeface="Times New Roman"/>
              <a:sym typeface="Times New Roman"/>
            </a:endParaRPr>
          </a:p>
          <a:p>
            <a:pPr indent="-274320" lvl="0" marL="274320" rtl="0" algn="l">
              <a:spcBef>
                <a:spcPts val="320"/>
              </a:spcBef>
              <a:spcAft>
                <a:spcPts val="0"/>
              </a:spcAft>
              <a:buSzPts val="1520"/>
              <a:buChar char="⚫"/>
            </a:pPr>
            <a:r>
              <a:rPr lang="en-US" sz="1600">
                <a:latin typeface="Times New Roman"/>
                <a:ea typeface="Times New Roman"/>
                <a:cs typeface="Times New Roman"/>
                <a:sym typeface="Times New Roman"/>
              </a:rPr>
              <a:t>Pháp luật là công cụ sắc bén nhất trong quản lý xã hội của Nhà nước</a:t>
            </a:r>
            <a:endParaRPr sz="1600">
              <a:latin typeface="Times New Roman"/>
              <a:ea typeface="Times New Roman"/>
              <a:cs typeface="Times New Roman"/>
              <a:sym typeface="Times New Roman"/>
            </a:endParaRPr>
          </a:p>
          <a:p>
            <a:pPr indent="-274320" lvl="0" marL="274320" rtl="0" algn="l">
              <a:spcBef>
                <a:spcPts val="320"/>
              </a:spcBef>
              <a:spcAft>
                <a:spcPts val="0"/>
              </a:spcAft>
              <a:buSzPts val="1520"/>
              <a:buNone/>
            </a:pPr>
            <a:r>
              <a:t/>
            </a:r>
            <a:endParaRPr sz="1600">
              <a:latin typeface="Times New Roman"/>
              <a:ea typeface="Times New Roman"/>
              <a:cs typeface="Times New Roman"/>
              <a:sym typeface="Times New Roman"/>
            </a:endParaRPr>
          </a:p>
        </p:txBody>
      </p:sp>
      <p:pic>
        <p:nvPicPr>
          <p:cNvPr descr="E:\Bai giang\PL DC\imagesd.jpg" id="1426" name="Google Shape;1426;p71"/>
          <p:cNvPicPr preferRelativeResize="0"/>
          <p:nvPr/>
        </p:nvPicPr>
        <p:blipFill rotWithShape="1">
          <a:blip r:embed="rId3">
            <a:alphaModFix/>
          </a:blip>
          <a:srcRect b="0" l="0" r="0" t="0"/>
          <a:stretch/>
        </p:blipFill>
        <p:spPr>
          <a:xfrm>
            <a:off x="6019800" y="5191125"/>
            <a:ext cx="2743200" cy="1666875"/>
          </a:xfrm>
          <a:prstGeom prst="rect">
            <a:avLst/>
          </a:prstGeom>
          <a:noFill/>
          <a:ln>
            <a:noFill/>
          </a:ln>
        </p:spPr>
      </p:pic>
      <p:sp>
        <p:nvSpPr>
          <p:cNvPr id="1427" name="Google Shape;1427;p71"/>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428" name="Google Shape;1428;p7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4"/>
                                        </p:tgtEl>
                                        <p:attrNameLst>
                                          <p:attrName>style.visibility</p:attrName>
                                        </p:attrNameLst>
                                      </p:cBhvr>
                                      <p:to>
                                        <p:strVal val="visible"/>
                                      </p:to>
                                    </p:set>
                                    <p:animEffect filter="fade" transition="in">
                                      <p:cBhvr>
                                        <p:cTn dur="500"/>
                                        <p:tgtEl>
                                          <p:spTgt spid="14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5">
                                            <p:txEl>
                                              <p:pRg end="0" st="0"/>
                                            </p:txEl>
                                          </p:spTgt>
                                        </p:tgtEl>
                                        <p:attrNameLst>
                                          <p:attrName>style.visibility</p:attrName>
                                        </p:attrNameLst>
                                      </p:cBhvr>
                                      <p:to>
                                        <p:strVal val="visible"/>
                                      </p:to>
                                    </p:set>
                                    <p:anim calcmode="lin" valueType="num">
                                      <p:cBhvr additive="base">
                                        <p:cTn dur="500"/>
                                        <p:tgtEl>
                                          <p:spTgt spid="14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5">
                                            <p:txEl>
                                              <p:pRg end="1" st="1"/>
                                            </p:txEl>
                                          </p:spTgt>
                                        </p:tgtEl>
                                        <p:attrNameLst>
                                          <p:attrName>style.visibility</p:attrName>
                                        </p:attrNameLst>
                                      </p:cBhvr>
                                      <p:to>
                                        <p:strVal val="visible"/>
                                      </p:to>
                                    </p:set>
                                    <p:anim calcmode="lin" valueType="num">
                                      <p:cBhvr additive="base">
                                        <p:cTn dur="500"/>
                                        <p:tgtEl>
                                          <p:spTgt spid="14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5">
                                            <p:txEl>
                                              <p:pRg end="2" st="2"/>
                                            </p:txEl>
                                          </p:spTgt>
                                        </p:tgtEl>
                                        <p:attrNameLst>
                                          <p:attrName>style.visibility</p:attrName>
                                        </p:attrNameLst>
                                      </p:cBhvr>
                                      <p:to>
                                        <p:strVal val="visible"/>
                                      </p:to>
                                    </p:set>
                                    <p:anim calcmode="lin" valueType="num">
                                      <p:cBhvr additive="base">
                                        <p:cTn dur="500"/>
                                        <p:tgtEl>
                                          <p:spTgt spid="14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5">
                                            <p:txEl>
                                              <p:pRg end="3" st="3"/>
                                            </p:txEl>
                                          </p:spTgt>
                                        </p:tgtEl>
                                        <p:attrNameLst>
                                          <p:attrName>style.visibility</p:attrName>
                                        </p:attrNameLst>
                                      </p:cBhvr>
                                      <p:to>
                                        <p:strVal val="visible"/>
                                      </p:to>
                                    </p:set>
                                    <p:anim calcmode="lin" valueType="num">
                                      <p:cBhvr additive="base">
                                        <p:cTn dur="500"/>
                                        <p:tgtEl>
                                          <p:spTgt spid="14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5">
                                            <p:txEl>
                                              <p:pRg end="4" st="4"/>
                                            </p:txEl>
                                          </p:spTgt>
                                        </p:tgtEl>
                                        <p:attrNameLst>
                                          <p:attrName>style.visibility</p:attrName>
                                        </p:attrNameLst>
                                      </p:cBhvr>
                                      <p:to>
                                        <p:strVal val="visible"/>
                                      </p:to>
                                    </p:set>
                                    <p:anim calcmode="lin" valueType="num">
                                      <p:cBhvr additive="base">
                                        <p:cTn dur="500"/>
                                        <p:tgtEl>
                                          <p:spTgt spid="142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5">
                                            <p:txEl>
                                              <p:pRg end="5" st="5"/>
                                            </p:txEl>
                                          </p:spTgt>
                                        </p:tgtEl>
                                        <p:attrNameLst>
                                          <p:attrName>style.visibility</p:attrName>
                                        </p:attrNameLst>
                                      </p:cBhvr>
                                      <p:to>
                                        <p:strVal val="visible"/>
                                      </p:to>
                                    </p:set>
                                    <p:anim calcmode="lin" valueType="num">
                                      <p:cBhvr additive="base">
                                        <p:cTn dur="500"/>
                                        <p:tgtEl>
                                          <p:spTgt spid="142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5">
                                            <p:txEl>
                                              <p:pRg end="6" st="6"/>
                                            </p:txEl>
                                          </p:spTgt>
                                        </p:tgtEl>
                                        <p:attrNameLst>
                                          <p:attrName>style.visibility</p:attrName>
                                        </p:attrNameLst>
                                      </p:cBhvr>
                                      <p:to>
                                        <p:strVal val="visible"/>
                                      </p:to>
                                    </p:set>
                                    <p:anim calcmode="lin" valueType="num">
                                      <p:cBhvr additive="base">
                                        <p:cTn dur="500"/>
                                        <p:tgtEl>
                                          <p:spTgt spid="142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5">
                                            <p:txEl>
                                              <p:pRg end="7" st="7"/>
                                            </p:txEl>
                                          </p:spTgt>
                                        </p:tgtEl>
                                        <p:attrNameLst>
                                          <p:attrName>style.visibility</p:attrName>
                                        </p:attrNameLst>
                                      </p:cBhvr>
                                      <p:to>
                                        <p:strVal val="visible"/>
                                      </p:to>
                                    </p:set>
                                    <p:anim calcmode="lin" valueType="num">
                                      <p:cBhvr additive="base">
                                        <p:cTn dur="500"/>
                                        <p:tgtEl>
                                          <p:spTgt spid="142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72"/>
          <p:cNvSpPr txBox="1"/>
          <p:nvPr>
            <p:ph type="title"/>
          </p:nvPr>
        </p:nvSpPr>
        <p:spPr>
          <a:xfrm>
            <a:off x="381000" y="381000"/>
            <a:ext cx="7498080" cy="6397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4.4.5	Pháp luật và các quy phạm xã hội khác</a:t>
            </a:r>
            <a:endParaRPr sz="3200">
              <a:latin typeface="Times New Roman"/>
              <a:ea typeface="Times New Roman"/>
              <a:cs typeface="Times New Roman"/>
              <a:sym typeface="Times New Roman"/>
            </a:endParaRPr>
          </a:p>
        </p:txBody>
      </p:sp>
      <p:sp>
        <p:nvSpPr>
          <p:cNvPr id="1434" name="Google Shape;1434;p72"/>
          <p:cNvSpPr txBox="1"/>
          <p:nvPr>
            <p:ph idx="1" type="body"/>
          </p:nvPr>
        </p:nvSpPr>
        <p:spPr>
          <a:xfrm>
            <a:off x="1143000" y="762000"/>
            <a:ext cx="7790688" cy="6096000"/>
          </a:xfrm>
          <a:prstGeom prst="rect">
            <a:avLst/>
          </a:prstGeom>
          <a:noFill/>
          <a:ln>
            <a:noFill/>
          </a:ln>
        </p:spPr>
        <p:txBody>
          <a:bodyPr anchorCtr="0" anchor="t" bIns="45700" lIns="91425" spcFirstLastPara="1" rIns="91425" wrap="square" tIns="45700">
            <a:normAutofit/>
          </a:bodyPr>
          <a:lstStyle/>
          <a:p>
            <a:pPr indent="-153670" lvl="0" marL="274320" rtl="0" algn="l">
              <a:spcBef>
                <a:spcPts val="0"/>
              </a:spcBef>
              <a:spcAft>
                <a:spcPts val="0"/>
              </a:spcAft>
              <a:buSzPts val="1900"/>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274320" lvl="0" marL="274320" rtl="0" algn="l">
              <a:spcBef>
                <a:spcPts val="400"/>
              </a:spcBef>
              <a:spcAft>
                <a:spcPts val="0"/>
              </a:spcAft>
              <a:buSzPts val="1900"/>
              <a:buNone/>
            </a:pPr>
            <a:r>
              <a:t/>
            </a:r>
            <a:endParaRPr sz="2000">
              <a:latin typeface="Times New Roman"/>
              <a:ea typeface="Times New Roman"/>
              <a:cs typeface="Times New Roman"/>
              <a:sym typeface="Times New Roman"/>
            </a:endParaRPr>
          </a:p>
          <a:p>
            <a:pPr indent="-153670" lvl="0" marL="274320" rtl="0" algn="l">
              <a:spcBef>
                <a:spcPts val="400"/>
              </a:spcBef>
              <a:spcAft>
                <a:spcPts val="0"/>
              </a:spcAft>
              <a:buSzPts val="1900"/>
              <a:buNone/>
            </a:pPr>
            <a:r>
              <a:t/>
            </a:r>
            <a:endParaRPr sz="2000">
              <a:solidFill>
                <a:srgbClr val="C00000"/>
              </a:solidFill>
              <a:latin typeface="Times New Roman"/>
              <a:ea typeface="Times New Roman"/>
              <a:cs typeface="Times New Roman"/>
              <a:sym typeface="Times New Roman"/>
            </a:endParaRPr>
          </a:p>
        </p:txBody>
      </p:sp>
      <p:sp>
        <p:nvSpPr>
          <p:cNvPr id="1435" name="Google Shape;1435;p72"/>
          <p:cNvSpPr/>
          <p:nvPr/>
        </p:nvSpPr>
        <p:spPr>
          <a:xfrm>
            <a:off x="609600" y="914400"/>
            <a:ext cx="7391400" cy="3048000"/>
          </a:xfrm>
          <a:prstGeom prst="horizontalScroll">
            <a:avLst>
              <a:gd fmla="val 12500" name="adj"/>
            </a:avLst>
          </a:prstGeom>
          <a:solidFill>
            <a:srgbClr val="C4EEFF"/>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C00000"/>
                </a:solidFill>
                <a:latin typeface="Times New Roman"/>
                <a:ea typeface="Times New Roman"/>
                <a:cs typeface="Times New Roman"/>
                <a:sym typeface="Times New Roman"/>
              </a:rPr>
              <a:t>Pháp luật và phong tục, tập quán</a:t>
            </a:r>
            <a:endParaRPr b="1" sz="1800">
              <a:solidFill>
                <a:srgbClr val="C00000"/>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sz="1800">
              <a:solidFill>
                <a:srgbClr val="FF0000"/>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Pháp luật tiến bộ sẽ ảnh hưởng tích cực đến tập quán. Ngược lại pháp luật lạc hậu sẽ ảnh hưởng xấu đến tập quán.</a:t>
            </a:r>
            <a:endParaRPr/>
          </a:p>
          <a:p>
            <a:pPr indent="0" lvl="0" marL="0" marR="0" rtl="0" algn="just">
              <a:spcBef>
                <a:spcPts val="0"/>
              </a:spcBef>
              <a:spcAft>
                <a:spcPts val="0"/>
              </a:spcAft>
              <a:buClr>
                <a:schemeClr val="dk1"/>
              </a:buClr>
              <a:buSzPts val="1800"/>
              <a:buFont typeface="Arial"/>
              <a:buNone/>
            </a:pPr>
            <a:r>
              <a:t/>
            </a:r>
            <a:endParaRPr sz="1800">
              <a:solidFill>
                <a:srgbClr val="FF0000"/>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Phong tục, tập quán tiến bộ có giá trị chung được pháp luật thừa nhận. Phong tục, tập quán lạc hậu được pháp luật điều chỉnh</a:t>
            </a:r>
            <a:endParaRPr sz="1800">
              <a:solidFill>
                <a:schemeClr val="lt1"/>
              </a:solidFill>
              <a:latin typeface="Arial"/>
              <a:ea typeface="Arial"/>
              <a:cs typeface="Arial"/>
              <a:sym typeface="Arial"/>
            </a:endParaRPr>
          </a:p>
        </p:txBody>
      </p:sp>
      <p:sp>
        <p:nvSpPr>
          <p:cNvPr id="1436" name="Google Shape;1436;p72"/>
          <p:cNvSpPr/>
          <p:nvPr/>
        </p:nvSpPr>
        <p:spPr>
          <a:xfrm>
            <a:off x="1981200" y="3352800"/>
            <a:ext cx="6858000" cy="3276600"/>
          </a:xfrm>
          <a:prstGeom prst="horizontalScroll">
            <a:avLst>
              <a:gd fmla="val 12500" name="adj"/>
            </a:avLst>
          </a:prstGeom>
          <a:solidFill>
            <a:srgbClr val="8EC5F7"/>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C00000"/>
                </a:solidFill>
                <a:latin typeface="Times New Roman"/>
                <a:ea typeface="Times New Roman"/>
                <a:cs typeface="Times New Roman"/>
                <a:sym typeface="Times New Roman"/>
              </a:rPr>
              <a:t>Pháp luật và quy phạm của các tổ chức xã hội</a:t>
            </a:r>
            <a:endParaRPr b="1" sz="1800">
              <a:solidFill>
                <a:srgbClr val="C00000"/>
              </a:solidFill>
              <a:latin typeface="Times New Roman"/>
              <a:ea typeface="Times New Roman"/>
              <a:cs typeface="Times New Roman"/>
              <a:sym typeface="Times New Roman"/>
            </a:endParaRPr>
          </a:p>
          <a:p>
            <a:pPr indent="0" lvl="0" marL="0" marR="0" rtl="0" algn="l">
              <a:spcBef>
                <a:spcPts val="0"/>
              </a:spcBef>
              <a:spcAft>
                <a:spcPts val="0"/>
              </a:spcAft>
              <a:buClr>
                <a:schemeClr val="dk1"/>
              </a:buClr>
              <a:buSzPts val="1800"/>
              <a:buFont typeface="Arial"/>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Clr>
                <a:schemeClr val="dk1"/>
              </a:buClr>
              <a:buSzPts val="1800"/>
              <a:buFont typeface="Times New Roman"/>
              <a:buNone/>
            </a:pPr>
            <a:r>
              <a:rPr lang="en-US" sz="1800">
                <a:solidFill>
                  <a:schemeClr val="dk1"/>
                </a:solidFill>
                <a:latin typeface="Times New Roman"/>
                <a:ea typeface="Times New Roman"/>
                <a:cs typeface="Times New Roman"/>
                <a:sym typeface="Times New Roman"/>
              </a:rPr>
              <a:t>Quy phạm của các tổ chức xã hội như công đoàn, đoàn thanh niên, hội phụ nữ… chỉ điều chỉnh những quan hệ xã hội trong nội bộ của mỗi tổ chức, chúng chịu sự chi phối của pháp luật, phải phù hợp và không được trái với pháp luật vì pháp luật mang ý chí chung của nhà nước. Mặt khác, quy phạm của các tổ chức xã hội cũng có những ảnh hưởng nhất định đối với pháp luật.</a:t>
            </a:r>
            <a:endParaRPr/>
          </a:p>
        </p:txBody>
      </p:sp>
      <p:sp>
        <p:nvSpPr>
          <p:cNvPr id="1437" name="Google Shape;1437;p72"/>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438" name="Google Shape;1438;p7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5"/>
                                        </p:tgtEl>
                                        <p:attrNameLst>
                                          <p:attrName>style.visibility</p:attrName>
                                        </p:attrNameLst>
                                      </p:cBhvr>
                                      <p:to>
                                        <p:strVal val="visible"/>
                                      </p:to>
                                    </p:set>
                                    <p:animEffect filter="fade" transition="in">
                                      <p:cBhvr>
                                        <p:cTn dur="2000"/>
                                        <p:tgtEl>
                                          <p:spTgt spid="1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6"/>
                                        </p:tgtEl>
                                        <p:attrNameLst>
                                          <p:attrName>style.visibility</p:attrName>
                                        </p:attrNameLst>
                                      </p:cBhvr>
                                      <p:to>
                                        <p:strVal val="visible"/>
                                      </p:to>
                                    </p:set>
                                    <p:anim calcmode="lin" valueType="num">
                                      <p:cBhvr additive="base">
                                        <p:cTn dur="500"/>
                                        <p:tgtEl>
                                          <p:spTgt spid="143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73"/>
          <p:cNvSpPr/>
          <p:nvPr/>
        </p:nvSpPr>
        <p:spPr>
          <a:xfrm>
            <a:off x="990600" y="1143000"/>
            <a:ext cx="6781800" cy="205740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hlink"/>
              </a:buClr>
              <a:buSzPts val="2400"/>
              <a:buFont typeface="Noto Sans Symbols"/>
              <a:buNone/>
            </a:pPr>
            <a:r>
              <a:rPr lang="en-US" sz="2400">
                <a:solidFill>
                  <a:srgbClr val="4D0D06"/>
                </a:solidFill>
                <a:latin typeface="Arial"/>
                <a:ea typeface="Arial"/>
                <a:cs typeface="Arial"/>
                <a:sym typeface="Arial"/>
              </a:rPr>
              <a:t>    </a:t>
            </a:r>
            <a:r>
              <a:rPr lang="en-US" sz="2400">
                <a:solidFill>
                  <a:srgbClr val="339933"/>
                </a:solidFill>
                <a:latin typeface="Arial"/>
                <a:ea typeface="Arial"/>
                <a:cs typeface="Arial"/>
                <a:sym typeface="Arial"/>
              </a:rPr>
              <a:t>Là tổng thể các </a:t>
            </a:r>
            <a:r>
              <a:rPr i="1" lang="en-US" sz="2400" u="sng">
                <a:solidFill>
                  <a:srgbClr val="FF0066"/>
                </a:solidFill>
                <a:latin typeface="Arial"/>
                <a:ea typeface="Arial"/>
                <a:cs typeface="Arial"/>
                <a:sym typeface="Arial"/>
              </a:rPr>
              <a:t>dấu hiệu cơ bản</a:t>
            </a:r>
            <a:r>
              <a:rPr lang="en-US" sz="2400">
                <a:solidFill>
                  <a:srgbClr val="339933"/>
                </a:solidFill>
                <a:latin typeface="Arial"/>
                <a:ea typeface="Arial"/>
                <a:cs typeface="Arial"/>
                <a:sym typeface="Arial"/>
              </a:rPr>
              <a:t> của pháp luật thể hiện </a:t>
            </a:r>
            <a:r>
              <a:rPr i="1" lang="en-US" sz="2400" u="sng">
                <a:solidFill>
                  <a:srgbClr val="FF0066"/>
                </a:solidFill>
                <a:latin typeface="Arial"/>
                <a:ea typeface="Arial"/>
                <a:cs typeface="Arial"/>
                <a:sym typeface="Arial"/>
              </a:rPr>
              <a:t>bản chất giai cấp, vai trò xã hội</a:t>
            </a:r>
            <a:r>
              <a:rPr lang="en-US" sz="2400">
                <a:solidFill>
                  <a:srgbClr val="339933"/>
                </a:solidFill>
                <a:latin typeface="Arial"/>
                <a:ea typeface="Arial"/>
                <a:cs typeface="Arial"/>
                <a:sym typeface="Arial"/>
              </a:rPr>
              <a:t> và những </a:t>
            </a:r>
            <a:r>
              <a:rPr i="1" lang="en-US" sz="2400" u="sng">
                <a:solidFill>
                  <a:srgbClr val="FF0066"/>
                </a:solidFill>
                <a:latin typeface="Arial"/>
                <a:ea typeface="Arial"/>
                <a:cs typeface="Arial"/>
                <a:sym typeface="Arial"/>
              </a:rPr>
              <a:t>điều kiện phát sinh, tồn tại và phát triển</a:t>
            </a:r>
            <a:r>
              <a:rPr lang="en-US" sz="2400">
                <a:solidFill>
                  <a:srgbClr val="339933"/>
                </a:solidFill>
                <a:latin typeface="Arial"/>
                <a:ea typeface="Arial"/>
                <a:cs typeface="Arial"/>
                <a:sym typeface="Arial"/>
              </a:rPr>
              <a:t> của pháp luật trong một hình thái kinh tế xã hội nhất định.</a:t>
            </a:r>
            <a:endParaRPr sz="2400">
              <a:solidFill>
                <a:srgbClr val="339933"/>
              </a:solidFill>
              <a:latin typeface="Arial"/>
              <a:ea typeface="Arial"/>
              <a:cs typeface="Arial"/>
              <a:sym typeface="Arial"/>
            </a:endParaRPr>
          </a:p>
        </p:txBody>
      </p:sp>
      <p:sp>
        <p:nvSpPr>
          <p:cNvPr id="1444" name="Google Shape;1444;p73"/>
          <p:cNvSpPr/>
          <p:nvPr/>
        </p:nvSpPr>
        <p:spPr>
          <a:xfrm>
            <a:off x="2362200" y="3581400"/>
            <a:ext cx="6705600" cy="229293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200">
                <a:solidFill>
                  <a:srgbClr val="FF0066"/>
                </a:solidFill>
                <a:latin typeface="Arial"/>
                <a:ea typeface="Arial"/>
                <a:cs typeface="Arial"/>
                <a:sym typeface="Arial"/>
              </a:rPr>
              <a:t>Sự thay thế các kiểu pháp luật</a:t>
            </a:r>
            <a:endParaRPr b="1" sz="2200">
              <a:solidFill>
                <a:srgbClr val="FF0066"/>
              </a:solidFill>
              <a:latin typeface="Arial"/>
              <a:ea typeface="Arial"/>
              <a:cs typeface="Arial"/>
              <a:sym typeface="Arial"/>
            </a:endParaRPr>
          </a:p>
          <a:p>
            <a:pPr indent="-139700" lvl="2" marL="914400" marR="0" rtl="0" algn="l">
              <a:spcBef>
                <a:spcPts val="1100"/>
              </a:spcBef>
              <a:spcAft>
                <a:spcPts val="0"/>
              </a:spcAft>
              <a:buClr>
                <a:schemeClr val="dk2"/>
              </a:buClr>
              <a:buSzPts val="2200"/>
              <a:buFont typeface="Arial"/>
              <a:buChar char="•"/>
            </a:pPr>
            <a:r>
              <a:rPr b="0" i="0" lang="en-US" sz="2200" u="none" cap="none" strike="noStrike">
                <a:solidFill>
                  <a:schemeClr val="dk2"/>
                </a:solidFill>
                <a:latin typeface="Arial"/>
                <a:ea typeface="Arial"/>
                <a:cs typeface="Arial"/>
                <a:sym typeface="Arial"/>
              </a:rPr>
              <a:t> Thể hiện quá trình tiến hóa của xã hội, </a:t>
            </a:r>
            <a:endParaRPr/>
          </a:p>
          <a:p>
            <a:pPr indent="-139700" lvl="2" marL="914400" marR="0" rtl="0" algn="l">
              <a:spcBef>
                <a:spcPts val="1100"/>
              </a:spcBef>
              <a:spcAft>
                <a:spcPts val="0"/>
              </a:spcAft>
              <a:buClr>
                <a:schemeClr val="dk2"/>
              </a:buClr>
              <a:buSzPts val="2200"/>
              <a:buFont typeface="Arial"/>
              <a:buChar char="•"/>
            </a:pPr>
            <a:r>
              <a:rPr b="0" i="0" lang="en-US" sz="2200" u="none" cap="none" strike="noStrike">
                <a:solidFill>
                  <a:schemeClr val="dk2"/>
                </a:solidFill>
                <a:latin typeface="Arial"/>
                <a:ea typeface="Arial"/>
                <a:cs typeface="Arial"/>
                <a:sym typeface="Arial"/>
              </a:rPr>
              <a:t> Được thực hiện bằng một cuộc cách mạng</a:t>
            </a:r>
            <a:endParaRPr b="0" i="0" sz="2200" u="none" cap="none" strike="noStrike">
              <a:solidFill>
                <a:schemeClr val="dk2"/>
              </a:solidFill>
              <a:latin typeface="Arial"/>
              <a:ea typeface="Arial"/>
              <a:cs typeface="Arial"/>
              <a:sym typeface="Arial"/>
            </a:endParaRPr>
          </a:p>
          <a:p>
            <a:pPr indent="-139700" lvl="2" marL="914400" marR="0" rtl="0" algn="l">
              <a:spcBef>
                <a:spcPts val="1100"/>
              </a:spcBef>
              <a:spcAft>
                <a:spcPts val="0"/>
              </a:spcAft>
              <a:buClr>
                <a:schemeClr val="dk2"/>
              </a:buClr>
              <a:buSzPts val="2200"/>
              <a:buFont typeface="Arial"/>
              <a:buChar char="•"/>
            </a:pPr>
            <a:r>
              <a:rPr b="0" i="0" lang="en-US" sz="2200" u="none" cap="none" strike="noStrike">
                <a:solidFill>
                  <a:schemeClr val="dk2"/>
                </a:solidFill>
                <a:latin typeface="Arial"/>
                <a:ea typeface="Arial"/>
                <a:cs typeface="Arial"/>
                <a:sym typeface="Arial"/>
              </a:rPr>
              <a:t>  Kiểu pháp luật sau bao giờ mang tính kế thừa kiểu pháp luật cũ</a:t>
            </a:r>
            <a:endParaRPr b="0" i="0" sz="2200" u="none" cap="none" strike="noStrike">
              <a:solidFill>
                <a:schemeClr val="dk2"/>
              </a:solidFill>
              <a:latin typeface="Arial"/>
              <a:ea typeface="Arial"/>
              <a:cs typeface="Arial"/>
              <a:sym typeface="Arial"/>
            </a:endParaRPr>
          </a:p>
        </p:txBody>
      </p:sp>
      <p:sp>
        <p:nvSpPr>
          <p:cNvPr id="1445" name="Google Shape;1445;p73"/>
          <p:cNvSpPr txBox="1"/>
          <p:nvPr/>
        </p:nvSpPr>
        <p:spPr>
          <a:xfrm>
            <a:off x="1143000" y="152400"/>
            <a:ext cx="8001000" cy="990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200">
                <a:solidFill>
                  <a:schemeClr val="dk1"/>
                </a:solidFill>
                <a:latin typeface="Times New Roman"/>
                <a:ea typeface="Times New Roman"/>
                <a:cs typeface="Times New Roman"/>
                <a:sym typeface="Times New Roman"/>
              </a:rPr>
              <a:t> 4.5	Kiểu pháp luật</a:t>
            </a:r>
            <a:endParaRPr b="1" sz="3200">
              <a:solidFill>
                <a:schemeClr val="dk1"/>
              </a:solidFill>
              <a:latin typeface="Times New Roman"/>
              <a:ea typeface="Times New Roman"/>
              <a:cs typeface="Times New Roman"/>
              <a:sym typeface="Times New Roman"/>
            </a:endParaRPr>
          </a:p>
        </p:txBody>
      </p:sp>
      <p:pic>
        <p:nvPicPr>
          <p:cNvPr descr="E:\Bai giang\PL DC\imagesn.jpg" id="1446" name="Google Shape;1446;p73"/>
          <p:cNvPicPr preferRelativeResize="0"/>
          <p:nvPr/>
        </p:nvPicPr>
        <p:blipFill rotWithShape="1">
          <a:blip r:embed="rId3">
            <a:alphaModFix/>
          </a:blip>
          <a:srcRect b="0" l="0" r="0" t="0"/>
          <a:stretch/>
        </p:blipFill>
        <p:spPr>
          <a:xfrm>
            <a:off x="6705600" y="2667000"/>
            <a:ext cx="2095500" cy="1390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45"/>
                                        </p:tgtEl>
                                        <p:attrNameLst>
                                          <p:attrName>style.visibility</p:attrName>
                                        </p:attrNameLst>
                                      </p:cBhvr>
                                      <p:to>
                                        <p:strVal val="visible"/>
                                      </p:to>
                                    </p:set>
                                    <p:animEffect filter="fade" transition="in">
                                      <p:cBhvr>
                                        <p:cTn dur="1000"/>
                                        <p:tgtEl>
                                          <p:spTgt spid="14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43">
                                            <p:txEl>
                                              <p:pRg end="0" st="0"/>
                                            </p:txEl>
                                          </p:spTgt>
                                        </p:tgtEl>
                                        <p:attrNameLst>
                                          <p:attrName>style.visibility</p:attrName>
                                        </p:attrNameLst>
                                      </p:cBhvr>
                                      <p:to>
                                        <p:strVal val="visible"/>
                                      </p:to>
                                    </p:set>
                                    <p:animEffect filter="fade" transition="in">
                                      <p:cBhvr>
                                        <p:cTn dur="500"/>
                                        <p:tgtEl>
                                          <p:spTgt spid="1443">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44">
                                            <p:txEl>
                                              <p:pRg end="0" st="0"/>
                                            </p:txEl>
                                          </p:spTgt>
                                        </p:tgtEl>
                                        <p:attrNameLst>
                                          <p:attrName>style.visibility</p:attrName>
                                        </p:attrNameLst>
                                      </p:cBhvr>
                                      <p:to>
                                        <p:strVal val="visible"/>
                                      </p:to>
                                    </p:set>
                                    <p:animEffect filter="fade" transition="in">
                                      <p:cBhvr>
                                        <p:cTn dur="500"/>
                                        <p:tgtEl>
                                          <p:spTgt spid="1444">
                                            <p:txEl>
                                              <p:pRg end="0" st="0"/>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44">
                                            <p:txEl>
                                              <p:pRg end="1" st="1"/>
                                            </p:txEl>
                                          </p:spTgt>
                                        </p:tgtEl>
                                        <p:attrNameLst>
                                          <p:attrName>style.visibility</p:attrName>
                                        </p:attrNameLst>
                                      </p:cBhvr>
                                      <p:to>
                                        <p:strVal val="visible"/>
                                      </p:to>
                                    </p:set>
                                    <p:animEffect filter="fade" transition="in">
                                      <p:cBhvr>
                                        <p:cTn dur="500"/>
                                        <p:tgtEl>
                                          <p:spTgt spid="1444">
                                            <p:txEl>
                                              <p:pRg end="1" st="1"/>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444">
                                            <p:txEl>
                                              <p:pRg end="2" st="2"/>
                                            </p:txEl>
                                          </p:spTgt>
                                        </p:tgtEl>
                                        <p:attrNameLst>
                                          <p:attrName>style.visibility</p:attrName>
                                        </p:attrNameLst>
                                      </p:cBhvr>
                                      <p:to>
                                        <p:strVal val="visible"/>
                                      </p:to>
                                    </p:set>
                                    <p:animEffect filter="fade" transition="in">
                                      <p:cBhvr>
                                        <p:cTn dur="500"/>
                                        <p:tgtEl>
                                          <p:spTgt spid="1444">
                                            <p:txEl>
                                              <p:pRg end="2" st="2"/>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44">
                                            <p:txEl>
                                              <p:pRg end="3" st="3"/>
                                            </p:txEl>
                                          </p:spTgt>
                                        </p:tgtEl>
                                        <p:attrNameLst>
                                          <p:attrName>style.visibility</p:attrName>
                                        </p:attrNameLst>
                                      </p:cBhvr>
                                      <p:to>
                                        <p:strVal val="visible"/>
                                      </p:to>
                                    </p:set>
                                    <p:animEffect filter="fade" transition="in">
                                      <p:cBhvr>
                                        <p:cTn dur="500"/>
                                        <p:tgtEl>
                                          <p:spTgt spid="144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grpSp>
        <p:nvGrpSpPr>
          <p:cNvPr id="1451" name="Google Shape;1451;p74"/>
          <p:cNvGrpSpPr/>
          <p:nvPr/>
        </p:nvGrpSpPr>
        <p:grpSpPr>
          <a:xfrm>
            <a:off x="1893889" y="609600"/>
            <a:ext cx="5314950" cy="5486400"/>
            <a:chOff x="1893095" y="1371600"/>
            <a:chExt cx="5314951" cy="5486400"/>
          </a:xfrm>
        </p:grpSpPr>
        <p:grpSp>
          <p:nvGrpSpPr>
            <p:cNvPr id="1452" name="Google Shape;1452;p74"/>
            <p:cNvGrpSpPr/>
            <p:nvPr/>
          </p:nvGrpSpPr>
          <p:grpSpPr>
            <a:xfrm>
              <a:off x="1893095" y="1371600"/>
              <a:ext cx="5314951" cy="5486400"/>
              <a:chOff x="4071" y="1584"/>
              <a:chExt cx="1092" cy="1097"/>
            </a:xfrm>
          </p:grpSpPr>
          <p:sp>
            <p:nvSpPr>
              <p:cNvPr id="1453" name="Google Shape;1453;p74"/>
              <p:cNvSpPr/>
              <p:nvPr/>
            </p:nvSpPr>
            <p:spPr>
              <a:xfrm>
                <a:off x="4071" y="1584"/>
                <a:ext cx="1090" cy="1088"/>
              </a:xfrm>
              <a:prstGeom prst="ellipse">
                <a:avLst/>
              </a:prstGeom>
              <a:gradFill>
                <a:gsLst>
                  <a:gs pos="0">
                    <a:srgbClr val="FFFFFF"/>
                  </a:gs>
                  <a:gs pos="50000">
                    <a:srgbClr val="D8755A"/>
                  </a:gs>
                  <a:gs pos="100000">
                    <a:srgbClr val="FFFFFF"/>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4" name="Google Shape;1454;p74"/>
              <p:cNvSpPr/>
              <p:nvPr/>
            </p:nvSpPr>
            <p:spPr>
              <a:xfrm>
                <a:off x="4073" y="1593"/>
                <a:ext cx="1090" cy="1088"/>
              </a:xfrm>
              <a:prstGeom prst="ellipse">
                <a:avLst/>
              </a:prstGeom>
              <a:gradFill>
                <a:gsLst>
                  <a:gs pos="0">
                    <a:srgbClr val="D8755A">
                      <a:alpha val="31764"/>
                    </a:srgbClr>
                  </a:gs>
                  <a:gs pos="100000">
                    <a:srgbClr val="000000">
                      <a:alpha val="89803"/>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5" name="Google Shape;1455;p74"/>
              <p:cNvSpPr/>
              <p:nvPr/>
            </p:nvSpPr>
            <p:spPr>
              <a:xfrm>
                <a:off x="4131" y="1655"/>
                <a:ext cx="946" cy="945"/>
              </a:xfrm>
              <a:prstGeom prst="ellipse">
                <a:avLst/>
              </a:prstGeom>
              <a:gradFill>
                <a:gsLst>
                  <a:gs pos="0">
                    <a:srgbClr val="753F31"/>
                  </a:gs>
                  <a:gs pos="50000">
                    <a:srgbClr val="D8755A"/>
                  </a:gs>
                  <a:gs pos="100000">
                    <a:srgbClr val="753F31"/>
                  </a:gs>
                </a:gsLst>
                <a:lin ang="189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6" name="Google Shape;1456;p74"/>
              <p:cNvSpPr/>
              <p:nvPr/>
            </p:nvSpPr>
            <p:spPr>
              <a:xfrm>
                <a:off x="4128" y="1650"/>
                <a:ext cx="946" cy="945"/>
              </a:xfrm>
              <a:prstGeom prst="ellipse">
                <a:avLst/>
              </a:prstGeom>
              <a:gradFill>
                <a:gsLst>
                  <a:gs pos="0">
                    <a:srgbClr val="894A39"/>
                  </a:gs>
                  <a:gs pos="100000">
                    <a:srgbClr val="D8755A">
                      <a:alpha val="0"/>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7" name="Google Shape;1457;p74"/>
              <p:cNvSpPr/>
              <p:nvPr/>
            </p:nvSpPr>
            <p:spPr>
              <a:xfrm>
                <a:off x="4178" y="1703"/>
                <a:ext cx="852" cy="850"/>
              </a:xfrm>
              <a:prstGeom prst="ellipse">
                <a:avLst/>
              </a:prstGeom>
              <a:solidFill>
                <a:srgbClr val="000000"/>
              </a:soli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458" name="Google Shape;1458;p74"/>
              <p:cNvGrpSpPr/>
              <p:nvPr/>
            </p:nvGrpSpPr>
            <p:grpSpPr>
              <a:xfrm>
                <a:off x="4197" y="1716"/>
                <a:ext cx="826" cy="825"/>
                <a:chOff x="4166" y="1706"/>
                <a:chExt cx="1252" cy="1252"/>
              </a:xfrm>
            </p:grpSpPr>
            <p:sp>
              <p:nvSpPr>
                <p:cNvPr id="1459" name="Google Shape;1459;p74"/>
                <p:cNvSpPr/>
                <p:nvPr/>
              </p:nvSpPr>
              <p:spPr>
                <a:xfrm>
                  <a:off x="4166" y="1706"/>
                  <a:ext cx="1252" cy="1252"/>
                </a:xfrm>
                <a:prstGeom prst="ellipse">
                  <a:avLst/>
                </a:prstGeom>
                <a:gradFill>
                  <a:gsLst>
                    <a:gs pos="0">
                      <a:srgbClr val="636869"/>
                    </a:gs>
                    <a:gs pos="100000">
                      <a:srgbClr val="D6E1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74"/>
                <p:cNvSpPr txBox="1"/>
                <p:nvPr/>
              </p:nvSpPr>
              <p:spPr>
                <a:xfrm rot="5400000">
                  <a:off x="4333" y="1883"/>
                  <a:ext cx="885" cy="88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1" name="Google Shape;1461;p74"/>
                <p:cNvSpPr/>
                <p:nvPr/>
              </p:nvSpPr>
              <p:spPr>
                <a:xfrm>
                  <a:off x="4182" y="1713"/>
                  <a:ext cx="1222" cy="1221"/>
                </a:xfrm>
                <a:prstGeom prst="ellipse">
                  <a:avLst/>
                </a:prstGeom>
                <a:gradFill>
                  <a:gsLst>
                    <a:gs pos="0">
                      <a:srgbClr val="D6E1E2">
                        <a:alpha val="0"/>
                      </a:srgbClr>
                    </a:gs>
                    <a:gs pos="100000">
                      <a:srgbClr val="F1F5F5"/>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74"/>
                <p:cNvSpPr txBox="1"/>
                <p:nvPr/>
              </p:nvSpPr>
              <p:spPr>
                <a:xfrm rot="5400000">
                  <a:off x="4354" y="1878"/>
                  <a:ext cx="863" cy="8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3" name="Google Shape;1463;p74"/>
                <p:cNvSpPr/>
                <p:nvPr/>
              </p:nvSpPr>
              <p:spPr>
                <a:xfrm>
                  <a:off x="4195" y="1725"/>
                  <a:ext cx="1162" cy="1141"/>
                </a:xfrm>
                <a:prstGeom prst="ellipse">
                  <a:avLst/>
                </a:prstGeom>
                <a:gradFill>
                  <a:gsLst>
                    <a:gs pos="0">
                      <a:srgbClr val="AAB2B3"/>
                    </a:gs>
                    <a:gs pos="100000">
                      <a:srgbClr val="D6E1E2">
                        <a:alpha val="4784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74"/>
                <p:cNvSpPr txBox="1"/>
                <p:nvPr/>
              </p:nvSpPr>
              <p:spPr>
                <a:xfrm rot="5400000">
                  <a:off x="4353" y="1885"/>
                  <a:ext cx="807" cy="82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5" name="Google Shape;1465;p74"/>
                <p:cNvSpPr/>
                <p:nvPr/>
              </p:nvSpPr>
              <p:spPr>
                <a:xfrm>
                  <a:off x="4263" y="1757"/>
                  <a:ext cx="1033" cy="926"/>
                </a:xfrm>
                <a:prstGeom prst="ellipse">
                  <a:avLst/>
                </a:prstGeom>
                <a:gradFill>
                  <a:gsLst>
                    <a:gs pos="0">
                      <a:srgbClr val="FFFFFF"/>
                    </a:gs>
                    <a:gs pos="100000">
                      <a:srgbClr val="D6E1E2">
                        <a:alpha val="37647"/>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74"/>
                <p:cNvSpPr txBox="1"/>
                <p:nvPr/>
              </p:nvSpPr>
              <p:spPr>
                <a:xfrm rot="5400000">
                  <a:off x="4439" y="1848"/>
                  <a:ext cx="655" cy="73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467" name="Google Shape;1467;p74"/>
            <p:cNvSpPr txBox="1"/>
            <p:nvPr/>
          </p:nvSpPr>
          <p:spPr>
            <a:xfrm>
              <a:off x="3407569" y="3200400"/>
              <a:ext cx="2262158"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1800">
                <a:solidFill>
                  <a:schemeClr val="dk1"/>
                </a:solidFill>
                <a:latin typeface="Arial"/>
                <a:ea typeface="Arial"/>
                <a:cs typeface="Arial"/>
                <a:sym typeface="Arial"/>
              </a:endParaRPr>
            </a:p>
            <a:p>
              <a:pPr indent="0" lvl="0" marL="0" marR="0" rtl="0" algn="ctr">
                <a:spcBef>
                  <a:spcPts val="0"/>
                </a:spcBef>
                <a:spcAft>
                  <a:spcPts val="0"/>
                </a:spcAft>
                <a:buNone/>
              </a:pPr>
              <a:r>
                <a:rPr b="1" lang="en-US" sz="3600">
                  <a:solidFill>
                    <a:schemeClr val="dk1"/>
                  </a:solidFill>
                  <a:latin typeface="Arial"/>
                  <a:ea typeface="Arial"/>
                  <a:cs typeface="Arial"/>
                  <a:sym typeface="Arial"/>
                </a:rPr>
                <a:t>Các kiểu </a:t>
              </a:r>
              <a:endParaRPr/>
            </a:p>
            <a:p>
              <a:pPr indent="0" lvl="0" marL="0" marR="0" rtl="0" algn="ctr">
                <a:spcBef>
                  <a:spcPts val="0"/>
                </a:spcBef>
                <a:spcAft>
                  <a:spcPts val="0"/>
                </a:spcAft>
                <a:buNone/>
              </a:pPr>
              <a:r>
                <a:rPr b="1" lang="en-US" sz="3600">
                  <a:solidFill>
                    <a:schemeClr val="dk1"/>
                  </a:solidFill>
                  <a:latin typeface="Arial"/>
                  <a:ea typeface="Arial"/>
                  <a:cs typeface="Arial"/>
                  <a:sym typeface="Arial"/>
                </a:rPr>
                <a:t>Pháp luật</a:t>
              </a:r>
              <a:endParaRPr b="1" sz="3600">
                <a:solidFill>
                  <a:schemeClr val="dk1"/>
                </a:solidFill>
                <a:latin typeface="Arial"/>
                <a:ea typeface="Arial"/>
                <a:cs typeface="Arial"/>
                <a:sym typeface="Arial"/>
              </a:endParaRPr>
            </a:p>
          </p:txBody>
        </p:sp>
      </p:grpSp>
      <p:grpSp>
        <p:nvGrpSpPr>
          <p:cNvPr id="1468" name="Google Shape;1468;p74"/>
          <p:cNvGrpSpPr/>
          <p:nvPr/>
        </p:nvGrpSpPr>
        <p:grpSpPr>
          <a:xfrm>
            <a:off x="5715000" y="2362200"/>
            <a:ext cx="1905000" cy="1905000"/>
            <a:chOff x="7924800" y="1905000"/>
            <a:chExt cx="1439862" cy="1439863"/>
          </a:xfrm>
        </p:grpSpPr>
        <p:grpSp>
          <p:nvGrpSpPr>
            <p:cNvPr id="1469" name="Google Shape;1469;p74"/>
            <p:cNvGrpSpPr/>
            <p:nvPr/>
          </p:nvGrpSpPr>
          <p:grpSpPr>
            <a:xfrm>
              <a:off x="7924800" y="1905000"/>
              <a:ext cx="1439862" cy="1439863"/>
              <a:chOff x="2789" y="1625"/>
              <a:chExt cx="907" cy="907"/>
            </a:xfrm>
          </p:grpSpPr>
          <p:sp>
            <p:nvSpPr>
              <p:cNvPr id="1470" name="Google Shape;1470;p74"/>
              <p:cNvSpPr/>
              <p:nvPr/>
            </p:nvSpPr>
            <p:spPr>
              <a:xfrm>
                <a:off x="2789" y="1625"/>
                <a:ext cx="907" cy="907"/>
              </a:xfrm>
              <a:prstGeom prst="ellipse">
                <a:avLst/>
              </a:prstGeom>
              <a:gradFill>
                <a:gsLst>
                  <a:gs pos="0">
                    <a:srgbClr val="FFFFFF"/>
                  </a:gs>
                  <a:gs pos="50000">
                    <a:srgbClr val="83A6A7"/>
                  </a:gs>
                  <a:gs pos="100000">
                    <a:srgbClr val="FFFFFF"/>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1" name="Google Shape;1471;p74"/>
              <p:cNvSpPr/>
              <p:nvPr/>
            </p:nvSpPr>
            <p:spPr>
              <a:xfrm>
                <a:off x="2789" y="1625"/>
                <a:ext cx="907" cy="907"/>
              </a:xfrm>
              <a:prstGeom prst="ellipse">
                <a:avLst/>
              </a:prstGeom>
              <a:gradFill>
                <a:gsLst>
                  <a:gs pos="0">
                    <a:srgbClr val="83A6A7">
                      <a:alpha val="31764"/>
                    </a:srgbClr>
                  </a:gs>
                  <a:gs pos="100000">
                    <a:srgbClr val="000000">
                      <a:alpha val="89803"/>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2" name="Google Shape;1472;p74"/>
              <p:cNvSpPr/>
              <p:nvPr/>
            </p:nvSpPr>
            <p:spPr>
              <a:xfrm>
                <a:off x="2849" y="1684"/>
                <a:ext cx="787" cy="788"/>
              </a:xfrm>
              <a:prstGeom prst="ellipse">
                <a:avLst/>
              </a:prstGeom>
              <a:gradFill>
                <a:gsLst>
                  <a:gs pos="0">
                    <a:srgbClr val="475A5A"/>
                  </a:gs>
                  <a:gs pos="50000">
                    <a:srgbClr val="83A6A7"/>
                  </a:gs>
                  <a:gs pos="100000">
                    <a:srgbClr val="475A5A"/>
                  </a:gs>
                </a:gsLst>
                <a:lin ang="189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3" name="Google Shape;1473;p74"/>
              <p:cNvSpPr/>
              <p:nvPr/>
            </p:nvSpPr>
            <p:spPr>
              <a:xfrm>
                <a:off x="2849" y="1686"/>
                <a:ext cx="787" cy="788"/>
              </a:xfrm>
              <a:prstGeom prst="ellipse">
                <a:avLst/>
              </a:prstGeom>
              <a:gradFill>
                <a:gsLst>
                  <a:gs pos="0">
                    <a:srgbClr val="53696A"/>
                  </a:gs>
                  <a:gs pos="100000">
                    <a:srgbClr val="83A6A7">
                      <a:alpha val="0"/>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4" name="Google Shape;1474;p74"/>
              <p:cNvSpPr/>
              <p:nvPr/>
            </p:nvSpPr>
            <p:spPr>
              <a:xfrm>
                <a:off x="2888" y="1724"/>
                <a:ext cx="709" cy="709"/>
              </a:xfrm>
              <a:prstGeom prst="ellipse">
                <a:avLst/>
              </a:prstGeom>
              <a:solidFill>
                <a:srgbClr val="000000"/>
              </a:soli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475" name="Google Shape;1475;p74"/>
              <p:cNvGrpSpPr/>
              <p:nvPr/>
            </p:nvGrpSpPr>
            <p:grpSpPr>
              <a:xfrm>
                <a:off x="2899" y="1735"/>
                <a:ext cx="687" cy="688"/>
                <a:chOff x="4166" y="1706"/>
                <a:chExt cx="1252" cy="1252"/>
              </a:xfrm>
            </p:grpSpPr>
            <p:sp>
              <p:nvSpPr>
                <p:cNvPr id="1476" name="Google Shape;1476;p74"/>
                <p:cNvSpPr/>
                <p:nvPr/>
              </p:nvSpPr>
              <p:spPr>
                <a:xfrm>
                  <a:off x="4166" y="1706"/>
                  <a:ext cx="1252" cy="1252"/>
                </a:xfrm>
                <a:prstGeom prst="ellipse">
                  <a:avLst/>
                </a:prstGeom>
                <a:gradFill>
                  <a:gsLst>
                    <a:gs pos="0">
                      <a:srgbClr val="636869"/>
                    </a:gs>
                    <a:gs pos="100000">
                      <a:srgbClr val="D6E1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74"/>
                <p:cNvSpPr txBox="1"/>
                <p:nvPr/>
              </p:nvSpPr>
              <p:spPr>
                <a:xfrm rot="5400000">
                  <a:off x="4333" y="1883"/>
                  <a:ext cx="885" cy="88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8" name="Google Shape;1478;p74"/>
                <p:cNvSpPr/>
                <p:nvPr/>
              </p:nvSpPr>
              <p:spPr>
                <a:xfrm>
                  <a:off x="4182" y="1713"/>
                  <a:ext cx="1222" cy="1221"/>
                </a:xfrm>
                <a:prstGeom prst="ellipse">
                  <a:avLst/>
                </a:prstGeom>
                <a:gradFill>
                  <a:gsLst>
                    <a:gs pos="0">
                      <a:srgbClr val="D6E1E2">
                        <a:alpha val="0"/>
                      </a:srgbClr>
                    </a:gs>
                    <a:gs pos="100000">
                      <a:srgbClr val="F1F5F5"/>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74"/>
                <p:cNvSpPr txBox="1"/>
                <p:nvPr/>
              </p:nvSpPr>
              <p:spPr>
                <a:xfrm rot="5400000">
                  <a:off x="4354" y="1878"/>
                  <a:ext cx="863" cy="8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0" name="Google Shape;1480;p74"/>
                <p:cNvSpPr/>
                <p:nvPr/>
              </p:nvSpPr>
              <p:spPr>
                <a:xfrm>
                  <a:off x="4195" y="1725"/>
                  <a:ext cx="1162" cy="1141"/>
                </a:xfrm>
                <a:prstGeom prst="ellipse">
                  <a:avLst/>
                </a:prstGeom>
                <a:gradFill>
                  <a:gsLst>
                    <a:gs pos="0">
                      <a:srgbClr val="AAB2B3"/>
                    </a:gs>
                    <a:gs pos="100000">
                      <a:srgbClr val="D6E1E2">
                        <a:alpha val="4784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74"/>
                <p:cNvSpPr txBox="1"/>
                <p:nvPr/>
              </p:nvSpPr>
              <p:spPr>
                <a:xfrm rot="5400000">
                  <a:off x="4353" y="1885"/>
                  <a:ext cx="807" cy="82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2" name="Google Shape;1482;p74"/>
                <p:cNvSpPr/>
                <p:nvPr/>
              </p:nvSpPr>
              <p:spPr>
                <a:xfrm>
                  <a:off x="4263" y="1757"/>
                  <a:ext cx="1033" cy="926"/>
                </a:xfrm>
                <a:prstGeom prst="ellipse">
                  <a:avLst/>
                </a:prstGeom>
                <a:gradFill>
                  <a:gsLst>
                    <a:gs pos="0">
                      <a:srgbClr val="FFFFFF"/>
                    </a:gs>
                    <a:gs pos="100000">
                      <a:srgbClr val="D6E1E2">
                        <a:alpha val="37647"/>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74"/>
                <p:cNvSpPr txBox="1"/>
                <p:nvPr/>
              </p:nvSpPr>
              <p:spPr>
                <a:xfrm rot="5400000">
                  <a:off x="4439" y="1848"/>
                  <a:ext cx="655" cy="73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484" name="Google Shape;1484;p74"/>
            <p:cNvSpPr txBox="1"/>
            <p:nvPr/>
          </p:nvSpPr>
          <p:spPr>
            <a:xfrm>
              <a:off x="8037589" y="2365756"/>
              <a:ext cx="1269479" cy="5759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accent2"/>
                  </a:solidFill>
                  <a:latin typeface="Arial"/>
                  <a:ea typeface="Arial"/>
                  <a:cs typeface="Arial"/>
                  <a:sym typeface="Arial"/>
                </a:rPr>
                <a:t>Pháp luật</a:t>
              </a:r>
              <a:endParaRPr b="1" sz="2200">
                <a:solidFill>
                  <a:schemeClr val="accent2"/>
                </a:solidFill>
                <a:latin typeface="Arial"/>
                <a:ea typeface="Arial"/>
                <a:cs typeface="Arial"/>
                <a:sym typeface="Arial"/>
              </a:endParaRPr>
            </a:p>
            <a:p>
              <a:pPr indent="0" lvl="0" marL="0" marR="0" rtl="0" algn="ctr">
                <a:spcBef>
                  <a:spcPts val="0"/>
                </a:spcBef>
                <a:spcAft>
                  <a:spcPts val="0"/>
                </a:spcAft>
                <a:buNone/>
              </a:pPr>
              <a:r>
                <a:rPr b="1" lang="en-US" sz="2200">
                  <a:solidFill>
                    <a:schemeClr val="accent2"/>
                  </a:solidFill>
                  <a:latin typeface="Arial"/>
                  <a:ea typeface="Arial"/>
                  <a:cs typeface="Arial"/>
                  <a:sym typeface="Arial"/>
                </a:rPr>
                <a:t>phong kiến</a:t>
              </a:r>
              <a:endParaRPr b="1" sz="2200">
                <a:solidFill>
                  <a:schemeClr val="accent2"/>
                </a:solidFill>
                <a:latin typeface="Arial"/>
                <a:ea typeface="Arial"/>
                <a:cs typeface="Arial"/>
                <a:sym typeface="Arial"/>
              </a:endParaRPr>
            </a:p>
          </p:txBody>
        </p:sp>
      </p:grpSp>
      <p:grpSp>
        <p:nvGrpSpPr>
          <p:cNvPr id="1485" name="Google Shape;1485;p74"/>
          <p:cNvGrpSpPr/>
          <p:nvPr/>
        </p:nvGrpSpPr>
        <p:grpSpPr>
          <a:xfrm>
            <a:off x="3657600" y="4086225"/>
            <a:ext cx="1905000" cy="2009775"/>
            <a:chOff x="864" y="1680"/>
            <a:chExt cx="910" cy="960"/>
          </a:xfrm>
        </p:grpSpPr>
        <p:sp>
          <p:nvSpPr>
            <p:cNvPr id="1486" name="Google Shape;1486;p74"/>
            <p:cNvSpPr/>
            <p:nvPr/>
          </p:nvSpPr>
          <p:spPr>
            <a:xfrm>
              <a:off x="864" y="1680"/>
              <a:ext cx="910" cy="960"/>
            </a:xfrm>
            <a:prstGeom prst="ellipse">
              <a:avLst/>
            </a:prstGeom>
            <a:gradFill>
              <a:gsLst>
                <a:gs pos="0">
                  <a:srgbClr val="FFFFFF"/>
                </a:gs>
                <a:gs pos="50000">
                  <a:srgbClr val="FF6699"/>
                </a:gs>
                <a:gs pos="100000">
                  <a:srgbClr val="FFFFFF"/>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7" name="Google Shape;1487;p74"/>
            <p:cNvSpPr/>
            <p:nvPr/>
          </p:nvSpPr>
          <p:spPr>
            <a:xfrm>
              <a:off x="864" y="1680"/>
              <a:ext cx="910" cy="960"/>
            </a:xfrm>
            <a:prstGeom prst="ellipse">
              <a:avLst/>
            </a:prstGeom>
            <a:gradFill>
              <a:gsLst>
                <a:gs pos="0">
                  <a:srgbClr val="FF6699">
                    <a:alpha val="31764"/>
                  </a:srgbClr>
                </a:gs>
                <a:gs pos="100000">
                  <a:srgbClr val="000000">
                    <a:alpha val="89803"/>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8" name="Google Shape;1488;p74"/>
            <p:cNvSpPr/>
            <p:nvPr/>
          </p:nvSpPr>
          <p:spPr>
            <a:xfrm>
              <a:off x="923" y="1742"/>
              <a:ext cx="792" cy="836"/>
            </a:xfrm>
            <a:prstGeom prst="ellipse">
              <a:avLst/>
            </a:prstGeom>
            <a:gradFill>
              <a:gsLst>
                <a:gs pos="0">
                  <a:srgbClr val="8A3753"/>
                </a:gs>
                <a:gs pos="50000">
                  <a:srgbClr val="FF6699"/>
                </a:gs>
                <a:gs pos="100000">
                  <a:srgbClr val="8A3753"/>
                </a:gs>
              </a:gsLst>
              <a:lin ang="189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9" name="Google Shape;1489;p74"/>
            <p:cNvSpPr/>
            <p:nvPr/>
          </p:nvSpPr>
          <p:spPr>
            <a:xfrm>
              <a:off x="912" y="1728"/>
              <a:ext cx="791" cy="836"/>
            </a:xfrm>
            <a:prstGeom prst="ellipse">
              <a:avLst/>
            </a:prstGeom>
            <a:gradFill>
              <a:gsLst>
                <a:gs pos="0">
                  <a:srgbClr val="A24161"/>
                </a:gs>
                <a:gs pos="100000">
                  <a:srgbClr val="FF6699">
                    <a:alpha val="0"/>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0" name="Google Shape;1490;p74"/>
            <p:cNvSpPr/>
            <p:nvPr/>
          </p:nvSpPr>
          <p:spPr>
            <a:xfrm>
              <a:off x="966" y="1785"/>
              <a:ext cx="712" cy="750"/>
            </a:xfrm>
            <a:prstGeom prst="ellipse">
              <a:avLst/>
            </a:prstGeom>
            <a:solidFill>
              <a:srgbClr val="333333"/>
            </a:soli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1" name="Google Shape;1491;p74"/>
            <p:cNvSpPr/>
            <p:nvPr/>
          </p:nvSpPr>
          <p:spPr>
            <a:xfrm>
              <a:off x="960" y="1776"/>
              <a:ext cx="689" cy="727"/>
            </a:xfrm>
            <a:prstGeom prst="ellipse">
              <a:avLst/>
            </a:prstGeom>
            <a:gradFill>
              <a:gsLst>
                <a:gs pos="0">
                  <a:srgbClr val="595959"/>
                </a:gs>
                <a:gs pos="100000">
                  <a:srgbClr val="C0C0C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74"/>
            <p:cNvSpPr txBox="1"/>
            <p:nvPr/>
          </p:nvSpPr>
          <p:spPr>
            <a:xfrm rot="5400000">
              <a:off x="1037" y="1895"/>
              <a:ext cx="514" cy="487"/>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3" name="Google Shape;1493;p74"/>
            <p:cNvSpPr/>
            <p:nvPr/>
          </p:nvSpPr>
          <p:spPr>
            <a:xfrm>
              <a:off x="986" y="1801"/>
              <a:ext cx="673" cy="709"/>
            </a:xfrm>
            <a:prstGeom prst="ellipse">
              <a:avLst/>
            </a:prstGeom>
            <a:gradFill>
              <a:gsLst>
                <a:gs pos="0">
                  <a:srgbClr val="C0C0C0">
                    <a:alpha val="0"/>
                  </a:srgbClr>
                </a:gs>
                <a:gs pos="100000">
                  <a:srgbClr val="E9E9E9"/>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74"/>
            <p:cNvSpPr txBox="1"/>
            <p:nvPr/>
          </p:nvSpPr>
          <p:spPr>
            <a:xfrm rot="5400000">
              <a:off x="1061" y="1917"/>
              <a:ext cx="501" cy="4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5" name="Google Shape;1495;p74"/>
            <p:cNvSpPr/>
            <p:nvPr/>
          </p:nvSpPr>
          <p:spPr>
            <a:xfrm>
              <a:off x="994" y="1808"/>
              <a:ext cx="640" cy="663"/>
            </a:xfrm>
            <a:prstGeom prst="ellipse">
              <a:avLst/>
            </a:prstGeom>
            <a:gradFill>
              <a:gsLst>
                <a:gs pos="0">
                  <a:srgbClr val="989898"/>
                </a:gs>
                <a:gs pos="100000">
                  <a:srgbClr val="C0C0C0">
                    <a:alpha val="4784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74"/>
            <p:cNvSpPr txBox="1"/>
            <p:nvPr/>
          </p:nvSpPr>
          <p:spPr>
            <a:xfrm rot="5400000">
              <a:off x="1061" y="1905"/>
              <a:ext cx="469" cy="453"/>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7" name="Google Shape;1497;p74"/>
            <p:cNvSpPr/>
            <p:nvPr/>
          </p:nvSpPr>
          <p:spPr>
            <a:xfrm>
              <a:off x="1031" y="1827"/>
              <a:ext cx="569" cy="538"/>
            </a:xfrm>
            <a:prstGeom prst="ellipse">
              <a:avLst/>
            </a:prstGeom>
            <a:gradFill>
              <a:gsLst>
                <a:gs pos="0">
                  <a:srgbClr val="FFFFFF"/>
                </a:gs>
                <a:gs pos="100000">
                  <a:srgbClr val="C0C0C0">
                    <a:alpha val="37647"/>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74"/>
            <p:cNvSpPr txBox="1"/>
            <p:nvPr/>
          </p:nvSpPr>
          <p:spPr>
            <a:xfrm rot="5400000">
              <a:off x="1119" y="1893"/>
              <a:ext cx="380" cy="40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9" name="Google Shape;1499;p74"/>
            <p:cNvSpPr txBox="1"/>
            <p:nvPr/>
          </p:nvSpPr>
          <p:spPr>
            <a:xfrm>
              <a:off x="950" y="1971"/>
              <a:ext cx="696" cy="36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rgbClr val="FF0066"/>
                  </a:solidFill>
                  <a:latin typeface="Arial"/>
                  <a:ea typeface="Arial"/>
                  <a:cs typeface="Arial"/>
                  <a:sym typeface="Arial"/>
                </a:rPr>
                <a:t>Pháp luật</a:t>
              </a:r>
              <a:endParaRPr/>
            </a:p>
            <a:p>
              <a:pPr indent="0" lvl="0" marL="0" marR="0" rtl="0" algn="ctr">
                <a:spcBef>
                  <a:spcPts val="0"/>
                </a:spcBef>
                <a:spcAft>
                  <a:spcPts val="0"/>
                </a:spcAft>
                <a:buNone/>
              </a:pPr>
              <a:r>
                <a:rPr b="1" lang="en-US" sz="2200">
                  <a:solidFill>
                    <a:srgbClr val="FF0066"/>
                  </a:solidFill>
                  <a:latin typeface="Arial"/>
                  <a:ea typeface="Arial"/>
                  <a:cs typeface="Arial"/>
                  <a:sym typeface="Arial"/>
                </a:rPr>
                <a:t>tư sản</a:t>
              </a:r>
              <a:endParaRPr/>
            </a:p>
          </p:txBody>
        </p:sp>
      </p:grpSp>
      <p:grpSp>
        <p:nvGrpSpPr>
          <p:cNvPr id="1500" name="Google Shape;1500;p74"/>
          <p:cNvGrpSpPr/>
          <p:nvPr/>
        </p:nvGrpSpPr>
        <p:grpSpPr>
          <a:xfrm>
            <a:off x="3505200" y="609600"/>
            <a:ext cx="1828800" cy="1927225"/>
            <a:chOff x="304800" y="1676400"/>
            <a:chExt cx="1446213" cy="1524000"/>
          </a:xfrm>
        </p:grpSpPr>
        <p:grpSp>
          <p:nvGrpSpPr>
            <p:cNvPr id="1501" name="Google Shape;1501;p74"/>
            <p:cNvGrpSpPr/>
            <p:nvPr/>
          </p:nvGrpSpPr>
          <p:grpSpPr>
            <a:xfrm>
              <a:off x="304800" y="1676400"/>
              <a:ext cx="1446213" cy="1524000"/>
              <a:chOff x="884" y="2523"/>
              <a:chExt cx="862" cy="862"/>
            </a:xfrm>
          </p:grpSpPr>
          <p:sp>
            <p:nvSpPr>
              <p:cNvPr id="1502" name="Google Shape;1502;p74"/>
              <p:cNvSpPr/>
              <p:nvPr/>
            </p:nvSpPr>
            <p:spPr>
              <a:xfrm>
                <a:off x="884" y="2523"/>
                <a:ext cx="862" cy="862"/>
              </a:xfrm>
              <a:prstGeom prst="ellipse">
                <a:avLst/>
              </a:prstGeom>
              <a:gradFill>
                <a:gsLst>
                  <a:gs pos="0">
                    <a:srgbClr val="FFFFFF"/>
                  </a:gs>
                  <a:gs pos="50000">
                    <a:srgbClr val="00CC66"/>
                  </a:gs>
                  <a:gs pos="100000">
                    <a:srgbClr val="FFFFFF"/>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3" name="Google Shape;1503;p74"/>
              <p:cNvSpPr/>
              <p:nvPr/>
            </p:nvSpPr>
            <p:spPr>
              <a:xfrm>
                <a:off x="884" y="2523"/>
                <a:ext cx="862" cy="862"/>
              </a:xfrm>
              <a:prstGeom prst="ellipse">
                <a:avLst/>
              </a:prstGeom>
              <a:gradFill>
                <a:gsLst>
                  <a:gs pos="0">
                    <a:srgbClr val="00CC66">
                      <a:alpha val="31764"/>
                    </a:srgbClr>
                  </a:gs>
                  <a:gs pos="100000">
                    <a:srgbClr val="000000">
                      <a:alpha val="89803"/>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4" name="Google Shape;1504;p74"/>
              <p:cNvSpPr/>
              <p:nvPr/>
            </p:nvSpPr>
            <p:spPr>
              <a:xfrm>
                <a:off x="940" y="2579"/>
                <a:ext cx="750" cy="750"/>
              </a:xfrm>
              <a:prstGeom prst="ellipse">
                <a:avLst/>
              </a:prstGeom>
              <a:gradFill>
                <a:gsLst>
                  <a:gs pos="0">
                    <a:srgbClr val="006E37"/>
                  </a:gs>
                  <a:gs pos="50000">
                    <a:srgbClr val="00CC66"/>
                  </a:gs>
                  <a:gs pos="100000">
                    <a:srgbClr val="006E37"/>
                  </a:gs>
                </a:gsLst>
                <a:lin ang="189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5" name="Google Shape;1505;p74"/>
              <p:cNvSpPr/>
              <p:nvPr/>
            </p:nvSpPr>
            <p:spPr>
              <a:xfrm>
                <a:off x="941" y="2579"/>
                <a:ext cx="749" cy="750"/>
              </a:xfrm>
              <a:prstGeom prst="ellipse">
                <a:avLst/>
              </a:prstGeom>
              <a:gradFill>
                <a:gsLst>
                  <a:gs pos="0">
                    <a:srgbClr val="008241"/>
                  </a:gs>
                  <a:gs pos="100000">
                    <a:srgbClr val="00CC66">
                      <a:alpha val="0"/>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6" name="Google Shape;1506;p74"/>
              <p:cNvSpPr/>
              <p:nvPr/>
            </p:nvSpPr>
            <p:spPr>
              <a:xfrm>
                <a:off x="981" y="2617"/>
                <a:ext cx="674" cy="674"/>
              </a:xfrm>
              <a:prstGeom prst="ellipse">
                <a:avLst/>
              </a:prstGeom>
              <a:solidFill>
                <a:srgbClr val="333333"/>
              </a:soli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7" name="Google Shape;1507;p74"/>
              <p:cNvSpPr/>
              <p:nvPr/>
            </p:nvSpPr>
            <p:spPr>
              <a:xfrm>
                <a:off x="992" y="2628"/>
                <a:ext cx="653" cy="653"/>
              </a:xfrm>
              <a:prstGeom prst="ellipse">
                <a:avLst/>
              </a:prstGeom>
              <a:gradFill>
                <a:gsLst>
                  <a:gs pos="0">
                    <a:srgbClr val="595959"/>
                  </a:gs>
                  <a:gs pos="100000">
                    <a:srgbClr val="C0C0C0"/>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74"/>
              <p:cNvSpPr txBox="1"/>
              <p:nvPr/>
            </p:nvSpPr>
            <p:spPr>
              <a:xfrm rot="5400000">
                <a:off x="1071" y="2721"/>
                <a:ext cx="462" cy="46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9" name="Google Shape;1509;p74"/>
              <p:cNvSpPr/>
              <p:nvPr/>
            </p:nvSpPr>
            <p:spPr>
              <a:xfrm>
                <a:off x="1000" y="2632"/>
                <a:ext cx="637" cy="636"/>
              </a:xfrm>
              <a:prstGeom prst="ellipse">
                <a:avLst/>
              </a:prstGeom>
              <a:gradFill>
                <a:gsLst>
                  <a:gs pos="0">
                    <a:srgbClr val="C0C0C0">
                      <a:alpha val="0"/>
                    </a:srgbClr>
                  </a:gs>
                  <a:gs pos="100000">
                    <a:srgbClr val="E9E9E9"/>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74"/>
              <p:cNvSpPr txBox="1"/>
              <p:nvPr/>
            </p:nvSpPr>
            <p:spPr>
              <a:xfrm rot="5400000">
                <a:off x="1094" y="2718"/>
                <a:ext cx="450" cy="4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1" name="Google Shape;1511;p74"/>
              <p:cNvSpPr/>
              <p:nvPr/>
            </p:nvSpPr>
            <p:spPr>
              <a:xfrm>
                <a:off x="1007" y="2638"/>
                <a:ext cx="606" cy="595"/>
              </a:xfrm>
              <a:prstGeom prst="ellipse">
                <a:avLst/>
              </a:prstGeom>
              <a:gradFill>
                <a:gsLst>
                  <a:gs pos="0">
                    <a:srgbClr val="989898"/>
                  </a:gs>
                  <a:gs pos="100000">
                    <a:srgbClr val="C0C0C0">
                      <a:alpha val="4784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74"/>
              <p:cNvSpPr txBox="1"/>
              <p:nvPr/>
            </p:nvSpPr>
            <p:spPr>
              <a:xfrm rot="5400000">
                <a:off x="1093" y="2708"/>
                <a:ext cx="421" cy="42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3" name="Google Shape;1513;p74"/>
              <p:cNvSpPr/>
              <p:nvPr/>
            </p:nvSpPr>
            <p:spPr>
              <a:xfrm>
                <a:off x="1042" y="2655"/>
                <a:ext cx="539" cy="483"/>
              </a:xfrm>
              <a:prstGeom prst="ellipse">
                <a:avLst/>
              </a:prstGeom>
              <a:gradFill>
                <a:gsLst>
                  <a:gs pos="0">
                    <a:srgbClr val="FFFFFF"/>
                  </a:gs>
                  <a:gs pos="100000">
                    <a:srgbClr val="C0C0C0">
                      <a:alpha val="37647"/>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74"/>
              <p:cNvSpPr txBox="1"/>
              <p:nvPr/>
            </p:nvSpPr>
            <p:spPr>
              <a:xfrm rot="5400000">
                <a:off x="1124" y="2701"/>
                <a:ext cx="342" cy="381"/>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515" name="Google Shape;1515;p74"/>
            <p:cNvSpPr txBox="1"/>
            <p:nvPr/>
          </p:nvSpPr>
          <p:spPr>
            <a:xfrm>
              <a:off x="400210" y="2058028"/>
              <a:ext cx="1214664" cy="7301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1000">
                <a:solidFill>
                  <a:schemeClr val="hlink"/>
                </a:solidFill>
                <a:latin typeface="Arial"/>
                <a:ea typeface="Arial"/>
                <a:cs typeface="Arial"/>
                <a:sym typeface="Arial"/>
              </a:endParaRPr>
            </a:p>
            <a:p>
              <a:pPr indent="0" lvl="0" marL="0" marR="0" rtl="0" algn="ctr">
                <a:spcBef>
                  <a:spcPts val="0"/>
                </a:spcBef>
                <a:spcAft>
                  <a:spcPts val="0"/>
                </a:spcAft>
                <a:buNone/>
              </a:pPr>
              <a:r>
                <a:rPr b="1" lang="en-US" sz="2200">
                  <a:solidFill>
                    <a:schemeClr val="hlink"/>
                  </a:solidFill>
                  <a:latin typeface="Arial"/>
                  <a:ea typeface="Arial"/>
                  <a:cs typeface="Arial"/>
                  <a:sym typeface="Arial"/>
                </a:rPr>
                <a:t>Pháp luật </a:t>
              </a:r>
              <a:endParaRPr/>
            </a:p>
            <a:p>
              <a:pPr indent="0" lvl="0" marL="0" marR="0" rtl="0" algn="ctr">
                <a:spcBef>
                  <a:spcPts val="0"/>
                </a:spcBef>
                <a:spcAft>
                  <a:spcPts val="0"/>
                </a:spcAft>
                <a:buNone/>
              </a:pPr>
              <a:r>
                <a:rPr b="1" lang="en-US" sz="2200">
                  <a:solidFill>
                    <a:schemeClr val="hlink"/>
                  </a:solidFill>
                  <a:latin typeface="Arial"/>
                  <a:ea typeface="Arial"/>
                  <a:cs typeface="Arial"/>
                  <a:sym typeface="Arial"/>
                </a:rPr>
                <a:t>chủ nô</a:t>
              </a:r>
              <a:endParaRPr/>
            </a:p>
          </p:txBody>
        </p:sp>
      </p:grpSp>
      <p:grpSp>
        <p:nvGrpSpPr>
          <p:cNvPr id="1516" name="Google Shape;1516;p74"/>
          <p:cNvGrpSpPr/>
          <p:nvPr/>
        </p:nvGrpSpPr>
        <p:grpSpPr>
          <a:xfrm>
            <a:off x="1447800" y="2438400"/>
            <a:ext cx="1828800" cy="1828800"/>
            <a:chOff x="1685" y="3125"/>
            <a:chExt cx="907" cy="907"/>
          </a:xfrm>
        </p:grpSpPr>
        <p:grpSp>
          <p:nvGrpSpPr>
            <p:cNvPr id="1517" name="Google Shape;1517;p74"/>
            <p:cNvGrpSpPr/>
            <p:nvPr/>
          </p:nvGrpSpPr>
          <p:grpSpPr>
            <a:xfrm>
              <a:off x="1685" y="3125"/>
              <a:ext cx="907" cy="907"/>
              <a:chOff x="2832" y="1728"/>
              <a:chExt cx="907" cy="907"/>
            </a:xfrm>
          </p:grpSpPr>
          <p:sp>
            <p:nvSpPr>
              <p:cNvPr id="1518" name="Google Shape;1518;p74"/>
              <p:cNvSpPr/>
              <p:nvPr/>
            </p:nvSpPr>
            <p:spPr>
              <a:xfrm>
                <a:off x="2832" y="1728"/>
                <a:ext cx="907" cy="907"/>
              </a:xfrm>
              <a:prstGeom prst="ellipse">
                <a:avLst/>
              </a:prstGeom>
              <a:gradFill>
                <a:gsLst>
                  <a:gs pos="0">
                    <a:srgbClr val="FFFFFF"/>
                  </a:gs>
                  <a:gs pos="50000">
                    <a:srgbClr val="3965E1"/>
                  </a:gs>
                  <a:gs pos="100000">
                    <a:srgbClr val="FFFFFF"/>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9" name="Google Shape;1519;p74"/>
              <p:cNvSpPr/>
              <p:nvPr/>
            </p:nvSpPr>
            <p:spPr>
              <a:xfrm>
                <a:off x="2832" y="1728"/>
                <a:ext cx="907" cy="907"/>
              </a:xfrm>
              <a:prstGeom prst="ellipse">
                <a:avLst/>
              </a:prstGeom>
              <a:gradFill>
                <a:gsLst>
                  <a:gs pos="0">
                    <a:srgbClr val="3965E1">
                      <a:alpha val="31764"/>
                    </a:srgbClr>
                  </a:gs>
                  <a:gs pos="100000">
                    <a:srgbClr val="000000">
                      <a:alpha val="89803"/>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0" name="Google Shape;1520;p74"/>
              <p:cNvSpPr/>
              <p:nvPr/>
            </p:nvSpPr>
            <p:spPr>
              <a:xfrm>
                <a:off x="2889" y="1788"/>
                <a:ext cx="787" cy="788"/>
              </a:xfrm>
              <a:prstGeom prst="ellipse">
                <a:avLst/>
              </a:prstGeom>
              <a:gradFill>
                <a:gsLst>
                  <a:gs pos="0">
                    <a:srgbClr val="1F377A"/>
                  </a:gs>
                  <a:gs pos="50000">
                    <a:srgbClr val="3965E1"/>
                  </a:gs>
                  <a:gs pos="100000">
                    <a:srgbClr val="1F377A"/>
                  </a:gs>
                </a:gsLst>
                <a:lin ang="189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1" name="Google Shape;1521;p74"/>
              <p:cNvSpPr/>
              <p:nvPr/>
            </p:nvSpPr>
            <p:spPr>
              <a:xfrm>
                <a:off x="2889" y="1794"/>
                <a:ext cx="787" cy="788"/>
              </a:xfrm>
              <a:prstGeom prst="ellipse">
                <a:avLst/>
              </a:prstGeom>
              <a:gradFill>
                <a:gsLst>
                  <a:gs pos="0">
                    <a:srgbClr val="264396"/>
                  </a:gs>
                  <a:gs pos="100000">
                    <a:srgbClr val="3965E1">
                      <a:alpha val="0"/>
                    </a:srgbClr>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2" name="Google Shape;1522;p74"/>
              <p:cNvSpPr/>
              <p:nvPr/>
            </p:nvSpPr>
            <p:spPr>
              <a:xfrm>
                <a:off x="2928" y="1833"/>
                <a:ext cx="709" cy="709"/>
              </a:xfrm>
              <a:prstGeom prst="ellipse">
                <a:avLst/>
              </a:prstGeom>
              <a:gradFill>
                <a:gsLst>
                  <a:gs pos="0">
                    <a:srgbClr val="3965E1"/>
                  </a:gs>
                  <a:gs pos="100000">
                    <a:srgbClr val="03060D"/>
                  </a:gs>
                </a:gsLst>
                <a:lin ang="54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523" name="Google Shape;1523;p74"/>
              <p:cNvGrpSpPr/>
              <p:nvPr/>
            </p:nvGrpSpPr>
            <p:grpSpPr>
              <a:xfrm>
                <a:off x="2946" y="1842"/>
                <a:ext cx="687" cy="688"/>
                <a:chOff x="4166" y="1706"/>
                <a:chExt cx="1252" cy="1252"/>
              </a:xfrm>
            </p:grpSpPr>
            <p:sp>
              <p:nvSpPr>
                <p:cNvPr id="1524" name="Google Shape;1524;p74"/>
                <p:cNvSpPr/>
                <p:nvPr/>
              </p:nvSpPr>
              <p:spPr>
                <a:xfrm>
                  <a:off x="4166" y="1706"/>
                  <a:ext cx="1252" cy="1252"/>
                </a:xfrm>
                <a:prstGeom prst="ellipse">
                  <a:avLst/>
                </a:prstGeom>
                <a:gradFill>
                  <a:gsLst>
                    <a:gs pos="0">
                      <a:srgbClr val="636869"/>
                    </a:gs>
                    <a:gs pos="100000">
                      <a:srgbClr val="D6E1E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74"/>
                <p:cNvSpPr txBox="1"/>
                <p:nvPr/>
              </p:nvSpPr>
              <p:spPr>
                <a:xfrm rot="5400000">
                  <a:off x="4333" y="1883"/>
                  <a:ext cx="885" cy="88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6" name="Google Shape;1526;p74"/>
                <p:cNvSpPr/>
                <p:nvPr/>
              </p:nvSpPr>
              <p:spPr>
                <a:xfrm>
                  <a:off x="4182" y="1713"/>
                  <a:ext cx="1222" cy="1221"/>
                </a:xfrm>
                <a:prstGeom prst="ellipse">
                  <a:avLst/>
                </a:prstGeom>
                <a:gradFill>
                  <a:gsLst>
                    <a:gs pos="0">
                      <a:srgbClr val="D6E1E2">
                        <a:alpha val="0"/>
                      </a:srgbClr>
                    </a:gs>
                    <a:gs pos="100000">
                      <a:srgbClr val="F1F5F5"/>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74"/>
                <p:cNvSpPr txBox="1"/>
                <p:nvPr/>
              </p:nvSpPr>
              <p:spPr>
                <a:xfrm rot="5400000">
                  <a:off x="4354" y="1878"/>
                  <a:ext cx="863" cy="86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8" name="Google Shape;1528;p74"/>
                <p:cNvSpPr/>
                <p:nvPr/>
              </p:nvSpPr>
              <p:spPr>
                <a:xfrm>
                  <a:off x="4195" y="1725"/>
                  <a:ext cx="1162" cy="1141"/>
                </a:xfrm>
                <a:prstGeom prst="ellipse">
                  <a:avLst/>
                </a:prstGeom>
                <a:gradFill>
                  <a:gsLst>
                    <a:gs pos="0">
                      <a:srgbClr val="AAB2B3"/>
                    </a:gs>
                    <a:gs pos="100000">
                      <a:srgbClr val="D6E1E2">
                        <a:alpha val="4784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74"/>
                <p:cNvSpPr txBox="1"/>
                <p:nvPr/>
              </p:nvSpPr>
              <p:spPr>
                <a:xfrm rot="5400000">
                  <a:off x="4353" y="1885"/>
                  <a:ext cx="807" cy="82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0" name="Google Shape;1530;p74"/>
                <p:cNvSpPr/>
                <p:nvPr/>
              </p:nvSpPr>
              <p:spPr>
                <a:xfrm>
                  <a:off x="4263" y="1757"/>
                  <a:ext cx="1033" cy="926"/>
                </a:xfrm>
                <a:prstGeom prst="ellipse">
                  <a:avLst/>
                </a:prstGeom>
                <a:gradFill>
                  <a:gsLst>
                    <a:gs pos="0">
                      <a:srgbClr val="FFFFFF"/>
                    </a:gs>
                    <a:gs pos="100000">
                      <a:srgbClr val="D6E1E2">
                        <a:alpha val="37647"/>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74"/>
                <p:cNvSpPr txBox="1"/>
                <p:nvPr/>
              </p:nvSpPr>
              <p:spPr>
                <a:xfrm rot="5400000">
                  <a:off x="4439" y="1848"/>
                  <a:ext cx="655" cy="73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1532" name="Google Shape;1532;p74"/>
            <p:cNvSpPr txBox="1"/>
            <p:nvPr/>
          </p:nvSpPr>
          <p:spPr>
            <a:xfrm>
              <a:off x="1765" y="3431"/>
              <a:ext cx="723" cy="3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accent1"/>
                  </a:solidFill>
                  <a:latin typeface="Arial"/>
                  <a:ea typeface="Arial"/>
                  <a:cs typeface="Arial"/>
                  <a:sym typeface="Arial"/>
                </a:rPr>
                <a:t>Pháp luật</a:t>
              </a:r>
              <a:endParaRPr b="1" sz="2200">
                <a:solidFill>
                  <a:schemeClr val="accent1"/>
                </a:solidFill>
                <a:latin typeface="Arial"/>
                <a:ea typeface="Arial"/>
                <a:cs typeface="Arial"/>
                <a:sym typeface="Arial"/>
              </a:endParaRPr>
            </a:p>
            <a:p>
              <a:pPr indent="0" lvl="0" marL="0" marR="0" rtl="0" algn="ctr">
                <a:spcBef>
                  <a:spcPts val="0"/>
                </a:spcBef>
                <a:spcAft>
                  <a:spcPts val="0"/>
                </a:spcAft>
                <a:buNone/>
              </a:pPr>
              <a:r>
                <a:rPr b="1" lang="en-US" sz="2200">
                  <a:solidFill>
                    <a:schemeClr val="accent1"/>
                  </a:solidFill>
                  <a:latin typeface="Arial"/>
                  <a:ea typeface="Arial"/>
                  <a:cs typeface="Arial"/>
                  <a:sym typeface="Arial"/>
                </a:rPr>
                <a:t>XHCN</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0"/>
                                        </p:tgtEl>
                                        <p:attrNameLst>
                                          <p:attrName>style.visibility</p:attrName>
                                        </p:attrNameLst>
                                      </p:cBhvr>
                                      <p:to>
                                        <p:strVal val="visible"/>
                                      </p:to>
                                    </p:set>
                                    <p:animEffect filter="fade" transition="in">
                                      <p:cBhvr>
                                        <p:cTn dur="500"/>
                                        <p:tgtEl>
                                          <p:spTgt spid="15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68"/>
                                        </p:tgtEl>
                                        <p:attrNameLst>
                                          <p:attrName>style.visibility</p:attrName>
                                        </p:attrNameLst>
                                      </p:cBhvr>
                                      <p:to>
                                        <p:strVal val="visible"/>
                                      </p:to>
                                    </p:set>
                                    <p:animEffect filter="fade" transition="in">
                                      <p:cBhvr>
                                        <p:cTn dur="500"/>
                                        <p:tgtEl>
                                          <p:spTgt spid="14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85"/>
                                        </p:tgtEl>
                                        <p:attrNameLst>
                                          <p:attrName>style.visibility</p:attrName>
                                        </p:attrNameLst>
                                      </p:cBhvr>
                                      <p:to>
                                        <p:strVal val="visible"/>
                                      </p:to>
                                    </p:set>
                                    <p:animEffect filter="fade" transition="in">
                                      <p:cBhvr>
                                        <p:cTn dur="500"/>
                                        <p:tgtEl>
                                          <p:spTgt spid="148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16"/>
                                        </p:tgtEl>
                                        <p:attrNameLst>
                                          <p:attrName>style.visibility</p:attrName>
                                        </p:attrNameLst>
                                      </p:cBhvr>
                                      <p:to>
                                        <p:strVal val="visible"/>
                                      </p:to>
                                    </p:set>
                                    <p:animEffect filter="fade" transition="in">
                                      <p:cBhvr>
                                        <p:cTn dur="500"/>
                                        <p:tgtEl>
                                          <p:spTgt spid="1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451"/>
                                        </p:tgtEl>
                                        <p:attrNameLst>
                                          <p:attrName>style.visibility</p:attrName>
                                        </p:attrNameLst>
                                      </p:cBhvr>
                                      <p:to>
                                        <p:strVal val="visible"/>
                                      </p:to>
                                    </p:set>
                                    <p:anim calcmode="lin" valueType="num">
                                      <p:cBhvr additive="base">
                                        <p:cTn dur="2000"/>
                                        <p:tgtEl>
                                          <p:spTgt spid="1451"/>
                                        </p:tgtEl>
                                        <p:attrNameLst>
                                          <p:attrName>ppt_w</p:attrName>
                                        </p:attrNameLst>
                                      </p:cBhvr>
                                      <p:tavLst>
                                        <p:tav fmla="" tm="0">
                                          <p:val>
                                            <p:strVal val="0"/>
                                          </p:val>
                                        </p:tav>
                                        <p:tav fmla="" tm="100000">
                                          <p:val>
                                            <p:strVal val="#ppt_w"/>
                                          </p:val>
                                        </p:tav>
                                      </p:tavLst>
                                    </p:anim>
                                    <p:anim calcmode="lin" valueType="num">
                                      <p:cBhvr additive="base">
                                        <p:cTn dur="2000"/>
                                        <p:tgtEl>
                                          <p:spTgt spid="145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75"/>
          <p:cNvSpPr/>
          <p:nvPr/>
        </p:nvSpPr>
        <p:spPr>
          <a:xfrm>
            <a:off x="457200" y="762000"/>
            <a:ext cx="8305800" cy="5257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Pháp luật chủ nô</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Công khai bảo vệ, củng cố quyền tư hữu chủ nô</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Bảo vệ ách thống trị về CT, tư tưởng của giai cấp chủ nô</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Quy định, củng cố tình trạng bất bình đẳng trong XH, người gia trưởng</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Hình thức mang nặng dấu ấn của QPXH của chế độ CSNT</a:t>
            </a:r>
            <a:endParaRPr b="0" i="0" sz="2000" u="none" cap="none" strike="noStrike">
              <a:solidFill>
                <a:schemeClr val="dk1"/>
              </a:solidFill>
              <a:latin typeface="Arial"/>
              <a:ea typeface="Arial"/>
              <a:cs typeface="Arial"/>
              <a:sym typeface="Arial"/>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Pháp luật phong kiến</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Bảo vệ chế độ tư hữu của giai cấp phong kiến </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Bảo vệ chế độ đẳng cấp và đặc quyền của giai cấp phong kiến</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Hợp thức hóa bạo lực và sự chuyên quyền tùy tiện của GCPK</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Quy định những hình phạt rất tàn bạo</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Chịu ảnh hưởng lớn của tôn giáo, đạo đức</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Hình thức tản mạn, không thống nhất</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76"/>
          <p:cNvSpPr/>
          <p:nvPr/>
        </p:nvSpPr>
        <p:spPr>
          <a:xfrm>
            <a:off x="457200" y="762000"/>
            <a:ext cx="8305800" cy="5257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Pháp luật tư sản</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Bảo vệ chế độ tư hữu tư sản</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Lần đầu tiên xuất hiện khái niệm “công dân”, quy định các quyền tự do dân chủ</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Tuyên bố nguyên tắc tự do hợp đồng</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Nguyên tắc pháp chế lần đầu tiên được thể hiện</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Văn bản pháp luật tư sản rất phát triển cả về nội dung và kỹ thuật lập pháp</a:t>
            </a:r>
            <a:endParaRPr b="0" i="0" sz="2000" u="none" cap="none" strike="noStrike">
              <a:solidFill>
                <a:schemeClr val="dk1"/>
              </a:solidFill>
              <a:latin typeface="Arial"/>
              <a:ea typeface="Arial"/>
              <a:cs typeface="Arial"/>
              <a:sym typeface="Arial"/>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Pháp luật Việt Nam XHCN</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Mang tính nhân dân sâu sắc</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Tạo hành lang pháp lý cho sự phát triển nền kinh tế hàng hóa nhiều thành phần</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Tính cưỡng chế mang nội dung mới</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Quan hệ mật thiết với các QPXH khác</a:t>
            </a:r>
            <a:endParaRPr b="0" i="0" sz="2000" u="none" cap="none" strike="noStrike">
              <a:solidFill>
                <a:schemeClr val="dk1"/>
              </a:solidFill>
              <a:latin typeface="Arial"/>
              <a:ea typeface="Arial"/>
              <a:cs typeface="Arial"/>
              <a:sym typeface="Arial"/>
            </a:endParaRPr>
          </a:p>
          <a:p>
            <a:pPr indent="-127000" lvl="2" marL="2286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Hình thức: PLVN phân chia thành các ngành luật, VBQPPL là nguồn chủ đạo</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p77"/>
          <p:cNvSpPr txBox="1"/>
          <p:nvPr/>
        </p:nvSpPr>
        <p:spPr>
          <a:xfrm>
            <a:off x="1371600" y="4572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4.6	Hình thức của pháp luật</a:t>
            </a:r>
            <a:endParaRPr sz="3200">
              <a:solidFill>
                <a:srgbClr val="0070C0"/>
              </a:solidFill>
              <a:latin typeface="Arial"/>
              <a:ea typeface="Arial"/>
              <a:cs typeface="Arial"/>
              <a:sym typeface="Arial"/>
            </a:endParaRPr>
          </a:p>
        </p:txBody>
      </p:sp>
      <p:sp>
        <p:nvSpPr>
          <p:cNvPr id="1548" name="Google Shape;1548;p77"/>
          <p:cNvSpPr/>
          <p:nvPr/>
        </p:nvSpPr>
        <p:spPr>
          <a:xfrm>
            <a:off x="3886200" y="1219200"/>
            <a:ext cx="4953000" cy="4906963"/>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accent1"/>
              </a:buClr>
              <a:buSzPts val="2400"/>
              <a:buFont typeface="Arial"/>
              <a:buChar char="•"/>
            </a:pPr>
            <a:r>
              <a:rPr lang="en-US" sz="2400">
                <a:solidFill>
                  <a:schemeClr val="dk1"/>
                </a:solidFill>
                <a:latin typeface="Arial"/>
                <a:ea typeface="Arial"/>
                <a:cs typeface="Arial"/>
                <a:sym typeface="Arial"/>
              </a:rPr>
              <a:t>Dùng để </a:t>
            </a:r>
            <a:r>
              <a:rPr i="1" lang="en-US" sz="2400" u="sng">
                <a:solidFill>
                  <a:schemeClr val="dk1"/>
                </a:solidFill>
                <a:latin typeface="Arial"/>
                <a:ea typeface="Arial"/>
                <a:cs typeface="Arial"/>
                <a:sym typeface="Arial"/>
              </a:rPr>
              <a:t>chỉ ranh giới tồn tại</a:t>
            </a:r>
            <a:r>
              <a:rPr lang="en-US" sz="2400">
                <a:solidFill>
                  <a:schemeClr val="dk1"/>
                </a:solidFill>
                <a:latin typeface="Arial"/>
                <a:ea typeface="Arial"/>
                <a:cs typeface="Arial"/>
                <a:sym typeface="Arial"/>
              </a:rPr>
              <a:t> của pháp luật trong hệ thống các quy phạm xã hội</a:t>
            </a:r>
            <a:endParaRPr sz="2400">
              <a:solidFill>
                <a:schemeClr val="dk1"/>
              </a:solidFill>
              <a:latin typeface="Arial"/>
              <a:ea typeface="Arial"/>
              <a:cs typeface="Arial"/>
              <a:sym typeface="Arial"/>
            </a:endParaRPr>
          </a:p>
          <a:p>
            <a:pPr indent="-342900" lvl="0" marL="342900" marR="0" rtl="0" algn="just">
              <a:spcBef>
                <a:spcPts val="1200"/>
              </a:spcBef>
              <a:spcAft>
                <a:spcPts val="0"/>
              </a:spcAft>
              <a:buClr>
                <a:schemeClr val="accent1"/>
              </a:buClr>
              <a:buSzPts val="2400"/>
              <a:buFont typeface="Arial"/>
              <a:buChar char="•"/>
            </a:pPr>
            <a:r>
              <a:rPr lang="en-US" sz="2400">
                <a:solidFill>
                  <a:schemeClr val="dk1"/>
                </a:solidFill>
                <a:latin typeface="Arial"/>
                <a:ea typeface="Arial"/>
                <a:cs typeface="Arial"/>
                <a:sym typeface="Arial"/>
              </a:rPr>
              <a:t>Là </a:t>
            </a:r>
            <a:r>
              <a:rPr i="1" lang="en-US" sz="2400" u="sng">
                <a:solidFill>
                  <a:schemeClr val="dk1"/>
                </a:solidFill>
                <a:latin typeface="Arial"/>
                <a:ea typeface="Arial"/>
                <a:cs typeface="Arial"/>
                <a:sym typeface="Arial"/>
              </a:rPr>
              <a:t>hình thức biểu hiện ra bên ngoài</a:t>
            </a:r>
            <a:r>
              <a:rPr lang="en-US" sz="2400">
                <a:solidFill>
                  <a:schemeClr val="dk1"/>
                </a:solidFill>
                <a:latin typeface="Arial"/>
                <a:ea typeface="Arial"/>
                <a:cs typeface="Arial"/>
                <a:sym typeface="Arial"/>
              </a:rPr>
              <a:t> của pháp luật</a:t>
            </a:r>
            <a:endParaRPr sz="2400">
              <a:solidFill>
                <a:schemeClr val="dk1"/>
              </a:solidFill>
              <a:latin typeface="Arial"/>
              <a:ea typeface="Arial"/>
              <a:cs typeface="Arial"/>
              <a:sym typeface="Arial"/>
            </a:endParaRPr>
          </a:p>
          <a:p>
            <a:pPr indent="-342900" lvl="0" marL="342900" marR="0" rtl="0" algn="just">
              <a:spcBef>
                <a:spcPts val="1200"/>
              </a:spcBef>
              <a:spcAft>
                <a:spcPts val="0"/>
              </a:spcAft>
              <a:buClr>
                <a:schemeClr val="accent1"/>
              </a:buClr>
              <a:buSzPts val="2400"/>
              <a:buFont typeface="Arial"/>
              <a:buChar char="•"/>
            </a:pPr>
            <a:r>
              <a:rPr lang="en-US" sz="2400">
                <a:solidFill>
                  <a:schemeClr val="dk1"/>
                </a:solidFill>
                <a:latin typeface="Arial"/>
                <a:ea typeface="Arial"/>
                <a:cs typeface="Arial"/>
                <a:sym typeface="Arial"/>
              </a:rPr>
              <a:t>Là </a:t>
            </a:r>
            <a:r>
              <a:rPr i="1" lang="en-US" sz="2400" u="sng">
                <a:solidFill>
                  <a:schemeClr val="dk1"/>
                </a:solidFill>
                <a:latin typeface="Arial"/>
                <a:ea typeface="Arial"/>
                <a:cs typeface="Arial"/>
                <a:sym typeface="Arial"/>
              </a:rPr>
              <a:t>phương thức tồn tại, dạng tồn tại thức tế </a:t>
            </a:r>
            <a:r>
              <a:rPr lang="en-US" sz="2400">
                <a:solidFill>
                  <a:schemeClr val="dk1"/>
                </a:solidFill>
                <a:latin typeface="Arial"/>
                <a:ea typeface="Arial"/>
                <a:cs typeface="Arial"/>
                <a:sym typeface="Arial"/>
              </a:rPr>
              <a:t> của pháp luật</a:t>
            </a:r>
            <a:endParaRPr sz="2400">
              <a:solidFill>
                <a:schemeClr val="dk1"/>
              </a:solidFill>
              <a:latin typeface="Arial"/>
              <a:ea typeface="Arial"/>
              <a:cs typeface="Arial"/>
              <a:sym typeface="Arial"/>
            </a:endParaRPr>
          </a:p>
        </p:txBody>
      </p:sp>
      <p:pic>
        <p:nvPicPr>
          <p:cNvPr descr="08" id="1549" name="Google Shape;1549;p77"/>
          <p:cNvPicPr preferRelativeResize="0"/>
          <p:nvPr/>
        </p:nvPicPr>
        <p:blipFill rotWithShape="1">
          <a:blip r:embed="rId3">
            <a:alphaModFix/>
          </a:blip>
          <a:srcRect b="0" l="0" r="0" t="0"/>
          <a:stretch/>
        </p:blipFill>
        <p:spPr>
          <a:xfrm>
            <a:off x="304800" y="2209800"/>
            <a:ext cx="3505200" cy="4191000"/>
          </a:xfrm>
          <a:prstGeom prst="rect">
            <a:avLst/>
          </a:prstGeom>
          <a:noFill/>
          <a:ln>
            <a:noFill/>
          </a:ln>
        </p:spPr>
      </p:pic>
      <p:sp>
        <p:nvSpPr>
          <p:cNvPr id="1550" name="Google Shape;1550;p7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551" name="Google Shape;1551;p7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8">
                                            <p:txEl>
                                              <p:pRg end="0" st="0"/>
                                            </p:txEl>
                                          </p:spTgt>
                                        </p:tgtEl>
                                        <p:attrNameLst>
                                          <p:attrName>style.visibility</p:attrName>
                                        </p:attrNameLst>
                                      </p:cBhvr>
                                      <p:to>
                                        <p:strVal val="visible"/>
                                      </p:to>
                                    </p:set>
                                    <p:animEffect filter="fade" transition="in">
                                      <p:cBhvr>
                                        <p:cTn dur="500"/>
                                        <p:tgtEl>
                                          <p:spTgt spid="15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8">
                                            <p:txEl>
                                              <p:pRg end="1" st="1"/>
                                            </p:txEl>
                                          </p:spTgt>
                                        </p:tgtEl>
                                        <p:attrNameLst>
                                          <p:attrName>style.visibility</p:attrName>
                                        </p:attrNameLst>
                                      </p:cBhvr>
                                      <p:to>
                                        <p:strVal val="visible"/>
                                      </p:to>
                                    </p:set>
                                    <p:animEffect filter="fade" transition="in">
                                      <p:cBhvr>
                                        <p:cTn dur="500"/>
                                        <p:tgtEl>
                                          <p:spTgt spid="15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8">
                                            <p:txEl>
                                              <p:pRg end="2" st="2"/>
                                            </p:txEl>
                                          </p:spTgt>
                                        </p:tgtEl>
                                        <p:attrNameLst>
                                          <p:attrName>style.visibility</p:attrName>
                                        </p:attrNameLst>
                                      </p:cBhvr>
                                      <p:to>
                                        <p:strVal val="visible"/>
                                      </p:to>
                                    </p:set>
                                    <p:animEffect filter="fade" transition="in">
                                      <p:cBhvr>
                                        <p:cTn dur="500"/>
                                        <p:tgtEl>
                                          <p:spTgt spid="154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7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Hình thức pháp luật</a:t>
            </a:r>
            <a:br>
              <a:rPr lang="en-US" sz="3200">
                <a:latin typeface="Times New Roman"/>
                <a:ea typeface="Times New Roman"/>
                <a:cs typeface="Times New Roman"/>
                <a:sym typeface="Times New Roman"/>
              </a:rPr>
            </a:br>
            <a:r>
              <a:rPr lang="en-US" sz="3200">
                <a:latin typeface="Times New Roman"/>
                <a:ea typeface="Times New Roman"/>
                <a:cs typeface="Times New Roman"/>
                <a:sym typeface="Times New Roman"/>
              </a:rPr>
              <a:t>Phân loại</a:t>
            </a:r>
            <a:endParaRPr sz="3200">
              <a:latin typeface="Times New Roman"/>
              <a:ea typeface="Times New Roman"/>
              <a:cs typeface="Times New Roman"/>
              <a:sym typeface="Times New Roman"/>
            </a:endParaRPr>
          </a:p>
        </p:txBody>
      </p:sp>
      <p:sp>
        <p:nvSpPr>
          <p:cNvPr id="1558" name="Google Shape;1558;p7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n-US"/>
              <a:t>.</a:t>
            </a:r>
            <a:endParaRPr/>
          </a:p>
        </p:txBody>
      </p:sp>
      <p:sp>
        <p:nvSpPr>
          <p:cNvPr id="1559" name="Google Shape;1559;p78"/>
          <p:cNvSpPr/>
          <p:nvPr/>
        </p:nvSpPr>
        <p:spPr>
          <a:xfrm>
            <a:off x="1066800" y="2895600"/>
            <a:ext cx="1143000" cy="1447800"/>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Hình thức pháp luật</a:t>
            </a:r>
            <a:endParaRPr sz="1800">
              <a:solidFill>
                <a:schemeClr val="dk1"/>
              </a:solidFill>
              <a:latin typeface="Times New Roman"/>
              <a:ea typeface="Times New Roman"/>
              <a:cs typeface="Times New Roman"/>
              <a:sym typeface="Times New Roman"/>
            </a:endParaRPr>
          </a:p>
        </p:txBody>
      </p:sp>
      <p:cxnSp>
        <p:nvCxnSpPr>
          <p:cNvPr id="1560" name="Google Shape;1560;p78"/>
          <p:cNvCxnSpPr>
            <a:stCxn id="1559" idx="3"/>
          </p:cNvCxnSpPr>
          <p:nvPr/>
        </p:nvCxnSpPr>
        <p:spPr>
          <a:xfrm flipH="1" rot="10800000">
            <a:off x="2209800" y="2514600"/>
            <a:ext cx="457200" cy="1104900"/>
          </a:xfrm>
          <a:prstGeom prst="straightConnector1">
            <a:avLst/>
          </a:prstGeom>
          <a:noFill/>
          <a:ln cap="flat" cmpd="sng" w="9525">
            <a:solidFill>
              <a:srgbClr val="075192"/>
            </a:solidFill>
            <a:prstDash val="solid"/>
            <a:round/>
            <a:headEnd len="sm" w="sm" type="none"/>
            <a:tailEnd len="med" w="med" type="stealth"/>
          </a:ln>
        </p:spPr>
      </p:cxnSp>
      <p:cxnSp>
        <p:nvCxnSpPr>
          <p:cNvPr id="1561" name="Google Shape;1561;p78"/>
          <p:cNvCxnSpPr>
            <a:stCxn id="1559" idx="3"/>
            <a:endCxn id="1562" idx="2"/>
          </p:cNvCxnSpPr>
          <p:nvPr/>
        </p:nvCxnSpPr>
        <p:spPr>
          <a:xfrm>
            <a:off x="2209800" y="3619500"/>
            <a:ext cx="685800" cy="1333500"/>
          </a:xfrm>
          <a:prstGeom prst="straightConnector1">
            <a:avLst/>
          </a:prstGeom>
          <a:noFill/>
          <a:ln cap="flat" cmpd="sng" w="9525">
            <a:solidFill>
              <a:srgbClr val="075192"/>
            </a:solidFill>
            <a:prstDash val="solid"/>
            <a:round/>
            <a:headEnd len="sm" w="sm" type="none"/>
            <a:tailEnd len="med" w="med" type="stealth"/>
          </a:ln>
        </p:spPr>
      </p:cxnSp>
      <p:sp>
        <p:nvSpPr>
          <p:cNvPr id="1563" name="Google Shape;1563;p78"/>
          <p:cNvSpPr/>
          <p:nvPr/>
        </p:nvSpPr>
        <p:spPr>
          <a:xfrm>
            <a:off x="2667000" y="1524000"/>
            <a:ext cx="2667000" cy="1600200"/>
          </a:xfrm>
          <a:prstGeom prst="ellipse">
            <a:avLst/>
          </a:prstGeom>
          <a:solidFill>
            <a:srgbClr val="C4E2F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Hình thức bên trong</a:t>
            </a:r>
            <a:endParaRPr sz="16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(Hình thức nội tại)</a:t>
            </a:r>
            <a:endParaRPr sz="1600">
              <a:solidFill>
                <a:schemeClr val="dk1"/>
              </a:solidFill>
              <a:latin typeface="Times New Roman"/>
              <a:ea typeface="Times New Roman"/>
              <a:cs typeface="Times New Roman"/>
              <a:sym typeface="Times New Roman"/>
            </a:endParaRPr>
          </a:p>
        </p:txBody>
      </p:sp>
      <p:sp>
        <p:nvSpPr>
          <p:cNvPr id="1562" name="Google Shape;1562;p78"/>
          <p:cNvSpPr/>
          <p:nvPr/>
        </p:nvSpPr>
        <p:spPr>
          <a:xfrm>
            <a:off x="2895600" y="4191000"/>
            <a:ext cx="2667000" cy="1524000"/>
          </a:xfrm>
          <a:prstGeom prst="ellipse">
            <a:avLst/>
          </a:prstGeom>
          <a:solidFill>
            <a:srgbClr val="C4E2F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Hình thức bên ngoài (Nguồn pháp luật)</a:t>
            </a:r>
            <a:endParaRPr sz="1600">
              <a:solidFill>
                <a:schemeClr val="dk1"/>
              </a:solidFill>
              <a:latin typeface="Times New Roman"/>
              <a:ea typeface="Times New Roman"/>
              <a:cs typeface="Times New Roman"/>
              <a:sym typeface="Times New Roman"/>
            </a:endParaRPr>
          </a:p>
        </p:txBody>
      </p:sp>
      <p:sp>
        <p:nvSpPr>
          <p:cNvPr id="1564" name="Google Shape;1564;p78"/>
          <p:cNvSpPr/>
          <p:nvPr/>
        </p:nvSpPr>
        <p:spPr>
          <a:xfrm>
            <a:off x="5029200" y="838200"/>
            <a:ext cx="3505200" cy="2438400"/>
          </a:xfrm>
          <a:prstGeom prst="verticalScroll">
            <a:avLst>
              <a:gd fmla="val 12500" name="adj"/>
            </a:avLst>
          </a:prstGeom>
          <a:solidFill>
            <a:srgbClr val="C9A6E4"/>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 Các yếu tố cấu thành hệ thống pháp luật</a:t>
            </a:r>
            <a:endParaRPr sz="2000">
              <a:solidFill>
                <a:schemeClr val="dk1"/>
              </a:solidFill>
              <a:latin typeface="Times New Roman"/>
              <a:ea typeface="Times New Roman"/>
              <a:cs typeface="Times New Roman"/>
              <a:sym typeface="Times New Roman"/>
            </a:endParaRPr>
          </a:p>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 Bao gồm: </a:t>
            </a:r>
            <a:endParaRPr/>
          </a:p>
          <a:p>
            <a:pPr indent="-342900" lvl="0" marL="342900" marR="0" rtl="0" algn="just">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Các nguyên tắc pháp luật </a:t>
            </a:r>
            <a:endParaRPr/>
          </a:p>
          <a:p>
            <a:pPr indent="-342900" lvl="0" marL="342900" marR="0" rtl="0" algn="just">
              <a:spcBef>
                <a:spcPts val="0"/>
              </a:spcBef>
              <a:spcAft>
                <a:spcPts val="0"/>
              </a:spcAft>
              <a:buClr>
                <a:schemeClr val="dk1"/>
              </a:buClr>
              <a:buSzPts val="2000"/>
              <a:buFont typeface="Times New Roman"/>
              <a:buAutoNum type="arabicPeriod"/>
            </a:pPr>
            <a:r>
              <a:rPr lang="en-US" sz="2000">
                <a:solidFill>
                  <a:schemeClr val="dk1"/>
                </a:solidFill>
                <a:latin typeface="Times New Roman"/>
                <a:ea typeface="Times New Roman"/>
                <a:cs typeface="Times New Roman"/>
                <a:sym typeface="Times New Roman"/>
              </a:rPr>
              <a:t>Cấu trúc pháp luật</a:t>
            </a:r>
            <a:endParaRPr sz="2000">
              <a:solidFill>
                <a:schemeClr val="dk1"/>
              </a:solidFill>
              <a:latin typeface="Times New Roman"/>
              <a:ea typeface="Times New Roman"/>
              <a:cs typeface="Times New Roman"/>
              <a:sym typeface="Times New Roman"/>
            </a:endParaRPr>
          </a:p>
        </p:txBody>
      </p:sp>
      <p:sp>
        <p:nvSpPr>
          <p:cNvPr id="1565" name="Google Shape;1565;p78"/>
          <p:cNvSpPr/>
          <p:nvPr/>
        </p:nvSpPr>
        <p:spPr>
          <a:xfrm>
            <a:off x="5181600" y="3505200"/>
            <a:ext cx="3962400" cy="3124200"/>
          </a:xfrm>
          <a:prstGeom prst="verticalScroll">
            <a:avLst>
              <a:gd fmla="val 12500" name="adj"/>
            </a:avLst>
          </a:prstGeom>
          <a:solidFill>
            <a:srgbClr val="C9A6E4"/>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 Là sự thể hiện ra bên ngoài, dạng tồn tại trong thực tế của các quy phạm pháp luật</a:t>
            </a:r>
            <a:endParaRPr sz="2000">
              <a:solidFill>
                <a:schemeClr val="dk1"/>
              </a:solidFill>
              <a:latin typeface="Times New Roman"/>
              <a:ea typeface="Times New Roman"/>
              <a:cs typeface="Times New Roman"/>
              <a:sym typeface="Times New Roman"/>
            </a:endParaRPr>
          </a:p>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 Bao gồm: Tập quán pháp, tiền lệ pháp, văn bản pháp luật</a:t>
            </a:r>
            <a:endParaRPr sz="2000">
              <a:solidFill>
                <a:schemeClr val="dk1"/>
              </a:solidFill>
              <a:latin typeface="Times New Roman"/>
              <a:ea typeface="Times New Roman"/>
              <a:cs typeface="Times New Roman"/>
              <a:sym typeface="Times New Roman"/>
            </a:endParaRPr>
          </a:p>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Ngoài ra: quy phạm tôn giáo (pháp luật đạo Hồi), học thuyết, tư tưởng, quan điểm pháp luật</a:t>
            </a:r>
            <a:endParaRPr sz="2000">
              <a:solidFill>
                <a:schemeClr val="dk1"/>
              </a:solidFill>
              <a:latin typeface="Times New Roman"/>
              <a:ea typeface="Times New Roman"/>
              <a:cs typeface="Times New Roman"/>
              <a:sym typeface="Times New Roman"/>
            </a:endParaRPr>
          </a:p>
        </p:txBody>
      </p:sp>
      <p:sp>
        <p:nvSpPr>
          <p:cNvPr id="1566" name="Google Shape;1566;p7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567" name="Google Shape;1567;p7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7"/>
                                        </p:tgtEl>
                                        <p:attrNameLst>
                                          <p:attrName>style.visibility</p:attrName>
                                        </p:attrNameLst>
                                      </p:cBhvr>
                                      <p:to>
                                        <p:strVal val="visible"/>
                                      </p:to>
                                    </p:set>
                                    <p:animEffect filter="fade" transition="in">
                                      <p:cBhvr>
                                        <p:cTn dur="500"/>
                                        <p:tgtEl>
                                          <p:spTgt spid="1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9"/>
                                        </p:tgtEl>
                                        <p:attrNameLst>
                                          <p:attrName>style.visibility</p:attrName>
                                        </p:attrNameLst>
                                      </p:cBhvr>
                                      <p:to>
                                        <p:strVal val="visible"/>
                                      </p:to>
                                    </p:set>
                                    <p:animEffect filter="fade" transition="in">
                                      <p:cBhvr>
                                        <p:cTn dur="500"/>
                                        <p:tgtEl>
                                          <p:spTgt spid="1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3"/>
                                        </p:tgtEl>
                                        <p:attrNameLst>
                                          <p:attrName>style.visibility</p:attrName>
                                        </p:attrNameLst>
                                      </p:cBhvr>
                                      <p:to>
                                        <p:strVal val="visible"/>
                                      </p:to>
                                    </p:set>
                                    <p:animEffect filter="fade" transition="in">
                                      <p:cBhvr>
                                        <p:cTn dur="2000"/>
                                        <p:tgtEl>
                                          <p:spTgt spid="1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2"/>
                                        </p:tgtEl>
                                        <p:attrNameLst>
                                          <p:attrName>style.visibility</p:attrName>
                                        </p:attrNameLst>
                                      </p:cBhvr>
                                      <p:to>
                                        <p:strVal val="visible"/>
                                      </p:to>
                                    </p:set>
                                    <p:anim calcmode="lin" valueType="num">
                                      <p:cBhvr additive="base">
                                        <p:cTn dur="500"/>
                                        <p:tgtEl>
                                          <p:spTgt spid="15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4"/>
                                        </p:tgtEl>
                                        <p:attrNameLst>
                                          <p:attrName>style.visibility</p:attrName>
                                        </p:attrNameLst>
                                      </p:cBhvr>
                                      <p:to>
                                        <p:strVal val="visible"/>
                                      </p:to>
                                    </p:set>
                                    <p:animEffect filter="fade" transition="in">
                                      <p:cBhvr>
                                        <p:cTn dur="500"/>
                                        <p:tgtEl>
                                          <p:spTgt spid="1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65"/>
                                        </p:tgtEl>
                                        <p:attrNameLst>
                                          <p:attrName>style.visibility</p:attrName>
                                        </p:attrNameLst>
                                      </p:cBhvr>
                                      <p:to>
                                        <p:strVal val="visible"/>
                                      </p:to>
                                    </p:set>
                                    <p:anim calcmode="lin" valueType="num">
                                      <p:cBhvr additive="base">
                                        <p:cTn dur="500"/>
                                        <p:tgtEl>
                                          <p:spTgt spid="156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79"/>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4.6.1	Cấu trúc của pháp luật</a:t>
            </a:r>
            <a:endParaRPr sz="3200">
              <a:solidFill>
                <a:srgbClr val="0070C0"/>
              </a:solidFill>
              <a:latin typeface="Arial"/>
              <a:ea typeface="Arial"/>
              <a:cs typeface="Arial"/>
              <a:sym typeface="Arial"/>
            </a:endParaRPr>
          </a:p>
        </p:txBody>
      </p:sp>
      <p:sp>
        <p:nvSpPr>
          <p:cNvPr id="1573" name="Google Shape;1573;p79"/>
          <p:cNvSpPr/>
          <p:nvPr/>
        </p:nvSpPr>
        <p:spPr>
          <a:xfrm>
            <a:off x="457200" y="1143000"/>
            <a:ext cx="8305800" cy="5181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Hệ thống pháp luật</a:t>
            </a:r>
            <a:endParaRPr b="1"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Ngành luật</a:t>
            </a:r>
            <a:endParaRPr b="1"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Chế định pháp luật</a:t>
            </a:r>
            <a:endParaRPr b="1"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1" i="0" lang="en-US" sz="2000" u="none" cap="none" strike="noStrike">
                <a:solidFill>
                  <a:schemeClr val="dk1"/>
                </a:solidFill>
                <a:latin typeface="Arial"/>
                <a:ea typeface="Arial"/>
                <a:cs typeface="Arial"/>
                <a:sym typeface="Arial"/>
              </a:rPr>
              <a:t>Quy phạm pháp luật</a:t>
            </a:r>
            <a:endParaRPr b="1" i="0" sz="2000" u="none" cap="none" strike="noStrike">
              <a:solidFill>
                <a:schemeClr val="dk1"/>
              </a:solidFill>
              <a:latin typeface="Arial"/>
              <a:ea typeface="Arial"/>
              <a:cs typeface="Arial"/>
              <a:sym typeface="Arial"/>
            </a:endParaRPr>
          </a:p>
        </p:txBody>
      </p:sp>
      <p:sp>
        <p:nvSpPr>
          <p:cNvPr id="1574" name="Google Shape;1574;p79"/>
          <p:cNvSpPr txBox="1"/>
          <p:nvPr>
            <p:ph idx="11" type="ftr"/>
          </p:nvPr>
        </p:nvSpPr>
        <p:spPr>
          <a:xfrm>
            <a:off x="6858000" y="0"/>
            <a:ext cx="2286000" cy="3651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575" name="Google Shape;1575;p79"/>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2"/>
                                        </p:tgtEl>
                                        <p:attrNameLst>
                                          <p:attrName>style.visibility</p:attrName>
                                        </p:attrNameLst>
                                      </p:cBhvr>
                                      <p:to>
                                        <p:strVal val="visible"/>
                                      </p:to>
                                    </p:set>
                                    <p:animEffect filter="fade" transition="in">
                                      <p:cBhvr>
                                        <p:cTn dur="500"/>
                                        <p:tgtEl>
                                          <p:spTgt spid="15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80"/>
          <p:cNvSpPr txBox="1"/>
          <p:nvPr/>
        </p:nvSpPr>
        <p:spPr>
          <a:xfrm>
            <a:off x="1447800" y="6858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Hệ thống pháp luật </a:t>
            </a:r>
            <a:endParaRPr sz="3200">
              <a:solidFill>
                <a:srgbClr val="0070C0"/>
              </a:solidFill>
              <a:latin typeface="Arial"/>
              <a:ea typeface="Arial"/>
              <a:cs typeface="Arial"/>
              <a:sym typeface="Arial"/>
            </a:endParaRPr>
          </a:p>
        </p:txBody>
      </p:sp>
      <p:sp>
        <p:nvSpPr>
          <p:cNvPr id="1581" name="Google Shape;1581;p80"/>
          <p:cNvSpPr/>
          <p:nvPr/>
        </p:nvSpPr>
        <p:spPr>
          <a:xfrm>
            <a:off x="1143000" y="1524000"/>
            <a:ext cx="7239000" cy="5334000"/>
          </a:xfrm>
          <a:prstGeom prst="rect">
            <a:avLst/>
          </a:prstGeom>
          <a:noFill/>
          <a:ln>
            <a:noFill/>
          </a:ln>
        </p:spPr>
        <p:txBody>
          <a:bodyPr anchorCtr="0" anchor="t" bIns="45700" lIns="91425" spcFirstLastPara="1" rIns="91425" wrap="square" tIns="45700">
            <a:noAutofit/>
          </a:bodyPr>
          <a:lstStyle/>
          <a:p>
            <a:pPr indent="-457200" lvl="0" marL="457200" marR="0" rtl="0" algn="just">
              <a:spcBef>
                <a:spcPts val="0"/>
              </a:spcBef>
              <a:spcAft>
                <a:spcPts val="0"/>
              </a:spcAft>
              <a:buClr>
                <a:schemeClr val="accent1"/>
              </a:buClr>
              <a:buSzPts val="2400"/>
              <a:buFont typeface="Arial"/>
              <a:buChar char="•"/>
            </a:pPr>
            <a:r>
              <a:rPr lang="en-US" sz="2400">
                <a:solidFill>
                  <a:schemeClr val="accent1"/>
                </a:solidFill>
                <a:latin typeface="Times New Roman"/>
                <a:ea typeface="Times New Roman"/>
                <a:cs typeface="Times New Roman"/>
                <a:sym typeface="Times New Roman"/>
              </a:rPr>
              <a:t>Là một </a:t>
            </a:r>
            <a:r>
              <a:rPr i="1" lang="en-US" sz="2400" u="sng">
                <a:solidFill>
                  <a:srgbClr val="FF0000"/>
                </a:solidFill>
                <a:latin typeface="Times New Roman"/>
                <a:ea typeface="Times New Roman"/>
                <a:cs typeface="Times New Roman"/>
                <a:sym typeface="Times New Roman"/>
              </a:rPr>
              <a:t>chỉnh thể thống nhất</a:t>
            </a:r>
            <a:r>
              <a:rPr lang="en-US" sz="2400">
                <a:solidFill>
                  <a:schemeClr val="accent1"/>
                </a:solidFill>
                <a:latin typeface="Times New Roman"/>
                <a:ea typeface="Times New Roman"/>
                <a:cs typeface="Times New Roman"/>
                <a:sym typeface="Times New Roman"/>
              </a:rPr>
              <a:t> cấu thành bởi các ngành luật, các chế định pháp luật khác nhau </a:t>
            </a:r>
            <a:r>
              <a:rPr i="1" lang="en-US" sz="2400" u="sng">
                <a:solidFill>
                  <a:srgbClr val="FF0000"/>
                </a:solidFill>
                <a:latin typeface="Times New Roman"/>
                <a:ea typeface="Times New Roman"/>
                <a:cs typeface="Times New Roman"/>
                <a:sym typeface="Times New Roman"/>
              </a:rPr>
              <a:t>điều chỉnh những lĩnh vực, nhóm quan hệ xã hội cùng loại</a:t>
            </a:r>
            <a:r>
              <a:rPr lang="en-US" sz="2400">
                <a:solidFill>
                  <a:schemeClr val="accent1"/>
                </a:solidFill>
                <a:latin typeface="Times New Roman"/>
                <a:ea typeface="Times New Roman"/>
                <a:cs typeface="Times New Roman"/>
                <a:sym typeface="Times New Roman"/>
              </a:rPr>
              <a:t> (cùng nội dung, đặc điểm, tính chất) đặt trên cơ sở những nguyên tắc thống nhất của một quốc gia.</a:t>
            </a:r>
            <a:endParaRPr/>
          </a:p>
          <a:p>
            <a:pPr indent="-457200" lvl="0" marL="457200" marR="0" rtl="0" algn="just">
              <a:spcBef>
                <a:spcPts val="1200"/>
              </a:spcBef>
              <a:spcAft>
                <a:spcPts val="0"/>
              </a:spcAft>
              <a:buClr>
                <a:schemeClr val="accent1"/>
              </a:buClr>
              <a:buSzPts val="2400"/>
              <a:buFont typeface="Arial"/>
              <a:buChar char="•"/>
            </a:pPr>
            <a:r>
              <a:rPr lang="en-US" sz="2400">
                <a:solidFill>
                  <a:schemeClr val="accent1"/>
                </a:solidFill>
                <a:latin typeface="Times New Roman"/>
                <a:ea typeface="Times New Roman"/>
                <a:cs typeface="Times New Roman"/>
                <a:sym typeface="Times New Roman"/>
              </a:rPr>
              <a:t>Ví dụ: Hệ thống pháp luật XHCN, tư sản, Common Law, Civil Law,…</a:t>
            </a:r>
            <a:endParaRPr/>
          </a:p>
        </p:txBody>
      </p:sp>
      <p:pic>
        <p:nvPicPr>
          <p:cNvPr descr="E:\Bai giang\PL DC\Pics\imagesd.jpg" id="1582" name="Google Shape;1582;p80"/>
          <p:cNvPicPr preferRelativeResize="0"/>
          <p:nvPr/>
        </p:nvPicPr>
        <p:blipFill rotWithShape="1">
          <a:blip r:embed="rId3">
            <a:alphaModFix/>
          </a:blip>
          <a:srcRect b="0" l="0" r="0" t="0"/>
          <a:stretch/>
        </p:blipFill>
        <p:spPr>
          <a:xfrm>
            <a:off x="4648200" y="4495800"/>
            <a:ext cx="3429001" cy="2083594"/>
          </a:xfrm>
          <a:prstGeom prst="rect">
            <a:avLst/>
          </a:prstGeom>
          <a:noFill/>
          <a:ln>
            <a:noFill/>
          </a:ln>
        </p:spPr>
      </p:pic>
      <p:sp>
        <p:nvSpPr>
          <p:cNvPr id="1583" name="Google Shape;1583;p80"/>
          <p:cNvSpPr txBox="1"/>
          <p:nvPr>
            <p:ph idx="11" type="ftr"/>
          </p:nvPr>
        </p:nvSpPr>
        <p:spPr>
          <a:xfrm>
            <a:off x="5943600" y="0"/>
            <a:ext cx="3200400" cy="47625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584" name="Google Shape;1584;p80"/>
          <p:cNvSpPr txBox="1"/>
          <p:nvPr>
            <p:ph idx="12" type="sldNum"/>
          </p:nvPr>
        </p:nvSpPr>
        <p:spPr>
          <a:xfrm>
            <a:off x="8613648" y="6305550"/>
            <a:ext cx="457200" cy="47625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1">
                                            <p:txEl>
                                              <p:pRg end="0" st="0"/>
                                            </p:txEl>
                                          </p:spTgt>
                                        </p:tgtEl>
                                        <p:attrNameLst>
                                          <p:attrName>style.visibility</p:attrName>
                                        </p:attrNameLst>
                                      </p:cBhvr>
                                      <p:to>
                                        <p:strVal val="visible"/>
                                      </p:to>
                                    </p:set>
                                    <p:animEffect filter="fade" transition="in">
                                      <p:cBhvr>
                                        <p:cTn dur="500"/>
                                        <p:tgtEl>
                                          <p:spTgt spid="15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1">
                                            <p:txEl>
                                              <p:pRg end="1" st="1"/>
                                            </p:txEl>
                                          </p:spTgt>
                                        </p:tgtEl>
                                        <p:attrNameLst>
                                          <p:attrName>style.visibility</p:attrName>
                                        </p:attrNameLst>
                                      </p:cBhvr>
                                      <p:to>
                                        <p:strVal val="visible"/>
                                      </p:to>
                                    </p:set>
                                    <p:animEffect filter="fade" transition="in">
                                      <p:cBhvr>
                                        <p:cTn dur="500"/>
                                        <p:tgtEl>
                                          <p:spTgt spid="158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8" name="Shape 1588"/>
        <p:cNvGrpSpPr/>
        <p:nvPr/>
      </p:nvGrpSpPr>
      <p:grpSpPr>
        <a:xfrm>
          <a:off x="0" y="0"/>
          <a:ext cx="0" cy="0"/>
          <a:chOff x="0" y="0"/>
          <a:chExt cx="0" cy="0"/>
        </a:xfrm>
      </p:grpSpPr>
      <p:sp>
        <p:nvSpPr>
          <p:cNvPr id="1589" name="Google Shape;1589;p81"/>
          <p:cNvSpPr txBox="1"/>
          <p:nvPr>
            <p:ph type="title"/>
          </p:nvPr>
        </p:nvSpPr>
        <p:spPr>
          <a:xfrm>
            <a:off x="381000" y="152400"/>
            <a:ext cx="8229600" cy="6096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2800"/>
              <a:buFont typeface="Times New Roman"/>
              <a:buNone/>
            </a:pPr>
            <a:r>
              <a:rPr b="1" lang="en-US" sz="2800">
                <a:latin typeface="Times New Roman"/>
                <a:ea typeface="Times New Roman"/>
                <a:cs typeface="Times New Roman"/>
                <a:sym typeface="Times New Roman"/>
              </a:rPr>
              <a:t>Hệ thống pháp luật</a:t>
            </a:r>
            <a:endParaRPr b="1" sz="2800">
              <a:latin typeface="Times New Roman"/>
              <a:ea typeface="Times New Roman"/>
              <a:cs typeface="Times New Roman"/>
              <a:sym typeface="Times New Roman"/>
            </a:endParaRPr>
          </a:p>
        </p:txBody>
      </p:sp>
      <p:sp>
        <p:nvSpPr>
          <p:cNvPr id="1590" name="Google Shape;1590;p81"/>
          <p:cNvSpPr txBox="1"/>
          <p:nvPr>
            <p:ph idx="1" type="body"/>
          </p:nvPr>
        </p:nvSpPr>
        <p:spPr>
          <a:xfrm>
            <a:off x="457200" y="1066800"/>
            <a:ext cx="8229600" cy="5257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n-US"/>
              <a:t>.</a:t>
            </a:r>
            <a:endParaRPr/>
          </a:p>
        </p:txBody>
      </p:sp>
      <p:sp>
        <p:nvSpPr>
          <p:cNvPr id="1591" name="Google Shape;1591;p81"/>
          <p:cNvSpPr/>
          <p:nvPr/>
        </p:nvSpPr>
        <p:spPr>
          <a:xfrm>
            <a:off x="1066800" y="2667000"/>
            <a:ext cx="1981200" cy="2057400"/>
          </a:xfrm>
          <a:prstGeom prst="downArrow">
            <a:avLst>
              <a:gd fmla="val 50000" name="adj1"/>
              <a:gd fmla="val 50000" name="adj2"/>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Cơ sở cho việc xây dựng và hoàn thiện</a:t>
            </a:r>
            <a:endParaRPr sz="1800">
              <a:solidFill>
                <a:schemeClr val="dk1"/>
              </a:solidFill>
              <a:latin typeface="Arial"/>
              <a:ea typeface="Arial"/>
              <a:cs typeface="Arial"/>
              <a:sym typeface="Arial"/>
            </a:endParaRPr>
          </a:p>
        </p:txBody>
      </p:sp>
      <p:sp>
        <p:nvSpPr>
          <p:cNvPr id="1592" name="Google Shape;1592;p81"/>
          <p:cNvSpPr/>
          <p:nvPr/>
        </p:nvSpPr>
        <p:spPr>
          <a:xfrm>
            <a:off x="4038600" y="2590800"/>
            <a:ext cx="1524000" cy="1828800"/>
          </a:xfrm>
          <a:prstGeom prst="upArrow">
            <a:avLst>
              <a:gd fmla="val 50000" name="adj1"/>
              <a:gd fmla="val 50000" name="adj2"/>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Hình thức thể hiện</a:t>
            </a:r>
            <a:endParaRPr sz="1800">
              <a:solidFill>
                <a:schemeClr val="dk1"/>
              </a:solidFill>
              <a:latin typeface="Arial"/>
              <a:ea typeface="Arial"/>
              <a:cs typeface="Arial"/>
              <a:sym typeface="Arial"/>
            </a:endParaRPr>
          </a:p>
        </p:txBody>
      </p:sp>
      <p:sp>
        <p:nvSpPr>
          <p:cNvPr id="1593" name="Google Shape;1593;p81"/>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594" name="Google Shape;1594;p8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82"/>
          <p:cNvSpPr txBox="1"/>
          <p:nvPr>
            <p:ph type="title"/>
          </p:nvPr>
        </p:nvSpPr>
        <p:spPr>
          <a:xfrm>
            <a:off x="381000" y="228600"/>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Times New Roman"/>
              <a:buNone/>
            </a:pPr>
            <a:r>
              <a:rPr lang="en-US" sz="3100">
                <a:solidFill>
                  <a:srgbClr val="FF0000"/>
                </a:solidFill>
                <a:latin typeface="Times New Roman"/>
                <a:ea typeface="Times New Roman"/>
                <a:cs typeface="Times New Roman"/>
                <a:sym typeface="Times New Roman"/>
              </a:rPr>
              <a:t>Ngành luật</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Hệ thống các quy phạm pháp luật điều chỉnh các quan hệ xã hội trong một lĩnh vực  nhất định với những phương pháp điều chỉnh nhất định.</a:t>
            </a:r>
            <a:endParaRPr sz="2400"/>
          </a:p>
        </p:txBody>
      </p:sp>
      <p:sp>
        <p:nvSpPr>
          <p:cNvPr id="1600" name="Google Shape;1600;p82"/>
          <p:cNvSpPr/>
          <p:nvPr/>
        </p:nvSpPr>
        <p:spPr>
          <a:xfrm>
            <a:off x="457200" y="1524000"/>
            <a:ext cx="8229600" cy="4800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Căn cứ phân định các ngành luật</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Đối tượng điều chỉnh</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Phương pháp điều chỉnh</a:t>
            </a:r>
            <a:endParaRPr b="0" i="0" sz="1800" u="none" cap="none" strike="noStrike">
              <a:solidFill>
                <a:schemeClr val="dk1"/>
              </a:solidFill>
              <a:latin typeface="Arial"/>
              <a:ea typeface="Arial"/>
              <a:cs typeface="Arial"/>
              <a:sym typeface="Arial"/>
            </a:endParaRPr>
          </a:p>
          <a:p>
            <a:pPr indent="-114300" lvl="3" marL="3429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Bình đẳng thỏa thuận</a:t>
            </a:r>
            <a:endParaRPr b="0" i="0" sz="1800" u="none" cap="none" strike="noStrike">
              <a:solidFill>
                <a:schemeClr val="dk1"/>
              </a:solidFill>
              <a:latin typeface="Arial"/>
              <a:ea typeface="Arial"/>
              <a:cs typeface="Arial"/>
              <a:sym typeface="Arial"/>
            </a:endParaRPr>
          </a:p>
          <a:p>
            <a:pPr indent="0" lvl="3" marL="3429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3" marL="3429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Quyền uy phục tùng</a:t>
            </a:r>
            <a:endParaRPr b="0" i="0" sz="1800" u="none" cap="none" strike="noStrike">
              <a:solidFill>
                <a:schemeClr val="dk1"/>
              </a:solidFill>
              <a:latin typeface="Arial"/>
              <a:ea typeface="Arial"/>
              <a:cs typeface="Arial"/>
              <a:sym typeface="Arial"/>
            </a:endParaRPr>
          </a:p>
          <a:p>
            <a:pPr indent="0" lvl="3" marL="3429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01" name="Google Shape;1601;p82"/>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602" name="Google Shape;1602;p8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6" name="Shape 1606"/>
        <p:cNvGrpSpPr/>
        <p:nvPr/>
      </p:nvGrpSpPr>
      <p:grpSpPr>
        <a:xfrm>
          <a:off x="0" y="0"/>
          <a:ext cx="0" cy="0"/>
          <a:chOff x="0" y="0"/>
          <a:chExt cx="0" cy="0"/>
        </a:xfrm>
      </p:grpSpPr>
      <p:sp>
        <p:nvSpPr>
          <p:cNvPr id="1607" name="Google Shape;1607;p83"/>
          <p:cNvSpPr txBox="1"/>
          <p:nvPr>
            <p:ph type="title"/>
          </p:nvPr>
        </p:nvSpPr>
        <p:spPr>
          <a:xfrm>
            <a:off x="533400" y="0"/>
            <a:ext cx="8305800" cy="124968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rgbClr val="FF0000"/>
              </a:buClr>
              <a:buSzPct val="100000"/>
              <a:buFont typeface="Times New Roman"/>
              <a:buNone/>
            </a:pPr>
            <a:r>
              <a:rPr lang="en-US" sz="3200">
                <a:solidFill>
                  <a:srgbClr val="FF0000"/>
                </a:solidFill>
                <a:latin typeface="Times New Roman"/>
                <a:ea typeface="Times New Roman"/>
                <a:cs typeface="Times New Roman"/>
                <a:sym typeface="Times New Roman"/>
              </a:rPr>
              <a:t>Ngành luật</a:t>
            </a:r>
            <a:br>
              <a:rPr lang="en-US" sz="3200">
                <a:solidFill>
                  <a:srgbClr val="FF0000"/>
                </a:solidFill>
                <a:latin typeface="Times New Roman"/>
                <a:ea typeface="Times New Roman"/>
                <a:cs typeface="Times New Roman"/>
                <a:sym typeface="Times New Roman"/>
              </a:rPr>
            </a:br>
            <a:r>
              <a:rPr lang="en-US" sz="2700">
                <a:solidFill>
                  <a:schemeClr val="dk1"/>
                </a:solidFill>
                <a:latin typeface="Times New Roman"/>
                <a:ea typeface="Times New Roman"/>
                <a:cs typeface="Times New Roman"/>
                <a:sym typeface="Times New Roman"/>
              </a:rPr>
              <a:t>Hệ thống ngành luật Việt Nam (theo cách phân chia truyền thống)</a:t>
            </a:r>
            <a:br>
              <a:rPr lang="en-US" sz="3200">
                <a:latin typeface="Times New Roman"/>
                <a:ea typeface="Times New Roman"/>
                <a:cs typeface="Times New Roman"/>
                <a:sym typeface="Times New Roman"/>
              </a:rPr>
            </a:br>
            <a:endParaRPr sz="2000">
              <a:latin typeface="Times New Roman"/>
              <a:ea typeface="Times New Roman"/>
              <a:cs typeface="Times New Roman"/>
              <a:sym typeface="Times New Roman"/>
            </a:endParaRPr>
          </a:p>
        </p:txBody>
      </p:sp>
      <p:sp>
        <p:nvSpPr>
          <p:cNvPr id="1608" name="Google Shape;1608;p83"/>
          <p:cNvSpPr txBox="1"/>
          <p:nvPr>
            <p:ph idx="1" type="body"/>
          </p:nvPr>
        </p:nvSpPr>
        <p:spPr>
          <a:xfrm>
            <a:off x="457200" y="1371600"/>
            <a:ext cx="4038600" cy="498332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None/>
            </a:pPr>
            <a:r>
              <a:rPr lang="en-US" sz="1800">
                <a:solidFill>
                  <a:srgbClr val="FF0000"/>
                </a:solidFill>
                <a:latin typeface="Times New Roman"/>
                <a:ea typeface="Times New Roman"/>
                <a:cs typeface="Times New Roman"/>
                <a:sym typeface="Times New Roman"/>
              </a:rPr>
              <a:t>LUẬT NỘI DUNG</a:t>
            </a:r>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rPr lang="en-US" sz="1800">
                <a:solidFill>
                  <a:srgbClr val="FF0000"/>
                </a:solidFill>
                <a:latin typeface="Times New Roman"/>
                <a:ea typeface="Times New Roman"/>
                <a:cs typeface="Times New Roman"/>
                <a:sym typeface="Times New Roman"/>
              </a:rPr>
              <a:t>Công pháp quốc tế</a:t>
            </a:r>
            <a:endParaRPr sz="1800">
              <a:solidFill>
                <a:srgbClr val="FF0000"/>
              </a:solidFill>
              <a:latin typeface="Times New Roman"/>
              <a:ea typeface="Times New Roman"/>
              <a:cs typeface="Times New Roman"/>
              <a:sym typeface="Times New Roman"/>
            </a:endParaRPr>
          </a:p>
        </p:txBody>
      </p:sp>
      <p:sp>
        <p:nvSpPr>
          <p:cNvPr id="1609" name="Google Shape;1609;p83"/>
          <p:cNvSpPr txBox="1"/>
          <p:nvPr>
            <p:ph idx="2" type="body"/>
          </p:nvPr>
        </p:nvSpPr>
        <p:spPr>
          <a:xfrm>
            <a:off x="4648200" y="1295400"/>
            <a:ext cx="4038600" cy="505952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None/>
            </a:pPr>
            <a:r>
              <a:rPr lang="en-US" sz="1800">
                <a:solidFill>
                  <a:srgbClr val="FF0000"/>
                </a:solidFill>
                <a:latin typeface="Times New Roman"/>
                <a:ea typeface="Times New Roman"/>
                <a:cs typeface="Times New Roman"/>
                <a:sym typeface="Times New Roman"/>
              </a:rPr>
              <a:t>               LUẬT HÌNH THỨC</a:t>
            </a:r>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solidFill>
                <a:srgbClr val="FF0000"/>
              </a:solidFill>
              <a:latin typeface="Times New Roman"/>
              <a:ea typeface="Times New Roman"/>
              <a:cs typeface="Times New Roman"/>
              <a:sym typeface="Times New Roman"/>
            </a:endParaRPr>
          </a:p>
          <a:p>
            <a:pPr indent="-274320" lvl="0" marL="274320" rtl="0" algn="l">
              <a:spcBef>
                <a:spcPts val="360"/>
              </a:spcBef>
              <a:spcAft>
                <a:spcPts val="0"/>
              </a:spcAft>
              <a:buSzPts val="1710"/>
              <a:buNone/>
            </a:pPr>
            <a:r>
              <a:rPr lang="en-US" sz="1800">
                <a:solidFill>
                  <a:srgbClr val="FF0000"/>
                </a:solidFill>
                <a:latin typeface="Times New Roman"/>
                <a:ea typeface="Times New Roman"/>
                <a:cs typeface="Times New Roman"/>
                <a:sym typeface="Times New Roman"/>
              </a:rPr>
              <a:t>                            </a:t>
            </a:r>
            <a:endParaRPr/>
          </a:p>
          <a:p>
            <a:pPr indent="-274320" lvl="0" marL="274320" rtl="0" algn="l">
              <a:spcBef>
                <a:spcPts val="360"/>
              </a:spcBef>
              <a:spcAft>
                <a:spcPts val="0"/>
              </a:spcAft>
              <a:buSzPts val="1710"/>
              <a:buNone/>
            </a:pPr>
            <a:r>
              <a:rPr lang="en-US" sz="1800">
                <a:solidFill>
                  <a:srgbClr val="FF0000"/>
                </a:solidFill>
                <a:latin typeface="Times New Roman"/>
                <a:ea typeface="Times New Roman"/>
                <a:cs typeface="Times New Roman"/>
                <a:sym typeface="Times New Roman"/>
              </a:rPr>
              <a:t>                         Tư pháp quốc tế</a:t>
            </a:r>
            <a:endParaRPr sz="1800">
              <a:solidFill>
                <a:srgbClr val="FF0000"/>
              </a:solidFill>
              <a:latin typeface="Times New Roman"/>
              <a:ea typeface="Times New Roman"/>
              <a:cs typeface="Times New Roman"/>
              <a:sym typeface="Times New Roman"/>
            </a:endParaRPr>
          </a:p>
        </p:txBody>
      </p:sp>
      <p:sp>
        <p:nvSpPr>
          <p:cNvPr id="1610" name="Google Shape;1610;p83"/>
          <p:cNvSpPr/>
          <p:nvPr/>
        </p:nvSpPr>
        <p:spPr>
          <a:xfrm>
            <a:off x="1676400" y="2057400"/>
            <a:ext cx="1676400" cy="609600"/>
          </a:xfrm>
          <a:prstGeom prst="rect">
            <a:avLst/>
          </a:prstGeom>
          <a:solidFill>
            <a:srgbClr val="C4EEFF"/>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Ngành Luật hiến pháp</a:t>
            </a:r>
            <a:endParaRPr sz="1800">
              <a:solidFill>
                <a:srgbClr val="FF0000"/>
              </a:solidFill>
              <a:latin typeface="Times New Roman"/>
              <a:ea typeface="Times New Roman"/>
              <a:cs typeface="Times New Roman"/>
              <a:sym typeface="Times New Roman"/>
            </a:endParaRPr>
          </a:p>
        </p:txBody>
      </p:sp>
      <p:sp>
        <p:nvSpPr>
          <p:cNvPr id="1611" name="Google Shape;1611;p83"/>
          <p:cNvSpPr/>
          <p:nvPr/>
        </p:nvSpPr>
        <p:spPr>
          <a:xfrm>
            <a:off x="3352800" y="2057400"/>
            <a:ext cx="1676400" cy="609600"/>
          </a:xfrm>
          <a:prstGeom prst="rect">
            <a:avLst/>
          </a:prstGeom>
          <a:solidFill>
            <a:srgbClr val="C8FBE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Ngành Luật hành chính</a:t>
            </a:r>
            <a:endParaRPr sz="1800">
              <a:solidFill>
                <a:srgbClr val="FF0000"/>
              </a:solidFill>
              <a:latin typeface="Times New Roman"/>
              <a:ea typeface="Times New Roman"/>
              <a:cs typeface="Times New Roman"/>
              <a:sym typeface="Times New Roman"/>
            </a:endParaRPr>
          </a:p>
        </p:txBody>
      </p:sp>
      <p:sp>
        <p:nvSpPr>
          <p:cNvPr id="1612" name="Google Shape;1612;p83"/>
          <p:cNvSpPr/>
          <p:nvPr/>
        </p:nvSpPr>
        <p:spPr>
          <a:xfrm>
            <a:off x="1676400" y="2667000"/>
            <a:ext cx="1676400" cy="609600"/>
          </a:xfrm>
          <a:prstGeom prst="rect">
            <a:avLst/>
          </a:prstGeom>
          <a:solidFill>
            <a:srgbClr val="C9A6E4"/>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Ngành Luật hình sự</a:t>
            </a:r>
            <a:endParaRPr sz="1800">
              <a:solidFill>
                <a:srgbClr val="FF0000"/>
              </a:solidFill>
              <a:latin typeface="Times New Roman"/>
              <a:ea typeface="Times New Roman"/>
              <a:cs typeface="Times New Roman"/>
              <a:sym typeface="Times New Roman"/>
            </a:endParaRPr>
          </a:p>
        </p:txBody>
      </p:sp>
      <p:sp>
        <p:nvSpPr>
          <p:cNvPr id="1613" name="Google Shape;1613;p83"/>
          <p:cNvSpPr/>
          <p:nvPr/>
        </p:nvSpPr>
        <p:spPr>
          <a:xfrm>
            <a:off x="3352800" y="2667000"/>
            <a:ext cx="1676400" cy="609600"/>
          </a:xfrm>
          <a:prstGeom prst="rect">
            <a:avLst/>
          </a:prstGeom>
          <a:solidFill>
            <a:schemeClr val="accent5"/>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Ngành Luật dân sự</a:t>
            </a:r>
            <a:endParaRPr sz="1800">
              <a:solidFill>
                <a:srgbClr val="FF0000"/>
              </a:solidFill>
              <a:latin typeface="Times New Roman"/>
              <a:ea typeface="Times New Roman"/>
              <a:cs typeface="Times New Roman"/>
              <a:sym typeface="Times New Roman"/>
            </a:endParaRPr>
          </a:p>
        </p:txBody>
      </p:sp>
      <p:sp>
        <p:nvSpPr>
          <p:cNvPr id="1614" name="Google Shape;1614;p83"/>
          <p:cNvSpPr/>
          <p:nvPr/>
        </p:nvSpPr>
        <p:spPr>
          <a:xfrm>
            <a:off x="1676400" y="3276600"/>
            <a:ext cx="1676400" cy="609600"/>
          </a:xfrm>
          <a:prstGeom prst="rect">
            <a:avLst/>
          </a:prstGeom>
          <a:solidFill>
            <a:srgbClr val="DDBA97"/>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Ngành Luật kinh tế</a:t>
            </a:r>
            <a:endParaRPr sz="1800">
              <a:solidFill>
                <a:srgbClr val="FF0000"/>
              </a:solidFill>
              <a:latin typeface="Times New Roman"/>
              <a:ea typeface="Times New Roman"/>
              <a:cs typeface="Times New Roman"/>
              <a:sym typeface="Times New Roman"/>
            </a:endParaRPr>
          </a:p>
        </p:txBody>
      </p:sp>
      <p:sp>
        <p:nvSpPr>
          <p:cNvPr id="1615" name="Google Shape;1615;p83"/>
          <p:cNvSpPr/>
          <p:nvPr/>
        </p:nvSpPr>
        <p:spPr>
          <a:xfrm>
            <a:off x="3352800" y="3276600"/>
            <a:ext cx="1676400" cy="609600"/>
          </a:xfrm>
          <a:prstGeom prst="rect">
            <a:avLst/>
          </a:prstGeom>
          <a:solidFill>
            <a:srgbClr val="56A9F3"/>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Ngành Luật lao động</a:t>
            </a:r>
            <a:endParaRPr sz="1800">
              <a:solidFill>
                <a:schemeClr val="dk1"/>
              </a:solidFill>
              <a:latin typeface="Arial"/>
              <a:ea typeface="Arial"/>
              <a:cs typeface="Arial"/>
              <a:sym typeface="Arial"/>
            </a:endParaRPr>
          </a:p>
        </p:txBody>
      </p:sp>
      <p:sp>
        <p:nvSpPr>
          <p:cNvPr id="1616" name="Google Shape;1616;p83"/>
          <p:cNvSpPr/>
          <p:nvPr/>
        </p:nvSpPr>
        <p:spPr>
          <a:xfrm>
            <a:off x="5638800" y="2209800"/>
            <a:ext cx="2057400" cy="685800"/>
          </a:xfrm>
          <a:prstGeom prst="roundRect">
            <a:avLst>
              <a:gd fmla="val 16667" name="adj"/>
            </a:avLst>
          </a:prstGeom>
          <a:solidFill>
            <a:srgbClr val="E3F2F5"/>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Ngành Luật tố tụng dân sự</a:t>
            </a:r>
            <a:endParaRPr sz="1800">
              <a:solidFill>
                <a:srgbClr val="FF0000"/>
              </a:solidFill>
              <a:latin typeface="Times New Roman"/>
              <a:ea typeface="Times New Roman"/>
              <a:cs typeface="Times New Roman"/>
              <a:sym typeface="Times New Roman"/>
            </a:endParaRPr>
          </a:p>
        </p:txBody>
      </p:sp>
      <p:sp>
        <p:nvSpPr>
          <p:cNvPr id="1617" name="Google Shape;1617;p83"/>
          <p:cNvSpPr/>
          <p:nvPr/>
        </p:nvSpPr>
        <p:spPr>
          <a:xfrm>
            <a:off x="5638800" y="2895600"/>
            <a:ext cx="2133600" cy="762000"/>
          </a:xfrm>
          <a:prstGeom prst="roundRect">
            <a:avLst>
              <a:gd fmla="val 16667" name="adj"/>
            </a:avLst>
          </a:prstGeom>
          <a:solidFill>
            <a:srgbClr val="C8FBE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Ngành Luật tố tụng hình sự</a:t>
            </a:r>
            <a:endParaRPr sz="1800">
              <a:solidFill>
                <a:srgbClr val="FF0000"/>
              </a:solidFill>
              <a:latin typeface="Times New Roman"/>
              <a:ea typeface="Times New Roman"/>
              <a:cs typeface="Times New Roman"/>
              <a:sym typeface="Times New Roman"/>
            </a:endParaRPr>
          </a:p>
        </p:txBody>
      </p:sp>
      <p:sp>
        <p:nvSpPr>
          <p:cNvPr id="1618" name="Google Shape;1618;p83"/>
          <p:cNvSpPr/>
          <p:nvPr/>
        </p:nvSpPr>
        <p:spPr>
          <a:xfrm>
            <a:off x="2438400" y="1371600"/>
            <a:ext cx="2971800" cy="609600"/>
          </a:xfrm>
          <a:prstGeom prst="ribbon">
            <a:avLst>
              <a:gd fmla="val 16667"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Times New Roman"/>
                <a:ea typeface="Times New Roman"/>
                <a:cs typeface="Times New Roman"/>
                <a:sym typeface="Times New Roman"/>
              </a:rPr>
              <a:t>PHÁP LUẬT QUỐC GIA</a:t>
            </a:r>
            <a:endParaRPr sz="1600">
              <a:solidFill>
                <a:schemeClr val="lt1"/>
              </a:solidFill>
              <a:latin typeface="Times New Roman"/>
              <a:ea typeface="Times New Roman"/>
              <a:cs typeface="Times New Roman"/>
              <a:sym typeface="Times New Roman"/>
            </a:endParaRPr>
          </a:p>
        </p:txBody>
      </p:sp>
      <p:sp>
        <p:nvSpPr>
          <p:cNvPr id="1619" name="Google Shape;1619;p83"/>
          <p:cNvSpPr/>
          <p:nvPr/>
        </p:nvSpPr>
        <p:spPr>
          <a:xfrm>
            <a:off x="2590800" y="5791200"/>
            <a:ext cx="3429000" cy="762000"/>
          </a:xfrm>
          <a:prstGeom prst="ribbon">
            <a:avLst>
              <a:gd fmla="val 16667" name="adj1"/>
              <a:gd fmla="val 50000" name="adj2"/>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PHÁP LUẬT QUỐC TẾ</a:t>
            </a:r>
            <a:endParaRPr sz="1800">
              <a:solidFill>
                <a:schemeClr val="lt1"/>
              </a:solidFill>
              <a:latin typeface="Arial"/>
              <a:ea typeface="Arial"/>
              <a:cs typeface="Arial"/>
              <a:sym typeface="Arial"/>
            </a:endParaRPr>
          </a:p>
        </p:txBody>
      </p:sp>
      <p:sp>
        <p:nvSpPr>
          <p:cNvPr id="1620" name="Google Shape;1620;p83"/>
          <p:cNvSpPr/>
          <p:nvPr/>
        </p:nvSpPr>
        <p:spPr>
          <a:xfrm>
            <a:off x="1676400" y="3886200"/>
            <a:ext cx="1676400" cy="762000"/>
          </a:xfrm>
          <a:prstGeom prst="rect">
            <a:avLst/>
          </a:prstGeom>
          <a:solidFill>
            <a:srgbClr val="FFFF00"/>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Ngành Luật Hôn nhân gia đình</a:t>
            </a:r>
            <a:endParaRPr sz="1800">
              <a:solidFill>
                <a:schemeClr val="lt1"/>
              </a:solidFill>
              <a:latin typeface="Arial"/>
              <a:ea typeface="Arial"/>
              <a:cs typeface="Arial"/>
              <a:sym typeface="Arial"/>
            </a:endParaRPr>
          </a:p>
        </p:txBody>
      </p:sp>
      <p:sp>
        <p:nvSpPr>
          <p:cNvPr id="1621" name="Google Shape;1621;p83"/>
          <p:cNvSpPr/>
          <p:nvPr/>
        </p:nvSpPr>
        <p:spPr>
          <a:xfrm>
            <a:off x="3352800" y="3886200"/>
            <a:ext cx="1676400" cy="762000"/>
          </a:xfrm>
          <a:prstGeom prst="rect">
            <a:avLst/>
          </a:prstGeom>
          <a:solidFill>
            <a:srgbClr val="FFCC66"/>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Ngành Luật Đất đai</a:t>
            </a:r>
            <a:endParaRPr sz="1800">
              <a:solidFill>
                <a:schemeClr val="dk1"/>
              </a:solidFill>
              <a:latin typeface="Arial"/>
              <a:ea typeface="Arial"/>
              <a:cs typeface="Arial"/>
              <a:sym typeface="Arial"/>
            </a:endParaRPr>
          </a:p>
        </p:txBody>
      </p:sp>
      <p:sp>
        <p:nvSpPr>
          <p:cNvPr id="1622" name="Google Shape;1622;p83"/>
          <p:cNvSpPr/>
          <p:nvPr/>
        </p:nvSpPr>
        <p:spPr>
          <a:xfrm>
            <a:off x="1676400" y="4648200"/>
            <a:ext cx="1676400" cy="762000"/>
          </a:xfrm>
          <a:prstGeom prst="rect">
            <a:avLst/>
          </a:prstGeom>
          <a:solidFill>
            <a:srgbClr val="92D050"/>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Ngành Luật  tài chính</a:t>
            </a:r>
            <a:endParaRPr sz="1800">
              <a:solidFill>
                <a:schemeClr val="dk1"/>
              </a:solidFill>
              <a:latin typeface="Arial"/>
              <a:ea typeface="Arial"/>
              <a:cs typeface="Arial"/>
              <a:sym typeface="Arial"/>
            </a:endParaRPr>
          </a:p>
        </p:txBody>
      </p:sp>
      <p:sp>
        <p:nvSpPr>
          <p:cNvPr id="1623" name="Google Shape;1623;p83"/>
          <p:cNvSpPr/>
          <p:nvPr/>
        </p:nvSpPr>
        <p:spPr>
          <a:xfrm>
            <a:off x="3352800" y="4648200"/>
            <a:ext cx="1676400" cy="762000"/>
          </a:xfrm>
          <a:prstGeom prst="rect">
            <a:avLst/>
          </a:prstGeom>
          <a:solidFill>
            <a:srgbClr val="C9A6E4"/>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Ngành Luật ngân hàng</a:t>
            </a:r>
            <a:endParaRPr sz="1800">
              <a:solidFill>
                <a:schemeClr val="dk1"/>
              </a:solidFill>
              <a:latin typeface="Arial"/>
              <a:ea typeface="Arial"/>
              <a:cs typeface="Arial"/>
              <a:sym typeface="Arial"/>
            </a:endParaRPr>
          </a:p>
        </p:txBody>
      </p:sp>
      <p:sp>
        <p:nvSpPr>
          <p:cNvPr id="1624" name="Google Shape;1624;p83"/>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625" name="Google Shape;1625;p8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626" name="Google Shape;1626;p83"/>
          <p:cNvSpPr/>
          <p:nvPr/>
        </p:nvSpPr>
        <p:spPr>
          <a:xfrm>
            <a:off x="5638800" y="3657600"/>
            <a:ext cx="2133600" cy="762000"/>
          </a:xfrm>
          <a:prstGeom prst="roundRect">
            <a:avLst>
              <a:gd fmla="val 16667" name="adj"/>
            </a:avLst>
          </a:prstGeom>
          <a:solidFill>
            <a:srgbClr val="C8FBEC"/>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0000"/>
                </a:solidFill>
                <a:latin typeface="Times New Roman"/>
                <a:ea typeface="Times New Roman"/>
                <a:cs typeface="Times New Roman"/>
                <a:sym typeface="Times New Roman"/>
              </a:rPr>
              <a:t>Ngành Luật tố tụng hành chính</a:t>
            </a:r>
            <a:endParaRPr sz="1800">
              <a:solidFill>
                <a:srgbClr val="FF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7"/>
                                        </p:tgtEl>
                                        <p:attrNameLst>
                                          <p:attrName>style.visibility</p:attrName>
                                        </p:attrNameLst>
                                      </p:cBhvr>
                                      <p:to>
                                        <p:strVal val="visible"/>
                                      </p:to>
                                    </p:set>
                                    <p:animEffect filter="fade" transition="in">
                                      <p:cBhvr>
                                        <p:cTn dur="2000"/>
                                        <p:tgtEl>
                                          <p:spTgt spid="1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500"/>
                                        <p:tgtEl>
                                          <p:spTgt spid="1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0" st="0"/>
                                            </p:txEl>
                                          </p:spTgt>
                                        </p:tgtEl>
                                        <p:attrNameLst>
                                          <p:attrName>style.visibility</p:attrName>
                                        </p:attrNameLst>
                                      </p:cBhvr>
                                      <p:to>
                                        <p:strVal val="visible"/>
                                      </p:to>
                                    </p:set>
                                    <p:animEffect filter="fade" transition="in">
                                      <p:cBhvr>
                                        <p:cTn dur="500"/>
                                        <p:tgtEl>
                                          <p:spTgt spid="16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 st="1"/>
                                            </p:txEl>
                                          </p:spTgt>
                                        </p:tgtEl>
                                        <p:attrNameLst>
                                          <p:attrName>style.visibility</p:attrName>
                                        </p:attrNameLst>
                                      </p:cBhvr>
                                      <p:to>
                                        <p:strVal val="visible"/>
                                      </p:to>
                                    </p:set>
                                    <p:animEffect filter="fade" transition="in">
                                      <p:cBhvr>
                                        <p:cTn dur="500"/>
                                        <p:tgtEl>
                                          <p:spTgt spid="16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2" st="2"/>
                                            </p:txEl>
                                          </p:spTgt>
                                        </p:tgtEl>
                                        <p:attrNameLst>
                                          <p:attrName>style.visibility</p:attrName>
                                        </p:attrNameLst>
                                      </p:cBhvr>
                                      <p:to>
                                        <p:strVal val="visible"/>
                                      </p:to>
                                    </p:set>
                                    <p:animEffect filter="fade" transition="in">
                                      <p:cBhvr>
                                        <p:cTn dur="500"/>
                                        <p:tgtEl>
                                          <p:spTgt spid="16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3" st="3"/>
                                            </p:txEl>
                                          </p:spTgt>
                                        </p:tgtEl>
                                        <p:attrNameLst>
                                          <p:attrName>style.visibility</p:attrName>
                                        </p:attrNameLst>
                                      </p:cBhvr>
                                      <p:to>
                                        <p:strVal val="visible"/>
                                      </p:to>
                                    </p:set>
                                    <p:animEffect filter="fade" transition="in">
                                      <p:cBhvr>
                                        <p:cTn dur="500"/>
                                        <p:tgtEl>
                                          <p:spTgt spid="16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4" st="4"/>
                                            </p:txEl>
                                          </p:spTgt>
                                        </p:tgtEl>
                                        <p:attrNameLst>
                                          <p:attrName>style.visibility</p:attrName>
                                        </p:attrNameLst>
                                      </p:cBhvr>
                                      <p:to>
                                        <p:strVal val="visible"/>
                                      </p:to>
                                    </p:set>
                                    <p:animEffect filter="fade" transition="in">
                                      <p:cBhvr>
                                        <p:cTn dur="500"/>
                                        <p:tgtEl>
                                          <p:spTgt spid="16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5" st="5"/>
                                            </p:txEl>
                                          </p:spTgt>
                                        </p:tgtEl>
                                        <p:attrNameLst>
                                          <p:attrName>style.visibility</p:attrName>
                                        </p:attrNameLst>
                                      </p:cBhvr>
                                      <p:to>
                                        <p:strVal val="visible"/>
                                      </p:to>
                                    </p:set>
                                    <p:animEffect filter="fade" transition="in">
                                      <p:cBhvr>
                                        <p:cTn dur="500"/>
                                        <p:tgtEl>
                                          <p:spTgt spid="16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6" st="6"/>
                                            </p:txEl>
                                          </p:spTgt>
                                        </p:tgtEl>
                                        <p:attrNameLst>
                                          <p:attrName>style.visibility</p:attrName>
                                        </p:attrNameLst>
                                      </p:cBhvr>
                                      <p:to>
                                        <p:strVal val="visible"/>
                                      </p:to>
                                    </p:set>
                                    <p:animEffect filter="fade" transition="in">
                                      <p:cBhvr>
                                        <p:cTn dur="500"/>
                                        <p:tgtEl>
                                          <p:spTgt spid="16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7" st="7"/>
                                            </p:txEl>
                                          </p:spTgt>
                                        </p:tgtEl>
                                        <p:attrNameLst>
                                          <p:attrName>style.visibility</p:attrName>
                                        </p:attrNameLst>
                                      </p:cBhvr>
                                      <p:to>
                                        <p:strVal val="visible"/>
                                      </p:to>
                                    </p:set>
                                    <p:animEffect filter="fade" transition="in">
                                      <p:cBhvr>
                                        <p:cTn dur="500"/>
                                        <p:tgtEl>
                                          <p:spTgt spid="16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8" st="8"/>
                                            </p:txEl>
                                          </p:spTgt>
                                        </p:tgtEl>
                                        <p:attrNameLst>
                                          <p:attrName>style.visibility</p:attrName>
                                        </p:attrNameLst>
                                      </p:cBhvr>
                                      <p:to>
                                        <p:strVal val="visible"/>
                                      </p:to>
                                    </p:set>
                                    <p:animEffect filter="fade" transition="in">
                                      <p:cBhvr>
                                        <p:cTn dur="500"/>
                                        <p:tgtEl>
                                          <p:spTgt spid="160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9" st="9"/>
                                            </p:txEl>
                                          </p:spTgt>
                                        </p:tgtEl>
                                        <p:attrNameLst>
                                          <p:attrName>style.visibility</p:attrName>
                                        </p:attrNameLst>
                                      </p:cBhvr>
                                      <p:to>
                                        <p:strVal val="visible"/>
                                      </p:to>
                                    </p:set>
                                    <p:animEffect filter="fade" transition="in">
                                      <p:cBhvr>
                                        <p:cTn dur="500"/>
                                        <p:tgtEl>
                                          <p:spTgt spid="160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0" st="10"/>
                                            </p:txEl>
                                          </p:spTgt>
                                        </p:tgtEl>
                                        <p:attrNameLst>
                                          <p:attrName>style.visibility</p:attrName>
                                        </p:attrNameLst>
                                      </p:cBhvr>
                                      <p:to>
                                        <p:strVal val="visible"/>
                                      </p:to>
                                    </p:set>
                                    <p:animEffect filter="fade" transition="in">
                                      <p:cBhvr>
                                        <p:cTn dur="500"/>
                                        <p:tgtEl>
                                          <p:spTgt spid="160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1" st="11"/>
                                            </p:txEl>
                                          </p:spTgt>
                                        </p:tgtEl>
                                        <p:attrNameLst>
                                          <p:attrName>style.visibility</p:attrName>
                                        </p:attrNameLst>
                                      </p:cBhvr>
                                      <p:to>
                                        <p:strVal val="visible"/>
                                      </p:to>
                                    </p:set>
                                    <p:animEffect filter="fade" transition="in">
                                      <p:cBhvr>
                                        <p:cTn dur="500"/>
                                        <p:tgtEl>
                                          <p:spTgt spid="160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2" st="12"/>
                                            </p:txEl>
                                          </p:spTgt>
                                        </p:tgtEl>
                                        <p:attrNameLst>
                                          <p:attrName>style.visibility</p:attrName>
                                        </p:attrNameLst>
                                      </p:cBhvr>
                                      <p:to>
                                        <p:strVal val="visible"/>
                                      </p:to>
                                    </p:set>
                                    <p:animEffect filter="fade" transition="in">
                                      <p:cBhvr>
                                        <p:cTn dur="500"/>
                                        <p:tgtEl>
                                          <p:spTgt spid="160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3" st="13"/>
                                            </p:txEl>
                                          </p:spTgt>
                                        </p:tgtEl>
                                        <p:attrNameLst>
                                          <p:attrName>style.visibility</p:attrName>
                                        </p:attrNameLst>
                                      </p:cBhvr>
                                      <p:to>
                                        <p:strVal val="visible"/>
                                      </p:to>
                                    </p:set>
                                    <p:animEffect filter="fade" transition="in">
                                      <p:cBhvr>
                                        <p:cTn dur="500"/>
                                        <p:tgtEl>
                                          <p:spTgt spid="160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4" st="14"/>
                                            </p:txEl>
                                          </p:spTgt>
                                        </p:tgtEl>
                                        <p:attrNameLst>
                                          <p:attrName>style.visibility</p:attrName>
                                        </p:attrNameLst>
                                      </p:cBhvr>
                                      <p:to>
                                        <p:strVal val="visible"/>
                                      </p:to>
                                    </p:set>
                                    <p:animEffect filter="fade" transition="in">
                                      <p:cBhvr>
                                        <p:cTn dur="500"/>
                                        <p:tgtEl>
                                          <p:spTgt spid="160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0" st="0"/>
                                            </p:txEl>
                                          </p:spTgt>
                                        </p:tgtEl>
                                        <p:attrNameLst>
                                          <p:attrName>style.visibility</p:attrName>
                                        </p:attrNameLst>
                                      </p:cBhvr>
                                      <p:to>
                                        <p:strVal val="visible"/>
                                      </p:to>
                                    </p:set>
                                    <p:animEffect filter="fade" transition="in">
                                      <p:cBhvr>
                                        <p:cTn dur="500"/>
                                        <p:tgtEl>
                                          <p:spTgt spid="16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 st="1"/>
                                            </p:txEl>
                                          </p:spTgt>
                                        </p:tgtEl>
                                        <p:attrNameLst>
                                          <p:attrName>style.visibility</p:attrName>
                                        </p:attrNameLst>
                                      </p:cBhvr>
                                      <p:to>
                                        <p:strVal val="visible"/>
                                      </p:to>
                                    </p:set>
                                    <p:animEffect filter="fade" transition="in">
                                      <p:cBhvr>
                                        <p:cTn dur="500"/>
                                        <p:tgtEl>
                                          <p:spTgt spid="16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2" st="2"/>
                                            </p:txEl>
                                          </p:spTgt>
                                        </p:tgtEl>
                                        <p:attrNameLst>
                                          <p:attrName>style.visibility</p:attrName>
                                        </p:attrNameLst>
                                      </p:cBhvr>
                                      <p:to>
                                        <p:strVal val="visible"/>
                                      </p:to>
                                    </p:set>
                                    <p:animEffect filter="fade" transition="in">
                                      <p:cBhvr>
                                        <p:cTn dur="500"/>
                                        <p:tgtEl>
                                          <p:spTgt spid="16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3" st="3"/>
                                            </p:txEl>
                                          </p:spTgt>
                                        </p:tgtEl>
                                        <p:attrNameLst>
                                          <p:attrName>style.visibility</p:attrName>
                                        </p:attrNameLst>
                                      </p:cBhvr>
                                      <p:to>
                                        <p:strVal val="visible"/>
                                      </p:to>
                                    </p:set>
                                    <p:animEffect filter="fade" transition="in">
                                      <p:cBhvr>
                                        <p:cTn dur="500"/>
                                        <p:tgtEl>
                                          <p:spTgt spid="16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4" st="4"/>
                                            </p:txEl>
                                          </p:spTgt>
                                        </p:tgtEl>
                                        <p:attrNameLst>
                                          <p:attrName>style.visibility</p:attrName>
                                        </p:attrNameLst>
                                      </p:cBhvr>
                                      <p:to>
                                        <p:strVal val="visible"/>
                                      </p:to>
                                    </p:set>
                                    <p:animEffect filter="fade" transition="in">
                                      <p:cBhvr>
                                        <p:cTn dur="500"/>
                                        <p:tgtEl>
                                          <p:spTgt spid="16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5" st="5"/>
                                            </p:txEl>
                                          </p:spTgt>
                                        </p:tgtEl>
                                        <p:attrNameLst>
                                          <p:attrName>style.visibility</p:attrName>
                                        </p:attrNameLst>
                                      </p:cBhvr>
                                      <p:to>
                                        <p:strVal val="visible"/>
                                      </p:to>
                                    </p:set>
                                    <p:animEffect filter="fade" transition="in">
                                      <p:cBhvr>
                                        <p:cTn dur="500"/>
                                        <p:tgtEl>
                                          <p:spTgt spid="16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6" st="6"/>
                                            </p:txEl>
                                          </p:spTgt>
                                        </p:tgtEl>
                                        <p:attrNameLst>
                                          <p:attrName>style.visibility</p:attrName>
                                        </p:attrNameLst>
                                      </p:cBhvr>
                                      <p:to>
                                        <p:strVal val="visible"/>
                                      </p:to>
                                    </p:set>
                                    <p:animEffect filter="fade" transition="in">
                                      <p:cBhvr>
                                        <p:cTn dur="500"/>
                                        <p:tgtEl>
                                          <p:spTgt spid="160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7" st="7"/>
                                            </p:txEl>
                                          </p:spTgt>
                                        </p:tgtEl>
                                        <p:attrNameLst>
                                          <p:attrName>style.visibility</p:attrName>
                                        </p:attrNameLst>
                                      </p:cBhvr>
                                      <p:to>
                                        <p:strVal val="visible"/>
                                      </p:to>
                                    </p:set>
                                    <p:animEffect filter="fade" transition="in">
                                      <p:cBhvr>
                                        <p:cTn dur="500"/>
                                        <p:tgtEl>
                                          <p:spTgt spid="160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8" st="8"/>
                                            </p:txEl>
                                          </p:spTgt>
                                        </p:tgtEl>
                                        <p:attrNameLst>
                                          <p:attrName>style.visibility</p:attrName>
                                        </p:attrNameLst>
                                      </p:cBhvr>
                                      <p:to>
                                        <p:strVal val="visible"/>
                                      </p:to>
                                    </p:set>
                                    <p:animEffect filter="fade" transition="in">
                                      <p:cBhvr>
                                        <p:cTn dur="500"/>
                                        <p:tgtEl>
                                          <p:spTgt spid="160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9" st="9"/>
                                            </p:txEl>
                                          </p:spTgt>
                                        </p:tgtEl>
                                        <p:attrNameLst>
                                          <p:attrName>style.visibility</p:attrName>
                                        </p:attrNameLst>
                                      </p:cBhvr>
                                      <p:to>
                                        <p:strVal val="visible"/>
                                      </p:to>
                                    </p:set>
                                    <p:animEffect filter="fade" transition="in">
                                      <p:cBhvr>
                                        <p:cTn dur="500"/>
                                        <p:tgtEl>
                                          <p:spTgt spid="160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0" st="10"/>
                                            </p:txEl>
                                          </p:spTgt>
                                        </p:tgtEl>
                                        <p:attrNameLst>
                                          <p:attrName>style.visibility</p:attrName>
                                        </p:attrNameLst>
                                      </p:cBhvr>
                                      <p:to>
                                        <p:strVal val="visible"/>
                                      </p:to>
                                    </p:set>
                                    <p:animEffect filter="fade" transition="in">
                                      <p:cBhvr>
                                        <p:cTn dur="500"/>
                                        <p:tgtEl>
                                          <p:spTgt spid="160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1" st="11"/>
                                            </p:txEl>
                                          </p:spTgt>
                                        </p:tgtEl>
                                        <p:attrNameLst>
                                          <p:attrName>style.visibility</p:attrName>
                                        </p:attrNameLst>
                                      </p:cBhvr>
                                      <p:to>
                                        <p:strVal val="visible"/>
                                      </p:to>
                                    </p:set>
                                    <p:animEffect filter="fade" transition="in">
                                      <p:cBhvr>
                                        <p:cTn dur="500"/>
                                        <p:tgtEl>
                                          <p:spTgt spid="160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2" st="12"/>
                                            </p:txEl>
                                          </p:spTgt>
                                        </p:tgtEl>
                                        <p:attrNameLst>
                                          <p:attrName>style.visibility</p:attrName>
                                        </p:attrNameLst>
                                      </p:cBhvr>
                                      <p:to>
                                        <p:strVal val="visible"/>
                                      </p:to>
                                    </p:set>
                                    <p:animEffect filter="fade" transition="in">
                                      <p:cBhvr>
                                        <p:cTn dur="500"/>
                                        <p:tgtEl>
                                          <p:spTgt spid="160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3" st="13"/>
                                            </p:txEl>
                                          </p:spTgt>
                                        </p:tgtEl>
                                        <p:attrNameLst>
                                          <p:attrName>style.visibility</p:attrName>
                                        </p:attrNameLst>
                                      </p:cBhvr>
                                      <p:to>
                                        <p:strVal val="visible"/>
                                      </p:to>
                                    </p:set>
                                    <p:animEffect filter="fade" transition="in">
                                      <p:cBhvr>
                                        <p:cTn dur="500"/>
                                        <p:tgtEl>
                                          <p:spTgt spid="160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4" st="14"/>
                                            </p:txEl>
                                          </p:spTgt>
                                        </p:tgtEl>
                                        <p:attrNameLst>
                                          <p:attrName>style.visibility</p:attrName>
                                        </p:attrNameLst>
                                      </p:cBhvr>
                                      <p:to>
                                        <p:strVal val="visible"/>
                                      </p:to>
                                    </p:set>
                                    <p:animEffect filter="fade" transition="in">
                                      <p:cBhvr>
                                        <p:cTn dur="500"/>
                                        <p:tgtEl>
                                          <p:spTgt spid="160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0"/>
                                        </p:tgtEl>
                                        <p:attrNameLst>
                                          <p:attrName>style.visibility</p:attrName>
                                        </p:attrNameLst>
                                      </p:cBhvr>
                                      <p:to>
                                        <p:strVal val="visible"/>
                                      </p:to>
                                    </p:set>
                                    <p:animEffect filter="fade" transition="in">
                                      <p:cBhvr>
                                        <p:cTn dur="2000"/>
                                        <p:tgtEl>
                                          <p:spTgt spid="1610"/>
                                        </p:tgtEl>
                                      </p:cBhvr>
                                    </p:animEffect>
                                  </p:childTnLst>
                                </p:cTn>
                              </p:par>
                              <p:par>
                                <p:cTn fill="hold" nodeType="withEffect" presetClass="entr" presetID="10" presetSubtype="0">
                                  <p:stCondLst>
                                    <p:cond delay="0"/>
                                  </p:stCondLst>
                                  <p:childTnLst>
                                    <p:set>
                                      <p:cBhvr>
                                        <p:cTn dur="1" fill="hold">
                                          <p:stCondLst>
                                            <p:cond delay="0"/>
                                          </p:stCondLst>
                                        </p:cTn>
                                        <p:tgtEl>
                                          <p:spTgt spid="1611"/>
                                        </p:tgtEl>
                                        <p:attrNameLst>
                                          <p:attrName>style.visibility</p:attrName>
                                        </p:attrNameLst>
                                      </p:cBhvr>
                                      <p:to>
                                        <p:strVal val="visible"/>
                                      </p:to>
                                    </p:set>
                                    <p:animEffect filter="fade" transition="in">
                                      <p:cBhvr>
                                        <p:cTn dur="2000"/>
                                        <p:tgtEl>
                                          <p:spTgt spid="1611"/>
                                        </p:tgtEl>
                                      </p:cBhvr>
                                    </p:animEffect>
                                  </p:childTnLst>
                                </p:cTn>
                              </p:par>
                              <p:par>
                                <p:cTn fill="hold" nodeType="withEffect" presetClass="entr" presetID="10" presetSubtype="0">
                                  <p:stCondLst>
                                    <p:cond delay="0"/>
                                  </p:stCondLst>
                                  <p:childTnLst>
                                    <p:set>
                                      <p:cBhvr>
                                        <p:cTn dur="1" fill="hold">
                                          <p:stCondLst>
                                            <p:cond delay="0"/>
                                          </p:stCondLst>
                                        </p:cTn>
                                        <p:tgtEl>
                                          <p:spTgt spid="1612"/>
                                        </p:tgtEl>
                                        <p:attrNameLst>
                                          <p:attrName>style.visibility</p:attrName>
                                        </p:attrNameLst>
                                      </p:cBhvr>
                                      <p:to>
                                        <p:strVal val="visible"/>
                                      </p:to>
                                    </p:set>
                                    <p:animEffect filter="fade" transition="in">
                                      <p:cBhvr>
                                        <p:cTn dur="2000"/>
                                        <p:tgtEl>
                                          <p:spTgt spid="1612"/>
                                        </p:tgtEl>
                                      </p:cBhvr>
                                    </p:animEffect>
                                  </p:childTnLst>
                                </p:cTn>
                              </p:par>
                              <p:par>
                                <p:cTn fill="hold" nodeType="with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2000"/>
                                        <p:tgtEl>
                                          <p:spTgt spid="1613"/>
                                        </p:tgtEl>
                                      </p:cBhvr>
                                    </p:animEffect>
                                  </p:childTnLst>
                                </p:cTn>
                              </p:par>
                              <p:par>
                                <p:cTn fill="hold" nodeType="with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2000"/>
                                        <p:tgtEl>
                                          <p:spTgt spid="1614"/>
                                        </p:tgtEl>
                                      </p:cBhvr>
                                    </p:animEffect>
                                  </p:childTnLst>
                                </p:cTn>
                              </p:par>
                              <p:par>
                                <p:cTn fill="hold" nodeType="withEffect" presetClass="entr" presetID="10" presetSubtype="0">
                                  <p:stCondLst>
                                    <p:cond delay="0"/>
                                  </p:stCondLst>
                                  <p:childTnLst>
                                    <p:set>
                                      <p:cBhvr>
                                        <p:cTn dur="1" fill="hold">
                                          <p:stCondLst>
                                            <p:cond delay="0"/>
                                          </p:stCondLst>
                                        </p:cTn>
                                        <p:tgtEl>
                                          <p:spTgt spid="1615"/>
                                        </p:tgtEl>
                                        <p:attrNameLst>
                                          <p:attrName>style.visibility</p:attrName>
                                        </p:attrNameLst>
                                      </p:cBhvr>
                                      <p:to>
                                        <p:strVal val="visible"/>
                                      </p:to>
                                    </p:set>
                                    <p:animEffect filter="fade" transition="in">
                                      <p:cBhvr>
                                        <p:cTn dur="2000"/>
                                        <p:tgtEl>
                                          <p:spTgt spid="1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6"/>
                                        </p:tgtEl>
                                        <p:attrNameLst>
                                          <p:attrName>style.visibility</p:attrName>
                                        </p:attrNameLst>
                                      </p:cBhvr>
                                      <p:to>
                                        <p:strVal val="visible"/>
                                      </p:to>
                                    </p:set>
                                    <p:animEffect filter="fade" transition="in">
                                      <p:cBhvr>
                                        <p:cTn dur="500"/>
                                        <p:tgtEl>
                                          <p:spTgt spid="1616"/>
                                        </p:tgtEl>
                                      </p:cBhvr>
                                    </p:animEffect>
                                  </p:childTnLst>
                                </p:cTn>
                              </p:par>
                              <p:par>
                                <p:cTn fill="hold" nodeType="with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500"/>
                                        <p:tgtEl>
                                          <p:spTgt spid="1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9"/>
                                        </p:tgtEl>
                                        <p:attrNameLst>
                                          <p:attrName>style.visibility</p:attrName>
                                        </p:attrNameLst>
                                      </p:cBhvr>
                                      <p:to>
                                        <p:strVal val="visible"/>
                                      </p:to>
                                    </p:set>
                                    <p:anim calcmode="lin" valueType="num">
                                      <p:cBhvr additive="base">
                                        <p:cTn dur="500"/>
                                        <p:tgtEl>
                                          <p:spTgt spid="16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0" st="0"/>
                                            </p:txEl>
                                          </p:spTgt>
                                        </p:tgtEl>
                                        <p:attrNameLst>
                                          <p:attrName>style.visibility</p:attrName>
                                        </p:attrNameLst>
                                      </p:cBhvr>
                                      <p:to>
                                        <p:strVal val="visible"/>
                                      </p:to>
                                    </p:set>
                                    <p:animEffect filter="fade" transition="in">
                                      <p:cBhvr>
                                        <p:cTn dur="2000"/>
                                        <p:tgtEl>
                                          <p:spTgt spid="16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 st="1"/>
                                            </p:txEl>
                                          </p:spTgt>
                                        </p:tgtEl>
                                        <p:attrNameLst>
                                          <p:attrName>style.visibility</p:attrName>
                                        </p:attrNameLst>
                                      </p:cBhvr>
                                      <p:to>
                                        <p:strVal val="visible"/>
                                      </p:to>
                                    </p:set>
                                    <p:animEffect filter="fade" transition="in">
                                      <p:cBhvr>
                                        <p:cTn dur="2000"/>
                                        <p:tgtEl>
                                          <p:spTgt spid="16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2" st="2"/>
                                            </p:txEl>
                                          </p:spTgt>
                                        </p:tgtEl>
                                        <p:attrNameLst>
                                          <p:attrName>style.visibility</p:attrName>
                                        </p:attrNameLst>
                                      </p:cBhvr>
                                      <p:to>
                                        <p:strVal val="visible"/>
                                      </p:to>
                                    </p:set>
                                    <p:animEffect filter="fade" transition="in">
                                      <p:cBhvr>
                                        <p:cTn dur="2000"/>
                                        <p:tgtEl>
                                          <p:spTgt spid="16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3" st="3"/>
                                            </p:txEl>
                                          </p:spTgt>
                                        </p:tgtEl>
                                        <p:attrNameLst>
                                          <p:attrName>style.visibility</p:attrName>
                                        </p:attrNameLst>
                                      </p:cBhvr>
                                      <p:to>
                                        <p:strVal val="visible"/>
                                      </p:to>
                                    </p:set>
                                    <p:animEffect filter="fade" transition="in">
                                      <p:cBhvr>
                                        <p:cTn dur="2000"/>
                                        <p:tgtEl>
                                          <p:spTgt spid="16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4" st="4"/>
                                            </p:txEl>
                                          </p:spTgt>
                                        </p:tgtEl>
                                        <p:attrNameLst>
                                          <p:attrName>style.visibility</p:attrName>
                                        </p:attrNameLst>
                                      </p:cBhvr>
                                      <p:to>
                                        <p:strVal val="visible"/>
                                      </p:to>
                                    </p:set>
                                    <p:animEffect filter="fade" transition="in">
                                      <p:cBhvr>
                                        <p:cTn dur="2000"/>
                                        <p:tgtEl>
                                          <p:spTgt spid="16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5" st="5"/>
                                            </p:txEl>
                                          </p:spTgt>
                                        </p:tgtEl>
                                        <p:attrNameLst>
                                          <p:attrName>style.visibility</p:attrName>
                                        </p:attrNameLst>
                                      </p:cBhvr>
                                      <p:to>
                                        <p:strVal val="visible"/>
                                      </p:to>
                                    </p:set>
                                    <p:animEffect filter="fade" transition="in">
                                      <p:cBhvr>
                                        <p:cTn dur="2000"/>
                                        <p:tgtEl>
                                          <p:spTgt spid="16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6" st="6"/>
                                            </p:txEl>
                                          </p:spTgt>
                                        </p:tgtEl>
                                        <p:attrNameLst>
                                          <p:attrName>style.visibility</p:attrName>
                                        </p:attrNameLst>
                                      </p:cBhvr>
                                      <p:to>
                                        <p:strVal val="visible"/>
                                      </p:to>
                                    </p:set>
                                    <p:animEffect filter="fade" transition="in">
                                      <p:cBhvr>
                                        <p:cTn dur="2000"/>
                                        <p:tgtEl>
                                          <p:spTgt spid="16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7" st="7"/>
                                            </p:txEl>
                                          </p:spTgt>
                                        </p:tgtEl>
                                        <p:attrNameLst>
                                          <p:attrName>style.visibility</p:attrName>
                                        </p:attrNameLst>
                                      </p:cBhvr>
                                      <p:to>
                                        <p:strVal val="visible"/>
                                      </p:to>
                                    </p:set>
                                    <p:animEffect filter="fade" transition="in">
                                      <p:cBhvr>
                                        <p:cTn dur="2000"/>
                                        <p:tgtEl>
                                          <p:spTgt spid="16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8" st="8"/>
                                            </p:txEl>
                                          </p:spTgt>
                                        </p:tgtEl>
                                        <p:attrNameLst>
                                          <p:attrName>style.visibility</p:attrName>
                                        </p:attrNameLst>
                                      </p:cBhvr>
                                      <p:to>
                                        <p:strVal val="visible"/>
                                      </p:to>
                                    </p:set>
                                    <p:animEffect filter="fade" transition="in">
                                      <p:cBhvr>
                                        <p:cTn dur="2000"/>
                                        <p:tgtEl>
                                          <p:spTgt spid="160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9" st="9"/>
                                            </p:txEl>
                                          </p:spTgt>
                                        </p:tgtEl>
                                        <p:attrNameLst>
                                          <p:attrName>style.visibility</p:attrName>
                                        </p:attrNameLst>
                                      </p:cBhvr>
                                      <p:to>
                                        <p:strVal val="visible"/>
                                      </p:to>
                                    </p:set>
                                    <p:animEffect filter="fade" transition="in">
                                      <p:cBhvr>
                                        <p:cTn dur="2000"/>
                                        <p:tgtEl>
                                          <p:spTgt spid="160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0" st="10"/>
                                            </p:txEl>
                                          </p:spTgt>
                                        </p:tgtEl>
                                        <p:attrNameLst>
                                          <p:attrName>style.visibility</p:attrName>
                                        </p:attrNameLst>
                                      </p:cBhvr>
                                      <p:to>
                                        <p:strVal val="visible"/>
                                      </p:to>
                                    </p:set>
                                    <p:animEffect filter="fade" transition="in">
                                      <p:cBhvr>
                                        <p:cTn dur="2000"/>
                                        <p:tgtEl>
                                          <p:spTgt spid="160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1" st="11"/>
                                            </p:txEl>
                                          </p:spTgt>
                                        </p:tgtEl>
                                        <p:attrNameLst>
                                          <p:attrName>style.visibility</p:attrName>
                                        </p:attrNameLst>
                                      </p:cBhvr>
                                      <p:to>
                                        <p:strVal val="visible"/>
                                      </p:to>
                                    </p:set>
                                    <p:animEffect filter="fade" transition="in">
                                      <p:cBhvr>
                                        <p:cTn dur="2000"/>
                                        <p:tgtEl>
                                          <p:spTgt spid="160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2" st="12"/>
                                            </p:txEl>
                                          </p:spTgt>
                                        </p:tgtEl>
                                        <p:attrNameLst>
                                          <p:attrName>style.visibility</p:attrName>
                                        </p:attrNameLst>
                                      </p:cBhvr>
                                      <p:to>
                                        <p:strVal val="visible"/>
                                      </p:to>
                                    </p:set>
                                    <p:animEffect filter="fade" transition="in">
                                      <p:cBhvr>
                                        <p:cTn dur="2000"/>
                                        <p:tgtEl>
                                          <p:spTgt spid="160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3" st="13"/>
                                            </p:txEl>
                                          </p:spTgt>
                                        </p:tgtEl>
                                        <p:attrNameLst>
                                          <p:attrName>style.visibility</p:attrName>
                                        </p:attrNameLst>
                                      </p:cBhvr>
                                      <p:to>
                                        <p:strVal val="visible"/>
                                      </p:to>
                                    </p:set>
                                    <p:animEffect filter="fade" transition="in">
                                      <p:cBhvr>
                                        <p:cTn dur="2000"/>
                                        <p:tgtEl>
                                          <p:spTgt spid="160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8">
                                            <p:txEl>
                                              <p:pRg end="14" st="14"/>
                                            </p:txEl>
                                          </p:spTgt>
                                        </p:tgtEl>
                                        <p:attrNameLst>
                                          <p:attrName>style.visibility</p:attrName>
                                        </p:attrNameLst>
                                      </p:cBhvr>
                                      <p:to>
                                        <p:strVal val="visible"/>
                                      </p:to>
                                    </p:set>
                                    <p:animEffect filter="fade" transition="in">
                                      <p:cBhvr>
                                        <p:cTn dur="2000"/>
                                        <p:tgtEl>
                                          <p:spTgt spid="160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0" st="0"/>
                                            </p:txEl>
                                          </p:spTgt>
                                        </p:tgtEl>
                                        <p:attrNameLst>
                                          <p:attrName>style.visibility</p:attrName>
                                        </p:attrNameLst>
                                      </p:cBhvr>
                                      <p:to>
                                        <p:strVal val="visible"/>
                                      </p:to>
                                    </p:set>
                                    <p:animEffect filter="fade" transition="in">
                                      <p:cBhvr>
                                        <p:cTn dur="2000"/>
                                        <p:tgtEl>
                                          <p:spTgt spid="16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 st="1"/>
                                            </p:txEl>
                                          </p:spTgt>
                                        </p:tgtEl>
                                        <p:attrNameLst>
                                          <p:attrName>style.visibility</p:attrName>
                                        </p:attrNameLst>
                                      </p:cBhvr>
                                      <p:to>
                                        <p:strVal val="visible"/>
                                      </p:to>
                                    </p:set>
                                    <p:animEffect filter="fade" transition="in">
                                      <p:cBhvr>
                                        <p:cTn dur="2000"/>
                                        <p:tgtEl>
                                          <p:spTgt spid="16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2" st="2"/>
                                            </p:txEl>
                                          </p:spTgt>
                                        </p:tgtEl>
                                        <p:attrNameLst>
                                          <p:attrName>style.visibility</p:attrName>
                                        </p:attrNameLst>
                                      </p:cBhvr>
                                      <p:to>
                                        <p:strVal val="visible"/>
                                      </p:to>
                                    </p:set>
                                    <p:animEffect filter="fade" transition="in">
                                      <p:cBhvr>
                                        <p:cTn dur="2000"/>
                                        <p:tgtEl>
                                          <p:spTgt spid="16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3" st="3"/>
                                            </p:txEl>
                                          </p:spTgt>
                                        </p:tgtEl>
                                        <p:attrNameLst>
                                          <p:attrName>style.visibility</p:attrName>
                                        </p:attrNameLst>
                                      </p:cBhvr>
                                      <p:to>
                                        <p:strVal val="visible"/>
                                      </p:to>
                                    </p:set>
                                    <p:animEffect filter="fade" transition="in">
                                      <p:cBhvr>
                                        <p:cTn dur="2000"/>
                                        <p:tgtEl>
                                          <p:spTgt spid="16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4" st="4"/>
                                            </p:txEl>
                                          </p:spTgt>
                                        </p:tgtEl>
                                        <p:attrNameLst>
                                          <p:attrName>style.visibility</p:attrName>
                                        </p:attrNameLst>
                                      </p:cBhvr>
                                      <p:to>
                                        <p:strVal val="visible"/>
                                      </p:to>
                                    </p:set>
                                    <p:animEffect filter="fade" transition="in">
                                      <p:cBhvr>
                                        <p:cTn dur="2000"/>
                                        <p:tgtEl>
                                          <p:spTgt spid="16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5" st="5"/>
                                            </p:txEl>
                                          </p:spTgt>
                                        </p:tgtEl>
                                        <p:attrNameLst>
                                          <p:attrName>style.visibility</p:attrName>
                                        </p:attrNameLst>
                                      </p:cBhvr>
                                      <p:to>
                                        <p:strVal val="visible"/>
                                      </p:to>
                                    </p:set>
                                    <p:animEffect filter="fade" transition="in">
                                      <p:cBhvr>
                                        <p:cTn dur="2000"/>
                                        <p:tgtEl>
                                          <p:spTgt spid="16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6" st="6"/>
                                            </p:txEl>
                                          </p:spTgt>
                                        </p:tgtEl>
                                        <p:attrNameLst>
                                          <p:attrName>style.visibility</p:attrName>
                                        </p:attrNameLst>
                                      </p:cBhvr>
                                      <p:to>
                                        <p:strVal val="visible"/>
                                      </p:to>
                                    </p:set>
                                    <p:animEffect filter="fade" transition="in">
                                      <p:cBhvr>
                                        <p:cTn dur="2000"/>
                                        <p:tgtEl>
                                          <p:spTgt spid="160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7" st="7"/>
                                            </p:txEl>
                                          </p:spTgt>
                                        </p:tgtEl>
                                        <p:attrNameLst>
                                          <p:attrName>style.visibility</p:attrName>
                                        </p:attrNameLst>
                                      </p:cBhvr>
                                      <p:to>
                                        <p:strVal val="visible"/>
                                      </p:to>
                                    </p:set>
                                    <p:animEffect filter="fade" transition="in">
                                      <p:cBhvr>
                                        <p:cTn dur="2000"/>
                                        <p:tgtEl>
                                          <p:spTgt spid="160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8" st="8"/>
                                            </p:txEl>
                                          </p:spTgt>
                                        </p:tgtEl>
                                        <p:attrNameLst>
                                          <p:attrName>style.visibility</p:attrName>
                                        </p:attrNameLst>
                                      </p:cBhvr>
                                      <p:to>
                                        <p:strVal val="visible"/>
                                      </p:to>
                                    </p:set>
                                    <p:animEffect filter="fade" transition="in">
                                      <p:cBhvr>
                                        <p:cTn dur="2000"/>
                                        <p:tgtEl>
                                          <p:spTgt spid="160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9" st="9"/>
                                            </p:txEl>
                                          </p:spTgt>
                                        </p:tgtEl>
                                        <p:attrNameLst>
                                          <p:attrName>style.visibility</p:attrName>
                                        </p:attrNameLst>
                                      </p:cBhvr>
                                      <p:to>
                                        <p:strVal val="visible"/>
                                      </p:to>
                                    </p:set>
                                    <p:animEffect filter="fade" transition="in">
                                      <p:cBhvr>
                                        <p:cTn dur="2000"/>
                                        <p:tgtEl>
                                          <p:spTgt spid="160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0" st="10"/>
                                            </p:txEl>
                                          </p:spTgt>
                                        </p:tgtEl>
                                        <p:attrNameLst>
                                          <p:attrName>style.visibility</p:attrName>
                                        </p:attrNameLst>
                                      </p:cBhvr>
                                      <p:to>
                                        <p:strVal val="visible"/>
                                      </p:to>
                                    </p:set>
                                    <p:animEffect filter="fade" transition="in">
                                      <p:cBhvr>
                                        <p:cTn dur="2000"/>
                                        <p:tgtEl>
                                          <p:spTgt spid="160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1" st="11"/>
                                            </p:txEl>
                                          </p:spTgt>
                                        </p:tgtEl>
                                        <p:attrNameLst>
                                          <p:attrName>style.visibility</p:attrName>
                                        </p:attrNameLst>
                                      </p:cBhvr>
                                      <p:to>
                                        <p:strVal val="visible"/>
                                      </p:to>
                                    </p:set>
                                    <p:animEffect filter="fade" transition="in">
                                      <p:cBhvr>
                                        <p:cTn dur="2000"/>
                                        <p:tgtEl>
                                          <p:spTgt spid="160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2" st="12"/>
                                            </p:txEl>
                                          </p:spTgt>
                                        </p:tgtEl>
                                        <p:attrNameLst>
                                          <p:attrName>style.visibility</p:attrName>
                                        </p:attrNameLst>
                                      </p:cBhvr>
                                      <p:to>
                                        <p:strVal val="visible"/>
                                      </p:to>
                                    </p:set>
                                    <p:animEffect filter="fade" transition="in">
                                      <p:cBhvr>
                                        <p:cTn dur="2000"/>
                                        <p:tgtEl>
                                          <p:spTgt spid="160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3" st="13"/>
                                            </p:txEl>
                                          </p:spTgt>
                                        </p:tgtEl>
                                        <p:attrNameLst>
                                          <p:attrName>style.visibility</p:attrName>
                                        </p:attrNameLst>
                                      </p:cBhvr>
                                      <p:to>
                                        <p:strVal val="visible"/>
                                      </p:to>
                                    </p:set>
                                    <p:animEffect filter="fade" transition="in">
                                      <p:cBhvr>
                                        <p:cTn dur="2000"/>
                                        <p:tgtEl>
                                          <p:spTgt spid="160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xEl>
                                              <p:pRg end="14" st="14"/>
                                            </p:txEl>
                                          </p:spTgt>
                                        </p:tgtEl>
                                        <p:attrNameLst>
                                          <p:attrName>style.visibility</p:attrName>
                                        </p:attrNameLst>
                                      </p:cBhvr>
                                      <p:to>
                                        <p:strVal val="visible"/>
                                      </p:to>
                                    </p:set>
                                    <p:animEffect filter="fade" transition="in">
                                      <p:cBhvr>
                                        <p:cTn dur="2000"/>
                                        <p:tgtEl>
                                          <p:spTgt spid="160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0"/>
                                        </p:tgtEl>
                                        <p:attrNameLst>
                                          <p:attrName>style.visibility</p:attrName>
                                        </p:attrNameLst>
                                      </p:cBhvr>
                                      <p:to>
                                        <p:strVal val="visible"/>
                                      </p:to>
                                    </p:set>
                                    <p:animEffect filter="fade" transition="in">
                                      <p:cBhvr>
                                        <p:cTn dur="2000"/>
                                        <p:tgtEl>
                                          <p:spTgt spid="1620"/>
                                        </p:tgtEl>
                                      </p:cBhvr>
                                    </p:animEffect>
                                  </p:childTnLst>
                                </p:cTn>
                              </p:par>
                              <p:par>
                                <p:cTn fill="hold" nodeType="with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2000"/>
                                        <p:tgtEl>
                                          <p:spTgt spid="1621"/>
                                        </p:tgtEl>
                                      </p:cBhvr>
                                    </p:animEffect>
                                  </p:childTnLst>
                                </p:cTn>
                              </p:par>
                              <p:par>
                                <p:cTn fill="hold" nodeType="withEffect" presetClass="entr" presetID="10" presetSubtype="0">
                                  <p:stCondLst>
                                    <p:cond delay="0"/>
                                  </p:stCondLst>
                                  <p:childTnLst>
                                    <p:set>
                                      <p:cBhvr>
                                        <p:cTn dur="1" fill="hold">
                                          <p:stCondLst>
                                            <p:cond delay="0"/>
                                          </p:stCondLst>
                                        </p:cTn>
                                        <p:tgtEl>
                                          <p:spTgt spid="1622"/>
                                        </p:tgtEl>
                                        <p:attrNameLst>
                                          <p:attrName>style.visibility</p:attrName>
                                        </p:attrNameLst>
                                      </p:cBhvr>
                                      <p:to>
                                        <p:strVal val="visible"/>
                                      </p:to>
                                    </p:set>
                                    <p:animEffect filter="fade" transition="in">
                                      <p:cBhvr>
                                        <p:cTn dur="2000"/>
                                        <p:tgtEl>
                                          <p:spTgt spid="1622"/>
                                        </p:tgtEl>
                                      </p:cBhvr>
                                    </p:animEffect>
                                  </p:childTnLst>
                                </p:cTn>
                              </p:par>
                              <p:par>
                                <p:cTn fill="hold" nodeType="withEffect" presetClass="entr" presetID="10" presetSubtype="0">
                                  <p:stCondLst>
                                    <p:cond delay="0"/>
                                  </p:stCondLst>
                                  <p:childTnLst>
                                    <p:set>
                                      <p:cBhvr>
                                        <p:cTn dur="1" fill="hold">
                                          <p:stCondLst>
                                            <p:cond delay="0"/>
                                          </p:stCondLst>
                                        </p:cTn>
                                        <p:tgtEl>
                                          <p:spTgt spid="1623"/>
                                        </p:tgtEl>
                                        <p:attrNameLst>
                                          <p:attrName>style.visibility</p:attrName>
                                        </p:attrNameLst>
                                      </p:cBhvr>
                                      <p:to>
                                        <p:strVal val="visible"/>
                                      </p:to>
                                    </p:set>
                                    <p:animEffect filter="fade" transition="in">
                                      <p:cBhvr>
                                        <p:cTn dur="2000"/>
                                        <p:tgtEl>
                                          <p:spTgt spid="1623"/>
                                        </p:tgtEl>
                                      </p:cBhvr>
                                    </p:animEffect>
                                  </p:childTnLst>
                                </p:cTn>
                              </p:par>
                              <p:par>
                                <p:cTn fill="hold" nodeType="withEffect" presetClass="entr" presetID="10" presetSubtype="0">
                                  <p:stCondLst>
                                    <p:cond delay="0"/>
                                  </p:stCondLst>
                                  <p:childTnLst>
                                    <p:set>
                                      <p:cBhvr>
                                        <p:cTn dur="1" fill="hold">
                                          <p:stCondLst>
                                            <p:cond delay="0"/>
                                          </p:stCondLst>
                                        </p:cTn>
                                        <p:tgtEl>
                                          <p:spTgt spid="1626"/>
                                        </p:tgtEl>
                                        <p:attrNameLst>
                                          <p:attrName>style.visibility</p:attrName>
                                        </p:attrNameLst>
                                      </p:cBhvr>
                                      <p:to>
                                        <p:strVal val="visible"/>
                                      </p:to>
                                    </p:set>
                                    <p:animEffect filter="fade" transition="in">
                                      <p:cBhvr>
                                        <p:cTn dur="500"/>
                                        <p:tgtEl>
                                          <p:spTgt spid="16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0" name="Shape 1630"/>
        <p:cNvGrpSpPr/>
        <p:nvPr/>
      </p:nvGrpSpPr>
      <p:grpSpPr>
        <a:xfrm>
          <a:off x="0" y="0"/>
          <a:ext cx="0" cy="0"/>
          <a:chOff x="0" y="0"/>
          <a:chExt cx="0" cy="0"/>
        </a:xfrm>
      </p:grpSpPr>
      <p:sp>
        <p:nvSpPr>
          <p:cNvPr id="1631" name="Google Shape;1631;p84"/>
          <p:cNvSpPr txBox="1"/>
          <p:nvPr>
            <p:ph type="title"/>
          </p:nvPr>
        </p:nvSpPr>
        <p:spPr>
          <a:xfrm>
            <a:off x="457200" y="2286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Chế định pháp luật</a:t>
            </a:r>
            <a:endParaRPr sz="3200">
              <a:solidFill>
                <a:srgbClr val="FF0000"/>
              </a:solidFill>
              <a:latin typeface="Times New Roman"/>
              <a:ea typeface="Times New Roman"/>
              <a:cs typeface="Times New Roman"/>
              <a:sym typeface="Times New Roman"/>
            </a:endParaRPr>
          </a:p>
        </p:txBody>
      </p:sp>
      <p:sp>
        <p:nvSpPr>
          <p:cNvPr id="1632" name="Google Shape;1632;p84"/>
          <p:cNvSpPr txBox="1"/>
          <p:nvPr>
            <p:ph idx="1" type="body"/>
          </p:nvPr>
        </p:nvSpPr>
        <p:spPr>
          <a:xfrm>
            <a:off x="457200" y="14478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lang="en-US" sz="2400">
                <a:latin typeface="Times New Roman"/>
                <a:ea typeface="Times New Roman"/>
                <a:cs typeface="Times New Roman"/>
                <a:sym typeface="Times New Roman"/>
              </a:rPr>
              <a:t>Là hệ thống các quy phạm pháp luật điều chỉnh các quan hệ xã hội cùng loại có mối liên hệ mật thiết với nhau trong cùng một ngành luật.</a:t>
            </a:r>
            <a:endParaRPr/>
          </a:p>
          <a:p>
            <a:pPr indent="-274320" lvl="0" marL="274320" rtl="0" algn="l">
              <a:spcBef>
                <a:spcPts val="480"/>
              </a:spcBef>
              <a:spcAft>
                <a:spcPts val="0"/>
              </a:spcAft>
              <a:buSzPts val="2280"/>
              <a:buChar char="⚫"/>
            </a:pPr>
            <a:r>
              <a:rPr lang="en-US" sz="2400">
                <a:latin typeface="Times New Roman"/>
                <a:ea typeface="Times New Roman"/>
                <a:cs typeface="Times New Roman"/>
                <a:sym typeface="Times New Roman"/>
              </a:rPr>
              <a:t>Ví dụ: Luật hình sự có các chế định như hình phạt, các tội xâm phạm an ninh quốc gia…</a:t>
            </a:r>
            <a:endParaRPr sz="2400">
              <a:latin typeface="Times New Roman"/>
              <a:ea typeface="Times New Roman"/>
              <a:cs typeface="Times New Roman"/>
              <a:sym typeface="Times New Roman"/>
            </a:endParaRPr>
          </a:p>
        </p:txBody>
      </p:sp>
      <p:pic>
        <p:nvPicPr>
          <p:cNvPr descr="E:\Bai giang\PL DC\ImageHandlerLarge.ashx.jpg" id="1633" name="Google Shape;1633;p84"/>
          <p:cNvPicPr preferRelativeResize="0"/>
          <p:nvPr/>
        </p:nvPicPr>
        <p:blipFill rotWithShape="1">
          <a:blip r:embed="rId3">
            <a:alphaModFix/>
          </a:blip>
          <a:srcRect b="0" l="0" r="0" t="0"/>
          <a:stretch/>
        </p:blipFill>
        <p:spPr>
          <a:xfrm>
            <a:off x="2362200" y="3810000"/>
            <a:ext cx="3505200" cy="2846798"/>
          </a:xfrm>
          <a:prstGeom prst="rect">
            <a:avLst/>
          </a:prstGeom>
          <a:noFill/>
          <a:ln>
            <a:noFill/>
          </a:ln>
        </p:spPr>
      </p:pic>
      <p:pic>
        <p:nvPicPr>
          <p:cNvPr descr="E:\Bai giang\PL DC\anle3.jpg" id="1634" name="Google Shape;1634;p84"/>
          <p:cNvPicPr preferRelativeResize="0"/>
          <p:nvPr/>
        </p:nvPicPr>
        <p:blipFill rotWithShape="1">
          <a:blip r:embed="rId4">
            <a:alphaModFix/>
          </a:blip>
          <a:srcRect b="0" l="0" r="0" t="0"/>
          <a:stretch/>
        </p:blipFill>
        <p:spPr>
          <a:xfrm>
            <a:off x="6096000" y="3657600"/>
            <a:ext cx="2571750" cy="1771650"/>
          </a:xfrm>
          <a:prstGeom prst="rect">
            <a:avLst/>
          </a:prstGeom>
          <a:noFill/>
          <a:ln>
            <a:noFill/>
          </a:ln>
        </p:spPr>
      </p:pic>
      <p:sp>
        <p:nvSpPr>
          <p:cNvPr id="1635" name="Google Shape;1635;p84"/>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636" name="Google Shape;1636;p8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1"/>
                                        </p:tgtEl>
                                        <p:attrNameLst>
                                          <p:attrName>style.visibility</p:attrName>
                                        </p:attrNameLst>
                                      </p:cBhvr>
                                      <p:to>
                                        <p:strVal val="visible"/>
                                      </p:to>
                                    </p:set>
                                    <p:animEffect filter="fade" transition="in">
                                      <p:cBhvr>
                                        <p:cTn dur="500"/>
                                        <p:tgtEl>
                                          <p:spTgt spid="16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2">
                                            <p:txEl>
                                              <p:pRg end="0" st="0"/>
                                            </p:txEl>
                                          </p:spTgt>
                                        </p:tgtEl>
                                        <p:attrNameLst>
                                          <p:attrName>style.visibility</p:attrName>
                                        </p:attrNameLst>
                                      </p:cBhvr>
                                      <p:to>
                                        <p:strVal val="visible"/>
                                      </p:to>
                                    </p:set>
                                    <p:animEffect filter="fade" transition="in">
                                      <p:cBhvr>
                                        <p:cTn dur="500"/>
                                        <p:tgtEl>
                                          <p:spTgt spid="16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2">
                                            <p:txEl>
                                              <p:pRg end="1" st="1"/>
                                            </p:txEl>
                                          </p:spTgt>
                                        </p:tgtEl>
                                        <p:attrNameLst>
                                          <p:attrName>style.visibility</p:attrName>
                                        </p:attrNameLst>
                                      </p:cBhvr>
                                      <p:to>
                                        <p:strVal val="visible"/>
                                      </p:to>
                                    </p:set>
                                    <p:animEffect filter="fade" transition="in">
                                      <p:cBhvr>
                                        <p:cTn dur="500"/>
                                        <p:tgtEl>
                                          <p:spTgt spid="1632">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p85"/>
          <p:cNvSpPr txBox="1"/>
          <p:nvPr/>
        </p:nvSpPr>
        <p:spPr>
          <a:xfrm>
            <a:off x="1371600" y="9144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 Quy phạm pháp luật</a:t>
            </a:r>
            <a:endParaRPr sz="3200">
              <a:solidFill>
                <a:srgbClr val="0070C0"/>
              </a:solidFill>
              <a:latin typeface="Arial"/>
              <a:ea typeface="Arial"/>
              <a:cs typeface="Arial"/>
              <a:sym typeface="Arial"/>
            </a:endParaRPr>
          </a:p>
        </p:txBody>
      </p:sp>
      <p:sp>
        <p:nvSpPr>
          <p:cNvPr id="1642" name="Google Shape;1642;p85"/>
          <p:cNvSpPr/>
          <p:nvPr/>
        </p:nvSpPr>
        <p:spPr>
          <a:xfrm>
            <a:off x="1386602" y="1526990"/>
            <a:ext cx="7174466" cy="4198501"/>
          </a:xfrm>
          <a:prstGeom prst="horizontalScroll">
            <a:avLst>
              <a:gd fmla="val 12500" name="adj"/>
            </a:avLst>
          </a:prstGeom>
          <a:blipFill rotWithShape="1">
            <a:blip r:embed="rId3">
              <a:alphaModFix/>
            </a:blip>
            <a:tile algn="tl" flip="none" tx="0" sx="100000" ty="0" sy="100000"/>
          </a:blipFill>
          <a:ln cap="flat" cmpd="sng" w="25400">
            <a:solidFill>
              <a:srgbClr val="0A5190"/>
            </a:solidFill>
            <a:prstDash val="solid"/>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43" name="Google Shape;1643;p85"/>
          <p:cNvSpPr/>
          <p:nvPr/>
        </p:nvSpPr>
        <p:spPr>
          <a:xfrm>
            <a:off x="1912938" y="2286000"/>
            <a:ext cx="6538912"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Arial"/>
                <a:ea typeface="Arial"/>
                <a:cs typeface="Arial"/>
                <a:sym typeface="Arial"/>
              </a:rPr>
              <a:t>Quy phạm pháp luật là những </a:t>
            </a:r>
            <a:r>
              <a:rPr i="1" lang="en-US" sz="2400" u="sng">
                <a:solidFill>
                  <a:srgbClr val="C00000"/>
                </a:solidFill>
                <a:latin typeface="Arial"/>
                <a:ea typeface="Arial"/>
                <a:cs typeface="Arial"/>
                <a:sym typeface="Arial"/>
              </a:rPr>
              <a:t>quy tắc xử sự có tính chất khuôn mẫu, bắt buộc mọi chủ thể phải tuân thủ</a:t>
            </a:r>
            <a:r>
              <a:rPr lang="en-US" sz="2400">
                <a:solidFill>
                  <a:srgbClr val="C00000"/>
                </a:solidFill>
                <a:latin typeface="Arial"/>
                <a:ea typeface="Arial"/>
                <a:cs typeface="Arial"/>
                <a:sym typeface="Arial"/>
              </a:rPr>
              <a:t>, được biểu thị bằng hình thức nhất định, do nhà nước ban hành hoặc thưà nhận, được nhà nước bảo vệ bằng các biện pháp cưỡng chế của nhà nước nhằm mục đích điều chỉnh các quan hệ xã hội </a:t>
            </a:r>
            <a:endParaRPr sz="2400">
              <a:solidFill>
                <a:srgbClr val="C00000"/>
              </a:solidFill>
              <a:latin typeface="Arial"/>
              <a:ea typeface="Arial"/>
              <a:cs typeface="Arial"/>
              <a:sym typeface="Arial"/>
            </a:endParaRPr>
          </a:p>
        </p:txBody>
      </p:sp>
      <p:sp>
        <p:nvSpPr>
          <p:cNvPr id="1644" name="Google Shape;1644;p85"/>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645" name="Google Shape;1645;p8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3">
                                            <p:txEl>
                                              <p:pRg end="0" st="0"/>
                                            </p:txEl>
                                          </p:spTgt>
                                        </p:tgtEl>
                                        <p:attrNameLst>
                                          <p:attrName>style.visibility</p:attrName>
                                        </p:attrNameLst>
                                      </p:cBhvr>
                                      <p:to>
                                        <p:strVal val="visible"/>
                                      </p:to>
                                    </p:set>
                                    <p:animEffect filter="fade" transition="in">
                                      <p:cBhvr>
                                        <p:cTn dur="1"/>
                                        <p:tgtEl>
                                          <p:spTgt spid="16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9" name="Shape 1649"/>
        <p:cNvGrpSpPr/>
        <p:nvPr/>
      </p:nvGrpSpPr>
      <p:grpSpPr>
        <a:xfrm>
          <a:off x="0" y="0"/>
          <a:ext cx="0" cy="0"/>
          <a:chOff x="0" y="0"/>
          <a:chExt cx="0" cy="0"/>
        </a:xfrm>
      </p:grpSpPr>
      <p:sp>
        <p:nvSpPr>
          <p:cNvPr id="1650" name="Google Shape;1650;p86"/>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 Đặc điểm quy phạm pháp luật</a:t>
            </a:r>
            <a:endParaRPr sz="3200">
              <a:solidFill>
                <a:srgbClr val="0070C0"/>
              </a:solidFill>
              <a:latin typeface="Arial"/>
              <a:ea typeface="Arial"/>
              <a:cs typeface="Arial"/>
              <a:sym typeface="Arial"/>
            </a:endParaRPr>
          </a:p>
        </p:txBody>
      </p:sp>
      <p:sp>
        <p:nvSpPr>
          <p:cNvPr id="1651" name="Google Shape;1651;p86"/>
          <p:cNvSpPr/>
          <p:nvPr/>
        </p:nvSpPr>
        <p:spPr>
          <a:xfrm>
            <a:off x="533400" y="2006600"/>
            <a:ext cx="8153400" cy="4622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Thể hiện ý chí của nhà nước, là mệnh lệnh của nhà nước</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2</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Có tính phổ biến, bắt buộc chung</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3</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 Được thể hiện dưới những hình thức nhất định, đảm bảo tính xác định chặt chẽ về mặt hình thức</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4</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Được nhà nước ban hành hoặc thừa nhận và bảo đảm thực hiện</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1652" name="Google Shape;1652;p86"/>
          <p:cNvSpPr/>
          <p:nvPr/>
        </p:nvSpPr>
        <p:spPr>
          <a:xfrm>
            <a:off x="2286000" y="1280616"/>
            <a:ext cx="884832" cy="379214"/>
          </a:xfrm>
          <a:prstGeom prst="rect">
            <a:avLst/>
          </a:prstGeom>
          <a:noFill/>
          <a:ln>
            <a:noFill/>
          </a:ln>
        </p:spPr>
        <p:txBody>
          <a:bodyPr anchorCtr="0" anchor="ctr" bIns="15225" lIns="15225" spcFirstLastPara="1" rIns="15225" wrap="square" tIns="15225">
            <a:noAutofit/>
          </a:bodyPr>
          <a:lstStyle/>
          <a:p>
            <a:pPr indent="0" lvl="0" marL="0" marR="0" rtl="0" algn="ctr">
              <a:lnSpc>
                <a:spcPct val="90000"/>
              </a:lnSpc>
              <a:spcBef>
                <a:spcPts val="0"/>
              </a:spcBef>
              <a:spcAft>
                <a:spcPts val="0"/>
              </a:spcAft>
              <a:buNone/>
            </a:pPr>
            <a:r>
              <a:rPr lang="en-US" sz="2400">
                <a:solidFill>
                  <a:schemeClr val="lt1"/>
                </a:solidFill>
                <a:latin typeface="Arial"/>
                <a:ea typeface="Arial"/>
                <a:cs typeface="Arial"/>
                <a:sym typeface="Arial"/>
              </a:rPr>
              <a:t>1</a:t>
            </a:r>
            <a:endParaRPr sz="2400">
              <a:solidFill>
                <a:schemeClr val="lt1"/>
              </a:solidFill>
              <a:latin typeface="Arial"/>
              <a:ea typeface="Arial"/>
              <a:cs typeface="Arial"/>
              <a:sym typeface="Arial"/>
            </a:endParaRPr>
          </a:p>
        </p:txBody>
      </p:sp>
      <p:sp>
        <p:nvSpPr>
          <p:cNvPr id="1653" name="Google Shape;1653;p86"/>
          <p:cNvSpPr/>
          <p:nvPr/>
        </p:nvSpPr>
        <p:spPr>
          <a:xfrm>
            <a:off x="1295400" y="914400"/>
            <a:ext cx="7543800" cy="838200"/>
          </a:xfrm>
          <a:prstGeom prst="roundRect">
            <a:avLst>
              <a:gd fmla="val 16667"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152400" lvl="0" marL="0" marR="0" rtl="0" algn="ctr">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 “tế bào” của pháp luật</a:t>
            </a:r>
            <a:endParaRPr sz="2400">
              <a:solidFill>
                <a:schemeClr val="dk1"/>
              </a:solidFill>
              <a:latin typeface="Times New Roman"/>
              <a:ea typeface="Times New Roman"/>
              <a:cs typeface="Times New Roman"/>
              <a:sym typeface="Times New Roman"/>
            </a:endParaRPr>
          </a:p>
          <a:p>
            <a:pPr indent="-152400" lvl="0" marL="0" marR="0" rtl="0" algn="ctr">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 Một dạng quan hệ xã hội</a:t>
            </a:r>
            <a:endParaRPr sz="2400">
              <a:solidFill>
                <a:schemeClr val="dk1"/>
              </a:solidFill>
              <a:latin typeface="Times New Roman"/>
              <a:ea typeface="Times New Roman"/>
              <a:cs typeface="Times New Roman"/>
              <a:sym typeface="Times New Roman"/>
            </a:endParaRPr>
          </a:p>
        </p:txBody>
      </p:sp>
      <p:sp>
        <p:nvSpPr>
          <p:cNvPr id="1654" name="Google Shape;1654;p86"/>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655" name="Google Shape;1655;p8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0"/>
                                        </p:tgtEl>
                                        <p:attrNameLst>
                                          <p:attrName>style.visibility</p:attrName>
                                        </p:attrNameLst>
                                      </p:cBhvr>
                                      <p:to>
                                        <p:strVal val="visible"/>
                                      </p:to>
                                    </p:set>
                                    <p:animEffect filter="fade" transition="in">
                                      <p:cBhvr>
                                        <p:cTn dur="500"/>
                                        <p:tgtEl>
                                          <p:spTgt spid="16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3"/>
                                        </p:tgtEl>
                                        <p:attrNameLst>
                                          <p:attrName>style.visibility</p:attrName>
                                        </p:attrNameLst>
                                      </p:cBhvr>
                                      <p:to>
                                        <p:strVal val="visible"/>
                                      </p:to>
                                    </p:set>
                                    <p:animEffect filter="fade" transition="in">
                                      <p:cBhvr>
                                        <p:cTn dur="2000"/>
                                        <p:tgtEl>
                                          <p:spTgt spid="16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87"/>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Cấu trúc của quy phạm pháp luật</a:t>
            </a:r>
            <a:endParaRPr sz="3200">
              <a:solidFill>
                <a:srgbClr val="0070C0"/>
              </a:solidFill>
              <a:latin typeface="Arial"/>
              <a:ea typeface="Arial"/>
              <a:cs typeface="Arial"/>
              <a:sym typeface="Arial"/>
            </a:endParaRPr>
          </a:p>
        </p:txBody>
      </p:sp>
      <p:sp>
        <p:nvSpPr>
          <p:cNvPr id="1661" name="Google Shape;1661;p87"/>
          <p:cNvSpPr/>
          <p:nvPr/>
        </p:nvSpPr>
        <p:spPr>
          <a:xfrm>
            <a:off x="914400" y="1066800"/>
            <a:ext cx="7543800" cy="5334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77800" lvl="1" marL="114300" marR="0" rtl="0" algn="l">
              <a:lnSpc>
                <a:spcPct val="75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Quy định</a:t>
            </a:r>
            <a:endParaRPr b="0" i="0" sz="2800" u="none" cap="none" strike="noStrike">
              <a:solidFill>
                <a:schemeClr val="dk1"/>
              </a:solidFill>
              <a:latin typeface="Times New Roman"/>
              <a:ea typeface="Times New Roman"/>
              <a:cs typeface="Times New Roman"/>
              <a:sym typeface="Times New Roman"/>
            </a:endParaRPr>
          </a:p>
          <a:p>
            <a:pPr indent="-177800" lvl="1" marL="114300" marR="0" rtl="0" algn="l">
              <a:lnSpc>
                <a:spcPct val="75000"/>
              </a:lnSpc>
              <a:spcBef>
                <a:spcPts val="28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Giả định</a:t>
            </a:r>
            <a:endParaRPr b="0" i="0" sz="2800" u="none" cap="none" strike="noStrike">
              <a:solidFill>
                <a:schemeClr val="dk1"/>
              </a:solidFill>
              <a:latin typeface="Times New Roman"/>
              <a:ea typeface="Times New Roman"/>
              <a:cs typeface="Times New Roman"/>
              <a:sym typeface="Times New Roman"/>
            </a:endParaRPr>
          </a:p>
          <a:p>
            <a:pPr indent="-177800" lvl="1" marL="114300" marR="0" rtl="0" algn="l">
              <a:lnSpc>
                <a:spcPct val="75000"/>
              </a:lnSpc>
              <a:spcBef>
                <a:spcPts val="28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Chế tài</a:t>
            </a:r>
            <a:endParaRPr b="0" i="0" sz="2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2" name="Google Shape;1662;p87"/>
          <p:cNvSpPr/>
          <p:nvPr/>
        </p:nvSpPr>
        <p:spPr>
          <a:xfrm>
            <a:off x="1600200" y="5486400"/>
            <a:ext cx="6858000" cy="6858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Công thức chung: “Nếu … thì … mà khác thì sẽ…”</a:t>
            </a:r>
            <a:endParaRPr sz="2400">
              <a:solidFill>
                <a:schemeClr val="lt1"/>
              </a:solidFill>
              <a:latin typeface="Times New Roman"/>
              <a:ea typeface="Times New Roman"/>
              <a:cs typeface="Times New Roman"/>
              <a:sym typeface="Times New Roman"/>
            </a:endParaRPr>
          </a:p>
        </p:txBody>
      </p:sp>
      <p:sp>
        <p:nvSpPr>
          <p:cNvPr id="1663" name="Google Shape;1663;p8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664" name="Google Shape;1664;p8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0"/>
                                        </p:tgtEl>
                                        <p:attrNameLst>
                                          <p:attrName>style.visibility</p:attrName>
                                        </p:attrNameLst>
                                      </p:cBhvr>
                                      <p:to>
                                        <p:strVal val="visible"/>
                                      </p:to>
                                    </p:set>
                                    <p:anim calcmode="lin" valueType="num">
                                      <p:cBhvr additive="base">
                                        <p:cTn dur="500"/>
                                        <p:tgtEl>
                                          <p:spTgt spid="16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62"/>
                                        </p:tgtEl>
                                        <p:attrNameLst>
                                          <p:attrName>style.visibility</p:attrName>
                                        </p:attrNameLst>
                                      </p:cBhvr>
                                      <p:to>
                                        <p:strVal val="visible"/>
                                      </p:to>
                                    </p:set>
                                    <p:anim calcmode="lin" valueType="num">
                                      <p:cBhvr additive="base">
                                        <p:cTn dur="500"/>
                                        <p:tgtEl>
                                          <p:spTgt spid="166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88"/>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Times New Roman"/>
                <a:ea typeface="Times New Roman"/>
                <a:cs typeface="Times New Roman"/>
                <a:sym typeface="Times New Roman"/>
              </a:rPr>
              <a:t>Cấu trúc quy phạm pháp luật</a:t>
            </a:r>
            <a:endParaRPr sz="3200">
              <a:solidFill>
                <a:srgbClr val="0070C0"/>
              </a:solidFill>
              <a:latin typeface="Times New Roman"/>
              <a:ea typeface="Times New Roman"/>
              <a:cs typeface="Times New Roman"/>
              <a:sym typeface="Times New Roman"/>
            </a:endParaRPr>
          </a:p>
        </p:txBody>
      </p:sp>
      <p:grpSp>
        <p:nvGrpSpPr>
          <p:cNvPr id="1670" name="Google Shape;1670;p88"/>
          <p:cNvGrpSpPr/>
          <p:nvPr/>
        </p:nvGrpSpPr>
        <p:grpSpPr>
          <a:xfrm>
            <a:off x="2590800" y="4692723"/>
            <a:ext cx="6248400" cy="1860478"/>
            <a:chOff x="2373989" y="3662731"/>
            <a:chExt cx="6604000" cy="2270816"/>
          </a:xfrm>
        </p:grpSpPr>
        <p:sp>
          <p:nvSpPr>
            <p:cNvPr id="1671" name="Google Shape;1671;p88"/>
            <p:cNvSpPr/>
            <p:nvPr/>
          </p:nvSpPr>
          <p:spPr>
            <a:xfrm>
              <a:off x="2373989" y="3662731"/>
              <a:ext cx="6604000" cy="2270816"/>
            </a:xfrm>
            <a:prstGeom prst="roundRect">
              <a:avLst>
                <a:gd fmla="val 11505" name="adj"/>
              </a:avLst>
            </a:prstGeom>
            <a:gradFill>
              <a:gsLst>
                <a:gs pos="0">
                  <a:srgbClr val="88EAC1"/>
                </a:gs>
                <a:gs pos="43000">
                  <a:srgbClr val="B7F7DB"/>
                </a:gs>
                <a:gs pos="93000">
                  <a:srgbClr val="E9FCF3"/>
                </a:gs>
                <a:gs pos="100000">
                  <a:srgbClr val="F6FFFB"/>
                </a:gs>
              </a:gsLst>
              <a:path path="circle">
                <a:fillToRect b="50%" l="50%" r="50%" t="50%"/>
              </a:path>
              <a:tileRect/>
            </a:gradFill>
            <a:ln cap="flat" cmpd="sng" w="9525">
              <a:solidFill>
                <a:srgbClr val="089971"/>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1672" name="Google Shape;1672;p88"/>
            <p:cNvSpPr txBox="1"/>
            <p:nvPr/>
          </p:nvSpPr>
          <p:spPr>
            <a:xfrm>
              <a:off x="3018282" y="3701393"/>
              <a:ext cx="5888038" cy="22163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chemeClr val="dk1"/>
                  </a:solidFill>
                  <a:latin typeface="Times New Roman"/>
                  <a:ea typeface="Times New Roman"/>
                  <a:cs typeface="Times New Roman"/>
                  <a:sym typeface="Times New Roman"/>
                </a:rPr>
                <a:t>Là hậu quả bất lợi mà chủ thể phải gánh chịu khi vi phạm pháp luật</a:t>
              </a:r>
              <a:endParaRPr i="1" sz="16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rPr i="1" lang="en-US" sz="1600">
                  <a:solidFill>
                    <a:schemeClr val="dk1"/>
                  </a:solidFill>
                  <a:latin typeface="Times New Roman"/>
                  <a:ea typeface="Times New Roman"/>
                  <a:cs typeface="Times New Roman"/>
                  <a:sym typeface="Times New Roman"/>
                </a:rPr>
                <a:t>Nêu những biện pháp tác động mà nhà nước dự kiến áp dụng đối với chủ thể không thực hiện đúng phần quy định</a:t>
              </a:r>
              <a:endParaRPr i="1" sz="16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rPr i="1" lang="en-US" sz="1600">
                  <a:solidFill>
                    <a:schemeClr val="dk1"/>
                  </a:solidFill>
                  <a:latin typeface="Times New Roman"/>
                  <a:ea typeface="Times New Roman"/>
                  <a:cs typeface="Times New Roman"/>
                  <a:sym typeface="Times New Roman"/>
                </a:rPr>
                <a:t>Phân loại: chế tài hình phạt, khôi phục, phủ định pháp luật, tuyệt đối, tương đối, lựa chọn, hình sự, dân sự,…</a:t>
              </a:r>
              <a:endParaRPr i="1" sz="1600">
                <a:solidFill>
                  <a:schemeClr val="dk1"/>
                </a:solidFill>
                <a:latin typeface="Times New Roman"/>
                <a:ea typeface="Times New Roman"/>
                <a:cs typeface="Times New Roman"/>
                <a:sym typeface="Times New Roman"/>
              </a:endParaRPr>
            </a:p>
          </p:txBody>
        </p:sp>
        <p:sp>
          <p:nvSpPr>
            <p:cNvPr id="1673" name="Google Shape;1673;p88"/>
            <p:cNvSpPr/>
            <p:nvPr/>
          </p:nvSpPr>
          <p:spPr>
            <a:xfrm>
              <a:off x="2615599" y="4724464"/>
              <a:ext cx="482600" cy="595019"/>
            </a:xfrm>
            <a:prstGeom prst="rightArrow">
              <a:avLst>
                <a:gd fmla="val 50000" name="adj1"/>
                <a:gd fmla="val 52778" name="adj2"/>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grpSp>
      <p:grpSp>
        <p:nvGrpSpPr>
          <p:cNvPr id="1674" name="Google Shape;1674;p88"/>
          <p:cNvGrpSpPr/>
          <p:nvPr/>
        </p:nvGrpSpPr>
        <p:grpSpPr>
          <a:xfrm>
            <a:off x="609600" y="4495805"/>
            <a:ext cx="2133595" cy="2362195"/>
            <a:chOff x="-2614608" y="2894215"/>
            <a:chExt cx="2291571" cy="2168169"/>
          </a:xfrm>
        </p:grpSpPr>
        <p:grpSp>
          <p:nvGrpSpPr>
            <p:cNvPr id="1675" name="Google Shape;1675;p88"/>
            <p:cNvGrpSpPr/>
            <p:nvPr/>
          </p:nvGrpSpPr>
          <p:grpSpPr>
            <a:xfrm>
              <a:off x="-2614608" y="2894215"/>
              <a:ext cx="2291571" cy="2168169"/>
              <a:chOff x="-967" y="271"/>
              <a:chExt cx="1159" cy="1565"/>
            </a:xfrm>
          </p:grpSpPr>
          <p:sp>
            <p:nvSpPr>
              <p:cNvPr id="1676" name="Google Shape;1676;p88"/>
              <p:cNvSpPr/>
              <p:nvPr/>
            </p:nvSpPr>
            <p:spPr>
              <a:xfrm>
                <a:off x="-967" y="1474"/>
                <a:ext cx="1159" cy="362"/>
              </a:xfrm>
              <a:prstGeom prst="ellipse">
                <a:avLst/>
              </a:prstGeom>
              <a:gradFill>
                <a:gsLst>
                  <a:gs pos="0">
                    <a:srgbClr val="00AF6E"/>
                  </a:gs>
                  <a:gs pos="68000">
                    <a:srgbClr val="60DFAE"/>
                  </a:gs>
                  <a:gs pos="100000">
                    <a:srgbClr val="AEF3D5"/>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1677" name="Google Shape;1677;p88"/>
              <p:cNvSpPr/>
              <p:nvPr/>
            </p:nvSpPr>
            <p:spPr>
              <a:xfrm>
                <a:off x="-967" y="271"/>
                <a:ext cx="1159" cy="1539"/>
              </a:xfrm>
              <a:prstGeom prst="can">
                <a:avLst>
                  <a:gd fmla="val 33197" name="adj"/>
                </a:avLst>
              </a:prstGeom>
              <a:gradFill>
                <a:gsLst>
                  <a:gs pos="0">
                    <a:srgbClr val="00AF6E"/>
                  </a:gs>
                  <a:gs pos="68000">
                    <a:srgbClr val="60DFAE"/>
                  </a:gs>
                  <a:gs pos="100000">
                    <a:srgbClr val="AEF3D5"/>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grpSp>
        <p:sp>
          <p:nvSpPr>
            <p:cNvPr id="1678" name="Google Shape;1678;p88"/>
            <p:cNvSpPr txBox="1"/>
            <p:nvPr/>
          </p:nvSpPr>
          <p:spPr>
            <a:xfrm>
              <a:off x="-2462213" y="3960979"/>
              <a:ext cx="2128838" cy="649742"/>
            </a:xfrm>
            <a:prstGeom prst="rect">
              <a:avLst/>
            </a:prstGeom>
            <a:noFill/>
            <a:ln>
              <a:noFill/>
            </a:ln>
            <a:effectLst>
              <a:outerShdw rotWithShape="0" algn="ctr" dir="2700000" dist="17961">
                <a:srgbClr val="003300">
                  <a:alpha val="49803"/>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CHẾ TÀI</a:t>
              </a:r>
              <a:endParaRPr/>
            </a:p>
            <a:p>
              <a:pPr indent="0" lvl="0" marL="0" marR="0" rtl="0" algn="ctr">
                <a:spcBef>
                  <a:spcPts val="800"/>
                </a:spcBef>
                <a:spcAft>
                  <a:spcPts val="0"/>
                </a:spcAft>
                <a:buNone/>
              </a:pPr>
              <a:r>
                <a:rPr b="1" lang="en-US" sz="1600">
                  <a:solidFill>
                    <a:srgbClr val="FFFFFF"/>
                  </a:solidFill>
                  <a:latin typeface="Times New Roman"/>
                  <a:ea typeface="Times New Roman"/>
                  <a:cs typeface="Times New Roman"/>
                  <a:sym typeface="Times New Roman"/>
                </a:rPr>
                <a:t>(Hậu quả bất lợi?)</a:t>
              </a:r>
              <a:endParaRPr b="1" sz="1600">
                <a:solidFill>
                  <a:srgbClr val="FFFFFF"/>
                </a:solidFill>
                <a:latin typeface="Times New Roman"/>
                <a:ea typeface="Times New Roman"/>
                <a:cs typeface="Times New Roman"/>
                <a:sym typeface="Times New Roman"/>
              </a:endParaRPr>
            </a:p>
          </p:txBody>
        </p:sp>
      </p:grpSp>
      <p:grpSp>
        <p:nvGrpSpPr>
          <p:cNvPr id="1679" name="Google Shape;1679;p88"/>
          <p:cNvGrpSpPr/>
          <p:nvPr/>
        </p:nvGrpSpPr>
        <p:grpSpPr>
          <a:xfrm>
            <a:off x="2552700" y="2743200"/>
            <a:ext cx="6362700" cy="1868770"/>
            <a:chOff x="2413000" y="1447800"/>
            <a:chExt cx="6591300" cy="1606550"/>
          </a:xfrm>
        </p:grpSpPr>
        <p:sp>
          <p:nvSpPr>
            <p:cNvPr id="1680" name="Google Shape;1680;p88"/>
            <p:cNvSpPr/>
            <p:nvPr/>
          </p:nvSpPr>
          <p:spPr>
            <a:xfrm>
              <a:off x="2413000" y="1447800"/>
              <a:ext cx="6591300" cy="1606550"/>
            </a:xfrm>
            <a:prstGeom prst="roundRect">
              <a:avLst>
                <a:gd fmla="val 11505" name="adj"/>
              </a:avLst>
            </a:prstGeom>
            <a:gradFill>
              <a:gsLst>
                <a:gs pos="0">
                  <a:srgbClr val="89A6E3"/>
                </a:gs>
                <a:gs pos="43000">
                  <a:srgbClr val="B8CAF3"/>
                </a:gs>
                <a:gs pos="93000">
                  <a:srgbClr val="E9EEFA"/>
                </a:gs>
                <a:gs pos="100000">
                  <a:srgbClr val="F6F8FF"/>
                </a:gs>
              </a:gsLst>
              <a:path path="circle">
                <a:fillToRect b="50%" l="50%" r="50%" t="50%"/>
              </a:path>
              <a:tileRect/>
            </a:gradFill>
            <a:ln cap="flat" cmpd="sng" w="9525">
              <a:solidFill>
                <a:srgbClr val="075192"/>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1681" name="Google Shape;1681;p88"/>
            <p:cNvSpPr txBox="1"/>
            <p:nvPr/>
          </p:nvSpPr>
          <p:spPr>
            <a:xfrm>
              <a:off x="2932315" y="1526811"/>
              <a:ext cx="5843385" cy="11377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chemeClr val="dk1"/>
                  </a:solidFill>
                  <a:latin typeface="Times New Roman"/>
                  <a:ea typeface="Times New Roman"/>
                  <a:cs typeface="Times New Roman"/>
                  <a:sym typeface="Times New Roman"/>
                </a:rPr>
                <a:t>Là yếu tố trung tâm của QPPL</a:t>
              </a:r>
              <a:endParaRPr/>
            </a:p>
            <a:p>
              <a:pPr indent="0" lvl="0" marL="0" marR="0" rtl="0" algn="l">
                <a:spcBef>
                  <a:spcPts val="800"/>
                </a:spcBef>
                <a:spcAft>
                  <a:spcPts val="0"/>
                </a:spcAft>
                <a:buNone/>
              </a:pPr>
              <a:r>
                <a:rPr i="1" lang="en-US" sz="1600">
                  <a:solidFill>
                    <a:schemeClr val="dk1"/>
                  </a:solidFill>
                  <a:latin typeface="Times New Roman"/>
                  <a:ea typeface="Times New Roman"/>
                  <a:cs typeface="Times New Roman"/>
                  <a:sym typeface="Times New Roman"/>
                </a:rPr>
                <a:t>Nêu quy tắc xử sự mà chủ thể phải tuân theo</a:t>
              </a:r>
              <a:endParaRPr i="1" sz="1600">
                <a:solidFill>
                  <a:schemeClr val="dk1"/>
                </a:solidFill>
                <a:latin typeface="Times New Roman"/>
                <a:ea typeface="Times New Roman"/>
                <a:cs typeface="Times New Roman"/>
                <a:sym typeface="Times New Roman"/>
              </a:endParaRPr>
            </a:p>
            <a:p>
              <a:pPr indent="0" lvl="0" marL="0" marR="0" rtl="0" algn="l">
                <a:spcBef>
                  <a:spcPts val="800"/>
                </a:spcBef>
                <a:spcAft>
                  <a:spcPts val="0"/>
                </a:spcAft>
                <a:buNone/>
              </a:pPr>
              <a:r>
                <a:rPr i="1" lang="en-US" sz="1600">
                  <a:solidFill>
                    <a:schemeClr val="dk1"/>
                  </a:solidFill>
                  <a:latin typeface="Times New Roman"/>
                  <a:ea typeface="Times New Roman"/>
                  <a:cs typeface="Times New Roman"/>
                  <a:sym typeface="Times New Roman"/>
                </a:rPr>
                <a:t>Phân loại: quy định cấm, quy định bắt buộc, quy định cho phép – giao quyền, quy định tùy nghi</a:t>
              </a:r>
              <a:endParaRPr i="1" sz="1600">
                <a:solidFill>
                  <a:schemeClr val="dk1"/>
                </a:solidFill>
                <a:latin typeface="Times New Roman"/>
                <a:ea typeface="Times New Roman"/>
                <a:cs typeface="Times New Roman"/>
                <a:sym typeface="Times New Roman"/>
              </a:endParaRPr>
            </a:p>
          </p:txBody>
        </p:sp>
        <p:sp>
          <p:nvSpPr>
            <p:cNvPr id="1682" name="Google Shape;1682;p88"/>
            <p:cNvSpPr/>
            <p:nvPr/>
          </p:nvSpPr>
          <p:spPr>
            <a:xfrm>
              <a:off x="2529290" y="1953565"/>
              <a:ext cx="482600" cy="595019"/>
            </a:xfrm>
            <a:prstGeom prst="rightArrow">
              <a:avLst>
                <a:gd fmla="val 50000" name="adj1"/>
                <a:gd fmla="val 52778" name="adj2"/>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grpSp>
      <p:grpSp>
        <p:nvGrpSpPr>
          <p:cNvPr id="1683" name="Google Shape;1683;p88"/>
          <p:cNvGrpSpPr/>
          <p:nvPr/>
        </p:nvGrpSpPr>
        <p:grpSpPr>
          <a:xfrm>
            <a:off x="533400" y="2590800"/>
            <a:ext cx="2286000" cy="2362200"/>
            <a:chOff x="228600" y="1143000"/>
            <a:chExt cx="2384499" cy="2520063"/>
          </a:xfrm>
        </p:grpSpPr>
        <p:grpSp>
          <p:nvGrpSpPr>
            <p:cNvPr id="1684" name="Google Shape;1684;p88"/>
            <p:cNvGrpSpPr/>
            <p:nvPr/>
          </p:nvGrpSpPr>
          <p:grpSpPr>
            <a:xfrm>
              <a:off x="228600" y="1143000"/>
              <a:ext cx="2384499" cy="2520063"/>
              <a:chOff x="471" y="272"/>
              <a:chExt cx="1206" cy="1819"/>
            </a:xfrm>
          </p:grpSpPr>
          <p:sp>
            <p:nvSpPr>
              <p:cNvPr id="1685" name="Google Shape;1685;p88"/>
              <p:cNvSpPr/>
              <p:nvPr/>
            </p:nvSpPr>
            <p:spPr>
              <a:xfrm>
                <a:off x="471" y="1438"/>
                <a:ext cx="1159" cy="362"/>
              </a:xfrm>
              <a:prstGeom prst="ellipse">
                <a:avLst/>
              </a:prstGeom>
              <a:gradFill>
                <a:gsLst>
                  <a:gs pos="0">
                    <a:srgbClr val="006DBA"/>
                  </a:gs>
                  <a:gs pos="68000">
                    <a:srgbClr val="5FB0E7"/>
                  </a:gs>
                  <a:gs pos="100000">
                    <a:srgbClr val="ADD5F9"/>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1686" name="Google Shape;1686;p88"/>
              <p:cNvSpPr/>
              <p:nvPr/>
            </p:nvSpPr>
            <p:spPr>
              <a:xfrm>
                <a:off x="473" y="272"/>
                <a:ext cx="1204" cy="1819"/>
              </a:xfrm>
              <a:prstGeom prst="can">
                <a:avLst>
                  <a:gd fmla="val 33197" name="adj"/>
                </a:avLst>
              </a:prstGeom>
              <a:gradFill>
                <a:gsLst>
                  <a:gs pos="0">
                    <a:srgbClr val="2F930F"/>
                  </a:gs>
                  <a:gs pos="68000">
                    <a:srgbClr val="93D781"/>
                  </a:gs>
                  <a:gs pos="100000">
                    <a:srgbClr val="C6EEBB"/>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grpSp>
        <p:sp>
          <p:nvSpPr>
            <p:cNvPr id="1687" name="Google Shape;1687;p88"/>
            <p:cNvSpPr txBox="1"/>
            <p:nvPr/>
          </p:nvSpPr>
          <p:spPr>
            <a:xfrm>
              <a:off x="311149" y="1821410"/>
              <a:ext cx="2128837" cy="1411883"/>
            </a:xfrm>
            <a:prstGeom prst="rect">
              <a:avLst/>
            </a:prstGeom>
            <a:noFill/>
            <a:ln>
              <a:noFill/>
            </a:ln>
            <a:effectLst>
              <a:outerShdw rotWithShape="0" algn="ctr" dir="2700000" dist="17961">
                <a:srgbClr val="003300">
                  <a:alpha val="49803"/>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1600">
                <a:solidFill>
                  <a:srgbClr val="FFFFFF"/>
                </a:solidFill>
                <a:latin typeface="Times New Roman"/>
                <a:ea typeface="Times New Roman"/>
                <a:cs typeface="Times New Roman"/>
                <a:sym typeface="Times New Roman"/>
              </a:endParaRPr>
            </a:p>
            <a:p>
              <a:pPr indent="0" lvl="0" marL="0" marR="0" rtl="0" algn="ctr">
                <a:spcBef>
                  <a:spcPts val="800"/>
                </a:spcBef>
                <a:spcAft>
                  <a:spcPts val="0"/>
                </a:spcAft>
                <a:buNone/>
              </a:pPr>
              <a:r>
                <a:rPr b="1" lang="en-US" sz="1600">
                  <a:solidFill>
                    <a:schemeClr val="dk1"/>
                  </a:solidFill>
                  <a:latin typeface="Times New Roman"/>
                  <a:ea typeface="Times New Roman"/>
                  <a:cs typeface="Times New Roman"/>
                  <a:sym typeface="Times New Roman"/>
                </a:rPr>
                <a:t>QUY ĐỊNH</a:t>
              </a:r>
              <a:endParaRPr/>
            </a:p>
            <a:p>
              <a:pPr indent="0" lvl="0" marL="0" marR="0" rtl="0" algn="ctr">
                <a:spcBef>
                  <a:spcPts val="800"/>
                </a:spcBef>
                <a:spcAft>
                  <a:spcPts val="0"/>
                </a:spcAft>
                <a:buNone/>
              </a:pPr>
              <a:r>
                <a:rPr b="1" lang="en-US" sz="1600">
                  <a:solidFill>
                    <a:srgbClr val="FFFFFF"/>
                  </a:solidFill>
                  <a:latin typeface="Times New Roman"/>
                  <a:ea typeface="Times New Roman"/>
                  <a:cs typeface="Times New Roman"/>
                  <a:sym typeface="Times New Roman"/>
                </a:rPr>
                <a:t>(cách xử sự mà nhà nước yêu cầu?)</a:t>
              </a:r>
              <a:endParaRPr b="1" sz="1600">
                <a:solidFill>
                  <a:srgbClr val="FFFFFF"/>
                </a:solidFill>
                <a:latin typeface="Times New Roman"/>
                <a:ea typeface="Times New Roman"/>
                <a:cs typeface="Times New Roman"/>
                <a:sym typeface="Times New Roman"/>
              </a:endParaRPr>
            </a:p>
          </p:txBody>
        </p:sp>
      </p:grpSp>
      <p:grpSp>
        <p:nvGrpSpPr>
          <p:cNvPr id="1688" name="Google Shape;1688;p88"/>
          <p:cNvGrpSpPr/>
          <p:nvPr/>
        </p:nvGrpSpPr>
        <p:grpSpPr>
          <a:xfrm>
            <a:off x="2514600" y="1143000"/>
            <a:ext cx="6299200" cy="1549399"/>
            <a:chOff x="2413000" y="1447800"/>
            <a:chExt cx="6591300" cy="1606550"/>
          </a:xfrm>
        </p:grpSpPr>
        <p:sp>
          <p:nvSpPr>
            <p:cNvPr id="1689" name="Google Shape;1689;p88"/>
            <p:cNvSpPr/>
            <p:nvPr/>
          </p:nvSpPr>
          <p:spPr>
            <a:xfrm>
              <a:off x="2413000" y="1447800"/>
              <a:ext cx="6591300" cy="1606550"/>
            </a:xfrm>
            <a:prstGeom prst="roundRect">
              <a:avLst>
                <a:gd fmla="val 11505" name="adj"/>
              </a:avLst>
            </a:prstGeom>
            <a:gradFill>
              <a:gsLst>
                <a:gs pos="0">
                  <a:srgbClr val="87C2F1"/>
                </a:gs>
                <a:gs pos="43000">
                  <a:srgbClr val="B6DAFC"/>
                </a:gs>
                <a:gs pos="93000">
                  <a:srgbClr val="E8F2FE"/>
                </a:gs>
                <a:gs pos="100000">
                  <a:srgbClr val="F6FBFF"/>
                </a:gs>
              </a:gsLst>
              <a:path path="circle">
                <a:fillToRect b="50%" l="50%" r="50%" t="50%"/>
              </a:path>
              <a:tileRect/>
            </a:gradFill>
            <a:ln cap="flat" cmpd="sng" w="9525">
              <a:solidFill>
                <a:srgbClr val="0073A0"/>
              </a:solidFill>
              <a:prstDash val="solid"/>
              <a:round/>
              <a:headEnd len="sm" w="sm" type="none"/>
              <a:tailEnd len="sm" w="sm" type="none"/>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1690" name="Google Shape;1690;p88"/>
            <p:cNvSpPr txBox="1"/>
            <p:nvPr/>
          </p:nvSpPr>
          <p:spPr>
            <a:xfrm>
              <a:off x="2992438" y="1526811"/>
              <a:ext cx="5999162" cy="13722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rgbClr val="004E6C"/>
                  </a:solidFill>
                  <a:latin typeface="Times New Roman"/>
                  <a:ea typeface="Times New Roman"/>
                  <a:cs typeface="Times New Roman"/>
                  <a:sym typeface="Times New Roman"/>
                </a:rPr>
                <a:t>Xác định môi trường tác động của QPPL</a:t>
              </a:r>
              <a:endParaRPr/>
            </a:p>
            <a:p>
              <a:pPr indent="0" lvl="0" marL="0" marR="0" rtl="0" algn="l">
                <a:spcBef>
                  <a:spcPts val="800"/>
                </a:spcBef>
                <a:spcAft>
                  <a:spcPts val="0"/>
                </a:spcAft>
                <a:buNone/>
              </a:pPr>
              <a:r>
                <a:rPr b="1" i="1" lang="en-US" sz="1600">
                  <a:solidFill>
                    <a:srgbClr val="004E6C"/>
                  </a:solidFill>
                  <a:latin typeface="Times New Roman"/>
                  <a:ea typeface="Times New Roman"/>
                  <a:cs typeface="Times New Roman"/>
                  <a:sym typeface="Times New Roman"/>
                </a:rPr>
                <a:t>Nêu địa điểm, thời gian, chủ thể, điều kiện, hoàn cảnh, tình huống thực tế của QPPL</a:t>
              </a:r>
              <a:endParaRPr/>
            </a:p>
            <a:p>
              <a:pPr indent="0" lvl="0" marL="0" marR="0" rtl="0" algn="l">
                <a:spcBef>
                  <a:spcPts val="800"/>
                </a:spcBef>
                <a:spcAft>
                  <a:spcPts val="0"/>
                </a:spcAft>
                <a:buNone/>
              </a:pPr>
              <a:r>
                <a:rPr b="1" i="1" lang="en-US" sz="1600">
                  <a:solidFill>
                    <a:srgbClr val="004E6C"/>
                  </a:solidFill>
                  <a:latin typeface="Times New Roman"/>
                  <a:ea typeface="Times New Roman"/>
                  <a:cs typeface="Times New Roman"/>
                  <a:sym typeface="Times New Roman"/>
                </a:rPr>
                <a:t>Phân loại: Giả định xác định và Giả định tương đối</a:t>
              </a:r>
              <a:endParaRPr b="1" i="1" sz="1600">
                <a:solidFill>
                  <a:srgbClr val="004E6C"/>
                </a:solidFill>
                <a:latin typeface="Times New Roman"/>
                <a:ea typeface="Times New Roman"/>
                <a:cs typeface="Times New Roman"/>
                <a:sym typeface="Times New Roman"/>
              </a:endParaRPr>
            </a:p>
          </p:txBody>
        </p:sp>
        <p:sp>
          <p:nvSpPr>
            <p:cNvPr id="1691" name="Google Shape;1691;p88"/>
            <p:cNvSpPr/>
            <p:nvPr/>
          </p:nvSpPr>
          <p:spPr>
            <a:xfrm>
              <a:off x="2529290" y="1953565"/>
              <a:ext cx="482600" cy="595019"/>
            </a:xfrm>
            <a:prstGeom prst="rightArrow">
              <a:avLst>
                <a:gd fmla="val 50000" name="adj1"/>
                <a:gd fmla="val 52778" name="adj2"/>
              </a:avLst>
            </a:pr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grpSp>
      <p:grpSp>
        <p:nvGrpSpPr>
          <p:cNvPr id="1692" name="Google Shape;1692;p88"/>
          <p:cNvGrpSpPr/>
          <p:nvPr/>
        </p:nvGrpSpPr>
        <p:grpSpPr>
          <a:xfrm>
            <a:off x="533401" y="1066800"/>
            <a:ext cx="1981200" cy="1752601"/>
            <a:chOff x="228600" y="1143000"/>
            <a:chExt cx="2295525" cy="2132148"/>
          </a:xfrm>
        </p:grpSpPr>
        <p:grpSp>
          <p:nvGrpSpPr>
            <p:cNvPr id="1693" name="Google Shape;1693;p88"/>
            <p:cNvGrpSpPr/>
            <p:nvPr/>
          </p:nvGrpSpPr>
          <p:grpSpPr>
            <a:xfrm>
              <a:off x="228600" y="1143000"/>
              <a:ext cx="2295525" cy="2132148"/>
              <a:chOff x="471" y="272"/>
              <a:chExt cx="1161" cy="1539"/>
            </a:xfrm>
          </p:grpSpPr>
          <p:sp>
            <p:nvSpPr>
              <p:cNvPr id="1694" name="Google Shape;1694;p88"/>
              <p:cNvSpPr/>
              <p:nvPr/>
            </p:nvSpPr>
            <p:spPr>
              <a:xfrm>
                <a:off x="471" y="1438"/>
                <a:ext cx="1159" cy="362"/>
              </a:xfrm>
              <a:prstGeom prst="ellipse">
                <a:avLst/>
              </a:prstGeom>
              <a:gradFill>
                <a:gsLst>
                  <a:gs pos="0">
                    <a:srgbClr val="006DBA"/>
                  </a:gs>
                  <a:gs pos="68000">
                    <a:srgbClr val="5FB0E7"/>
                  </a:gs>
                  <a:gs pos="100000">
                    <a:srgbClr val="ADD5F9"/>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1695" name="Google Shape;1695;p88"/>
              <p:cNvSpPr/>
              <p:nvPr/>
            </p:nvSpPr>
            <p:spPr>
              <a:xfrm>
                <a:off x="473" y="272"/>
                <a:ext cx="1159" cy="1539"/>
              </a:xfrm>
              <a:prstGeom prst="can">
                <a:avLst>
                  <a:gd fmla="val 33197" name="adj"/>
                </a:avLst>
              </a:prstGeom>
              <a:gradFill>
                <a:gsLst>
                  <a:gs pos="0">
                    <a:srgbClr val="006DBA"/>
                  </a:gs>
                  <a:gs pos="68000">
                    <a:srgbClr val="5FB0E7"/>
                  </a:gs>
                  <a:gs pos="100000">
                    <a:srgbClr val="ADD5F9"/>
                  </a:gs>
                </a:gsLst>
                <a:path path="circle">
                  <a:fillToRect b="50%" l="50%" r="50%" t="50%"/>
                </a:path>
                <a:tileRect/>
              </a:gradFill>
              <a:ln>
                <a:noFill/>
              </a:ln>
              <a:effectLst>
                <a:outerShdw blurRad="57150" rotWithShape="0" algn="ctr" dir="5400000" dist="38100">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grpSp>
        <p:sp>
          <p:nvSpPr>
            <p:cNvPr id="1696" name="Google Shape;1696;p88"/>
            <p:cNvSpPr txBox="1"/>
            <p:nvPr/>
          </p:nvSpPr>
          <p:spPr>
            <a:xfrm>
              <a:off x="311149" y="1884616"/>
              <a:ext cx="2128836" cy="1160730"/>
            </a:xfrm>
            <a:prstGeom prst="rect">
              <a:avLst/>
            </a:prstGeom>
            <a:noFill/>
            <a:ln>
              <a:noFill/>
            </a:ln>
            <a:effectLst>
              <a:outerShdw rotWithShape="0" algn="ctr" dir="2700000" dist="17961">
                <a:srgbClr val="003300">
                  <a:alpha val="49803"/>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GiẢ ĐỊNH</a:t>
              </a:r>
              <a:endParaRPr/>
            </a:p>
            <a:p>
              <a:pPr indent="0" lvl="0" marL="0" marR="0" rtl="0" algn="ctr">
                <a:spcBef>
                  <a:spcPts val="800"/>
                </a:spcBef>
                <a:spcAft>
                  <a:spcPts val="0"/>
                </a:spcAft>
                <a:buNone/>
              </a:pPr>
              <a:r>
                <a:rPr b="1" lang="en-US" sz="1600">
                  <a:solidFill>
                    <a:srgbClr val="FFFFFF"/>
                  </a:solidFill>
                  <a:latin typeface="Times New Roman"/>
                  <a:ea typeface="Times New Roman"/>
                  <a:cs typeface="Times New Roman"/>
                  <a:sym typeface="Times New Roman"/>
                </a:rPr>
                <a:t>(Hoàn cảnh áp dụng?)</a:t>
              </a:r>
              <a:endParaRPr b="1" sz="1600">
                <a:solidFill>
                  <a:srgbClr val="FFFFFF"/>
                </a:solidFill>
                <a:latin typeface="Times New Roman"/>
                <a:ea typeface="Times New Roman"/>
                <a:cs typeface="Times New Roman"/>
                <a:sym typeface="Times New Roman"/>
              </a:endParaRPr>
            </a:p>
          </p:txBody>
        </p:sp>
      </p:grpSp>
      <p:sp>
        <p:nvSpPr>
          <p:cNvPr id="1697" name="Google Shape;1697;p88"/>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698" name="Google Shape;1698;p8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83"/>
                                        </p:tgtEl>
                                        <p:attrNameLst>
                                          <p:attrName>style.visibility</p:attrName>
                                        </p:attrNameLst>
                                      </p:cBhvr>
                                      <p:to>
                                        <p:strVal val="visible"/>
                                      </p:to>
                                    </p:set>
                                    <p:animEffect filter="fade" transition="in">
                                      <p:cBhvr>
                                        <p:cTn dur="500"/>
                                        <p:tgtEl>
                                          <p:spTgt spid="1683"/>
                                        </p:tgtEl>
                                      </p:cBhvr>
                                    </p:animEffect>
                                  </p:childTnLst>
                                </p:cTn>
                              </p:par>
                              <p:par>
                                <p:cTn fill="hold" nodeType="withEffect" presetClass="entr" presetID="10" presetSubtype="0">
                                  <p:stCondLst>
                                    <p:cond delay="0"/>
                                  </p:stCondLst>
                                  <p:childTnLst>
                                    <p:set>
                                      <p:cBhvr>
                                        <p:cTn dur="1" fill="hold">
                                          <p:stCondLst>
                                            <p:cond delay="0"/>
                                          </p:stCondLst>
                                        </p:cTn>
                                        <p:tgtEl>
                                          <p:spTgt spid="1674"/>
                                        </p:tgtEl>
                                        <p:attrNameLst>
                                          <p:attrName>style.visibility</p:attrName>
                                        </p:attrNameLst>
                                      </p:cBhvr>
                                      <p:to>
                                        <p:strVal val="visible"/>
                                      </p:to>
                                    </p:set>
                                    <p:animEffect filter="fade" transition="in">
                                      <p:cBhvr>
                                        <p:cTn dur="500"/>
                                        <p:tgtEl>
                                          <p:spTgt spid="1674"/>
                                        </p:tgtEl>
                                      </p:cBhvr>
                                    </p:animEffect>
                                  </p:childTnLst>
                                </p:cTn>
                              </p:par>
                              <p:par>
                                <p:cTn fill="hold" nodeType="withEffect" presetClass="entr" presetID="10" presetSubtype="0">
                                  <p:stCondLst>
                                    <p:cond delay="0"/>
                                  </p:stCondLst>
                                  <p:childTnLst>
                                    <p:set>
                                      <p:cBhvr>
                                        <p:cTn dur="1" fill="hold">
                                          <p:stCondLst>
                                            <p:cond delay="0"/>
                                          </p:stCondLst>
                                        </p:cTn>
                                        <p:tgtEl>
                                          <p:spTgt spid="1692"/>
                                        </p:tgtEl>
                                        <p:attrNameLst>
                                          <p:attrName>style.visibility</p:attrName>
                                        </p:attrNameLst>
                                      </p:cBhvr>
                                      <p:to>
                                        <p:strVal val="visible"/>
                                      </p:to>
                                    </p:set>
                                    <p:animEffect filter="fade" transition="in">
                                      <p:cBhvr>
                                        <p:cTn dur="500"/>
                                        <p:tgtEl>
                                          <p:spTgt spid="16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88"/>
                                        </p:tgtEl>
                                        <p:attrNameLst>
                                          <p:attrName>style.visibility</p:attrName>
                                        </p:attrNameLst>
                                      </p:cBhvr>
                                      <p:to>
                                        <p:strVal val="visible"/>
                                      </p:to>
                                    </p:set>
                                    <p:animEffect filter="fade" transition="in">
                                      <p:cBhvr>
                                        <p:cTn dur="500"/>
                                        <p:tgtEl>
                                          <p:spTgt spid="168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79"/>
                                        </p:tgtEl>
                                        <p:attrNameLst>
                                          <p:attrName>style.visibility</p:attrName>
                                        </p:attrNameLst>
                                      </p:cBhvr>
                                      <p:to>
                                        <p:strVal val="visible"/>
                                      </p:to>
                                    </p:set>
                                    <p:animEffect filter="fade" transition="in">
                                      <p:cBhvr>
                                        <p:cTn dur="500"/>
                                        <p:tgtEl>
                                          <p:spTgt spid="167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70"/>
                                        </p:tgtEl>
                                        <p:attrNameLst>
                                          <p:attrName>style.visibility</p:attrName>
                                        </p:attrNameLst>
                                      </p:cBhvr>
                                      <p:to>
                                        <p:strVal val="visible"/>
                                      </p:to>
                                    </p:set>
                                    <p:animEffect filter="fade" transition="in">
                                      <p:cBhvr>
                                        <p:cTn dur="500"/>
                                        <p:tgtEl>
                                          <p:spTgt spid="16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683"/>
                                        </p:tgtEl>
                                      </p:cBhvr>
                                    </p:animEffect>
                                    <p:set>
                                      <p:cBhvr>
                                        <p:cTn dur="1" fill="hold">
                                          <p:stCondLst>
                                            <p:cond delay="500"/>
                                          </p:stCondLst>
                                        </p:cTn>
                                        <p:tgtEl>
                                          <p:spTgt spid="168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74"/>
                                        </p:tgtEl>
                                      </p:cBhvr>
                                    </p:animEffect>
                                    <p:set>
                                      <p:cBhvr>
                                        <p:cTn dur="1" fill="hold">
                                          <p:stCondLst>
                                            <p:cond delay="500"/>
                                          </p:stCondLst>
                                        </p:cTn>
                                        <p:tgtEl>
                                          <p:spTgt spid="167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79"/>
                                        </p:tgtEl>
                                      </p:cBhvr>
                                    </p:animEffect>
                                    <p:set>
                                      <p:cBhvr>
                                        <p:cTn dur="1" fill="hold">
                                          <p:stCondLst>
                                            <p:cond delay="500"/>
                                          </p:stCondLst>
                                        </p:cTn>
                                        <p:tgtEl>
                                          <p:spTgt spid="167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70"/>
                                        </p:tgtEl>
                                      </p:cBhvr>
                                    </p:animEffect>
                                    <p:set>
                                      <p:cBhvr>
                                        <p:cTn dur="1" fill="hold">
                                          <p:stCondLst>
                                            <p:cond delay="500"/>
                                          </p:stCondLst>
                                        </p:cTn>
                                        <p:tgtEl>
                                          <p:spTgt spid="167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92"/>
                                        </p:tgtEl>
                                      </p:cBhvr>
                                    </p:animEffect>
                                    <p:set>
                                      <p:cBhvr>
                                        <p:cTn dur="1" fill="hold">
                                          <p:stCondLst>
                                            <p:cond delay="500"/>
                                          </p:stCondLst>
                                        </p:cTn>
                                        <p:tgtEl>
                                          <p:spTgt spid="169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88"/>
                                        </p:tgtEl>
                                      </p:cBhvr>
                                    </p:animEffect>
                                    <p:set>
                                      <p:cBhvr>
                                        <p:cTn dur="1" fill="hold">
                                          <p:stCondLst>
                                            <p:cond delay="500"/>
                                          </p:stCondLst>
                                        </p:cTn>
                                        <p:tgtEl>
                                          <p:spTgt spid="16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p89"/>
          <p:cNvSpPr txBox="1"/>
          <p:nvPr/>
        </p:nvSpPr>
        <p:spPr>
          <a:xfrm>
            <a:off x="0" y="152400"/>
            <a:ext cx="70104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Times New Roman"/>
                <a:ea typeface="Times New Roman"/>
                <a:cs typeface="Times New Roman"/>
                <a:sym typeface="Times New Roman"/>
              </a:rPr>
              <a:t>Phương thức thể hiện quy phạm pháp luật</a:t>
            </a:r>
            <a:endParaRPr sz="3200">
              <a:solidFill>
                <a:srgbClr val="0070C0"/>
              </a:solidFill>
              <a:latin typeface="Times New Roman"/>
              <a:ea typeface="Times New Roman"/>
              <a:cs typeface="Times New Roman"/>
              <a:sym typeface="Times New Roman"/>
            </a:endParaRPr>
          </a:p>
        </p:txBody>
      </p:sp>
      <p:sp>
        <p:nvSpPr>
          <p:cNvPr id="1704" name="Google Shape;1704;p89"/>
          <p:cNvSpPr/>
          <p:nvPr/>
        </p:nvSpPr>
        <p:spPr>
          <a:xfrm>
            <a:off x="914400" y="838200"/>
            <a:ext cx="7543800" cy="5029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Gửi chế tài (chế tài được để ở cuối văn bản hoặc 1 văn bản khác)</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Quy định ẩn </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Viện dẫn mẫu (cuối quy phạm thường có câu “theo quy định của pháp luật)</a:t>
            </a:r>
            <a:endParaRPr b="0" i="0" sz="20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Trực tiếp (đầy đủ cả 3 bộ phận)</a:t>
            </a:r>
            <a:endParaRPr b="0" i="0" sz="1800" u="none" cap="none" strike="noStrike">
              <a:solidFill>
                <a:schemeClr val="dk1"/>
              </a:solidFill>
              <a:latin typeface="Times New Roman"/>
              <a:ea typeface="Times New Roman"/>
              <a:cs typeface="Times New Roman"/>
              <a:sym typeface="Times New Roman"/>
            </a:endParaRPr>
          </a:p>
        </p:txBody>
      </p:sp>
      <p:sp>
        <p:nvSpPr>
          <p:cNvPr id="1705" name="Google Shape;1705;p89"/>
          <p:cNvSpPr/>
          <p:nvPr/>
        </p:nvSpPr>
        <p:spPr>
          <a:xfrm>
            <a:off x="4038600" y="2819400"/>
            <a:ext cx="1371600" cy="1066800"/>
          </a:xfrm>
          <a:prstGeom prst="ellipse">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QPPL</a:t>
            </a:r>
            <a:endParaRPr sz="2400">
              <a:solidFill>
                <a:schemeClr val="lt1"/>
              </a:solidFill>
              <a:latin typeface="Times New Roman"/>
              <a:ea typeface="Times New Roman"/>
              <a:cs typeface="Times New Roman"/>
              <a:sym typeface="Times New Roman"/>
            </a:endParaRPr>
          </a:p>
        </p:txBody>
      </p:sp>
      <p:sp>
        <p:nvSpPr>
          <p:cNvPr id="1706" name="Google Shape;1706;p89"/>
          <p:cNvSpPr/>
          <p:nvPr/>
        </p:nvSpPr>
        <p:spPr>
          <a:xfrm>
            <a:off x="1219200" y="6019800"/>
            <a:ext cx="7696200" cy="609600"/>
          </a:xfrm>
          <a:prstGeom prst="roundRect">
            <a:avLst>
              <a:gd fmla="val 16667"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lt1"/>
                </a:solidFill>
                <a:latin typeface="Times New Roman"/>
                <a:ea typeface="Times New Roman"/>
                <a:cs typeface="Times New Roman"/>
                <a:sym typeface="Times New Roman"/>
              </a:rPr>
              <a:t>Lưu ý:  - Phân biệt QPPL và điều luật</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800">
                <a:solidFill>
                  <a:schemeClr val="lt1"/>
                </a:solidFill>
                <a:latin typeface="Times New Roman"/>
                <a:ea typeface="Times New Roman"/>
                <a:cs typeface="Times New Roman"/>
                <a:sym typeface="Times New Roman"/>
              </a:rPr>
              <a:t>       </a:t>
            </a:r>
            <a:endParaRPr sz="1800">
              <a:solidFill>
                <a:schemeClr val="lt1"/>
              </a:solidFill>
              <a:latin typeface="Times New Roman"/>
              <a:ea typeface="Times New Roman"/>
              <a:cs typeface="Times New Roman"/>
              <a:sym typeface="Times New Roman"/>
            </a:endParaRPr>
          </a:p>
        </p:txBody>
      </p:sp>
      <p:sp>
        <p:nvSpPr>
          <p:cNvPr id="1707" name="Google Shape;1707;p89"/>
          <p:cNvSpPr txBox="1"/>
          <p:nvPr>
            <p:ph idx="11" type="ftr"/>
          </p:nvPr>
        </p:nvSpPr>
        <p:spPr>
          <a:xfrm>
            <a:off x="60960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708" name="Google Shape;1708;p8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500"/>
                                        <p:tgtEl>
                                          <p:spTgt spid="1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6"/>
                                        </p:tgtEl>
                                        <p:attrNameLst>
                                          <p:attrName>style.visibility</p:attrName>
                                        </p:attrNameLst>
                                      </p:cBhvr>
                                      <p:to>
                                        <p:strVal val="visible"/>
                                      </p:to>
                                    </p:set>
                                    <p:animEffect filter="fade" transition="in">
                                      <p:cBhvr>
                                        <p:cTn dur="500"/>
                                        <p:tgtEl>
                                          <p:spTgt spid="17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90"/>
          <p:cNvSpPr txBox="1"/>
          <p:nvPr>
            <p:ph type="title"/>
          </p:nvPr>
        </p:nvSpPr>
        <p:spPr>
          <a:xfrm>
            <a:off x="1435608" y="274638"/>
            <a:ext cx="7498080" cy="487362"/>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rgbClr val="0070C0"/>
              </a:buClr>
              <a:buSzPts val="3200"/>
              <a:buFont typeface="Times New Roman"/>
              <a:buNone/>
            </a:pPr>
            <a:r>
              <a:rPr lang="en-US" sz="3200">
                <a:solidFill>
                  <a:srgbClr val="0070C0"/>
                </a:solidFill>
                <a:latin typeface="Times New Roman"/>
                <a:ea typeface="Times New Roman"/>
                <a:cs typeface="Times New Roman"/>
                <a:sym typeface="Times New Roman"/>
              </a:rPr>
              <a:t> Phân loại quy phạm pháp luật</a:t>
            </a:r>
            <a:endParaRPr sz="3200">
              <a:latin typeface="Times New Roman"/>
              <a:ea typeface="Times New Roman"/>
              <a:cs typeface="Times New Roman"/>
              <a:sym typeface="Times New Roman"/>
            </a:endParaRPr>
          </a:p>
        </p:txBody>
      </p:sp>
      <p:sp>
        <p:nvSpPr>
          <p:cNvPr id="1714" name="Google Shape;1714;p90"/>
          <p:cNvSpPr txBox="1"/>
          <p:nvPr>
            <p:ph idx="1" type="body"/>
          </p:nvPr>
        </p:nvSpPr>
        <p:spPr>
          <a:xfrm>
            <a:off x="990600" y="838200"/>
            <a:ext cx="7943088" cy="5410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sz="1800">
                <a:latin typeface="Times New Roman"/>
                <a:ea typeface="Times New Roman"/>
                <a:cs typeface="Times New Roman"/>
                <a:sym typeface="Times New Roman"/>
              </a:rPr>
              <a:t>Căn cứ vào ngành luật: QPPL ngành luật Hiến pháp, hành chính, hình sự,…</a:t>
            </a:r>
            <a:endParaRPr/>
          </a:p>
          <a:p>
            <a:pPr indent="-274320" lvl="0" marL="274320" rtl="0" algn="l">
              <a:spcBef>
                <a:spcPts val="360"/>
              </a:spcBef>
              <a:spcAft>
                <a:spcPts val="0"/>
              </a:spcAft>
              <a:buSzPts val="1710"/>
              <a:buChar char="⚫"/>
            </a:pPr>
            <a:r>
              <a:rPr lang="en-US" sz="1800">
                <a:latin typeface="Times New Roman"/>
                <a:ea typeface="Times New Roman"/>
                <a:cs typeface="Times New Roman"/>
                <a:sym typeface="Times New Roman"/>
              </a:rPr>
              <a:t>Căn cứ theo nội dung QPPL:</a:t>
            </a:r>
            <a:endParaRPr sz="1800">
              <a:latin typeface="Times New Roman"/>
              <a:ea typeface="Times New Roman"/>
              <a:cs typeface="Times New Roman"/>
              <a:sym typeface="Times New Roman"/>
            </a:endParaRPr>
          </a:p>
        </p:txBody>
      </p:sp>
      <p:sp>
        <p:nvSpPr>
          <p:cNvPr id="1715" name="Google Shape;1715;p90"/>
          <p:cNvSpPr/>
          <p:nvPr/>
        </p:nvSpPr>
        <p:spPr>
          <a:xfrm>
            <a:off x="914400" y="1752600"/>
            <a:ext cx="8077200" cy="4572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QP điều chỉnh</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Quy đinh quyền, nghĩa vụ của những người tham gia trong các quan hệ xã hội</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Điều chỉnh các hành vi hợp pháp của con người</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Gồm: QP bắt buộc, QP cấm đoán, QP cho phép</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27000" lvl="1" marL="114300" marR="0" rtl="0" algn="l">
              <a:lnSpc>
                <a:spcPct val="75000"/>
              </a:lnSpc>
              <a:spcBef>
                <a:spcPts val="24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QP bảo vệ</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Là quy phạm xác định các biện pháp cưỡng chế mang tính nhà nước đối với hành vi vi phạm pháp luật</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Thể hiện thái độ tiêu cực của nhà nước đối với hành vi vi phạm pháp luật </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27000" lvl="1" marL="114300" marR="0" rtl="0" algn="l">
              <a:lnSpc>
                <a:spcPct val="75000"/>
              </a:lnSpc>
              <a:spcBef>
                <a:spcPts val="24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QP chuyên môn</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Là quy phạm mà nội dung của chúng gồm những quy định nhằm bảo vệ hiệu lực của các quy phạm điều chỉnh</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Gồm: QP định nghĩa, QP tuyên bố, QP xung đột </a:t>
            </a:r>
            <a:endParaRPr b="0" i="0" sz="2000" u="none" cap="none" strike="noStrike">
              <a:solidFill>
                <a:schemeClr val="dk1"/>
              </a:solidFill>
              <a:latin typeface="Times New Roman"/>
              <a:ea typeface="Times New Roman"/>
              <a:cs typeface="Times New Roman"/>
              <a:sym typeface="Times New Roman"/>
            </a:endParaRPr>
          </a:p>
        </p:txBody>
      </p:sp>
      <p:sp>
        <p:nvSpPr>
          <p:cNvPr id="1716" name="Google Shape;1716;p90"/>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717" name="Google Shape;1717;p9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3"/>
                                        </p:tgtEl>
                                        <p:attrNameLst>
                                          <p:attrName>style.visibility</p:attrName>
                                        </p:attrNameLst>
                                      </p:cBhvr>
                                      <p:to>
                                        <p:strVal val="visible"/>
                                      </p:to>
                                    </p:set>
                                    <p:animEffect filter="fade" transition="in">
                                      <p:cBhvr>
                                        <p:cTn dur="500"/>
                                        <p:tgtEl>
                                          <p:spTgt spid="17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4">
                                            <p:txEl>
                                              <p:pRg end="0" st="0"/>
                                            </p:txEl>
                                          </p:spTgt>
                                        </p:tgtEl>
                                        <p:attrNameLst>
                                          <p:attrName>style.visibility</p:attrName>
                                        </p:attrNameLst>
                                      </p:cBhvr>
                                      <p:to>
                                        <p:strVal val="visible"/>
                                      </p:to>
                                    </p:set>
                                    <p:animEffect filter="fade" transition="in">
                                      <p:cBhvr>
                                        <p:cTn dur="2000"/>
                                        <p:tgtEl>
                                          <p:spTgt spid="17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4">
                                            <p:txEl>
                                              <p:pRg end="1" st="1"/>
                                            </p:txEl>
                                          </p:spTgt>
                                        </p:tgtEl>
                                        <p:attrNameLst>
                                          <p:attrName>style.visibility</p:attrName>
                                        </p:attrNameLst>
                                      </p:cBhvr>
                                      <p:to>
                                        <p:strVal val="visible"/>
                                      </p:to>
                                    </p:set>
                                    <p:animEffect filter="fade" transition="in">
                                      <p:cBhvr>
                                        <p:cTn dur="2000"/>
                                        <p:tgtEl>
                                          <p:spTgt spid="171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91"/>
          <p:cNvSpPr txBox="1"/>
          <p:nvPr>
            <p:ph type="title"/>
          </p:nvPr>
        </p:nvSpPr>
        <p:spPr>
          <a:xfrm>
            <a:off x="1435608" y="274638"/>
            <a:ext cx="7498080" cy="7921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2400"/>
              <a:buFont typeface="Times New Roman"/>
              <a:buNone/>
            </a:pPr>
            <a:r>
              <a:rPr lang="en-US" sz="2400">
                <a:solidFill>
                  <a:srgbClr val="FF0000"/>
                </a:solidFill>
                <a:latin typeface="Times New Roman"/>
                <a:ea typeface="Times New Roman"/>
                <a:cs typeface="Times New Roman"/>
                <a:sym typeface="Times New Roman"/>
              </a:rPr>
              <a:t>Xác định các bộ phận của QPPL sau:</a:t>
            </a:r>
            <a:endParaRPr sz="2400">
              <a:solidFill>
                <a:srgbClr val="FF0000"/>
              </a:solidFill>
              <a:latin typeface="Times New Roman"/>
              <a:ea typeface="Times New Roman"/>
              <a:cs typeface="Times New Roman"/>
              <a:sym typeface="Times New Roman"/>
            </a:endParaRPr>
          </a:p>
        </p:txBody>
      </p:sp>
      <p:sp>
        <p:nvSpPr>
          <p:cNvPr id="1723" name="Google Shape;1723;p91"/>
          <p:cNvSpPr txBox="1"/>
          <p:nvPr>
            <p:ph idx="1" type="body"/>
          </p:nvPr>
        </p:nvSpPr>
        <p:spPr>
          <a:xfrm>
            <a:off x="1435608" y="1066800"/>
            <a:ext cx="7498080" cy="5181600"/>
          </a:xfrm>
          <a:prstGeom prst="rect">
            <a:avLst/>
          </a:prstGeom>
          <a:noFill/>
          <a:ln>
            <a:noFill/>
          </a:ln>
        </p:spPr>
        <p:txBody>
          <a:bodyPr anchorCtr="0" anchor="t" bIns="45700" lIns="91425" spcFirstLastPara="1" rIns="91425" wrap="square" tIns="45700">
            <a:normAutofit/>
          </a:bodyPr>
          <a:lstStyle/>
          <a:p>
            <a:pPr indent="-457200" lvl="0" marL="539496" rtl="0" algn="just">
              <a:spcBef>
                <a:spcPts val="0"/>
              </a:spcBef>
              <a:spcAft>
                <a:spcPts val="0"/>
              </a:spcAft>
              <a:buSzPts val="1900"/>
              <a:buAutoNum type="arabicPeriod"/>
            </a:pPr>
            <a:r>
              <a:rPr lang="en-US" sz="2000">
                <a:latin typeface="Times New Roman"/>
                <a:ea typeface="Times New Roman"/>
                <a:cs typeface="Times New Roman"/>
                <a:sym typeface="Times New Roman"/>
              </a:rPr>
              <a:t>“Người nào thấy người khác trong tình trạng nguy hiểm đến tính mạng , tuy có điều kiện mà không cứu giúp, dẫn đến hậu quả người đó chết thì bị phạt cảnh cáo, cải tạo không giam giữ đến hai năm hoặc phạt tù từ ba tháng đến hai năm” (Điều 102 BLHS)</a:t>
            </a:r>
            <a:endParaRPr/>
          </a:p>
          <a:p>
            <a:pPr indent="-457200" lvl="0" marL="539496" rtl="0" algn="just">
              <a:spcBef>
                <a:spcPts val="400"/>
              </a:spcBef>
              <a:spcAft>
                <a:spcPts val="0"/>
              </a:spcAft>
              <a:buSzPts val="1900"/>
              <a:buAutoNum type="arabicPeriod"/>
            </a:pPr>
            <a:r>
              <a:rPr lang="en-US" sz="2000">
                <a:latin typeface="Times New Roman"/>
                <a:ea typeface="Times New Roman"/>
                <a:cs typeface="Times New Roman"/>
                <a:sym typeface="Times New Roman"/>
              </a:rPr>
              <a:t>“Trong trường hợp người được cấp dưỡng một lần lâm vào tình trạng khó khăn trầm trọng do bị tai nạn hoặc mắc bệnh hiểm nghèo mà người đã thực hiện nghĩa vụ cấp dưỡng có khả năng thực tế để cấp dưỡng cao hơn, thì phải cấp dưỡng bổ sung theo yêu cầu của người được cấp dưỡng”. (Điều 19 Nghị định 70/2001/NĐ-CP)</a:t>
            </a:r>
            <a:endParaRPr/>
          </a:p>
          <a:p>
            <a:pPr indent="-457200" lvl="0" marL="539496" rtl="0" algn="just">
              <a:spcBef>
                <a:spcPts val="400"/>
              </a:spcBef>
              <a:spcAft>
                <a:spcPts val="0"/>
              </a:spcAft>
              <a:buSzPts val="1900"/>
              <a:buAutoNum type="arabicPeriod"/>
            </a:pPr>
            <a:r>
              <a:rPr lang="en-US" sz="2000">
                <a:latin typeface="Times New Roman"/>
                <a:ea typeface="Times New Roman"/>
                <a:cs typeface="Times New Roman"/>
                <a:sym typeface="Times New Roman"/>
              </a:rPr>
              <a:t>“Người học các chương trình giáo dục đại học nếu được hưởng học bổng, chi phí đào tạo do Nhà nước cấp hoặc do nước ngoài tài trợ theo hiệp định ký kết với Nhà nước thì sau khi tốt nghiệp phải chấp hành sự điều động làm việc có thời hạn của Nhà nước; trường hợp không chấp hành thì phải bồi hoàn học bổng, chi phí đào tạo” (Điều 87, Luật giáo dục 2005)</a:t>
            </a:r>
            <a:endParaRPr sz="2000">
              <a:latin typeface="Times New Roman"/>
              <a:ea typeface="Times New Roman"/>
              <a:cs typeface="Times New Roman"/>
              <a:sym typeface="Times New Roman"/>
            </a:endParaRPr>
          </a:p>
        </p:txBody>
      </p:sp>
      <p:sp>
        <p:nvSpPr>
          <p:cNvPr id="1724" name="Google Shape;1724;p91"/>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725" name="Google Shape;1725;p9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92"/>
          <p:cNvSpPr txBox="1"/>
          <p:nvPr/>
        </p:nvSpPr>
        <p:spPr>
          <a:xfrm>
            <a:off x="1371600" y="6858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4.6.2		Nguồn của pháp luật</a:t>
            </a:r>
            <a:endParaRPr sz="3200">
              <a:solidFill>
                <a:srgbClr val="0070C0"/>
              </a:solidFill>
              <a:latin typeface="Arial"/>
              <a:ea typeface="Arial"/>
              <a:cs typeface="Arial"/>
              <a:sym typeface="Arial"/>
            </a:endParaRPr>
          </a:p>
        </p:txBody>
      </p:sp>
      <p:sp>
        <p:nvSpPr>
          <p:cNvPr id="1731" name="Google Shape;1731;p92"/>
          <p:cNvSpPr/>
          <p:nvPr/>
        </p:nvSpPr>
        <p:spPr>
          <a:xfrm>
            <a:off x="304800" y="1219200"/>
            <a:ext cx="8382000" cy="4927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Văn bản pháp luật</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Tiền lệ pháp</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Tập quán pháp</a:t>
            </a:r>
            <a:endParaRPr b="0" i="0" sz="1800" u="none" cap="none" strike="noStrike">
              <a:solidFill>
                <a:schemeClr val="dk1"/>
              </a:solidFill>
              <a:latin typeface="Times New Roman"/>
              <a:ea typeface="Times New Roman"/>
              <a:cs typeface="Times New Roman"/>
              <a:sym typeface="Times New Roman"/>
            </a:endParaRPr>
          </a:p>
        </p:txBody>
      </p:sp>
      <p:sp>
        <p:nvSpPr>
          <p:cNvPr id="1732" name="Google Shape;1732;p92"/>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733" name="Google Shape;1733;p9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0"/>
                                        </p:tgtEl>
                                        <p:attrNameLst>
                                          <p:attrName>style.visibility</p:attrName>
                                        </p:attrNameLst>
                                      </p:cBhvr>
                                      <p:to>
                                        <p:strVal val="visible"/>
                                      </p:to>
                                    </p:set>
                                    <p:animEffect filter="fade" transition="in">
                                      <p:cBhvr>
                                        <p:cTn dur="500"/>
                                        <p:tgtEl>
                                          <p:spTgt spid="17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Google Shape;1738;p93"/>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200">
              <a:solidFill>
                <a:srgbClr val="0070C0"/>
              </a:solidFill>
              <a:latin typeface="Arial"/>
              <a:ea typeface="Arial"/>
              <a:cs typeface="Arial"/>
              <a:sym typeface="Arial"/>
            </a:endParaRPr>
          </a:p>
        </p:txBody>
      </p:sp>
      <p:sp>
        <p:nvSpPr>
          <p:cNvPr id="1739" name="Google Shape;1739;p93"/>
          <p:cNvSpPr txBox="1"/>
          <p:nvPr/>
        </p:nvSpPr>
        <p:spPr>
          <a:xfrm>
            <a:off x="1066800" y="1524000"/>
            <a:ext cx="4876800" cy="2400657"/>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127000" lvl="0" marL="0" marR="0" rtl="0" algn="just">
              <a:spcBef>
                <a:spcPts val="0"/>
              </a:spcBef>
              <a:spcAft>
                <a:spcPts val="0"/>
              </a:spcAft>
              <a:buClr>
                <a:srgbClr val="339933"/>
              </a:buClr>
              <a:buSzPts val="2000"/>
              <a:buFont typeface="Verdana"/>
              <a:buChar char="•"/>
            </a:pPr>
            <a:r>
              <a:rPr lang="en-US" sz="2000">
                <a:solidFill>
                  <a:schemeClr val="dk1"/>
                </a:solidFill>
                <a:latin typeface="Verdana"/>
                <a:ea typeface="Verdana"/>
                <a:cs typeface="Verdana"/>
                <a:sym typeface="Verdana"/>
              </a:rPr>
              <a:t> </a:t>
            </a:r>
            <a:r>
              <a:rPr lang="en-US" sz="2000">
                <a:solidFill>
                  <a:schemeClr val="dk2"/>
                </a:solidFill>
                <a:latin typeface="Verdana"/>
                <a:ea typeface="Verdana"/>
                <a:cs typeface="Verdana"/>
                <a:sym typeface="Verdana"/>
              </a:rPr>
              <a:t>Là văn bản </a:t>
            </a:r>
            <a:r>
              <a:rPr i="1" lang="en-US" sz="2000">
                <a:solidFill>
                  <a:srgbClr val="FF0000"/>
                </a:solidFill>
                <a:latin typeface="Verdana"/>
                <a:ea typeface="Verdana"/>
                <a:cs typeface="Verdana"/>
                <a:sym typeface="Verdana"/>
              </a:rPr>
              <a:t>do cơ quan nhà nước hoặc người có thẩm quyền ban hành </a:t>
            </a:r>
            <a:r>
              <a:rPr lang="en-US" sz="2000">
                <a:solidFill>
                  <a:schemeClr val="dk1"/>
                </a:solidFill>
                <a:latin typeface="Verdana"/>
                <a:ea typeface="Verdana"/>
                <a:cs typeface="Verdana"/>
                <a:sym typeface="Verdana"/>
              </a:rPr>
              <a:t>theo những trình tự và thủ tục nhất định</a:t>
            </a:r>
            <a:endParaRPr sz="2000">
              <a:solidFill>
                <a:schemeClr val="dk1"/>
              </a:solidFill>
              <a:latin typeface="Verdana"/>
              <a:ea typeface="Verdana"/>
              <a:cs typeface="Verdana"/>
              <a:sym typeface="Verdana"/>
            </a:endParaRPr>
          </a:p>
          <a:p>
            <a:pPr indent="-127000" lvl="0" marL="0" marR="0" rtl="0" algn="just">
              <a:spcBef>
                <a:spcPts val="1000"/>
              </a:spcBef>
              <a:spcAft>
                <a:spcPts val="0"/>
              </a:spcAft>
              <a:buClr>
                <a:srgbClr val="339933"/>
              </a:buClr>
              <a:buSzPts val="2000"/>
              <a:buFont typeface="Verdana"/>
              <a:buChar char="•"/>
            </a:pPr>
            <a:r>
              <a:rPr lang="en-US" sz="2000">
                <a:solidFill>
                  <a:schemeClr val="dk1"/>
                </a:solidFill>
                <a:latin typeface="Verdana"/>
                <a:ea typeface="Verdana"/>
                <a:cs typeface="Verdana"/>
                <a:sym typeface="Verdana"/>
              </a:rPr>
              <a:t> </a:t>
            </a:r>
            <a:r>
              <a:rPr lang="en-US" sz="2000">
                <a:solidFill>
                  <a:schemeClr val="dk2"/>
                </a:solidFill>
                <a:latin typeface="Verdana"/>
                <a:ea typeface="Verdana"/>
                <a:cs typeface="Verdana"/>
                <a:sym typeface="Verdana"/>
              </a:rPr>
              <a:t>Văn bản pháp luật gồm 3 dạng:</a:t>
            </a:r>
            <a:endParaRPr/>
          </a:p>
          <a:p>
            <a:pPr indent="-457200" lvl="0" marL="457200" marR="0" rtl="0" algn="just">
              <a:spcBef>
                <a:spcPts val="1000"/>
              </a:spcBef>
              <a:spcAft>
                <a:spcPts val="0"/>
              </a:spcAft>
              <a:buNone/>
            </a:pPr>
            <a:r>
              <a:t/>
            </a:r>
            <a:endParaRPr b="1" sz="2000">
              <a:solidFill>
                <a:schemeClr val="dk2"/>
              </a:solidFill>
              <a:latin typeface="Verdana"/>
              <a:ea typeface="Verdana"/>
              <a:cs typeface="Verdana"/>
              <a:sym typeface="Verdana"/>
            </a:endParaRPr>
          </a:p>
          <a:p>
            <a:pPr indent="-330200" lvl="0" marL="457200" marR="0" rtl="0" algn="just">
              <a:spcBef>
                <a:spcPts val="1000"/>
              </a:spcBef>
              <a:spcAft>
                <a:spcPts val="0"/>
              </a:spcAft>
              <a:buClr>
                <a:srgbClr val="339933"/>
              </a:buClr>
              <a:buSzPts val="2000"/>
              <a:buFont typeface="Verdana"/>
              <a:buNone/>
            </a:pPr>
            <a:r>
              <a:t/>
            </a:r>
            <a:endParaRPr sz="2000">
              <a:solidFill>
                <a:schemeClr val="dk2"/>
              </a:solidFill>
              <a:latin typeface="Verdana"/>
              <a:ea typeface="Verdana"/>
              <a:cs typeface="Verdana"/>
              <a:sym typeface="Verdana"/>
            </a:endParaRPr>
          </a:p>
        </p:txBody>
      </p:sp>
      <p:pic>
        <p:nvPicPr>
          <p:cNvPr descr="10" id="1740" name="Google Shape;1740;p93"/>
          <p:cNvPicPr preferRelativeResize="0"/>
          <p:nvPr>
            <p:ph idx="1" type="body"/>
          </p:nvPr>
        </p:nvPicPr>
        <p:blipFill rotWithShape="1">
          <a:blip r:embed="rId3">
            <a:alphaModFix/>
          </a:blip>
          <a:srcRect b="0" l="0" r="0" t="0"/>
          <a:stretch/>
        </p:blipFill>
        <p:spPr>
          <a:xfrm>
            <a:off x="5791200" y="0"/>
            <a:ext cx="3524250" cy="3944938"/>
          </a:xfrm>
          <a:prstGeom prst="rect">
            <a:avLst/>
          </a:prstGeom>
          <a:noFill/>
          <a:ln>
            <a:noFill/>
          </a:ln>
        </p:spPr>
      </p:pic>
      <p:sp>
        <p:nvSpPr>
          <p:cNvPr id="1741" name="Google Shape;1741;p93"/>
          <p:cNvSpPr/>
          <p:nvPr/>
        </p:nvSpPr>
        <p:spPr>
          <a:xfrm>
            <a:off x="1143000" y="2971800"/>
            <a:ext cx="8001000" cy="3810000"/>
          </a:xfrm>
          <a:prstGeom prst="rightArrow">
            <a:avLst>
              <a:gd fmla="val 50000" name="adj1"/>
              <a:gd fmla="val 50000" name="adj2"/>
            </a:avLst>
          </a:prstGeom>
          <a:solidFill>
            <a:srgbClr val="DFCACC"/>
          </a:solidFill>
          <a:ln>
            <a:noFill/>
          </a:ln>
          <a:effectLst>
            <a:outerShdw blurRad="65500" rotWithShape="0" dir="54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cơ sở                                     căn cứ cho</a:t>
            </a:r>
            <a:endParaRPr sz="1800">
              <a:solidFill>
                <a:schemeClr val="dk1"/>
              </a:solidFill>
              <a:latin typeface="Times New Roman"/>
              <a:ea typeface="Times New Roman"/>
              <a:cs typeface="Times New Roman"/>
              <a:sym typeface="Times New Roman"/>
            </a:endParaRPr>
          </a:p>
        </p:txBody>
      </p:sp>
      <p:grpSp>
        <p:nvGrpSpPr>
          <p:cNvPr id="1742" name="Google Shape;1742;p93"/>
          <p:cNvGrpSpPr/>
          <p:nvPr/>
        </p:nvGrpSpPr>
        <p:grpSpPr>
          <a:xfrm>
            <a:off x="1143000" y="4191000"/>
            <a:ext cx="2057400" cy="1600200"/>
            <a:chOff x="0" y="1142999"/>
            <a:chExt cx="2263140" cy="1524000"/>
          </a:xfrm>
        </p:grpSpPr>
        <p:sp>
          <p:nvSpPr>
            <p:cNvPr id="1743" name="Google Shape;1743;p93"/>
            <p:cNvSpPr/>
            <p:nvPr/>
          </p:nvSpPr>
          <p:spPr>
            <a:xfrm>
              <a:off x="0" y="1142999"/>
              <a:ext cx="2263140" cy="1524000"/>
            </a:xfrm>
            <a:prstGeom prst="roundRect">
              <a:avLst>
                <a:gd fmla="val 16667" name="adj"/>
              </a:avLst>
            </a:prstGeom>
            <a:gradFill>
              <a:gsLst>
                <a:gs pos="0">
                  <a:srgbClr val="E87E84"/>
                </a:gs>
                <a:gs pos="25000">
                  <a:srgbClr val="ED888E"/>
                </a:gs>
                <a:gs pos="100000">
                  <a:srgbClr val="FBC7CB"/>
                </a:gs>
              </a:gsLst>
              <a:lin ang="16200000" scaled="0"/>
            </a:gradFill>
            <a:ln>
              <a:noFill/>
            </a:ln>
            <a:effectLst>
              <a:outerShdw blurRad="65500" rotWithShape="0" dir="5400000" dist="381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VBPL </a:t>
              </a:r>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chủ đạo</a:t>
              </a:r>
              <a:endParaRPr sz="2400">
                <a:solidFill>
                  <a:schemeClr val="dk1"/>
                </a:solidFill>
                <a:latin typeface="Times New Roman"/>
                <a:ea typeface="Times New Roman"/>
                <a:cs typeface="Times New Roman"/>
                <a:sym typeface="Times New Roman"/>
              </a:endParaRPr>
            </a:p>
          </p:txBody>
        </p:sp>
        <p:sp>
          <p:nvSpPr>
            <p:cNvPr id="1744" name="Google Shape;1744;p93"/>
            <p:cNvSpPr/>
            <p:nvPr/>
          </p:nvSpPr>
          <p:spPr>
            <a:xfrm>
              <a:off x="74396" y="1217395"/>
              <a:ext cx="2114348" cy="137520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1745" name="Google Shape;1745;p93"/>
          <p:cNvGrpSpPr/>
          <p:nvPr/>
        </p:nvGrpSpPr>
        <p:grpSpPr>
          <a:xfrm>
            <a:off x="3886200" y="4191000"/>
            <a:ext cx="2215862" cy="1600200"/>
            <a:chOff x="2478677" y="1142999"/>
            <a:chExt cx="2350397" cy="1524000"/>
          </a:xfrm>
        </p:grpSpPr>
        <p:sp>
          <p:nvSpPr>
            <p:cNvPr id="1746" name="Google Shape;1746;p93"/>
            <p:cNvSpPr/>
            <p:nvPr/>
          </p:nvSpPr>
          <p:spPr>
            <a:xfrm>
              <a:off x="2478677" y="1142999"/>
              <a:ext cx="2101488" cy="1524000"/>
            </a:xfrm>
            <a:prstGeom prst="roundRect">
              <a:avLst>
                <a:gd fmla="val 16667" name="adj"/>
              </a:avLst>
            </a:prstGeom>
            <a:gradFill>
              <a:gsLst>
                <a:gs pos="0">
                  <a:srgbClr val="8AABCB"/>
                </a:gs>
                <a:gs pos="25000">
                  <a:srgbClr val="93B2D3"/>
                </a:gs>
                <a:gs pos="100000">
                  <a:srgbClr val="D0DCEC"/>
                </a:gs>
              </a:gsLst>
              <a:lin ang="16200000" scaled="0"/>
            </a:gradFill>
            <a:ln>
              <a:noFill/>
            </a:ln>
            <a:effectLst>
              <a:outerShdw blurRad="65500" rotWithShape="0" dir="5400000" dist="381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Văn bản</a:t>
              </a:r>
              <a:endParaRPr sz="2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quy phạm pháp luật</a:t>
              </a:r>
              <a:endParaRPr sz="2400">
                <a:solidFill>
                  <a:schemeClr val="dk1"/>
                </a:solidFill>
                <a:latin typeface="Times New Roman"/>
                <a:ea typeface="Times New Roman"/>
                <a:cs typeface="Times New Roman"/>
                <a:sym typeface="Times New Roman"/>
              </a:endParaRPr>
            </a:p>
          </p:txBody>
        </p:sp>
        <p:sp>
          <p:nvSpPr>
            <p:cNvPr id="1747" name="Google Shape;1747;p93"/>
            <p:cNvSpPr/>
            <p:nvPr/>
          </p:nvSpPr>
          <p:spPr>
            <a:xfrm>
              <a:off x="2714726" y="1217395"/>
              <a:ext cx="2114348" cy="137520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grpSp>
        <p:nvGrpSpPr>
          <p:cNvPr id="1748" name="Google Shape;1748;p93"/>
          <p:cNvGrpSpPr/>
          <p:nvPr/>
        </p:nvGrpSpPr>
        <p:grpSpPr>
          <a:xfrm>
            <a:off x="6934200" y="4267200"/>
            <a:ext cx="1828800" cy="1524000"/>
            <a:chOff x="5280660" y="1142999"/>
            <a:chExt cx="2263140" cy="1524000"/>
          </a:xfrm>
        </p:grpSpPr>
        <p:sp>
          <p:nvSpPr>
            <p:cNvPr id="1749" name="Google Shape;1749;p93"/>
            <p:cNvSpPr/>
            <p:nvPr/>
          </p:nvSpPr>
          <p:spPr>
            <a:xfrm>
              <a:off x="5280660" y="1142999"/>
              <a:ext cx="2263140" cy="1524000"/>
            </a:xfrm>
            <a:prstGeom prst="roundRect">
              <a:avLst>
                <a:gd fmla="val 16667" name="adj"/>
              </a:avLst>
            </a:prstGeom>
            <a:gradFill>
              <a:gsLst>
                <a:gs pos="0">
                  <a:srgbClr val="9ACD92"/>
                </a:gs>
                <a:gs pos="25000">
                  <a:srgbClr val="A0D49A"/>
                </a:gs>
                <a:gs pos="100000">
                  <a:srgbClr val="D3F0CF"/>
                </a:gs>
              </a:gsLst>
              <a:lin ang="16200000" scaled="0"/>
            </a:gradFill>
            <a:ln>
              <a:noFill/>
            </a:ln>
            <a:effectLst>
              <a:outerShdw blurRad="65500" rotWithShape="0" dir="5400000" dist="38100">
                <a:srgbClr val="000000">
                  <a:alpha val="40000"/>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VBPL </a:t>
              </a:r>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cá biệt</a:t>
              </a:r>
              <a:endParaRPr sz="2400">
                <a:solidFill>
                  <a:schemeClr val="dk1"/>
                </a:solidFill>
                <a:latin typeface="Times New Roman"/>
                <a:ea typeface="Times New Roman"/>
                <a:cs typeface="Times New Roman"/>
                <a:sym typeface="Times New Roman"/>
              </a:endParaRPr>
            </a:p>
          </p:txBody>
        </p:sp>
        <p:sp>
          <p:nvSpPr>
            <p:cNvPr id="1750" name="Google Shape;1750;p93"/>
            <p:cNvSpPr/>
            <p:nvPr/>
          </p:nvSpPr>
          <p:spPr>
            <a:xfrm>
              <a:off x="5355056" y="1217395"/>
              <a:ext cx="2114348" cy="1375208"/>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grpSp>
      <p:sp>
        <p:nvSpPr>
          <p:cNvPr id="1751" name="Google Shape;1751;p93"/>
          <p:cNvSpPr/>
          <p:nvPr/>
        </p:nvSpPr>
        <p:spPr>
          <a:xfrm>
            <a:off x="1371600" y="304800"/>
            <a:ext cx="61722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Văn bản pháp luật</a:t>
            </a:r>
            <a:endParaRPr sz="3200">
              <a:solidFill>
                <a:srgbClr val="0070C0"/>
              </a:solidFill>
              <a:latin typeface="Arial"/>
              <a:ea typeface="Arial"/>
              <a:cs typeface="Arial"/>
              <a:sym typeface="Arial"/>
            </a:endParaRPr>
          </a:p>
        </p:txBody>
      </p:sp>
      <p:cxnSp>
        <p:nvCxnSpPr>
          <p:cNvPr id="1752" name="Google Shape;1752;p93"/>
          <p:cNvCxnSpPr/>
          <p:nvPr/>
        </p:nvCxnSpPr>
        <p:spPr>
          <a:xfrm>
            <a:off x="3200400" y="4953000"/>
            <a:ext cx="609600" cy="1588"/>
          </a:xfrm>
          <a:prstGeom prst="straightConnector1">
            <a:avLst/>
          </a:prstGeom>
          <a:noFill/>
          <a:ln cap="flat" cmpd="sng" w="9525">
            <a:solidFill>
              <a:srgbClr val="FF8000"/>
            </a:solidFill>
            <a:prstDash val="solid"/>
            <a:round/>
            <a:headEnd len="sm" w="sm" type="none"/>
            <a:tailEnd len="med" w="med" type="stealth"/>
          </a:ln>
        </p:spPr>
      </p:cxnSp>
      <p:cxnSp>
        <p:nvCxnSpPr>
          <p:cNvPr id="1753" name="Google Shape;1753;p93"/>
          <p:cNvCxnSpPr/>
          <p:nvPr/>
        </p:nvCxnSpPr>
        <p:spPr>
          <a:xfrm>
            <a:off x="5943600" y="4953000"/>
            <a:ext cx="914400" cy="1588"/>
          </a:xfrm>
          <a:prstGeom prst="straightConnector1">
            <a:avLst/>
          </a:prstGeom>
          <a:noFill/>
          <a:ln cap="flat" cmpd="sng" w="9525">
            <a:solidFill>
              <a:srgbClr val="FF8000"/>
            </a:solidFill>
            <a:prstDash val="solid"/>
            <a:round/>
            <a:headEnd len="sm" w="sm" type="none"/>
            <a:tailEnd len="med" w="med" type="stealth"/>
          </a:ln>
        </p:spPr>
      </p:cxnSp>
      <p:sp>
        <p:nvSpPr>
          <p:cNvPr id="1754" name="Google Shape;1754;p93"/>
          <p:cNvSpPr txBox="1"/>
          <p:nvPr>
            <p:ph idx="11" type="ftr"/>
          </p:nvPr>
        </p:nvSpPr>
        <p:spPr>
          <a:xfrm>
            <a:off x="6858000" y="0"/>
            <a:ext cx="2286000" cy="3651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755" name="Google Shape;1755;p93"/>
          <p:cNvSpPr txBox="1"/>
          <p:nvPr>
            <p:ph idx="12" type="sldNum"/>
          </p:nvPr>
        </p:nvSpPr>
        <p:spPr>
          <a:xfrm>
            <a:off x="8348328" y="6111875"/>
            <a:ext cx="457200" cy="36512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1"/>
                                        </p:tgtEl>
                                        <p:attrNameLst>
                                          <p:attrName>style.visibility</p:attrName>
                                        </p:attrNameLst>
                                      </p:cBhvr>
                                      <p:to>
                                        <p:strVal val="visible"/>
                                      </p:to>
                                    </p:set>
                                    <p:animEffect filter="fade" transition="in">
                                      <p:cBhvr>
                                        <p:cTn dur="500"/>
                                        <p:tgtEl>
                                          <p:spTgt spid="17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9">
                                            <p:txEl>
                                              <p:pRg end="0" st="0"/>
                                            </p:txEl>
                                          </p:spTgt>
                                        </p:tgtEl>
                                        <p:attrNameLst>
                                          <p:attrName>style.visibility</p:attrName>
                                        </p:attrNameLst>
                                      </p:cBhvr>
                                      <p:to>
                                        <p:strVal val="visible"/>
                                      </p:to>
                                    </p:set>
                                    <p:animEffect filter="fade" transition="in">
                                      <p:cBhvr>
                                        <p:cTn dur="500"/>
                                        <p:tgtEl>
                                          <p:spTgt spid="17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9">
                                            <p:txEl>
                                              <p:pRg end="1" st="1"/>
                                            </p:txEl>
                                          </p:spTgt>
                                        </p:tgtEl>
                                        <p:attrNameLst>
                                          <p:attrName>style.visibility</p:attrName>
                                        </p:attrNameLst>
                                      </p:cBhvr>
                                      <p:to>
                                        <p:strVal val="visible"/>
                                      </p:to>
                                    </p:set>
                                    <p:animEffect filter="fade" transition="in">
                                      <p:cBhvr>
                                        <p:cTn dur="500"/>
                                        <p:tgtEl>
                                          <p:spTgt spid="17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9">
                                            <p:txEl>
                                              <p:pRg end="2" st="2"/>
                                            </p:txEl>
                                          </p:spTgt>
                                        </p:tgtEl>
                                        <p:attrNameLst>
                                          <p:attrName>style.visibility</p:attrName>
                                        </p:attrNameLst>
                                      </p:cBhvr>
                                      <p:to>
                                        <p:strVal val="visible"/>
                                      </p:to>
                                    </p:set>
                                    <p:animEffect filter="fade" transition="in">
                                      <p:cBhvr>
                                        <p:cTn dur="500"/>
                                        <p:tgtEl>
                                          <p:spTgt spid="17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9">
                                            <p:txEl>
                                              <p:pRg end="3" st="3"/>
                                            </p:txEl>
                                          </p:spTgt>
                                        </p:tgtEl>
                                        <p:attrNameLst>
                                          <p:attrName>style.visibility</p:attrName>
                                        </p:attrNameLst>
                                      </p:cBhvr>
                                      <p:to>
                                        <p:strVal val="visible"/>
                                      </p:to>
                                    </p:set>
                                    <p:animEffect filter="fade" transition="in">
                                      <p:cBhvr>
                                        <p:cTn dur="500"/>
                                        <p:tgtEl>
                                          <p:spTgt spid="17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2"/>
                                        </p:tgtEl>
                                        <p:attrNameLst>
                                          <p:attrName>style.visibility</p:attrName>
                                        </p:attrNameLst>
                                      </p:cBhvr>
                                      <p:to>
                                        <p:strVal val="visible"/>
                                      </p:to>
                                    </p:set>
                                    <p:animEffect filter="fade" transition="in">
                                      <p:cBhvr>
                                        <p:cTn dur="500"/>
                                        <p:tgtEl>
                                          <p:spTgt spid="17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5"/>
                                        </p:tgtEl>
                                        <p:attrNameLst>
                                          <p:attrName>style.visibility</p:attrName>
                                        </p:attrNameLst>
                                      </p:cBhvr>
                                      <p:to>
                                        <p:strVal val="visible"/>
                                      </p:to>
                                    </p:set>
                                    <p:anim calcmode="lin" valueType="num">
                                      <p:cBhvr additive="base">
                                        <p:cTn dur="500"/>
                                        <p:tgtEl>
                                          <p:spTgt spid="174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gtEl>
                                        <p:attrNameLst>
                                          <p:attrName>style.visibility</p:attrName>
                                        </p:attrNameLst>
                                      </p:cBhvr>
                                      <p:to>
                                        <p:strVal val="visible"/>
                                      </p:to>
                                    </p:set>
                                    <p:animEffect filter="fade" transition="in">
                                      <p:cBhvr>
                                        <p:cTn dur="500"/>
                                        <p:tgtEl>
                                          <p:spTgt spid="1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1"/>
                                        </p:tgtEl>
                                        <p:attrNameLst>
                                          <p:attrName>style.visibility</p:attrName>
                                        </p:attrNameLst>
                                      </p:cBhvr>
                                      <p:to>
                                        <p:strVal val="visible"/>
                                      </p:to>
                                    </p:set>
                                    <p:anim calcmode="lin" valueType="num">
                                      <p:cBhvr additive="base">
                                        <p:cTn dur="500"/>
                                        <p:tgtEl>
                                          <p:spTgt spid="174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sp>
        <p:nvSpPr>
          <p:cNvPr id="1760" name="Google Shape;1760;p9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VBPL chủ đạo</a:t>
            </a:r>
            <a:endParaRPr sz="3200">
              <a:solidFill>
                <a:srgbClr val="FF0000"/>
              </a:solidFill>
              <a:latin typeface="Times New Roman"/>
              <a:ea typeface="Times New Roman"/>
              <a:cs typeface="Times New Roman"/>
              <a:sym typeface="Times New Roman"/>
            </a:endParaRPr>
          </a:p>
        </p:txBody>
      </p:sp>
      <p:sp>
        <p:nvSpPr>
          <p:cNvPr id="1761" name="Google Shape;1761;p9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lang="en-US" sz="2400">
                <a:latin typeface="Times New Roman"/>
                <a:ea typeface="Times New Roman"/>
                <a:cs typeface="Times New Roman"/>
                <a:sym typeface="Times New Roman"/>
              </a:rPr>
              <a:t>Do cơ quan nhà nước ban hành</a:t>
            </a:r>
            <a:endParaRPr sz="2400">
              <a:latin typeface="Times New Roman"/>
              <a:ea typeface="Times New Roman"/>
              <a:cs typeface="Times New Roman"/>
              <a:sym typeface="Times New Roman"/>
            </a:endParaRPr>
          </a:p>
          <a:p>
            <a:pPr indent="-274320" lvl="0" marL="274320" rtl="0" algn="l">
              <a:spcBef>
                <a:spcPts val="480"/>
              </a:spcBef>
              <a:spcAft>
                <a:spcPts val="0"/>
              </a:spcAft>
              <a:buSzPts val="2280"/>
              <a:buChar char="⚫"/>
            </a:pPr>
            <a:r>
              <a:rPr lang="en-US" sz="2400">
                <a:latin typeface="Times New Roman"/>
                <a:ea typeface="Times New Roman"/>
                <a:cs typeface="Times New Roman"/>
                <a:sym typeface="Times New Roman"/>
              </a:rPr>
              <a:t>Đề ra những đường lối, chủ trương, chính sách, nhiệm vụ lớn có tính chính trị pháp lý của quốc gia và địa phương</a:t>
            </a:r>
            <a:endParaRPr sz="2400">
              <a:latin typeface="Times New Roman"/>
              <a:ea typeface="Times New Roman"/>
              <a:cs typeface="Times New Roman"/>
              <a:sym typeface="Times New Roman"/>
            </a:endParaRPr>
          </a:p>
        </p:txBody>
      </p:sp>
      <p:pic>
        <p:nvPicPr>
          <p:cNvPr descr="E:\Bai giang\PL DC\imagesb.jpg" id="1762" name="Google Shape;1762;p94"/>
          <p:cNvPicPr preferRelativeResize="0"/>
          <p:nvPr/>
        </p:nvPicPr>
        <p:blipFill rotWithShape="1">
          <a:blip r:embed="rId3">
            <a:alphaModFix/>
          </a:blip>
          <a:srcRect b="0" l="0" r="0" t="0"/>
          <a:stretch/>
        </p:blipFill>
        <p:spPr>
          <a:xfrm>
            <a:off x="3581400" y="3810000"/>
            <a:ext cx="2654828" cy="1373187"/>
          </a:xfrm>
          <a:prstGeom prst="rect">
            <a:avLst/>
          </a:prstGeom>
          <a:noFill/>
          <a:ln>
            <a:noFill/>
          </a:ln>
        </p:spPr>
      </p:pic>
      <p:sp>
        <p:nvSpPr>
          <p:cNvPr id="1763" name="Google Shape;1763;p94"/>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764" name="Google Shape;1764;p9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sp>
        <p:nvSpPr>
          <p:cNvPr id="1769" name="Google Shape;1769;p9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VB áp dụng QPPL (VBPL cá biệt)</a:t>
            </a:r>
            <a:endParaRPr sz="3200">
              <a:solidFill>
                <a:srgbClr val="FF0000"/>
              </a:solidFill>
              <a:latin typeface="Times New Roman"/>
              <a:ea typeface="Times New Roman"/>
              <a:cs typeface="Times New Roman"/>
              <a:sym typeface="Times New Roman"/>
            </a:endParaRPr>
          </a:p>
        </p:txBody>
      </p:sp>
      <p:sp>
        <p:nvSpPr>
          <p:cNvPr id="1770" name="Google Shape;1770;p9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lang="en-US" sz="2400">
                <a:latin typeface="Times New Roman"/>
                <a:ea typeface="Times New Roman"/>
                <a:cs typeface="Times New Roman"/>
                <a:sym typeface="Times New Roman"/>
              </a:rPr>
              <a:t>Do cơ quan nhà nước hoặc người có thẩm quyền ban hành</a:t>
            </a:r>
            <a:endParaRPr sz="2400">
              <a:latin typeface="Times New Roman"/>
              <a:ea typeface="Times New Roman"/>
              <a:cs typeface="Times New Roman"/>
              <a:sym typeface="Times New Roman"/>
            </a:endParaRPr>
          </a:p>
          <a:p>
            <a:pPr indent="-274320" lvl="0" marL="274320" rtl="0" algn="l">
              <a:spcBef>
                <a:spcPts val="480"/>
              </a:spcBef>
              <a:spcAft>
                <a:spcPts val="0"/>
              </a:spcAft>
              <a:buSzPts val="2280"/>
              <a:buChar char="⚫"/>
            </a:pPr>
            <a:r>
              <a:rPr lang="en-US" sz="2400">
                <a:latin typeface="Times New Roman"/>
                <a:ea typeface="Times New Roman"/>
                <a:cs typeface="Times New Roman"/>
                <a:sym typeface="Times New Roman"/>
              </a:rPr>
              <a:t>Căn cứ vào văn bản quy phạm pháp luật để ban hành và giải quyết những vụ việc cụ thể, trường hợp cụ thể</a:t>
            </a:r>
            <a:endParaRPr sz="2400">
              <a:latin typeface="Times New Roman"/>
              <a:ea typeface="Times New Roman"/>
              <a:cs typeface="Times New Roman"/>
              <a:sym typeface="Times New Roman"/>
            </a:endParaRPr>
          </a:p>
        </p:txBody>
      </p:sp>
      <p:pic>
        <p:nvPicPr>
          <p:cNvPr descr="E:\Bai giang\PL DC\imagesk.jpg" id="1771" name="Google Shape;1771;p95"/>
          <p:cNvPicPr preferRelativeResize="0"/>
          <p:nvPr/>
        </p:nvPicPr>
        <p:blipFill rotWithShape="1">
          <a:blip r:embed="rId3">
            <a:alphaModFix/>
          </a:blip>
          <a:srcRect b="0" l="0" r="0" t="0"/>
          <a:stretch/>
        </p:blipFill>
        <p:spPr>
          <a:xfrm>
            <a:off x="5867400" y="3733800"/>
            <a:ext cx="2990316" cy="2416175"/>
          </a:xfrm>
          <a:prstGeom prst="rect">
            <a:avLst/>
          </a:prstGeom>
          <a:noFill/>
          <a:ln>
            <a:noFill/>
          </a:ln>
        </p:spPr>
      </p:pic>
      <p:sp>
        <p:nvSpPr>
          <p:cNvPr id="1772" name="Google Shape;1772;p95"/>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773" name="Google Shape;1773;p9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96"/>
          <p:cNvSpPr txBox="1"/>
          <p:nvPr>
            <p:ph type="title"/>
          </p:nvPr>
        </p:nvSpPr>
        <p:spPr>
          <a:xfrm>
            <a:off x="1435608" y="274638"/>
            <a:ext cx="7498080" cy="71596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Văn bản quy phạm pháp luật</a:t>
            </a:r>
            <a:endParaRPr sz="3200">
              <a:solidFill>
                <a:srgbClr val="FF0000"/>
              </a:solidFill>
              <a:latin typeface="Times New Roman"/>
              <a:ea typeface="Times New Roman"/>
              <a:cs typeface="Times New Roman"/>
              <a:sym typeface="Times New Roman"/>
            </a:endParaRPr>
          </a:p>
        </p:txBody>
      </p:sp>
      <p:sp>
        <p:nvSpPr>
          <p:cNvPr id="1779" name="Google Shape;1779;p96"/>
          <p:cNvSpPr txBox="1"/>
          <p:nvPr>
            <p:ph idx="1" type="body"/>
          </p:nvPr>
        </p:nvSpPr>
        <p:spPr>
          <a:xfrm>
            <a:off x="990600" y="914400"/>
            <a:ext cx="7943088" cy="533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sz="1800">
                <a:solidFill>
                  <a:srgbClr val="FF0000"/>
                </a:solidFill>
                <a:latin typeface="Times New Roman"/>
                <a:ea typeface="Times New Roman"/>
                <a:cs typeface="Times New Roman"/>
                <a:sym typeface="Times New Roman"/>
              </a:rPr>
              <a:t>Định nghĩa</a:t>
            </a:r>
            <a:endParaRPr sz="1800">
              <a:solidFill>
                <a:srgbClr val="FF0000"/>
              </a:solidFill>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165735"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Char char="⚫"/>
            </a:pPr>
            <a:r>
              <a:rPr lang="en-US" sz="1800">
                <a:solidFill>
                  <a:srgbClr val="FF0000"/>
                </a:solidFill>
                <a:latin typeface="Times New Roman"/>
                <a:ea typeface="Times New Roman"/>
                <a:cs typeface="Times New Roman"/>
                <a:sym typeface="Times New Roman"/>
              </a:rPr>
              <a:t>Phân loại:</a:t>
            </a:r>
            <a:endParaRPr/>
          </a:p>
          <a:p>
            <a:pPr indent="-274320" lvl="0" marL="274320" rtl="0" algn="l">
              <a:spcBef>
                <a:spcPts val="360"/>
              </a:spcBef>
              <a:spcAft>
                <a:spcPts val="0"/>
              </a:spcAft>
              <a:buSzPts val="1710"/>
              <a:buFont typeface="Times New Roman"/>
              <a:buChar char="-"/>
            </a:pPr>
            <a:r>
              <a:rPr lang="en-US" sz="1800">
                <a:latin typeface="Times New Roman"/>
                <a:ea typeface="Times New Roman"/>
                <a:cs typeface="Times New Roman"/>
                <a:sym typeface="Times New Roman"/>
              </a:rPr>
              <a:t>Văn bản luật: do Quốc Hội ban hành, bao gồm:</a:t>
            </a:r>
            <a:endParaRPr/>
          </a:p>
          <a:p>
            <a:pPr indent="-274320" lvl="0" marL="274320" rtl="0" algn="l">
              <a:spcBef>
                <a:spcPts val="360"/>
              </a:spcBef>
              <a:spcAft>
                <a:spcPts val="0"/>
              </a:spcAft>
              <a:buSzPts val="1710"/>
              <a:buNone/>
            </a:pPr>
            <a:r>
              <a:rPr lang="en-US" sz="1800">
                <a:latin typeface="Times New Roman"/>
                <a:ea typeface="Times New Roman"/>
                <a:cs typeface="Times New Roman"/>
                <a:sym typeface="Times New Roman"/>
              </a:rPr>
              <a:t>Hiến pháp và các bộ luật</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Font typeface="Times New Roman"/>
              <a:buChar char="-"/>
            </a:pPr>
            <a:r>
              <a:rPr lang="en-US" sz="1800">
                <a:latin typeface="Times New Roman"/>
                <a:ea typeface="Times New Roman"/>
                <a:cs typeface="Times New Roman"/>
                <a:sym typeface="Times New Roman"/>
              </a:rPr>
              <a:t>Văn bản dưới luật: do các cơ quan nhà nước </a:t>
            </a:r>
            <a:endParaRPr/>
          </a:p>
          <a:p>
            <a:pPr indent="-274320" lvl="0" marL="274320" rtl="0" algn="l">
              <a:spcBef>
                <a:spcPts val="360"/>
              </a:spcBef>
              <a:spcAft>
                <a:spcPts val="0"/>
              </a:spcAft>
              <a:buSzPts val="1710"/>
              <a:buNone/>
            </a:pPr>
            <a:r>
              <a:rPr lang="en-US" sz="1800">
                <a:latin typeface="Times New Roman"/>
                <a:ea typeface="Times New Roman"/>
                <a:cs typeface="Times New Roman"/>
                <a:sym typeface="Times New Roman"/>
              </a:rPr>
              <a:t>có thẩm quyền ban hành</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None/>
            </a:pPr>
            <a:r>
              <a:t/>
            </a:r>
            <a:endParaRPr sz="1800">
              <a:latin typeface="Times New Roman"/>
              <a:ea typeface="Times New Roman"/>
              <a:cs typeface="Times New Roman"/>
              <a:sym typeface="Times New Roman"/>
            </a:endParaRPr>
          </a:p>
          <a:p>
            <a:pPr indent="-274320" lvl="0" marL="274320" rtl="0" algn="l">
              <a:spcBef>
                <a:spcPts val="360"/>
              </a:spcBef>
              <a:spcAft>
                <a:spcPts val="0"/>
              </a:spcAft>
              <a:buSzPts val="1710"/>
              <a:buChar char="⚫"/>
            </a:pPr>
            <a:r>
              <a:rPr lang="en-US" sz="1800">
                <a:solidFill>
                  <a:srgbClr val="FF0000"/>
                </a:solidFill>
                <a:latin typeface="Times New Roman"/>
                <a:ea typeface="Times New Roman"/>
                <a:cs typeface="Times New Roman"/>
                <a:sym typeface="Times New Roman"/>
              </a:rPr>
              <a:t>Các văn bản luôn là VBQPPL</a:t>
            </a:r>
            <a:r>
              <a:rPr lang="en-US" sz="1800">
                <a:latin typeface="Times New Roman"/>
                <a:ea typeface="Times New Roman"/>
                <a:cs typeface="Times New Roman"/>
                <a:sym typeface="Times New Roman"/>
              </a:rPr>
              <a:t>: Hiến pháp; Luật; Pháp lệnh; Nghị định; Thông tư</a:t>
            </a:r>
            <a:endParaRPr sz="1800">
              <a:latin typeface="Times New Roman"/>
              <a:ea typeface="Times New Roman"/>
              <a:cs typeface="Times New Roman"/>
              <a:sym typeface="Times New Roman"/>
            </a:endParaRPr>
          </a:p>
        </p:txBody>
      </p:sp>
      <p:sp>
        <p:nvSpPr>
          <p:cNvPr id="1780" name="Google Shape;1780;p96"/>
          <p:cNvSpPr/>
          <p:nvPr/>
        </p:nvSpPr>
        <p:spPr>
          <a:xfrm>
            <a:off x="7391400" y="1295400"/>
            <a:ext cx="1524000" cy="2438400"/>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FF0000"/>
                </a:solidFill>
                <a:latin typeface="Times New Roman"/>
                <a:ea typeface="Times New Roman"/>
                <a:cs typeface="Times New Roman"/>
                <a:sym typeface="Times New Roman"/>
              </a:rPr>
              <a:t>Văn bản quy phạm pháp luật</a:t>
            </a:r>
            <a:endParaRPr sz="2400">
              <a:solidFill>
                <a:srgbClr val="FF0000"/>
              </a:solidFill>
              <a:latin typeface="Times New Roman"/>
              <a:ea typeface="Times New Roman"/>
              <a:cs typeface="Times New Roman"/>
              <a:sym typeface="Times New Roman"/>
            </a:endParaRPr>
          </a:p>
        </p:txBody>
      </p:sp>
      <p:sp>
        <p:nvSpPr>
          <p:cNvPr id="1781" name="Google Shape;1781;p96"/>
          <p:cNvSpPr/>
          <p:nvPr/>
        </p:nvSpPr>
        <p:spPr>
          <a:xfrm>
            <a:off x="1066800" y="228600"/>
            <a:ext cx="6324600" cy="4648200"/>
          </a:xfrm>
          <a:prstGeom prst="rightArrow">
            <a:avLst>
              <a:gd fmla="val 50000" name="adj1"/>
              <a:gd fmla="val 24000" name="adj2"/>
            </a:avLst>
          </a:prstGeom>
          <a:solidFill>
            <a:srgbClr val="C4EEFF"/>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120650" lvl="0" marL="0" marR="0" rtl="0" algn="just">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 Là hình thức thể hiện các quyết định pháp luật </a:t>
            </a:r>
            <a:endParaRPr/>
          </a:p>
          <a:p>
            <a:pPr indent="-120650" lvl="0" marL="0" marR="0" rtl="0" algn="just">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 do cơ quan nhà nước có thẩm quyền ban hành </a:t>
            </a:r>
            <a:endParaRPr/>
          </a:p>
          <a:p>
            <a:pPr indent="-120650" lvl="0" marL="0" marR="0" rtl="0" algn="just">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 theo trình tự và thủ tục nhất định</a:t>
            </a:r>
            <a:endParaRPr sz="1900">
              <a:solidFill>
                <a:schemeClr val="dk1"/>
              </a:solidFill>
              <a:latin typeface="Times New Roman"/>
              <a:ea typeface="Times New Roman"/>
              <a:cs typeface="Times New Roman"/>
              <a:sym typeface="Times New Roman"/>
            </a:endParaRPr>
          </a:p>
          <a:p>
            <a:pPr indent="-120650" lvl="0" marL="0" marR="0" rtl="0" algn="just">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 chứa đựng những quy tắc xử sự chung</a:t>
            </a:r>
            <a:endParaRPr sz="1900">
              <a:solidFill>
                <a:schemeClr val="dk1"/>
              </a:solidFill>
              <a:latin typeface="Times New Roman"/>
              <a:ea typeface="Times New Roman"/>
              <a:cs typeface="Times New Roman"/>
              <a:sym typeface="Times New Roman"/>
            </a:endParaRPr>
          </a:p>
          <a:p>
            <a:pPr indent="-120650" lvl="0" marL="0" marR="0" rtl="0" algn="just">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 nhằm điều chỉnh 1 loạt quan hệ xã hội nhất định</a:t>
            </a:r>
            <a:endParaRPr sz="1900">
              <a:solidFill>
                <a:schemeClr val="dk1"/>
              </a:solidFill>
              <a:latin typeface="Times New Roman"/>
              <a:ea typeface="Times New Roman"/>
              <a:cs typeface="Times New Roman"/>
              <a:sym typeface="Times New Roman"/>
            </a:endParaRPr>
          </a:p>
          <a:p>
            <a:pPr indent="-120650" lvl="0" marL="0" marR="0" rtl="0" algn="just">
              <a:spcBef>
                <a:spcPts val="0"/>
              </a:spcBef>
              <a:spcAft>
                <a:spcPts val="0"/>
              </a:spcAft>
              <a:buClr>
                <a:schemeClr val="dk1"/>
              </a:buClr>
              <a:buSzPts val="1900"/>
              <a:buFont typeface="Times New Roman"/>
              <a:buChar char="-"/>
            </a:pPr>
            <a:r>
              <a:rPr lang="en-US" sz="1900">
                <a:solidFill>
                  <a:schemeClr val="dk1"/>
                </a:solidFill>
                <a:latin typeface="Times New Roman"/>
                <a:ea typeface="Times New Roman"/>
                <a:cs typeface="Times New Roman"/>
                <a:sym typeface="Times New Roman"/>
              </a:rPr>
              <a:t> được áp dụng nhiều lần trong thực tiễn đời sống</a:t>
            </a:r>
            <a:endParaRPr sz="19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1900">
                <a:solidFill>
                  <a:schemeClr val="dk1"/>
                </a:solidFill>
                <a:latin typeface="Times New Roman"/>
                <a:ea typeface="Times New Roman"/>
                <a:cs typeface="Times New Roman"/>
                <a:sym typeface="Times New Roman"/>
              </a:rPr>
              <a:t>Việc áp dụng không làm chấm dứt hiệu lực của VBQPPL</a:t>
            </a:r>
            <a:endParaRPr/>
          </a:p>
        </p:txBody>
      </p:sp>
      <p:pic>
        <p:nvPicPr>
          <p:cNvPr descr="E:\Bai giang\PL DC\vbpl.jpg" id="1782" name="Google Shape;1782;p96"/>
          <p:cNvPicPr preferRelativeResize="0"/>
          <p:nvPr/>
        </p:nvPicPr>
        <p:blipFill rotWithShape="1">
          <a:blip r:embed="rId3">
            <a:alphaModFix/>
          </a:blip>
          <a:srcRect b="0" l="0" r="0" t="0"/>
          <a:stretch/>
        </p:blipFill>
        <p:spPr>
          <a:xfrm>
            <a:off x="6705600" y="4038600"/>
            <a:ext cx="2238375" cy="1676621"/>
          </a:xfrm>
          <a:prstGeom prst="rect">
            <a:avLst/>
          </a:prstGeom>
          <a:noFill/>
          <a:ln>
            <a:noFill/>
          </a:ln>
        </p:spPr>
      </p:pic>
      <p:sp>
        <p:nvSpPr>
          <p:cNvPr id="1783" name="Google Shape;1783;p96"/>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784" name="Google Shape;1784;p9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8"/>
                                        </p:tgtEl>
                                        <p:attrNameLst>
                                          <p:attrName>style.visibility</p:attrName>
                                        </p:attrNameLst>
                                      </p:cBhvr>
                                      <p:to>
                                        <p:strVal val="visible"/>
                                      </p:to>
                                    </p:set>
                                    <p:animEffect filter="fade" transition="in">
                                      <p:cBhvr>
                                        <p:cTn dur="500"/>
                                        <p:tgtEl>
                                          <p:spTgt spid="17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0" st="0"/>
                                            </p:txEl>
                                          </p:spTgt>
                                        </p:tgtEl>
                                        <p:attrNameLst>
                                          <p:attrName>style.visibility</p:attrName>
                                        </p:attrNameLst>
                                      </p:cBhvr>
                                      <p:to>
                                        <p:strVal val="visible"/>
                                      </p:to>
                                    </p:set>
                                    <p:animEffect filter="fade" transition="in">
                                      <p:cBhvr>
                                        <p:cTn dur="500"/>
                                        <p:tgtEl>
                                          <p:spTgt spid="17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1" st="1"/>
                                            </p:txEl>
                                          </p:spTgt>
                                        </p:tgtEl>
                                        <p:attrNameLst>
                                          <p:attrName>style.visibility</p:attrName>
                                        </p:attrNameLst>
                                      </p:cBhvr>
                                      <p:to>
                                        <p:strVal val="visible"/>
                                      </p:to>
                                    </p:set>
                                    <p:animEffect filter="fade" transition="in">
                                      <p:cBhvr>
                                        <p:cTn dur="500"/>
                                        <p:tgtEl>
                                          <p:spTgt spid="17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2" st="2"/>
                                            </p:txEl>
                                          </p:spTgt>
                                        </p:tgtEl>
                                        <p:attrNameLst>
                                          <p:attrName>style.visibility</p:attrName>
                                        </p:attrNameLst>
                                      </p:cBhvr>
                                      <p:to>
                                        <p:strVal val="visible"/>
                                      </p:to>
                                    </p:set>
                                    <p:animEffect filter="fade" transition="in">
                                      <p:cBhvr>
                                        <p:cTn dur="500"/>
                                        <p:tgtEl>
                                          <p:spTgt spid="17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3" st="3"/>
                                            </p:txEl>
                                          </p:spTgt>
                                        </p:tgtEl>
                                        <p:attrNameLst>
                                          <p:attrName>style.visibility</p:attrName>
                                        </p:attrNameLst>
                                      </p:cBhvr>
                                      <p:to>
                                        <p:strVal val="visible"/>
                                      </p:to>
                                    </p:set>
                                    <p:animEffect filter="fade" transition="in">
                                      <p:cBhvr>
                                        <p:cTn dur="500"/>
                                        <p:tgtEl>
                                          <p:spTgt spid="17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4" st="4"/>
                                            </p:txEl>
                                          </p:spTgt>
                                        </p:tgtEl>
                                        <p:attrNameLst>
                                          <p:attrName>style.visibility</p:attrName>
                                        </p:attrNameLst>
                                      </p:cBhvr>
                                      <p:to>
                                        <p:strVal val="visible"/>
                                      </p:to>
                                    </p:set>
                                    <p:animEffect filter="fade" transition="in">
                                      <p:cBhvr>
                                        <p:cTn dur="500"/>
                                        <p:tgtEl>
                                          <p:spTgt spid="17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5" st="5"/>
                                            </p:txEl>
                                          </p:spTgt>
                                        </p:tgtEl>
                                        <p:attrNameLst>
                                          <p:attrName>style.visibility</p:attrName>
                                        </p:attrNameLst>
                                      </p:cBhvr>
                                      <p:to>
                                        <p:strVal val="visible"/>
                                      </p:to>
                                    </p:set>
                                    <p:animEffect filter="fade" transition="in">
                                      <p:cBhvr>
                                        <p:cTn dur="500"/>
                                        <p:tgtEl>
                                          <p:spTgt spid="17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6" st="6"/>
                                            </p:txEl>
                                          </p:spTgt>
                                        </p:tgtEl>
                                        <p:attrNameLst>
                                          <p:attrName>style.visibility</p:attrName>
                                        </p:attrNameLst>
                                      </p:cBhvr>
                                      <p:to>
                                        <p:strVal val="visible"/>
                                      </p:to>
                                    </p:set>
                                    <p:animEffect filter="fade" transition="in">
                                      <p:cBhvr>
                                        <p:cTn dur="500"/>
                                        <p:tgtEl>
                                          <p:spTgt spid="177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7" st="7"/>
                                            </p:txEl>
                                          </p:spTgt>
                                        </p:tgtEl>
                                        <p:attrNameLst>
                                          <p:attrName>style.visibility</p:attrName>
                                        </p:attrNameLst>
                                      </p:cBhvr>
                                      <p:to>
                                        <p:strVal val="visible"/>
                                      </p:to>
                                    </p:set>
                                    <p:animEffect filter="fade" transition="in">
                                      <p:cBhvr>
                                        <p:cTn dur="500"/>
                                        <p:tgtEl>
                                          <p:spTgt spid="177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8" st="8"/>
                                            </p:txEl>
                                          </p:spTgt>
                                        </p:tgtEl>
                                        <p:attrNameLst>
                                          <p:attrName>style.visibility</p:attrName>
                                        </p:attrNameLst>
                                      </p:cBhvr>
                                      <p:to>
                                        <p:strVal val="visible"/>
                                      </p:to>
                                    </p:set>
                                    <p:animEffect filter="fade" transition="in">
                                      <p:cBhvr>
                                        <p:cTn dur="500"/>
                                        <p:tgtEl>
                                          <p:spTgt spid="177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9" st="9"/>
                                            </p:txEl>
                                          </p:spTgt>
                                        </p:tgtEl>
                                        <p:attrNameLst>
                                          <p:attrName>style.visibility</p:attrName>
                                        </p:attrNameLst>
                                      </p:cBhvr>
                                      <p:to>
                                        <p:strVal val="visible"/>
                                      </p:to>
                                    </p:set>
                                    <p:animEffect filter="fade" transition="in">
                                      <p:cBhvr>
                                        <p:cTn dur="500"/>
                                        <p:tgtEl>
                                          <p:spTgt spid="177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10" st="10"/>
                                            </p:txEl>
                                          </p:spTgt>
                                        </p:tgtEl>
                                        <p:attrNameLst>
                                          <p:attrName>style.visibility</p:attrName>
                                        </p:attrNameLst>
                                      </p:cBhvr>
                                      <p:to>
                                        <p:strVal val="visible"/>
                                      </p:to>
                                    </p:set>
                                    <p:animEffect filter="fade" transition="in">
                                      <p:cBhvr>
                                        <p:cTn dur="500"/>
                                        <p:tgtEl>
                                          <p:spTgt spid="177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11" st="11"/>
                                            </p:txEl>
                                          </p:spTgt>
                                        </p:tgtEl>
                                        <p:attrNameLst>
                                          <p:attrName>style.visibility</p:attrName>
                                        </p:attrNameLst>
                                      </p:cBhvr>
                                      <p:to>
                                        <p:strVal val="visible"/>
                                      </p:to>
                                    </p:set>
                                    <p:animEffect filter="fade" transition="in">
                                      <p:cBhvr>
                                        <p:cTn dur="500"/>
                                        <p:tgtEl>
                                          <p:spTgt spid="177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12" st="12"/>
                                            </p:txEl>
                                          </p:spTgt>
                                        </p:tgtEl>
                                        <p:attrNameLst>
                                          <p:attrName>style.visibility</p:attrName>
                                        </p:attrNameLst>
                                      </p:cBhvr>
                                      <p:to>
                                        <p:strVal val="visible"/>
                                      </p:to>
                                    </p:set>
                                    <p:animEffect filter="fade" transition="in">
                                      <p:cBhvr>
                                        <p:cTn dur="500"/>
                                        <p:tgtEl>
                                          <p:spTgt spid="177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13" st="13"/>
                                            </p:txEl>
                                          </p:spTgt>
                                        </p:tgtEl>
                                        <p:attrNameLst>
                                          <p:attrName>style.visibility</p:attrName>
                                        </p:attrNameLst>
                                      </p:cBhvr>
                                      <p:to>
                                        <p:strVal val="visible"/>
                                      </p:to>
                                    </p:set>
                                    <p:animEffect filter="fade" transition="in">
                                      <p:cBhvr>
                                        <p:cTn dur="500"/>
                                        <p:tgtEl>
                                          <p:spTgt spid="177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14" st="14"/>
                                            </p:txEl>
                                          </p:spTgt>
                                        </p:tgtEl>
                                        <p:attrNameLst>
                                          <p:attrName>style.visibility</p:attrName>
                                        </p:attrNameLst>
                                      </p:cBhvr>
                                      <p:to>
                                        <p:strVal val="visible"/>
                                      </p:to>
                                    </p:set>
                                    <p:animEffect filter="fade" transition="in">
                                      <p:cBhvr>
                                        <p:cTn dur="500"/>
                                        <p:tgtEl>
                                          <p:spTgt spid="177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xEl>
                                              <p:pRg end="15" st="15"/>
                                            </p:txEl>
                                          </p:spTgt>
                                        </p:tgtEl>
                                        <p:attrNameLst>
                                          <p:attrName>style.visibility</p:attrName>
                                        </p:attrNameLst>
                                      </p:cBhvr>
                                      <p:to>
                                        <p:strVal val="visible"/>
                                      </p:to>
                                    </p:set>
                                    <p:animEffect filter="fade" transition="in">
                                      <p:cBhvr>
                                        <p:cTn dur="500"/>
                                        <p:tgtEl>
                                          <p:spTgt spid="1779">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0"/>
                                        </p:tgtEl>
                                        <p:attrNameLst>
                                          <p:attrName>style.visibility</p:attrName>
                                        </p:attrNameLst>
                                      </p:cBhvr>
                                      <p:to>
                                        <p:strVal val="visible"/>
                                      </p:to>
                                    </p:set>
                                    <p:animEffect filter="fade" transition="in">
                                      <p:cBhvr>
                                        <p:cTn dur="500"/>
                                        <p:tgtEl>
                                          <p:spTgt spid="17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81"/>
                                        </p:tgtEl>
                                        <p:attrNameLst>
                                          <p:attrName>style.visibility</p:attrName>
                                        </p:attrNameLst>
                                      </p:cBhvr>
                                      <p:to>
                                        <p:strVal val="visible"/>
                                      </p:to>
                                    </p:set>
                                    <p:anim calcmode="lin" valueType="num">
                                      <p:cBhvr additive="base">
                                        <p:cTn dur="500"/>
                                        <p:tgtEl>
                                          <p:spTgt spid="17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8" name="Shape 1788"/>
        <p:cNvGrpSpPr/>
        <p:nvPr/>
      </p:nvGrpSpPr>
      <p:grpSpPr>
        <a:xfrm>
          <a:off x="0" y="0"/>
          <a:ext cx="0" cy="0"/>
          <a:chOff x="0" y="0"/>
          <a:chExt cx="0" cy="0"/>
        </a:xfrm>
      </p:grpSpPr>
      <p:graphicFrame>
        <p:nvGraphicFramePr>
          <p:cNvPr id="1789" name="Google Shape;1789;p97"/>
          <p:cNvGraphicFramePr/>
          <p:nvPr/>
        </p:nvGraphicFramePr>
        <p:xfrm>
          <a:off x="990600" y="381000"/>
          <a:ext cx="3000000" cy="3000000"/>
        </p:xfrm>
        <a:graphic>
          <a:graphicData uri="http://schemas.openxmlformats.org/drawingml/2006/table">
            <a:tbl>
              <a:tblPr>
                <a:noFill/>
                <a:tableStyleId>{C2BE8B88-DE4F-40F9-8EF6-0FD96A1DF877}</a:tableStyleId>
              </a:tblPr>
              <a:tblGrid>
                <a:gridCol w="3276600"/>
                <a:gridCol w="4572000"/>
              </a:tblGrid>
              <a:tr h="438175">
                <a:tc>
                  <a:txBody>
                    <a:bodyPr/>
                    <a:lstStyle/>
                    <a:p>
                      <a:pPr indent="0" lvl="0" marL="0" marR="0" rtl="0" algn="ctr">
                        <a:lnSpc>
                          <a:spcPct val="150000"/>
                        </a:lnSpc>
                        <a:spcBef>
                          <a:spcPts val="0"/>
                        </a:spcBef>
                        <a:spcAft>
                          <a:spcPts val="0"/>
                        </a:spcAft>
                        <a:buNone/>
                      </a:pPr>
                      <a:r>
                        <a:rPr b="1" lang="en-US" sz="2000">
                          <a:solidFill>
                            <a:srgbClr val="C00000"/>
                          </a:solidFill>
                          <a:latin typeface="Times New Roman"/>
                          <a:ea typeface="Times New Roman"/>
                          <a:cs typeface="Times New Roman"/>
                          <a:sym typeface="Times New Roman"/>
                        </a:rPr>
                        <a:t>Cơ quan ban hành</a:t>
                      </a:r>
                      <a:endParaRPr b="1" sz="2000">
                        <a:solidFill>
                          <a:srgbClr val="C00000"/>
                        </a:solidFill>
                        <a:latin typeface="Times New Roman"/>
                        <a:ea typeface="Times New Roman"/>
                        <a:cs typeface="Times New Roman"/>
                        <a:sym typeface="Times New Roman"/>
                      </a:endParaRPr>
                    </a:p>
                  </a:txBody>
                  <a:tcPr marT="0" marB="0" marR="33875" marL="33875"/>
                </a:tc>
                <a:tc>
                  <a:txBody>
                    <a:bodyPr/>
                    <a:lstStyle/>
                    <a:p>
                      <a:pPr indent="0" lvl="0" marL="0" marR="0" rtl="0" algn="ctr">
                        <a:lnSpc>
                          <a:spcPct val="150000"/>
                        </a:lnSpc>
                        <a:spcBef>
                          <a:spcPts val="0"/>
                        </a:spcBef>
                        <a:spcAft>
                          <a:spcPts val="0"/>
                        </a:spcAft>
                        <a:buNone/>
                      </a:pPr>
                      <a:r>
                        <a:rPr b="1" lang="en-US" sz="2000">
                          <a:solidFill>
                            <a:srgbClr val="C00000"/>
                          </a:solidFill>
                          <a:latin typeface="Times New Roman"/>
                          <a:ea typeface="Times New Roman"/>
                          <a:cs typeface="Times New Roman"/>
                          <a:sym typeface="Times New Roman"/>
                        </a:rPr>
                        <a:t>Văn bản quy phạm pháp luật</a:t>
                      </a:r>
                      <a:endParaRPr b="1" sz="2000">
                        <a:solidFill>
                          <a:srgbClr val="C00000"/>
                        </a:solidFill>
                        <a:latin typeface="Times New Roman"/>
                        <a:ea typeface="Times New Roman"/>
                        <a:cs typeface="Times New Roman"/>
                        <a:sym typeface="Times New Roman"/>
                      </a:endParaRPr>
                    </a:p>
                  </a:txBody>
                  <a:tcPr marT="0" marB="0" marR="33875" marL="33875"/>
                </a:tc>
              </a:tr>
              <a:tr h="53322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Quốc hội</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Hiến pháp, đạo luật, bộ luật, nghị quyết</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UBTVQH</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Pháp lệnh, nghị quyết</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Chủ tịch nước</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Lệnh, quyết định</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Chính phủ</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Nghị định</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Thủ tướng chính phủ</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Quyết định</a:t>
                      </a:r>
                      <a:endParaRPr sz="2000">
                        <a:solidFill>
                          <a:schemeClr val="dk1"/>
                        </a:solidFill>
                        <a:latin typeface="Times New Roman"/>
                        <a:ea typeface="Times New Roman"/>
                        <a:cs typeface="Times New Roman"/>
                        <a:sym typeface="Times New Roman"/>
                      </a:endParaRPr>
                    </a:p>
                  </a:txBody>
                  <a:tcPr marT="0" marB="0" marR="33875" marL="33875"/>
                </a:tc>
              </a:tr>
              <a:tr h="53322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Bộ trưởng, thủ trưởng CQNB</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Thông tư</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Hội đồng thẩm phán TANDTC</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Nghị quyết</a:t>
                      </a:r>
                      <a:endParaRPr sz="2000">
                        <a:solidFill>
                          <a:schemeClr val="dk1"/>
                        </a:solidFill>
                        <a:latin typeface="Times New Roman"/>
                        <a:ea typeface="Times New Roman"/>
                        <a:cs typeface="Times New Roman"/>
                        <a:sym typeface="Times New Roman"/>
                      </a:endParaRPr>
                    </a:p>
                  </a:txBody>
                  <a:tcPr marT="0" marB="0" marR="33875" marL="33875"/>
                </a:tc>
              </a:tr>
              <a:tr h="876350">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Chánh án TANDTC, Viện trưởng VKSNDTC</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Thông tư</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Tổng kiểm toán nhà nước</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Quyết định</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Giữa các cơ quan nhà nước</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Nghị quyết liên tịch, thông tư liên tịch</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Hội đồng nhân dân</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Nghị quyết</a:t>
                      </a:r>
                      <a:endParaRPr sz="2000">
                        <a:solidFill>
                          <a:schemeClr val="dk1"/>
                        </a:solidFill>
                        <a:latin typeface="Times New Roman"/>
                        <a:ea typeface="Times New Roman"/>
                        <a:cs typeface="Times New Roman"/>
                        <a:sym typeface="Times New Roman"/>
                      </a:endParaRPr>
                    </a:p>
                  </a:txBody>
                  <a:tcPr marT="0" marB="0" marR="33875" marL="33875"/>
                </a:tc>
              </a:tr>
              <a:tr h="438175">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Ủy ban nhân dân</a:t>
                      </a:r>
                      <a:endParaRPr sz="2000">
                        <a:solidFill>
                          <a:schemeClr val="dk1"/>
                        </a:solidFill>
                        <a:latin typeface="Times New Roman"/>
                        <a:ea typeface="Times New Roman"/>
                        <a:cs typeface="Times New Roman"/>
                        <a:sym typeface="Times New Roman"/>
                      </a:endParaRPr>
                    </a:p>
                  </a:txBody>
                  <a:tcPr marT="0" marB="0" marR="33875" marL="33875"/>
                </a:tc>
                <a:tc>
                  <a:txBody>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Quyết định, chỉ thị</a:t>
                      </a:r>
                      <a:endParaRPr sz="2000">
                        <a:solidFill>
                          <a:schemeClr val="dk1"/>
                        </a:solidFill>
                        <a:latin typeface="Times New Roman"/>
                        <a:ea typeface="Times New Roman"/>
                        <a:cs typeface="Times New Roman"/>
                        <a:sym typeface="Times New Roman"/>
                      </a:endParaRPr>
                    </a:p>
                  </a:txBody>
                  <a:tcPr marT="0" marB="0" marR="33875" marL="33875"/>
                </a:tc>
              </a:tr>
            </a:tbl>
          </a:graphicData>
        </a:graphic>
      </p:graphicFrame>
      <p:sp>
        <p:nvSpPr>
          <p:cNvPr id="1790" name="Google Shape;1790;p97"/>
          <p:cNvSpPr/>
          <p:nvPr/>
        </p:nvSpPr>
        <p:spPr>
          <a:xfrm>
            <a:off x="1295400" y="0"/>
            <a:ext cx="72390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Hệ thống văn bản quy phạm pháp luật</a:t>
            </a:r>
            <a:endParaRPr b="1" sz="2000">
              <a:solidFill>
                <a:schemeClr val="dk1"/>
              </a:solidFill>
              <a:latin typeface="Arial"/>
              <a:ea typeface="Arial"/>
              <a:cs typeface="Arial"/>
              <a:sym typeface="Arial"/>
            </a:endParaRPr>
          </a:p>
        </p:txBody>
      </p:sp>
      <p:sp>
        <p:nvSpPr>
          <p:cNvPr id="1791" name="Google Shape;1791;p97"/>
          <p:cNvSpPr txBox="1"/>
          <p:nvPr>
            <p:ph idx="11" type="ftr"/>
          </p:nvPr>
        </p:nvSpPr>
        <p:spPr>
          <a:xfrm>
            <a:off x="5791200" y="0"/>
            <a:ext cx="3352800" cy="365125"/>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US"/>
              <a:t>ThS. Nguyễn Thị Thúy Hằng - Viện KT &amp; QL</a:t>
            </a:r>
            <a:endParaRPr/>
          </a:p>
        </p:txBody>
      </p:sp>
      <p:sp>
        <p:nvSpPr>
          <p:cNvPr id="1792" name="Google Shape;1792;p9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6" name="Shape 1796"/>
        <p:cNvGrpSpPr/>
        <p:nvPr/>
      </p:nvGrpSpPr>
      <p:grpSpPr>
        <a:xfrm>
          <a:off x="0" y="0"/>
          <a:ext cx="0" cy="0"/>
          <a:chOff x="0" y="0"/>
          <a:chExt cx="0" cy="0"/>
        </a:xfrm>
      </p:grpSpPr>
      <p:sp>
        <p:nvSpPr>
          <p:cNvPr id="1797" name="Google Shape;1797;p98"/>
          <p:cNvSpPr/>
          <p:nvPr/>
        </p:nvSpPr>
        <p:spPr>
          <a:xfrm>
            <a:off x="685800" y="1066800"/>
            <a:ext cx="7772400" cy="5486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77800" lvl="1" marL="114300" marR="0" rtl="0" algn="l">
              <a:lnSpc>
                <a:spcPct val="75000"/>
              </a:lnSpc>
              <a:spcBef>
                <a:spcPts val="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là văn bản QPPL do Quốc hội ban hành. </a:t>
            </a:r>
            <a:endParaRPr/>
          </a:p>
          <a:p>
            <a:pPr indent="-177800" lvl="1" marL="114300" marR="0" rtl="0" algn="l">
              <a:lnSpc>
                <a:spcPct val="75000"/>
              </a:lnSpc>
              <a:spcBef>
                <a:spcPts val="28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có giá trị pháp lý cao nhất </a:t>
            </a:r>
            <a:endParaRPr b="0" i="0" sz="2800" u="none" cap="none" strike="noStrike">
              <a:solidFill>
                <a:schemeClr val="dk1"/>
              </a:solidFill>
              <a:latin typeface="Arial"/>
              <a:ea typeface="Arial"/>
              <a:cs typeface="Arial"/>
              <a:sym typeface="Arial"/>
            </a:endParaRPr>
          </a:p>
          <a:p>
            <a:pPr indent="-177800" lvl="2" marL="228600" marR="0" rtl="0" algn="l">
              <a:lnSpc>
                <a:spcPct val="75000"/>
              </a:lnSpc>
              <a:spcBef>
                <a:spcPts val="28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Hiến pháp - có giá trị pháp lý cao nhất</a:t>
            </a:r>
            <a:endParaRPr b="0" i="0" sz="2800" u="none" cap="none" strike="noStrike">
              <a:solidFill>
                <a:schemeClr val="dk1"/>
              </a:solidFill>
              <a:latin typeface="Arial"/>
              <a:ea typeface="Arial"/>
              <a:cs typeface="Arial"/>
              <a:sym typeface="Arial"/>
            </a:endParaRPr>
          </a:p>
          <a:p>
            <a:pPr indent="-177800" lvl="2" marL="228600" marR="0" rtl="0" algn="l">
              <a:lnSpc>
                <a:spcPct val="75000"/>
              </a:lnSpc>
              <a:spcBef>
                <a:spcPts val="28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Các đạo luật, bộ luật:</a:t>
            </a:r>
            <a:endParaRPr/>
          </a:p>
          <a:p>
            <a:pPr indent="-177800" lvl="2" marL="228600" marR="0" rtl="0" algn="l">
              <a:lnSpc>
                <a:spcPct val="75000"/>
              </a:lnSpc>
              <a:spcBef>
                <a:spcPts val="28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luật dân sự</a:t>
            </a:r>
            <a:endParaRPr b="0" i="0" sz="2800" u="none" cap="none" strike="noStrike">
              <a:solidFill>
                <a:schemeClr val="dk1"/>
              </a:solidFill>
              <a:latin typeface="Arial"/>
              <a:ea typeface="Arial"/>
              <a:cs typeface="Arial"/>
              <a:sym typeface="Arial"/>
            </a:endParaRPr>
          </a:p>
          <a:p>
            <a:pPr indent="-177800" lvl="2" marL="228600" marR="0" rtl="0" algn="l">
              <a:lnSpc>
                <a:spcPct val="75000"/>
              </a:lnSpc>
              <a:spcBef>
                <a:spcPts val="28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luật doanh nghiệp</a:t>
            </a:r>
            <a:endParaRPr b="0" i="0" sz="2800" u="none" cap="none" strike="noStrike">
              <a:solidFill>
                <a:schemeClr val="dk1"/>
              </a:solidFill>
              <a:latin typeface="Arial"/>
              <a:ea typeface="Arial"/>
              <a:cs typeface="Arial"/>
              <a:sym typeface="Arial"/>
            </a:endParaRPr>
          </a:p>
          <a:p>
            <a:pPr indent="-177800" lvl="2" marL="228600" marR="0" rtl="0" algn="l">
              <a:lnSpc>
                <a:spcPct val="75000"/>
              </a:lnSpc>
              <a:spcBef>
                <a:spcPts val="28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 luật thương mại,...</a:t>
            </a:r>
            <a:endParaRPr b="0" i="0" sz="2800" u="none" cap="none" strike="noStrike">
              <a:solidFill>
                <a:schemeClr val="dk1"/>
              </a:solidFill>
              <a:latin typeface="Arial"/>
              <a:ea typeface="Arial"/>
              <a:cs typeface="Arial"/>
              <a:sym typeface="Arial"/>
            </a:endParaRPr>
          </a:p>
        </p:txBody>
      </p:sp>
      <p:sp>
        <p:nvSpPr>
          <p:cNvPr id="1798" name="Google Shape;1798;p98"/>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Văn bản luật</a:t>
            </a:r>
            <a:endParaRPr sz="3200">
              <a:solidFill>
                <a:srgbClr val="0070C0"/>
              </a:solidFill>
              <a:latin typeface="Arial"/>
              <a:ea typeface="Arial"/>
              <a:cs typeface="Arial"/>
              <a:sym typeface="Arial"/>
            </a:endParaRPr>
          </a:p>
        </p:txBody>
      </p:sp>
      <p:sp>
        <p:nvSpPr>
          <p:cNvPr id="1799" name="Google Shape;1799;p9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800" name="Google Shape;1800;p9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4" name="Shape 1804"/>
        <p:cNvGrpSpPr/>
        <p:nvPr/>
      </p:nvGrpSpPr>
      <p:grpSpPr>
        <a:xfrm>
          <a:off x="0" y="0"/>
          <a:ext cx="0" cy="0"/>
          <a:chOff x="0" y="0"/>
          <a:chExt cx="0" cy="0"/>
        </a:xfrm>
      </p:grpSpPr>
      <p:sp>
        <p:nvSpPr>
          <p:cNvPr id="1805" name="Google Shape;1805;p99"/>
          <p:cNvSpPr/>
          <p:nvPr/>
        </p:nvSpPr>
        <p:spPr>
          <a:xfrm>
            <a:off x="304800" y="609600"/>
            <a:ext cx="8686800" cy="5943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Pháp lệnh, NQ của UBTVQH</a:t>
            </a:r>
            <a:endParaRPr b="0" i="0" sz="2000" u="none" cap="none" strike="noStrike">
              <a:solidFill>
                <a:schemeClr val="dk1"/>
              </a:solidFill>
              <a:latin typeface="Arial"/>
              <a:ea typeface="Arial"/>
              <a:cs typeface="Arial"/>
              <a:sym typeface="Arial"/>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Lệnh, QĐ của CTN</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Nghị định của CP</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Quyết định của TTG</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Thông tư của Bộ trưởng, thủ trưởng cơ quan ngang Bộ</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Nghị quyết của HĐTP TANDTC</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Thông tư của CA TANDTC, VT VKSNDTC</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Quyết định của TKTNN</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VBQPPL liên tịch</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Nghị quyết của HĐND</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Quyết định,  chỉ thị của UBND</a:t>
            </a:r>
            <a:endParaRPr b="0" i="0" sz="2000" u="none" cap="none" strike="noStrike">
              <a:solidFill>
                <a:schemeClr val="dk1"/>
              </a:solidFill>
              <a:latin typeface="Arial"/>
              <a:ea typeface="Arial"/>
              <a:cs typeface="Arial"/>
              <a:sym typeface="Arial"/>
            </a:endParaRPr>
          </a:p>
        </p:txBody>
      </p:sp>
      <p:sp>
        <p:nvSpPr>
          <p:cNvPr id="1806" name="Google Shape;1806;p99"/>
          <p:cNvSpPr txBox="1"/>
          <p:nvPr/>
        </p:nvSpPr>
        <p:spPr>
          <a:xfrm>
            <a:off x="1447800" y="0"/>
            <a:ext cx="6553200" cy="533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Arial"/>
                <a:ea typeface="Arial"/>
                <a:cs typeface="Arial"/>
                <a:sym typeface="Arial"/>
              </a:rPr>
              <a:t>Văn bản dưới luật</a:t>
            </a:r>
            <a:endParaRPr sz="2800">
              <a:solidFill>
                <a:schemeClr val="dk1"/>
              </a:solidFill>
              <a:latin typeface="Arial"/>
              <a:ea typeface="Arial"/>
              <a:cs typeface="Arial"/>
              <a:sym typeface="Arial"/>
            </a:endParaRPr>
          </a:p>
        </p:txBody>
      </p:sp>
      <p:sp>
        <p:nvSpPr>
          <p:cNvPr id="1807" name="Google Shape;1807;p99"/>
          <p:cNvSpPr txBox="1"/>
          <p:nvPr>
            <p:ph idx="11" type="ftr"/>
          </p:nvPr>
        </p:nvSpPr>
        <p:spPr>
          <a:xfrm>
            <a:off x="6248400" y="0"/>
            <a:ext cx="28956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ThS. Nguyễn Thị Thúy Hằng - Viện KT &amp; QL</a:t>
            </a:r>
            <a:endParaRPr/>
          </a:p>
        </p:txBody>
      </p:sp>
      <p:sp>
        <p:nvSpPr>
          <p:cNvPr id="1808" name="Google Shape;1808;p9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sp>
        <p:nvSpPr>
          <p:cNvPr id="1813" name="Google Shape;1813;p100"/>
          <p:cNvSpPr txBox="1"/>
          <p:nvPr>
            <p:ph type="title"/>
          </p:nvPr>
        </p:nvSpPr>
        <p:spPr>
          <a:xfrm>
            <a:off x="1435608" y="274638"/>
            <a:ext cx="7498080" cy="792162"/>
          </a:xfrm>
          <a:prstGeom prst="rect">
            <a:avLst/>
          </a:prstGeom>
          <a:noFill/>
          <a:ln>
            <a:noFill/>
          </a:ln>
        </p:spPr>
        <p:txBody>
          <a:bodyPr anchorCtr="0" anchor="ctr" bIns="45700" lIns="91425" spcFirstLastPara="1" rIns="91425" wrap="square" tIns="45700">
            <a:normAutofit/>
          </a:bodyPr>
          <a:lstStyle/>
          <a:p>
            <a:pPr indent="0" lvl="0" marL="484632" rtl="0" algn="l">
              <a:spcBef>
                <a:spcPts val="0"/>
              </a:spcBef>
              <a:spcAft>
                <a:spcPts val="0"/>
              </a:spcAft>
              <a:buClr>
                <a:srgbClr val="FE2AD8"/>
              </a:buClr>
              <a:buSzPts val="2800"/>
              <a:buFont typeface="Times New Roman"/>
              <a:buNone/>
            </a:pPr>
            <a:r>
              <a:rPr lang="en-US" sz="2800">
                <a:solidFill>
                  <a:srgbClr val="FE2AD8"/>
                </a:solidFill>
                <a:latin typeface="Times New Roman"/>
                <a:ea typeface="Times New Roman"/>
                <a:cs typeface="Times New Roman"/>
                <a:sym typeface="Times New Roman"/>
              </a:rPr>
              <a:t>Phân loại các dạng văn bản sau:</a:t>
            </a:r>
            <a:endParaRPr sz="2800">
              <a:solidFill>
                <a:srgbClr val="FE2AD8"/>
              </a:solidFill>
              <a:latin typeface="Times New Roman"/>
              <a:ea typeface="Times New Roman"/>
              <a:cs typeface="Times New Roman"/>
              <a:sym typeface="Times New Roman"/>
            </a:endParaRPr>
          </a:p>
        </p:txBody>
      </p:sp>
      <p:sp>
        <p:nvSpPr>
          <p:cNvPr id="1814" name="Google Shape;1814;p100"/>
          <p:cNvSpPr txBox="1"/>
          <p:nvPr>
            <p:ph idx="1" type="body"/>
          </p:nvPr>
        </p:nvSpPr>
        <p:spPr>
          <a:xfrm>
            <a:off x="1435608" y="1143000"/>
            <a:ext cx="7498080" cy="5410200"/>
          </a:xfrm>
          <a:prstGeom prst="rect">
            <a:avLst/>
          </a:prstGeom>
          <a:noFill/>
          <a:ln>
            <a:noFill/>
          </a:ln>
        </p:spPr>
        <p:txBody>
          <a:bodyPr anchorCtr="0" anchor="t" bIns="45700" lIns="91425" spcFirstLastPara="1" rIns="91425" wrap="square" tIns="45700">
            <a:normAutofit/>
          </a:bodyPr>
          <a:lstStyle/>
          <a:p>
            <a:pPr indent="-514350" lvl="0" marL="596646" rtl="0" algn="l">
              <a:spcBef>
                <a:spcPts val="0"/>
              </a:spcBef>
              <a:spcAft>
                <a:spcPts val="0"/>
              </a:spcAft>
              <a:buSzPts val="1600"/>
              <a:buFont typeface="Arial"/>
              <a:buAutoNum type="arabicPeriod"/>
            </a:pPr>
            <a:r>
              <a:rPr lang="en-US" sz="2000">
                <a:latin typeface="Times New Roman"/>
                <a:ea typeface="Times New Roman"/>
                <a:cs typeface="Times New Roman"/>
                <a:sym typeface="Times New Roman"/>
              </a:rPr>
              <a:t>Thẻ sinh viên</a:t>
            </a:r>
            <a:endParaRPr sz="2000">
              <a:latin typeface="Times New Roman"/>
              <a:ea typeface="Times New Roman"/>
              <a:cs typeface="Times New Roman"/>
              <a:sym typeface="Times New Roman"/>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Nghị quyết của HĐND TP. Hà Nội về phát triển du lịch</a:t>
            </a:r>
            <a:endParaRPr sz="2000">
              <a:latin typeface="Times New Roman"/>
              <a:ea typeface="Times New Roman"/>
              <a:cs typeface="Times New Roman"/>
              <a:sym typeface="Times New Roman"/>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Hiến pháp 2013</a:t>
            </a:r>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Nghị quyết ĐH Đảng IX</a:t>
            </a:r>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Quyết định buộc thôi việc đối với anh A</a:t>
            </a:r>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Bản án của TAND Tp. HN tuyên án N.V.A</a:t>
            </a:r>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Điều lệ Đoàn TNCS HCM</a:t>
            </a:r>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Luật HN và GĐ năm 2000 </a:t>
            </a:r>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Pháp lệnh người cao tuổi </a:t>
            </a:r>
            <a:endParaRPr/>
          </a:p>
          <a:p>
            <a:pPr indent="-514350" lvl="0" marL="596646" rtl="0" algn="l">
              <a:spcBef>
                <a:spcPts val="400"/>
              </a:spcBef>
              <a:spcAft>
                <a:spcPts val="0"/>
              </a:spcAft>
              <a:buSzPts val="1600"/>
              <a:buFont typeface="Arial"/>
              <a:buAutoNum type="arabicPeriod"/>
            </a:pPr>
            <a:r>
              <a:rPr lang="en-US" sz="2000">
                <a:latin typeface="Times New Roman"/>
                <a:ea typeface="Times New Roman"/>
                <a:cs typeface="Times New Roman"/>
                <a:sym typeface="Times New Roman"/>
              </a:rPr>
              <a:t> Giấy khen đối với sinh viên A về thành tích học tập </a:t>
            </a:r>
            <a:endParaRPr/>
          </a:p>
        </p:txBody>
      </p:sp>
      <p:pic>
        <p:nvPicPr>
          <p:cNvPr descr="AMERROR3" id="1815" name="Google Shape;1815;p100"/>
          <p:cNvPicPr preferRelativeResize="0"/>
          <p:nvPr/>
        </p:nvPicPr>
        <p:blipFill rotWithShape="1">
          <a:blip r:embed="rId3">
            <a:alphaModFix/>
          </a:blip>
          <a:srcRect b="0" l="0" r="0" t="0"/>
          <a:stretch/>
        </p:blipFill>
        <p:spPr>
          <a:xfrm>
            <a:off x="7620000" y="3581400"/>
            <a:ext cx="1066800" cy="2971800"/>
          </a:xfrm>
          <a:prstGeom prst="rect">
            <a:avLst/>
          </a:prstGeom>
          <a:noFill/>
          <a:ln>
            <a:noFill/>
          </a:ln>
        </p:spPr>
      </p:pic>
      <p:sp>
        <p:nvSpPr>
          <p:cNvPr id="1816" name="Google Shape;1816;p100"/>
          <p:cNvSpPr txBox="1"/>
          <p:nvPr>
            <p:ph idx="11" type="ftr"/>
          </p:nvPr>
        </p:nvSpPr>
        <p:spPr>
          <a:xfrm>
            <a:off x="4883944" y="0"/>
            <a:ext cx="4260056" cy="300831"/>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a:t>ThS. Nguyễn Thị Thúy Hằng - Viện KT &amp; QL</a:t>
            </a:r>
            <a:endParaRPr/>
          </a:p>
        </p:txBody>
      </p:sp>
      <p:sp>
        <p:nvSpPr>
          <p:cNvPr id="1817" name="Google Shape;1817;p100"/>
          <p:cNvSpPr txBox="1"/>
          <p:nvPr>
            <p:ph idx="12" type="sldNum"/>
          </p:nvPr>
        </p:nvSpPr>
        <p:spPr>
          <a:xfrm>
            <a:off x="7589520" y="6480969"/>
            <a:ext cx="502920" cy="30175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5"/>
                                        </p:tgtEl>
                                        <p:attrNameLst>
                                          <p:attrName>style.visibility</p:attrName>
                                        </p:attrNameLst>
                                      </p:cBhvr>
                                      <p:to>
                                        <p:strVal val="visible"/>
                                      </p:to>
                                    </p:set>
                                    <p:anim calcmode="lin" valueType="num">
                                      <p:cBhvr additive="base">
                                        <p:cTn dur="500"/>
                                        <p:tgtEl>
                                          <p:spTgt spid="181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101"/>
          <p:cNvSpPr/>
          <p:nvPr/>
        </p:nvSpPr>
        <p:spPr>
          <a:xfrm>
            <a:off x="152400" y="1524000"/>
            <a:ext cx="3292475" cy="1060450"/>
          </a:xfrm>
          <a:prstGeom prst="roundRect">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Hiệu lực theo </a:t>
            </a:r>
            <a:endParaRPr/>
          </a:p>
          <a:p>
            <a:pPr indent="0" lvl="0" marL="0" marR="0" rtl="0" algn="ctr">
              <a:spcBef>
                <a:spcPts val="0"/>
              </a:spcBef>
              <a:spcAft>
                <a:spcPts val="0"/>
              </a:spcAft>
              <a:buNone/>
            </a:pPr>
            <a:r>
              <a:rPr b="1" lang="en-US" sz="2000">
                <a:solidFill>
                  <a:schemeClr val="dk1"/>
                </a:solidFill>
                <a:latin typeface="Arial"/>
                <a:ea typeface="Arial"/>
                <a:cs typeface="Arial"/>
                <a:sym typeface="Arial"/>
              </a:rPr>
              <a:t>thời gian</a:t>
            </a:r>
            <a:endParaRPr b="1" sz="2000">
              <a:solidFill>
                <a:schemeClr val="dk1"/>
              </a:solidFill>
              <a:latin typeface="Arial"/>
              <a:ea typeface="Arial"/>
              <a:cs typeface="Arial"/>
              <a:sym typeface="Arial"/>
            </a:endParaRPr>
          </a:p>
        </p:txBody>
      </p:sp>
      <p:sp>
        <p:nvSpPr>
          <p:cNvPr id="1823" name="Google Shape;1823;p101"/>
          <p:cNvSpPr/>
          <p:nvPr/>
        </p:nvSpPr>
        <p:spPr>
          <a:xfrm>
            <a:off x="2895600" y="1524000"/>
            <a:ext cx="3290888" cy="1060450"/>
          </a:xfrm>
          <a:prstGeom prst="roundRect">
            <a:avLst>
              <a:gd fmla="val 50000"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Hiệu lực theo </a:t>
            </a:r>
            <a:endParaRPr/>
          </a:p>
          <a:p>
            <a:pPr indent="0" lvl="0" marL="0" marR="0" rtl="0" algn="ctr">
              <a:spcBef>
                <a:spcPts val="0"/>
              </a:spcBef>
              <a:spcAft>
                <a:spcPts val="0"/>
              </a:spcAft>
              <a:buNone/>
            </a:pPr>
            <a:r>
              <a:rPr b="1" lang="en-US" sz="2000">
                <a:solidFill>
                  <a:schemeClr val="dk1"/>
                </a:solidFill>
                <a:latin typeface="Arial"/>
                <a:ea typeface="Arial"/>
                <a:cs typeface="Arial"/>
                <a:sym typeface="Arial"/>
              </a:rPr>
              <a:t>không gian</a:t>
            </a:r>
            <a:endParaRPr b="1" sz="2000">
              <a:solidFill>
                <a:schemeClr val="dk1"/>
              </a:solidFill>
              <a:latin typeface="Arial"/>
              <a:ea typeface="Arial"/>
              <a:cs typeface="Arial"/>
              <a:sym typeface="Arial"/>
            </a:endParaRPr>
          </a:p>
        </p:txBody>
      </p:sp>
      <p:sp>
        <p:nvSpPr>
          <p:cNvPr id="1824" name="Google Shape;1824;p101"/>
          <p:cNvSpPr/>
          <p:nvPr/>
        </p:nvSpPr>
        <p:spPr>
          <a:xfrm>
            <a:off x="5449888" y="1524000"/>
            <a:ext cx="3292475" cy="1060450"/>
          </a:xfrm>
          <a:prstGeom prst="roundRect">
            <a:avLst>
              <a:gd fmla="val 50000" name="adj"/>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dk1"/>
                </a:solidFill>
                <a:latin typeface="Arial"/>
                <a:ea typeface="Arial"/>
                <a:cs typeface="Arial"/>
                <a:sym typeface="Arial"/>
              </a:rPr>
              <a:t>Hiệu lực theo </a:t>
            </a:r>
            <a:endParaRPr/>
          </a:p>
          <a:p>
            <a:pPr indent="0" lvl="0" marL="0" marR="0" rtl="0" algn="ctr">
              <a:spcBef>
                <a:spcPts val="0"/>
              </a:spcBef>
              <a:spcAft>
                <a:spcPts val="0"/>
              </a:spcAft>
              <a:buNone/>
            </a:pPr>
            <a:r>
              <a:rPr b="1" lang="en-US" sz="2000">
                <a:solidFill>
                  <a:schemeClr val="dk1"/>
                </a:solidFill>
                <a:latin typeface="Arial"/>
                <a:ea typeface="Arial"/>
                <a:cs typeface="Arial"/>
                <a:sym typeface="Arial"/>
              </a:rPr>
              <a:t>đối tượng</a:t>
            </a:r>
            <a:endParaRPr b="1" sz="2000">
              <a:solidFill>
                <a:schemeClr val="dk1"/>
              </a:solidFill>
              <a:latin typeface="Arial"/>
              <a:ea typeface="Arial"/>
              <a:cs typeface="Arial"/>
              <a:sym typeface="Arial"/>
            </a:endParaRPr>
          </a:p>
        </p:txBody>
      </p:sp>
      <p:grpSp>
        <p:nvGrpSpPr>
          <p:cNvPr id="1825" name="Google Shape;1825;p101"/>
          <p:cNvGrpSpPr/>
          <p:nvPr/>
        </p:nvGrpSpPr>
        <p:grpSpPr>
          <a:xfrm>
            <a:off x="179388" y="2827338"/>
            <a:ext cx="3292475" cy="3082984"/>
            <a:chOff x="180109" y="3055777"/>
            <a:chExt cx="3291821" cy="2696770"/>
          </a:xfrm>
        </p:grpSpPr>
        <p:sp>
          <p:nvSpPr>
            <p:cNvPr id="1826" name="Google Shape;1826;p101"/>
            <p:cNvSpPr/>
            <p:nvPr/>
          </p:nvSpPr>
          <p:spPr>
            <a:xfrm>
              <a:off x="180109" y="3055777"/>
              <a:ext cx="3291821" cy="2659225"/>
            </a:xfrm>
            <a:prstGeom prst="chevron">
              <a:avLst>
                <a:gd fmla="val 17842" name="adj"/>
              </a:avLst>
            </a:prstGeom>
            <a:solidFill>
              <a:srgbClr val="FFE6D6"/>
            </a:solidFill>
            <a:ln cap="flat" cmpd="sng" w="254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7" name="Google Shape;1827;p101"/>
            <p:cNvSpPr txBox="1"/>
            <p:nvPr/>
          </p:nvSpPr>
          <p:spPr>
            <a:xfrm>
              <a:off x="610236" y="3248796"/>
              <a:ext cx="2514101" cy="2503751"/>
            </a:xfrm>
            <a:prstGeom prst="rect">
              <a:avLst/>
            </a:prstGeom>
            <a:noFill/>
            <a:ln>
              <a:noFill/>
            </a:ln>
          </p:spPr>
          <p:txBody>
            <a:bodyPr anchorCtr="0" anchor="t" bIns="45700" lIns="91425" spcFirstLastPara="1" rIns="91425" wrap="square" tIns="45700">
              <a:spAutoFit/>
            </a:bodyPr>
            <a:lstStyle/>
            <a:p>
              <a:pPr indent="-371475" lvl="0" marL="371475" marR="0" rtl="0" algn="l">
                <a:spcBef>
                  <a:spcPts val="0"/>
                </a:spcBef>
                <a:spcAft>
                  <a:spcPts val="0"/>
                </a:spcAft>
                <a:buClr>
                  <a:schemeClr val="dk1"/>
                </a:buClr>
                <a:buSzPts val="2000"/>
                <a:buFont typeface="Arial"/>
                <a:buAutoNum type="romanLcParenBoth"/>
              </a:pPr>
              <a:r>
                <a:rPr lang="en-US" sz="2000">
                  <a:solidFill>
                    <a:schemeClr val="dk1"/>
                  </a:solidFill>
                  <a:latin typeface="Arial"/>
                  <a:ea typeface="Arial"/>
                  <a:cs typeface="Arial"/>
                  <a:sym typeface="Arial"/>
                </a:rPr>
                <a:t>Là </a:t>
              </a:r>
              <a:r>
                <a:rPr i="1" lang="en-US" sz="2000" u="sng">
                  <a:solidFill>
                    <a:schemeClr val="dk1"/>
                  </a:solidFill>
                  <a:latin typeface="Arial"/>
                  <a:ea typeface="Arial"/>
                  <a:cs typeface="Arial"/>
                  <a:sym typeface="Arial"/>
                </a:rPr>
                <a:t>thời điểm phát </a:t>
              </a:r>
              <a:endParaRPr/>
            </a:p>
            <a:p>
              <a:pPr indent="-371475" lvl="0" marL="371475" marR="0" rtl="0" algn="l">
                <a:spcBef>
                  <a:spcPts val="0"/>
                </a:spcBef>
                <a:spcAft>
                  <a:spcPts val="0"/>
                </a:spcAft>
                <a:buNone/>
              </a:pPr>
              <a:r>
                <a:rPr i="1" lang="en-US" sz="2000" u="sng">
                  <a:solidFill>
                    <a:schemeClr val="dk1"/>
                  </a:solidFill>
                  <a:latin typeface="Arial"/>
                  <a:ea typeface="Arial"/>
                  <a:cs typeface="Arial"/>
                  <a:sym typeface="Arial"/>
                </a:rPr>
                <a:t>sinh và chấm dứt </a:t>
              </a:r>
              <a:endParaRPr/>
            </a:p>
            <a:p>
              <a:pPr indent="-371475" lvl="0" marL="371475" marR="0" rtl="0" algn="l">
                <a:spcBef>
                  <a:spcPts val="0"/>
                </a:spcBef>
                <a:spcAft>
                  <a:spcPts val="0"/>
                </a:spcAft>
                <a:buNone/>
              </a:pPr>
              <a:r>
                <a:rPr i="1" lang="en-US" sz="2000" u="sng">
                  <a:solidFill>
                    <a:schemeClr val="dk1"/>
                  </a:solidFill>
                  <a:latin typeface="Arial"/>
                  <a:ea typeface="Arial"/>
                  <a:cs typeface="Arial"/>
                  <a:sym typeface="Arial"/>
                </a:rPr>
                <a:t>hiệu lực</a:t>
              </a:r>
              <a:r>
                <a:rPr lang="en-US" sz="2000">
                  <a:solidFill>
                    <a:schemeClr val="dk1"/>
                  </a:solidFill>
                  <a:latin typeface="Arial"/>
                  <a:ea typeface="Arial"/>
                  <a:cs typeface="Arial"/>
                  <a:sym typeface="Arial"/>
                </a:rPr>
                <a:t> của văn bản</a:t>
              </a:r>
              <a:endParaRPr sz="2000">
                <a:solidFill>
                  <a:schemeClr val="dk1"/>
                </a:solidFill>
                <a:latin typeface="Arial"/>
                <a:ea typeface="Arial"/>
                <a:cs typeface="Arial"/>
                <a:sym typeface="Arial"/>
              </a:endParaRPr>
            </a:p>
            <a:p>
              <a:pPr indent="-371475" lvl="0" marL="371475" marR="0" rtl="0" algn="l">
                <a:spcBef>
                  <a:spcPts val="0"/>
                </a:spcBef>
                <a:spcAft>
                  <a:spcPts val="0"/>
                </a:spcAft>
                <a:buNone/>
              </a:pPr>
              <a:r>
                <a:rPr lang="en-US" sz="2000">
                  <a:solidFill>
                    <a:schemeClr val="dk1"/>
                  </a:solidFill>
                  <a:latin typeface="Arial"/>
                  <a:ea typeface="Arial"/>
                  <a:cs typeface="Arial"/>
                  <a:sym typeface="Arial"/>
                </a:rPr>
                <a:t>quy phạm pháp luật</a:t>
              </a:r>
              <a:endParaRPr sz="2000">
                <a:solidFill>
                  <a:schemeClr val="dk1"/>
                </a:solidFill>
                <a:latin typeface="Arial"/>
                <a:ea typeface="Arial"/>
                <a:cs typeface="Arial"/>
                <a:sym typeface="Arial"/>
              </a:endParaRPr>
            </a:p>
            <a:p>
              <a:pPr indent="-371475" lvl="0" marL="371475" marR="0" rtl="0" algn="l">
                <a:spcBef>
                  <a:spcPts val="0"/>
                </a:spcBef>
                <a:spcAft>
                  <a:spcPts val="0"/>
                </a:spcAft>
                <a:buNone/>
              </a:pPr>
              <a:r>
                <a:rPr lang="en-US" sz="2000">
                  <a:solidFill>
                    <a:schemeClr val="dk1"/>
                  </a:solidFill>
                  <a:latin typeface="Arial"/>
                  <a:ea typeface="Arial"/>
                  <a:cs typeface="Arial"/>
                  <a:sym typeface="Arial"/>
                </a:rPr>
                <a:t>(ii) Hiệu lực hồi tố</a:t>
              </a:r>
              <a:endParaRPr sz="2000">
                <a:solidFill>
                  <a:schemeClr val="dk1"/>
                </a:solidFill>
                <a:latin typeface="Arial"/>
                <a:ea typeface="Arial"/>
                <a:cs typeface="Arial"/>
                <a:sym typeface="Arial"/>
              </a:endParaRPr>
            </a:p>
            <a:p>
              <a:pPr indent="-371475" lvl="0" marL="371475" marR="0" rtl="0" algn="l">
                <a:spcBef>
                  <a:spcPts val="0"/>
                </a:spcBef>
                <a:spcAft>
                  <a:spcPts val="0"/>
                </a:spcAft>
                <a:buNone/>
              </a:pPr>
              <a:r>
                <a:rPr lang="en-US" sz="2000">
                  <a:solidFill>
                    <a:schemeClr val="dk1"/>
                  </a:solidFill>
                  <a:latin typeface="Arial"/>
                  <a:ea typeface="Arial"/>
                  <a:cs typeface="Arial"/>
                  <a:sym typeface="Arial"/>
                </a:rPr>
                <a:t>(iii) Nguyên tắc áp dụng</a:t>
              </a:r>
              <a:endParaRPr sz="2000">
                <a:solidFill>
                  <a:schemeClr val="dk1"/>
                </a:solidFill>
                <a:latin typeface="Arial"/>
                <a:ea typeface="Arial"/>
                <a:cs typeface="Arial"/>
                <a:sym typeface="Arial"/>
              </a:endParaRPr>
            </a:p>
          </p:txBody>
        </p:sp>
      </p:grpSp>
      <p:grpSp>
        <p:nvGrpSpPr>
          <p:cNvPr id="1828" name="Google Shape;1828;p101"/>
          <p:cNvGrpSpPr/>
          <p:nvPr/>
        </p:nvGrpSpPr>
        <p:grpSpPr>
          <a:xfrm>
            <a:off x="2867025" y="2827338"/>
            <a:ext cx="3290888" cy="3040062"/>
            <a:chOff x="2866506" y="3055776"/>
            <a:chExt cx="3291840" cy="2659224"/>
          </a:xfrm>
        </p:grpSpPr>
        <p:sp>
          <p:nvSpPr>
            <p:cNvPr id="1829" name="Google Shape;1829;p101"/>
            <p:cNvSpPr/>
            <p:nvPr/>
          </p:nvSpPr>
          <p:spPr>
            <a:xfrm>
              <a:off x="2866506" y="3055776"/>
              <a:ext cx="3291840" cy="2659224"/>
            </a:xfrm>
            <a:prstGeom prst="chevron">
              <a:avLst>
                <a:gd fmla="val 17842" name="adj"/>
              </a:avLst>
            </a:prstGeom>
            <a:solidFill>
              <a:srgbClr val="E2E9F7"/>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0" name="Google Shape;1830;p101"/>
            <p:cNvSpPr txBox="1"/>
            <p:nvPr/>
          </p:nvSpPr>
          <p:spPr>
            <a:xfrm>
              <a:off x="3276200" y="3752731"/>
              <a:ext cx="2820216" cy="888428"/>
            </a:xfrm>
            <a:prstGeom prst="rect">
              <a:avLst/>
            </a:prstGeom>
            <a:solidFill>
              <a:srgbClr val="E2E9F7"/>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Là giới hạn phạm vi </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lãnh thổ mà văn bản </a:t>
              </a:r>
              <a:endParaRPr/>
            </a:p>
            <a:p>
              <a:pPr indent="0" lvl="0" marL="0" marR="0" rtl="0" algn="l">
                <a:spcBef>
                  <a:spcPts val="0"/>
                </a:spcBef>
                <a:spcAft>
                  <a:spcPts val="0"/>
                </a:spcAft>
                <a:buNone/>
              </a:pPr>
              <a:r>
                <a:rPr lang="en-US" sz="2000">
                  <a:solidFill>
                    <a:schemeClr val="dk1"/>
                  </a:solidFill>
                  <a:latin typeface="Arial"/>
                  <a:ea typeface="Arial"/>
                  <a:cs typeface="Arial"/>
                  <a:sym typeface="Arial"/>
                </a:rPr>
                <a:t>đó có hiệu lực</a:t>
              </a:r>
              <a:endParaRPr sz="2000">
                <a:solidFill>
                  <a:schemeClr val="dk1"/>
                </a:solidFill>
                <a:latin typeface="Arial"/>
                <a:ea typeface="Arial"/>
                <a:cs typeface="Arial"/>
                <a:sym typeface="Arial"/>
              </a:endParaRPr>
            </a:p>
          </p:txBody>
        </p:sp>
      </p:grpSp>
      <p:grpSp>
        <p:nvGrpSpPr>
          <p:cNvPr id="1831" name="Google Shape;1831;p101"/>
          <p:cNvGrpSpPr/>
          <p:nvPr/>
        </p:nvGrpSpPr>
        <p:grpSpPr>
          <a:xfrm>
            <a:off x="5546725" y="2827338"/>
            <a:ext cx="3368675" cy="3040062"/>
            <a:chOff x="5547360" y="3055776"/>
            <a:chExt cx="3368068" cy="2659224"/>
          </a:xfrm>
        </p:grpSpPr>
        <p:sp>
          <p:nvSpPr>
            <p:cNvPr id="1832" name="Google Shape;1832;p101"/>
            <p:cNvSpPr/>
            <p:nvPr/>
          </p:nvSpPr>
          <p:spPr>
            <a:xfrm>
              <a:off x="5547360" y="3055776"/>
              <a:ext cx="3291882" cy="2659224"/>
            </a:xfrm>
            <a:prstGeom prst="chevron">
              <a:avLst>
                <a:gd fmla="val 16468" name="adj"/>
              </a:avLst>
            </a:prstGeom>
            <a:solidFill>
              <a:srgbClr val="F8CCC6"/>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3" name="Google Shape;1833;p101"/>
            <p:cNvSpPr txBox="1"/>
            <p:nvPr/>
          </p:nvSpPr>
          <p:spPr>
            <a:xfrm>
              <a:off x="6020350" y="3582066"/>
              <a:ext cx="2895078" cy="1399946"/>
            </a:xfrm>
            <a:prstGeom prst="rect">
              <a:avLst/>
            </a:prstGeom>
            <a:solidFill>
              <a:srgbClr val="F8CCC6"/>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Áp dụng đối với tất cả cá nhân, tổ chức thuộc đối tượng điều chỉnh của VBQPPL</a:t>
              </a:r>
              <a:endParaRPr sz="20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1834" name="Google Shape;1834;p101"/>
          <p:cNvSpPr/>
          <p:nvPr/>
        </p:nvSpPr>
        <p:spPr>
          <a:xfrm>
            <a:off x="1066800" y="152400"/>
            <a:ext cx="7696200" cy="1066800"/>
          </a:xfrm>
          <a:prstGeom prst="roundRect">
            <a:avLst>
              <a:gd fmla="val 16667" name="adj"/>
            </a:avLst>
          </a:prstGeom>
          <a:solidFill>
            <a:srgbClr val="DDE2ED"/>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rgbClr val="FF0000"/>
                </a:solidFill>
                <a:latin typeface="Times New Roman"/>
                <a:ea typeface="Times New Roman"/>
                <a:cs typeface="Times New Roman"/>
                <a:sym typeface="Times New Roman"/>
              </a:rPr>
              <a:t>Hiệu lực của VBQPPL</a:t>
            </a:r>
            <a:br>
              <a:rPr lang="en-US" sz="2000">
                <a:solidFill>
                  <a:srgbClr val="FF0000"/>
                </a:solidFill>
                <a:latin typeface="Times New Roman"/>
                <a:ea typeface="Times New Roman"/>
                <a:cs typeface="Times New Roman"/>
                <a:sym typeface="Times New Roman"/>
              </a:rPr>
            </a:br>
            <a:r>
              <a:rPr lang="en-US" sz="1800">
                <a:solidFill>
                  <a:schemeClr val="dk1"/>
                </a:solidFill>
                <a:latin typeface="Times New Roman"/>
                <a:ea typeface="Times New Roman"/>
                <a:cs typeface="Times New Roman"/>
                <a:sym typeface="Times New Roman"/>
              </a:rPr>
              <a:t>Là phạm vi tác động của VBPL đó, bao gồm giới hạn về không gian, thời gian và đối tượng pháp luật</a:t>
            </a:r>
            <a:endParaRPr sz="1800">
              <a:solidFill>
                <a:schemeClr val="dk1"/>
              </a:solidFill>
              <a:latin typeface="Arial"/>
              <a:ea typeface="Arial"/>
              <a:cs typeface="Arial"/>
              <a:sym typeface="Arial"/>
            </a:endParaRPr>
          </a:p>
        </p:txBody>
      </p:sp>
      <p:sp>
        <p:nvSpPr>
          <p:cNvPr id="1835" name="Google Shape;1835;p101"/>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836" name="Google Shape;1836;p10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2"/>
                                        </p:tgtEl>
                                        <p:attrNameLst>
                                          <p:attrName>style.visibility</p:attrName>
                                        </p:attrNameLst>
                                      </p:cBhvr>
                                      <p:to>
                                        <p:strVal val="visible"/>
                                      </p:to>
                                    </p:set>
                                    <p:animEffect filter="fade" transition="in">
                                      <p:cBhvr>
                                        <p:cTn dur="500"/>
                                        <p:tgtEl>
                                          <p:spTgt spid="182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25"/>
                                        </p:tgtEl>
                                        <p:attrNameLst>
                                          <p:attrName>style.visibility</p:attrName>
                                        </p:attrNameLst>
                                      </p:cBhvr>
                                      <p:to>
                                        <p:strVal val="visible"/>
                                      </p:to>
                                    </p:set>
                                    <p:animEffect filter="fade" transition="in">
                                      <p:cBhvr>
                                        <p:cTn dur="500"/>
                                        <p:tgtEl>
                                          <p:spTgt spid="1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3"/>
                                        </p:tgtEl>
                                        <p:attrNameLst>
                                          <p:attrName>style.visibility</p:attrName>
                                        </p:attrNameLst>
                                      </p:cBhvr>
                                      <p:to>
                                        <p:strVal val="visible"/>
                                      </p:to>
                                    </p:set>
                                    <p:animEffect filter="fade" transition="in">
                                      <p:cBhvr>
                                        <p:cTn dur="500"/>
                                        <p:tgtEl>
                                          <p:spTgt spid="182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28"/>
                                        </p:tgtEl>
                                        <p:attrNameLst>
                                          <p:attrName>style.visibility</p:attrName>
                                        </p:attrNameLst>
                                      </p:cBhvr>
                                      <p:to>
                                        <p:strVal val="visible"/>
                                      </p:to>
                                    </p:set>
                                    <p:animEffect filter="fade" transition="in">
                                      <p:cBhvr>
                                        <p:cTn dur="500"/>
                                        <p:tgtEl>
                                          <p:spTgt spid="1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4"/>
                                        </p:tgtEl>
                                        <p:attrNameLst>
                                          <p:attrName>style.visibility</p:attrName>
                                        </p:attrNameLst>
                                      </p:cBhvr>
                                      <p:to>
                                        <p:strVal val="visible"/>
                                      </p:to>
                                    </p:set>
                                    <p:animEffect filter="fade" transition="in">
                                      <p:cBhvr>
                                        <p:cTn dur="500"/>
                                        <p:tgtEl>
                                          <p:spTgt spid="18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31"/>
                                        </p:tgtEl>
                                        <p:attrNameLst>
                                          <p:attrName>style.visibility</p:attrName>
                                        </p:attrNameLst>
                                      </p:cBhvr>
                                      <p:to>
                                        <p:strVal val="visible"/>
                                      </p:to>
                                    </p:set>
                                    <p:animEffect filter="fade" transition="in">
                                      <p:cBhvr>
                                        <p:cTn dur="500"/>
                                        <p:tgtEl>
                                          <p:spTgt spid="18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102"/>
          <p:cNvSpPr txBox="1"/>
          <p:nvPr/>
        </p:nvSpPr>
        <p:spPr>
          <a:xfrm>
            <a:off x="1371600" y="228600"/>
            <a:ext cx="6128456"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600">
                <a:solidFill>
                  <a:srgbClr val="0070C0"/>
                </a:solidFill>
                <a:latin typeface="Times New Roman"/>
                <a:ea typeface="Times New Roman"/>
                <a:cs typeface="Times New Roman"/>
                <a:sym typeface="Times New Roman"/>
              </a:rPr>
              <a:t>4.7	Quan hệ pháp luật</a:t>
            </a:r>
            <a:endParaRPr sz="2600">
              <a:solidFill>
                <a:srgbClr val="0070C0"/>
              </a:solidFill>
              <a:latin typeface="Times New Roman"/>
              <a:ea typeface="Times New Roman"/>
              <a:cs typeface="Times New Roman"/>
              <a:sym typeface="Times New Roman"/>
            </a:endParaRPr>
          </a:p>
        </p:txBody>
      </p:sp>
      <p:sp>
        <p:nvSpPr>
          <p:cNvPr id="1842" name="Google Shape;1842;p102"/>
          <p:cNvSpPr/>
          <p:nvPr/>
        </p:nvSpPr>
        <p:spPr>
          <a:xfrm>
            <a:off x="457200" y="1447800"/>
            <a:ext cx="7696200" cy="4191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50000"/>
              </a:lnSpc>
              <a:spcBef>
                <a:spcPts val="0"/>
              </a:spcBef>
              <a:spcAft>
                <a:spcPts val="0"/>
              </a:spcAft>
              <a:buClr>
                <a:schemeClr val="hlink"/>
              </a:buClr>
              <a:buSzPts val="2600"/>
              <a:buFont typeface="Noto Sans Symbols"/>
              <a:buNone/>
            </a:pPr>
            <a:r>
              <a:rPr b="1" lang="en-US" sz="2600">
                <a:solidFill>
                  <a:srgbClr val="339933"/>
                </a:solidFill>
                <a:latin typeface="Times New Roman"/>
                <a:ea typeface="Times New Roman"/>
                <a:cs typeface="Times New Roman"/>
                <a:sym typeface="Times New Roman"/>
              </a:rPr>
              <a:t> </a:t>
            </a:r>
            <a:r>
              <a:rPr lang="en-US" sz="2600">
                <a:solidFill>
                  <a:schemeClr val="dk1"/>
                </a:solidFill>
                <a:latin typeface="Times New Roman"/>
                <a:ea typeface="Times New Roman"/>
                <a:cs typeface="Times New Roman"/>
                <a:sym typeface="Times New Roman"/>
              </a:rPr>
              <a:t>QHPL là hình thức pháp lý của các quan hệ xã hội, xuất hiện khi các quan hệ xã hội được một quy phạm pháp luật tương ứng điều chỉnh và các chủ thể tham gia vào các quan hệ pháp luật này đều có những quyền và nghĩa vụ pháp lý đã được quy phạm pháp luật đó dự liệu.</a:t>
            </a:r>
            <a:endParaRPr b="1" sz="2600">
              <a:solidFill>
                <a:schemeClr val="dk1"/>
              </a:solidFill>
              <a:latin typeface="Times New Roman"/>
              <a:ea typeface="Times New Roman"/>
              <a:cs typeface="Times New Roman"/>
              <a:sym typeface="Times New Roman"/>
            </a:endParaRPr>
          </a:p>
        </p:txBody>
      </p:sp>
      <p:sp>
        <p:nvSpPr>
          <p:cNvPr id="1843" name="Google Shape;1843;p102"/>
          <p:cNvSpPr txBox="1"/>
          <p:nvPr>
            <p:ph idx="11" type="ftr"/>
          </p:nvPr>
        </p:nvSpPr>
        <p:spPr>
          <a:xfrm rot="5400000">
            <a:off x="7153460" y="3529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844" name="Google Shape;1844;p10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2"/>
                                        </p:tgtEl>
                                        <p:attrNameLst>
                                          <p:attrName>style.visibility</p:attrName>
                                        </p:attrNameLst>
                                      </p:cBhvr>
                                      <p:to>
                                        <p:strVal val="visible"/>
                                      </p:to>
                                    </p:set>
                                    <p:animEffect filter="fade" transition="in">
                                      <p:cBhvr>
                                        <p:cTn dur="500"/>
                                        <p:tgtEl>
                                          <p:spTgt spid="18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103"/>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a:t>
            </a:r>
            <a:endParaRPr sz="3200">
              <a:solidFill>
                <a:srgbClr val="0070C0"/>
              </a:solidFill>
              <a:latin typeface="Arial"/>
              <a:ea typeface="Arial"/>
              <a:cs typeface="Arial"/>
              <a:sym typeface="Arial"/>
            </a:endParaRPr>
          </a:p>
        </p:txBody>
      </p:sp>
      <p:sp>
        <p:nvSpPr>
          <p:cNvPr id="1850" name="Google Shape;1850;p103"/>
          <p:cNvSpPr txBox="1"/>
          <p:nvPr/>
        </p:nvSpPr>
        <p:spPr>
          <a:xfrm>
            <a:off x="381000" y="1712416"/>
            <a:ext cx="1295400" cy="4154984"/>
          </a:xfrm>
          <a:prstGeom prst="rect">
            <a:avLst/>
          </a:prstGeom>
          <a:gradFill>
            <a:gsLst>
              <a:gs pos="0">
                <a:srgbClr val="BA0500"/>
              </a:gs>
              <a:gs pos="30000">
                <a:srgbClr val="B20500"/>
              </a:gs>
              <a:gs pos="75000">
                <a:srgbClr val="890000"/>
              </a:gs>
              <a:gs pos="100000">
                <a:srgbClr val="630000"/>
              </a:gs>
            </a:gsLst>
            <a:path path="circle">
              <a:fillToRect r="100%" t="100%"/>
            </a:path>
            <a:tileRect b="-100%" l="-100%"/>
          </a:gradFill>
          <a:ln cap="flat" cmpd="sng" w="12700">
            <a:solidFill>
              <a:srgbClr val="B90C00"/>
            </a:solidFill>
            <a:prstDash val="solid"/>
            <a:round/>
            <a:headEnd len="sm" w="sm" type="none"/>
            <a:tailEnd len="sm" w="sm" type="none"/>
          </a:ln>
          <a:effectLst>
            <a:outerShdw blurRad="50800" rotWithShape="0" dir="5400000" dist="20000">
              <a:srgbClr val="000000">
                <a:alpha val="4196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Arial"/>
              <a:ea typeface="Arial"/>
              <a:cs typeface="Arial"/>
              <a:sym typeface="Arial"/>
            </a:endParaRPr>
          </a:p>
          <a:p>
            <a:pPr indent="0" lvl="0" marL="0" marR="0" rtl="0" algn="ctr">
              <a:spcBef>
                <a:spcPts val="0"/>
              </a:spcBef>
              <a:spcAft>
                <a:spcPts val="0"/>
              </a:spcAft>
              <a:buNone/>
            </a:pPr>
            <a:r>
              <a:t/>
            </a:r>
            <a:endParaRPr sz="2400">
              <a:solidFill>
                <a:schemeClr val="lt1"/>
              </a:solidFill>
              <a:latin typeface="Arial"/>
              <a:ea typeface="Arial"/>
              <a:cs typeface="Arial"/>
              <a:sym typeface="Arial"/>
            </a:endParaRPr>
          </a:p>
          <a:p>
            <a:pPr indent="0" lvl="0" marL="0" marR="0" rtl="0" algn="ctr">
              <a:spcBef>
                <a:spcPts val="0"/>
              </a:spcBef>
              <a:spcAft>
                <a:spcPts val="0"/>
              </a:spcAft>
              <a:buNone/>
            </a:pPr>
            <a:r>
              <a:t/>
            </a:r>
            <a:endParaRPr sz="2400">
              <a:solidFill>
                <a:schemeClr val="lt1"/>
              </a:solidFill>
              <a:latin typeface="Arial"/>
              <a:ea typeface="Arial"/>
              <a:cs typeface="Arial"/>
              <a:sym typeface="Arial"/>
            </a:endParaRPr>
          </a:p>
          <a:p>
            <a:pPr indent="0" lvl="0" marL="0" marR="0" rtl="0" algn="ctr">
              <a:spcBef>
                <a:spcPts val="0"/>
              </a:spcBef>
              <a:spcAft>
                <a:spcPts val="0"/>
              </a:spcAft>
              <a:buNone/>
            </a:pPr>
            <a:r>
              <a:rPr lang="en-US" sz="2400">
                <a:solidFill>
                  <a:schemeClr val="lt1"/>
                </a:solidFill>
                <a:latin typeface="Arial"/>
                <a:ea typeface="Arial"/>
                <a:cs typeface="Arial"/>
                <a:sym typeface="Arial"/>
              </a:rPr>
              <a:t>QUAN </a:t>
            </a:r>
            <a:endParaRPr/>
          </a:p>
          <a:p>
            <a:pPr indent="0" lvl="0" marL="0" marR="0" rtl="0" algn="ctr">
              <a:spcBef>
                <a:spcPts val="0"/>
              </a:spcBef>
              <a:spcAft>
                <a:spcPts val="0"/>
              </a:spcAft>
              <a:buNone/>
            </a:pPr>
            <a:r>
              <a:rPr lang="en-US" sz="2400">
                <a:solidFill>
                  <a:schemeClr val="lt1"/>
                </a:solidFill>
                <a:latin typeface="Arial"/>
                <a:ea typeface="Arial"/>
                <a:cs typeface="Arial"/>
                <a:sym typeface="Arial"/>
              </a:rPr>
              <a:t>HỆ </a:t>
            </a:r>
            <a:endParaRPr/>
          </a:p>
          <a:p>
            <a:pPr indent="0" lvl="0" marL="0" marR="0" rtl="0" algn="ctr">
              <a:spcBef>
                <a:spcPts val="0"/>
              </a:spcBef>
              <a:spcAft>
                <a:spcPts val="0"/>
              </a:spcAft>
              <a:buNone/>
            </a:pPr>
            <a:r>
              <a:rPr lang="en-US" sz="2400">
                <a:solidFill>
                  <a:schemeClr val="lt1"/>
                </a:solidFill>
                <a:latin typeface="Arial"/>
                <a:ea typeface="Arial"/>
                <a:cs typeface="Arial"/>
                <a:sym typeface="Arial"/>
              </a:rPr>
              <a:t>XÃ </a:t>
            </a:r>
            <a:endParaRPr/>
          </a:p>
          <a:p>
            <a:pPr indent="0" lvl="0" marL="0" marR="0" rtl="0" algn="ctr">
              <a:spcBef>
                <a:spcPts val="0"/>
              </a:spcBef>
              <a:spcAft>
                <a:spcPts val="0"/>
              </a:spcAft>
              <a:buNone/>
            </a:pPr>
            <a:r>
              <a:rPr lang="en-US" sz="2400">
                <a:solidFill>
                  <a:schemeClr val="lt1"/>
                </a:solidFill>
                <a:latin typeface="Arial"/>
                <a:ea typeface="Arial"/>
                <a:cs typeface="Arial"/>
                <a:sym typeface="Arial"/>
              </a:rPr>
              <a:t>HỘI</a:t>
            </a:r>
            <a:endParaRPr/>
          </a:p>
          <a:p>
            <a:pPr indent="0" lvl="0" marL="0" marR="0" rtl="0" algn="ctr">
              <a:spcBef>
                <a:spcPts val="0"/>
              </a:spcBef>
              <a:spcAft>
                <a:spcPts val="0"/>
              </a:spcAft>
              <a:buNone/>
            </a:pPr>
            <a:r>
              <a:t/>
            </a:r>
            <a:endParaRPr sz="2400">
              <a:solidFill>
                <a:schemeClr val="lt1"/>
              </a:solidFill>
              <a:latin typeface="Arial"/>
              <a:ea typeface="Arial"/>
              <a:cs typeface="Arial"/>
              <a:sym typeface="Arial"/>
            </a:endParaRPr>
          </a:p>
          <a:p>
            <a:pPr indent="0" lvl="0" marL="0" marR="0" rtl="0" algn="ctr">
              <a:spcBef>
                <a:spcPts val="0"/>
              </a:spcBef>
              <a:spcAft>
                <a:spcPts val="0"/>
              </a:spcAft>
              <a:buNone/>
            </a:pPr>
            <a:r>
              <a:t/>
            </a:r>
            <a:endParaRPr sz="2400">
              <a:solidFill>
                <a:schemeClr val="lt1"/>
              </a:solidFill>
              <a:latin typeface="Arial"/>
              <a:ea typeface="Arial"/>
              <a:cs typeface="Arial"/>
              <a:sym typeface="Arial"/>
            </a:endParaRPr>
          </a:p>
          <a:p>
            <a:pPr indent="0" lvl="0" marL="0" marR="0" rtl="0" algn="ctr">
              <a:spcBef>
                <a:spcPts val="0"/>
              </a:spcBef>
              <a:spcAft>
                <a:spcPts val="0"/>
              </a:spcAft>
              <a:buNone/>
            </a:pPr>
            <a:r>
              <a:t/>
            </a:r>
            <a:endParaRPr sz="2400">
              <a:solidFill>
                <a:schemeClr val="lt1"/>
              </a:solidFill>
              <a:latin typeface="Arial"/>
              <a:ea typeface="Arial"/>
              <a:cs typeface="Arial"/>
              <a:sym typeface="Arial"/>
            </a:endParaRPr>
          </a:p>
          <a:p>
            <a:pPr indent="0" lvl="0" marL="0" marR="0" rtl="0" algn="ctr">
              <a:spcBef>
                <a:spcPts val="0"/>
              </a:spcBef>
              <a:spcAft>
                <a:spcPts val="0"/>
              </a:spcAft>
              <a:buNone/>
            </a:pPr>
            <a:r>
              <a:t/>
            </a:r>
            <a:endParaRPr sz="2400">
              <a:solidFill>
                <a:schemeClr val="lt1"/>
              </a:solidFill>
              <a:latin typeface="Arial"/>
              <a:ea typeface="Arial"/>
              <a:cs typeface="Arial"/>
              <a:sym typeface="Arial"/>
            </a:endParaRPr>
          </a:p>
        </p:txBody>
      </p:sp>
      <p:sp>
        <p:nvSpPr>
          <p:cNvPr id="1851" name="Google Shape;1851;p103"/>
          <p:cNvSpPr txBox="1"/>
          <p:nvPr/>
        </p:nvSpPr>
        <p:spPr>
          <a:xfrm>
            <a:off x="2590800" y="1771471"/>
            <a:ext cx="3124200" cy="1200329"/>
          </a:xfrm>
          <a:prstGeom prst="rect">
            <a:avLst/>
          </a:prstGeom>
          <a:gradFill>
            <a:gsLst>
              <a:gs pos="0">
                <a:srgbClr val="FFFBB2"/>
              </a:gs>
              <a:gs pos="30000">
                <a:srgbClr val="FFFAA9"/>
              </a:gs>
              <a:gs pos="75000">
                <a:srgbClr val="FFFA7D"/>
              </a:gs>
              <a:gs pos="100000">
                <a:srgbClr val="FFFE4B"/>
              </a:gs>
            </a:gsLst>
            <a:path path="circle">
              <a:fillToRect r="100%" t="100%"/>
            </a:path>
            <a:tileRect b="-100%" l="-100%"/>
          </a:gradFill>
          <a:ln cap="flat" cmpd="sng" w="12700">
            <a:solidFill>
              <a:srgbClr val="FAC700"/>
            </a:solidFill>
            <a:prstDash val="solid"/>
            <a:round/>
            <a:headEnd len="sm" w="sm" type="none"/>
            <a:tailEnd len="sm" w="sm" type="none"/>
          </a:ln>
          <a:effectLst>
            <a:outerShdw blurRad="50800" rotWithShape="0" dir="5400000" dist="25000">
              <a:srgbClr val="000000">
                <a:alpha val="4000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400">
              <a:solidFill>
                <a:schemeClr val="dk1"/>
              </a:solidFill>
              <a:latin typeface="Arial"/>
              <a:ea typeface="Arial"/>
              <a:cs typeface="Arial"/>
              <a:sym typeface="Arial"/>
            </a:endParaRPr>
          </a:p>
          <a:p>
            <a:pPr indent="0" lvl="0" marL="0" marR="0" rtl="0" algn="ctr">
              <a:spcBef>
                <a:spcPts val="0"/>
              </a:spcBef>
              <a:spcAft>
                <a:spcPts val="0"/>
              </a:spcAft>
              <a:buNone/>
            </a:pPr>
            <a:r>
              <a:rPr lang="en-US" sz="2400">
                <a:solidFill>
                  <a:schemeClr val="dk1"/>
                </a:solidFill>
                <a:latin typeface="Arial"/>
                <a:ea typeface="Arial"/>
                <a:cs typeface="Arial"/>
                <a:sym typeface="Arial"/>
              </a:rPr>
              <a:t>Sự kiện pháp lý</a:t>
            </a:r>
            <a:endParaRPr sz="2400">
              <a:solidFill>
                <a:schemeClr val="dk1"/>
              </a:solidFill>
              <a:latin typeface="Arial"/>
              <a:ea typeface="Arial"/>
              <a:cs typeface="Arial"/>
              <a:sym typeface="Arial"/>
            </a:endParaRPr>
          </a:p>
          <a:p>
            <a:pPr indent="0" lvl="0" marL="0" marR="0" rtl="0" algn="ctr">
              <a:spcBef>
                <a:spcPts val="0"/>
              </a:spcBef>
              <a:spcAft>
                <a:spcPts val="0"/>
              </a:spcAft>
              <a:buNone/>
            </a:pPr>
            <a:r>
              <a:t/>
            </a:r>
            <a:endParaRPr sz="2400">
              <a:solidFill>
                <a:schemeClr val="dk1"/>
              </a:solidFill>
              <a:latin typeface="Arial"/>
              <a:ea typeface="Arial"/>
              <a:cs typeface="Arial"/>
              <a:sym typeface="Arial"/>
            </a:endParaRPr>
          </a:p>
        </p:txBody>
      </p:sp>
      <p:sp>
        <p:nvSpPr>
          <p:cNvPr id="1852" name="Google Shape;1852;p103"/>
          <p:cNvSpPr txBox="1"/>
          <p:nvPr/>
        </p:nvSpPr>
        <p:spPr>
          <a:xfrm>
            <a:off x="2667000" y="4495800"/>
            <a:ext cx="3124200" cy="1200329"/>
          </a:xfrm>
          <a:prstGeom prst="rect">
            <a:avLst/>
          </a:prstGeom>
          <a:gradFill>
            <a:gsLst>
              <a:gs pos="0">
                <a:srgbClr val="FF6100"/>
              </a:gs>
              <a:gs pos="30000">
                <a:srgbClr val="F85D00"/>
              </a:gs>
              <a:gs pos="75000">
                <a:srgbClr val="BD4400"/>
              </a:gs>
              <a:gs pos="100000">
                <a:srgbClr val="8A3100"/>
              </a:gs>
            </a:gsLst>
            <a:path path="circle">
              <a:fillToRect r="100%" t="100%"/>
            </a:path>
            <a:tileRect b="-100%" l="-100%"/>
          </a:gradFill>
          <a:ln cap="flat" cmpd="sng" w="12700">
            <a:solidFill>
              <a:srgbClr val="FF6803"/>
            </a:solidFill>
            <a:prstDash val="solid"/>
            <a:round/>
            <a:headEnd len="sm" w="sm" type="none"/>
            <a:tailEnd len="sm" w="sm" type="none"/>
          </a:ln>
          <a:effectLst>
            <a:outerShdw blurRad="50800" rotWithShape="0" dir="5400000" dist="20000">
              <a:srgbClr val="000000">
                <a:alpha val="41960"/>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2400">
              <a:solidFill>
                <a:schemeClr val="lt1"/>
              </a:solidFill>
              <a:latin typeface="Arial"/>
              <a:ea typeface="Arial"/>
              <a:cs typeface="Arial"/>
              <a:sym typeface="Arial"/>
            </a:endParaRPr>
          </a:p>
          <a:p>
            <a:pPr indent="0" lvl="0" marL="0" marR="0" rtl="0" algn="ctr">
              <a:spcBef>
                <a:spcPts val="0"/>
              </a:spcBef>
              <a:spcAft>
                <a:spcPts val="0"/>
              </a:spcAft>
              <a:buNone/>
            </a:pPr>
            <a:r>
              <a:rPr lang="en-US" sz="2400">
                <a:solidFill>
                  <a:schemeClr val="lt1"/>
                </a:solidFill>
                <a:latin typeface="Arial"/>
                <a:ea typeface="Arial"/>
                <a:cs typeface="Arial"/>
                <a:sym typeface="Arial"/>
              </a:rPr>
              <a:t>Quy phạm pháp luật</a:t>
            </a:r>
            <a:endParaRPr sz="2400">
              <a:solidFill>
                <a:schemeClr val="lt1"/>
              </a:solidFill>
              <a:latin typeface="Arial"/>
              <a:ea typeface="Arial"/>
              <a:cs typeface="Arial"/>
              <a:sym typeface="Arial"/>
            </a:endParaRPr>
          </a:p>
          <a:p>
            <a:pPr indent="0" lvl="0" marL="0" marR="0" rtl="0" algn="ctr">
              <a:spcBef>
                <a:spcPts val="0"/>
              </a:spcBef>
              <a:spcAft>
                <a:spcPts val="0"/>
              </a:spcAft>
              <a:buNone/>
            </a:pPr>
            <a:r>
              <a:t/>
            </a:r>
            <a:endParaRPr sz="2400">
              <a:solidFill>
                <a:schemeClr val="lt1"/>
              </a:solidFill>
              <a:latin typeface="Arial"/>
              <a:ea typeface="Arial"/>
              <a:cs typeface="Arial"/>
              <a:sym typeface="Arial"/>
            </a:endParaRPr>
          </a:p>
        </p:txBody>
      </p:sp>
      <p:sp>
        <p:nvSpPr>
          <p:cNvPr id="1853" name="Google Shape;1853;p103"/>
          <p:cNvSpPr/>
          <p:nvPr/>
        </p:nvSpPr>
        <p:spPr>
          <a:xfrm>
            <a:off x="6705600" y="1524000"/>
            <a:ext cx="2057400" cy="4267200"/>
          </a:xfrm>
          <a:prstGeom prst="ellipse">
            <a:avLst/>
          </a:prstGeom>
          <a:gradFill>
            <a:gsLst>
              <a:gs pos="0">
                <a:srgbClr val="C7D7FF"/>
              </a:gs>
              <a:gs pos="30000">
                <a:srgbClr val="C2D7FF"/>
              </a:gs>
              <a:gs pos="75000">
                <a:srgbClr val="A2C0FF"/>
              </a:gs>
              <a:gs pos="100000">
                <a:srgbClr val="81ACFF"/>
              </a:gs>
            </a:gsLst>
            <a:path path="circle">
              <a:fillToRect r="100%" t="100%"/>
            </a:path>
            <a:tileRect b="-100%" l="-100%"/>
          </a:gradFill>
          <a:ln cap="flat" cmpd="sng" w="12700">
            <a:solidFill>
              <a:srgbClr val="4D7ACD"/>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QUAN </a:t>
            </a:r>
            <a:endParaRPr/>
          </a:p>
          <a:p>
            <a:pPr indent="0" lvl="0" marL="0" marR="0" rtl="0" algn="ctr">
              <a:spcBef>
                <a:spcPts val="0"/>
              </a:spcBef>
              <a:spcAft>
                <a:spcPts val="0"/>
              </a:spcAft>
              <a:buNone/>
            </a:pPr>
            <a:r>
              <a:rPr lang="en-US" sz="2400">
                <a:solidFill>
                  <a:schemeClr val="dk1"/>
                </a:solidFill>
                <a:latin typeface="Arial"/>
                <a:ea typeface="Arial"/>
                <a:cs typeface="Arial"/>
                <a:sym typeface="Arial"/>
              </a:rPr>
              <a:t>HỆ</a:t>
            </a:r>
            <a:endParaRPr/>
          </a:p>
          <a:p>
            <a:pPr indent="0" lvl="0" marL="0" marR="0" rtl="0" algn="ctr">
              <a:spcBef>
                <a:spcPts val="0"/>
              </a:spcBef>
              <a:spcAft>
                <a:spcPts val="0"/>
              </a:spcAft>
              <a:buNone/>
            </a:pPr>
            <a:r>
              <a:rPr lang="en-US" sz="2400">
                <a:solidFill>
                  <a:schemeClr val="dk1"/>
                </a:solidFill>
                <a:latin typeface="Arial"/>
                <a:ea typeface="Arial"/>
                <a:cs typeface="Arial"/>
                <a:sym typeface="Arial"/>
              </a:rPr>
              <a:t>PHÁP LUẬT</a:t>
            </a:r>
            <a:endParaRPr sz="2400">
              <a:solidFill>
                <a:schemeClr val="dk1"/>
              </a:solidFill>
              <a:latin typeface="Arial"/>
              <a:ea typeface="Arial"/>
              <a:cs typeface="Arial"/>
              <a:sym typeface="Arial"/>
            </a:endParaRPr>
          </a:p>
        </p:txBody>
      </p:sp>
      <p:cxnSp>
        <p:nvCxnSpPr>
          <p:cNvPr id="1854" name="Google Shape;1854;p103"/>
          <p:cNvCxnSpPr/>
          <p:nvPr/>
        </p:nvCxnSpPr>
        <p:spPr>
          <a:xfrm>
            <a:off x="1752600" y="2438400"/>
            <a:ext cx="838200" cy="1588"/>
          </a:xfrm>
          <a:prstGeom prst="straightConnector1">
            <a:avLst/>
          </a:prstGeom>
          <a:noFill/>
          <a:ln cap="flat" cmpd="sng" w="38100">
            <a:solidFill>
              <a:srgbClr val="FF6803"/>
            </a:solidFill>
            <a:prstDash val="solid"/>
            <a:round/>
            <a:headEnd len="sm" w="sm" type="none"/>
            <a:tailEnd len="med" w="med" type="stealth"/>
          </a:ln>
        </p:spPr>
      </p:cxnSp>
      <p:cxnSp>
        <p:nvCxnSpPr>
          <p:cNvPr id="1855" name="Google Shape;1855;p103"/>
          <p:cNvCxnSpPr/>
          <p:nvPr/>
        </p:nvCxnSpPr>
        <p:spPr>
          <a:xfrm>
            <a:off x="1752600" y="5181600"/>
            <a:ext cx="838200" cy="1588"/>
          </a:xfrm>
          <a:prstGeom prst="straightConnector1">
            <a:avLst/>
          </a:prstGeom>
          <a:noFill/>
          <a:ln cap="flat" cmpd="sng" w="38100">
            <a:solidFill>
              <a:srgbClr val="FF6803"/>
            </a:solidFill>
            <a:prstDash val="solid"/>
            <a:round/>
            <a:headEnd len="sm" w="sm" type="none"/>
            <a:tailEnd len="med" w="med" type="stealth"/>
          </a:ln>
        </p:spPr>
      </p:cxnSp>
      <p:cxnSp>
        <p:nvCxnSpPr>
          <p:cNvPr id="1856" name="Google Shape;1856;p103"/>
          <p:cNvCxnSpPr/>
          <p:nvPr/>
        </p:nvCxnSpPr>
        <p:spPr>
          <a:xfrm>
            <a:off x="5715000" y="2371725"/>
            <a:ext cx="990600" cy="1285800"/>
          </a:xfrm>
          <a:prstGeom prst="straightConnector1">
            <a:avLst/>
          </a:prstGeom>
          <a:noFill/>
          <a:ln cap="flat" cmpd="sng" w="38100">
            <a:solidFill>
              <a:srgbClr val="FF6803"/>
            </a:solidFill>
            <a:prstDash val="solid"/>
            <a:round/>
            <a:headEnd len="sm" w="sm" type="none"/>
            <a:tailEnd len="med" w="med" type="stealth"/>
          </a:ln>
        </p:spPr>
      </p:cxnSp>
      <p:cxnSp>
        <p:nvCxnSpPr>
          <p:cNvPr id="1857" name="Google Shape;1857;p103"/>
          <p:cNvCxnSpPr/>
          <p:nvPr/>
        </p:nvCxnSpPr>
        <p:spPr>
          <a:xfrm flipH="1" rot="10800000">
            <a:off x="5791200" y="3657600"/>
            <a:ext cx="914400" cy="1447800"/>
          </a:xfrm>
          <a:prstGeom prst="straightConnector1">
            <a:avLst/>
          </a:prstGeom>
          <a:noFill/>
          <a:ln cap="flat" cmpd="sng" w="38100">
            <a:solidFill>
              <a:srgbClr val="FF6803"/>
            </a:solidFill>
            <a:prstDash val="solid"/>
            <a:round/>
            <a:headEnd len="sm" w="sm" type="none"/>
            <a:tailEnd len="med" w="med" type="stealth"/>
          </a:ln>
        </p:spPr>
      </p:cxnSp>
      <p:sp>
        <p:nvSpPr>
          <p:cNvPr id="1858" name="Google Shape;1858;p103"/>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859" name="Google Shape;1859;p10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860" name="Google Shape;1860;p103"/>
          <p:cNvSpPr/>
          <p:nvPr/>
        </p:nvSpPr>
        <p:spPr>
          <a:xfrm>
            <a:off x="3429000" y="2971800"/>
            <a:ext cx="1371600" cy="1752600"/>
          </a:xfrm>
          <a:prstGeom prst="ellipse">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Arial"/>
                <a:ea typeface="Arial"/>
                <a:cs typeface="Arial"/>
                <a:sym typeface="Arial"/>
              </a:rPr>
              <a:t>Chủ thể</a:t>
            </a:r>
            <a:endParaRPr sz="2400">
              <a:solidFill>
                <a:schemeClr val="lt1"/>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104"/>
          <p:cNvSpPr txBox="1"/>
          <p:nvPr>
            <p:ph type="title"/>
          </p:nvPr>
        </p:nvSpPr>
        <p:spPr>
          <a:xfrm>
            <a:off x="457200" y="274638"/>
            <a:ext cx="7467600"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Times New Roman"/>
              <a:buNone/>
            </a:pPr>
            <a:r>
              <a:rPr lang="en-US">
                <a:latin typeface="Times New Roman"/>
                <a:ea typeface="Times New Roman"/>
                <a:cs typeface="Times New Roman"/>
                <a:sym typeface="Times New Roman"/>
              </a:rPr>
              <a:t>Phân biệt QHPL và QHXH</a:t>
            </a:r>
            <a:endParaRPr>
              <a:latin typeface="Times New Roman"/>
              <a:ea typeface="Times New Roman"/>
              <a:cs typeface="Times New Roman"/>
              <a:sym typeface="Times New Roman"/>
            </a:endParaRPr>
          </a:p>
        </p:txBody>
      </p:sp>
      <p:graphicFrame>
        <p:nvGraphicFramePr>
          <p:cNvPr id="1866" name="Google Shape;1866;p104"/>
          <p:cNvGraphicFramePr/>
          <p:nvPr/>
        </p:nvGraphicFramePr>
        <p:xfrm>
          <a:off x="609600" y="1143000"/>
          <a:ext cx="3000000" cy="3000000"/>
        </p:xfrm>
        <a:graphic>
          <a:graphicData uri="http://schemas.openxmlformats.org/drawingml/2006/table">
            <a:tbl>
              <a:tblPr bandRow="1" firstRow="1">
                <a:noFill/>
                <a:tableStyleId>{C2BE8B88-DE4F-40F9-8EF6-0FD96A1DF877}</a:tableStyleId>
              </a:tblPr>
              <a:tblGrid>
                <a:gridCol w="4038600"/>
                <a:gridCol w="4038600"/>
              </a:tblGrid>
              <a:tr h="807175">
                <a:tc>
                  <a:txBody>
                    <a:bodyPr/>
                    <a:lstStyle/>
                    <a:p>
                      <a:pPr indent="0" lvl="0" marL="0" marR="0" rtl="0" algn="just">
                        <a:lnSpc>
                          <a:spcPct val="75000"/>
                        </a:lnSpc>
                        <a:spcBef>
                          <a:spcPts val="0"/>
                        </a:spcBef>
                        <a:spcAft>
                          <a:spcPts val="0"/>
                        </a:spcAft>
                        <a:buNone/>
                      </a:pPr>
                      <a:r>
                        <a:t/>
                      </a:r>
                      <a:endParaRPr b="1"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b="1" lang="en-US" sz="2400" u="none" cap="none" strike="noStrike">
                          <a:latin typeface="Times New Roman"/>
                          <a:ea typeface="Times New Roman"/>
                          <a:cs typeface="Times New Roman"/>
                          <a:sym typeface="Times New Roman"/>
                        </a:rPr>
                        <a:t>Quan hệ xã hội</a:t>
                      </a:r>
                      <a:endParaRPr sz="2400" u="none" cap="none" strike="noStrike">
                        <a:latin typeface="Arial"/>
                        <a:ea typeface="Arial"/>
                        <a:cs typeface="Arial"/>
                        <a:sym typeface="Arial"/>
                      </a:endParaRPr>
                    </a:p>
                  </a:txBody>
                  <a:tcPr marT="0" marB="0" marR="68575" marL="68575"/>
                </a:tc>
                <a:tc>
                  <a:txBody>
                    <a:bodyPr/>
                    <a:lstStyle/>
                    <a:p>
                      <a:pPr indent="0" lvl="0" marL="0" marR="0" rtl="0" algn="just">
                        <a:lnSpc>
                          <a:spcPct val="75000"/>
                        </a:lnSpc>
                        <a:spcBef>
                          <a:spcPts val="0"/>
                        </a:spcBef>
                        <a:spcAft>
                          <a:spcPts val="0"/>
                        </a:spcAft>
                        <a:buNone/>
                      </a:pPr>
                      <a:r>
                        <a:t/>
                      </a:r>
                      <a:endParaRPr b="1"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b="1" lang="en-US" sz="2400" u="none" cap="none" strike="noStrike">
                          <a:latin typeface="Times New Roman"/>
                          <a:ea typeface="Times New Roman"/>
                          <a:cs typeface="Times New Roman"/>
                          <a:sym typeface="Times New Roman"/>
                        </a:rPr>
                        <a:t>Quan hệ pháp luật</a:t>
                      </a:r>
                      <a:endParaRPr sz="2400" u="none" cap="none" strike="noStrike">
                        <a:latin typeface="Arial"/>
                        <a:ea typeface="Arial"/>
                        <a:cs typeface="Arial"/>
                        <a:sym typeface="Arial"/>
                      </a:endParaRPr>
                    </a:p>
                  </a:txBody>
                  <a:tcPr marT="0" marB="0" marR="68575" marL="68575"/>
                </a:tc>
              </a:tr>
              <a:tr h="995150">
                <a:tc>
                  <a:txBody>
                    <a:bodyPr/>
                    <a:lstStyle/>
                    <a:p>
                      <a:pPr indent="0" lvl="0" marL="0" marR="0" rtl="0" algn="just">
                        <a:lnSpc>
                          <a:spcPct val="75000"/>
                        </a:lnSpc>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lang="en-US" sz="2400" u="none" cap="none" strike="noStrike">
                          <a:latin typeface="Times New Roman"/>
                          <a:ea typeface="Times New Roman"/>
                          <a:cs typeface="Times New Roman"/>
                          <a:sym typeface="Times New Roman"/>
                        </a:rPr>
                        <a:t>Luôn tồn tại khách quan</a:t>
                      </a:r>
                      <a:endParaRPr sz="2400" u="none" cap="none" strike="noStrike">
                        <a:latin typeface="Arial"/>
                        <a:ea typeface="Arial"/>
                        <a:cs typeface="Arial"/>
                        <a:sym typeface="Arial"/>
                      </a:endParaRPr>
                    </a:p>
                  </a:txBody>
                  <a:tcPr marT="0" marB="0" marR="68575" marL="68575"/>
                </a:tc>
                <a:tc>
                  <a:txBody>
                    <a:bodyPr/>
                    <a:lstStyle/>
                    <a:p>
                      <a:pPr indent="0" lvl="0" marL="0" marR="0" rtl="0" algn="just">
                        <a:lnSpc>
                          <a:spcPct val="75000"/>
                        </a:lnSpc>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lang="en-US" sz="2400" u="none" cap="none" strike="noStrike">
                          <a:latin typeface="Times New Roman"/>
                          <a:ea typeface="Times New Roman"/>
                          <a:cs typeface="Times New Roman"/>
                          <a:sym typeface="Times New Roman"/>
                        </a:rPr>
                        <a:t>Thuộc phạm trù chủ quan, xuất hiện trên cơ sở ý chí của nhà làm luật</a:t>
                      </a:r>
                      <a:endParaRPr sz="2400" u="none" cap="none" strike="noStrike">
                        <a:latin typeface="Arial"/>
                        <a:ea typeface="Arial"/>
                        <a:cs typeface="Arial"/>
                        <a:sym typeface="Arial"/>
                      </a:endParaRPr>
                    </a:p>
                  </a:txBody>
                  <a:tcPr marT="0" marB="0" marR="68575" marL="68575"/>
                </a:tc>
              </a:tr>
              <a:tr h="807175">
                <a:tc>
                  <a:txBody>
                    <a:bodyPr/>
                    <a:lstStyle/>
                    <a:p>
                      <a:pPr indent="0" lvl="0" marL="0" marR="0" rtl="0" algn="just">
                        <a:lnSpc>
                          <a:spcPct val="75000"/>
                        </a:lnSpc>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lang="en-US" sz="2400" u="none" cap="none" strike="noStrike">
                          <a:latin typeface="Times New Roman"/>
                          <a:ea typeface="Times New Roman"/>
                          <a:cs typeface="Times New Roman"/>
                          <a:sym typeface="Times New Roman"/>
                        </a:rPr>
                        <a:t>Được nhiều khoa học xã hội khác nhau nghiên cứu</a:t>
                      </a:r>
                      <a:endParaRPr sz="2400" u="none" cap="none" strike="noStrike">
                        <a:latin typeface="Arial"/>
                        <a:ea typeface="Arial"/>
                        <a:cs typeface="Arial"/>
                        <a:sym typeface="Arial"/>
                      </a:endParaRPr>
                    </a:p>
                  </a:txBody>
                  <a:tcPr marT="0" marB="0" marR="68575" marL="68575"/>
                </a:tc>
                <a:tc>
                  <a:txBody>
                    <a:bodyPr/>
                    <a:lstStyle/>
                    <a:p>
                      <a:pPr indent="0" lvl="0" marL="0" marR="0" rtl="0" algn="just">
                        <a:lnSpc>
                          <a:spcPct val="75000"/>
                        </a:lnSpc>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lang="en-US" sz="2400" u="none" cap="none" strike="noStrike">
                          <a:latin typeface="Times New Roman"/>
                          <a:ea typeface="Times New Roman"/>
                          <a:cs typeface="Times New Roman"/>
                          <a:sym typeface="Times New Roman"/>
                        </a:rPr>
                        <a:t>Là đối tượng nghiên cứu của khoa học pháp lý</a:t>
                      </a:r>
                      <a:endParaRPr sz="2400" u="none" cap="none" strike="noStrike">
                        <a:latin typeface="Arial"/>
                        <a:ea typeface="Arial"/>
                        <a:cs typeface="Arial"/>
                        <a:sym typeface="Arial"/>
                      </a:endParaRPr>
                    </a:p>
                  </a:txBody>
                  <a:tcPr marT="0" marB="0" marR="68575" marL="68575"/>
                </a:tc>
              </a:tr>
              <a:tr h="1079325">
                <a:tc>
                  <a:txBody>
                    <a:bodyPr/>
                    <a:lstStyle/>
                    <a:p>
                      <a:pPr indent="0" lvl="0" marL="0" marR="0" rtl="0" algn="just">
                        <a:lnSpc>
                          <a:spcPct val="75000"/>
                        </a:lnSpc>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lang="en-US" sz="2400" u="none" cap="none" strike="noStrike">
                          <a:latin typeface="Times New Roman"/>
                          <a:ea typeface="Times New Roman"/>
                          <a:cs typeface="Times New Roman"/>
                          <a:sym typeface="Times New Roman"/>
                        </a:rPr>
                        <a:t>Là nội dung vật chất của quan hệ pháp luật</a:t>
                      </a:r>
                      <a:endParaRPr sz="2400" u="none" cap="none" strike="noStrike">
                        <a:latin typeface="Arial"/>
                        <a:ea typeface="Arial"/>
                        <a:cs typeface="Arial"/>
                        <a:sym typeface="Arial"/>
                      </a:endParaRPr>
                    </a:p>
                  </a:txBody>
                  <a:tcPr marT="0" marB="0" marR="68575" marL="68575"/>
                </a:tc>
                <a:tc>
                  <a:txBody>
                    <a:bodyPr/>
                    <a:lstStyle/>
                    <a:p>
                      <a:pPr indent="0" lvl="0" marL="0" marR="0" rtl="0" algn="just">
                        <a:lnSpc>
                          <a:spcPct val="75000"/>
                        </a:lnSpc>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lang="en-US" sz="2400" u="none" cap="none" strike="noStrike">
                          <a:latin typeface="Times New Roman"/>
                          <a:ea typeface="Times New Roman"/>
                          <a:cs typeface="Times New Roman"/>
                          <a:sym typeface="Times New Roman"/>
                        </a:rPr>
                        <a:t>Là hình thức pháp lý của quan hệ xã hội, xuất hiện dưới tác động điều chỉnh của các quy phạm pháp luật.</a:t>
                      </a:r>
                      <a:endParaRPr sz="2400" u="none" cap="none" strike="noStrike">
                        <a:latin typeface="Arial"/>
                        <a:ea typeface="Arial"/>
                        <a:cs typeface="Arial"/>
                        <a:sym typeface="Arial"/>
                      </a:endParaRPr>
                    </a:p>
                  </a:txBody>
                  <a:tcPr marT="0" marB="0" marR="68575" marL="68575"/>
                </a:tc>
              </a:tr>
              <a:tr h="1492750">
                <a:tc>
                  <a:txBody>
                    <a:bodyPr/>
                    <a:lstStyle/>
                    <a:p>
                      <a:pPr indent="0" lvl="0" marL="0" marR="0" rtl="0" algn="just">
                        <a:lnSpc>
                          <a:spcPct val="75000"/>
                        </a:lnSpc>
                        <a:spcBef>
                          <a:spcPts val="0"/>
                        </a:spcBef>
                        <a:spcAft>
                          <a:spcPts val="0"/>
                        </a:spcAft>
                        <a:buNone/>
                      </a:pPr>
                      <a:r>
                        <a:t/>
                      </a:r>
                      <a:endParaRPr sz="24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75000"/>
                        </a:lnSpc>
                        <a:spcBef>
                          <a:spcPts val="0"/>
                        </a:spcBef>
                        <a:spcAft>
                          <a:spcPts val="0"/>
                        </a:spcAft>
                        <a:buNone/>
                      </a:pPr>
                      <a:r>
                        <a:t/>
                      </a:r>
                      <a:endParaRPr sz="2400" u="none" cap="none" strike="noStrike">
                        <a:latin typeface="Times New Roman"/>
                        <a:ea typeface="Times New Roman"/>
                        <a:cs typeface="Times New Roman"/>
                        <a:sym typeface="Times New Roman"/>
                      </a:endParaRPr>
                    </a:p>
                    <a:p>
                      <a:pPr indent="0" lvl="0" marL="0" marR="0" rtl="0" algn="just">
                        <a:lnSpc>
                          <a:spcPct val="75000"/>
                        </a:lnSpc>
                        <a:spcBef>
                          <a:spcPts val="1200"/>
                        </a:spcBef>
                        <a:spcAft>
                          <a:spcPts val="0"/>
                        </a:spcAft>
                        <a:buNone/>
                      </a:pPr>
                      <a:r>
                        <a:rPr lang="en-US" sz="2400" u="none" cap="none" strike="noStrike">
                          <a:latin typeface="Times New Roman"/>
                          <a:ea typeface="Times New Roman"/>
                          <a:cs typeface="Times New Roman"/>
                          <a:sym typeface="Times New Roman"/>
                        </a:rPr>
                        <a:t>Có vai trò quan trọng làm trật tự hóa các quan hệ xã hội, hướng nó phát triển phù hợp với ý định của nhà làm luật.</a:t>
                      </a:r>
                      <a:endParaRPr sz="2400" u="none" cap="none" strike="noStrike">
                        <a:latin typeface="Arial"/>
                        <a:ea typeface="Arial"/>
                        <a:cs typeface="Arial"/>
                        <a:sym typeface="Arial"/>
                      </a:endParaRPr>
                    </a:p>
                  </a:txBody>
                  <a:tcPr marT="0" marB="0" marR="68575" marL="68575"/>
                </a:tc>
              </a:tr>
            </a:tbl>
          </a:graphicData>
        </a:graphic>
      </p:graphicFrame>
      <p:sp>
        <p:nvSpPr>
          <p:cNvPr id="1867" name="Google Shape;1867;p104"/>
          <p:cNvSpPr txBox="1"/>
          <p:nvPr>
            <p:ph idx="11" type="ftr"/>
          </p:nvPr>
        </p:nvSpPr>
        <p:spPr>
          <a:xfrm rot="5400000">
            <a:off x="7077260" y="17009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868" name="Google Shape;1868;p10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sp>
        <p:nvSpPr>
          <p:cNvPr id="1873" name="Google Shape;1873;p105"/>
          <p:cNvSpPr/>
          <p:nvPr/>
        </p:nvSpPr>
        <p:spPr>
          <a:xfrm>
            <a:off x="685800" y="1219200"/>
            <a:ext cx="4391451" cy="835377"/>
          </a:xfrm>
          <a:prstGeom prst="chevron">
            <a:avLst>
              <a:gd fmla="val 50000" name="adj"/>
            </a:avLst>
          </a:prstGeom>
          <a:gradFill>
            <a:gsLst>
              <a:gs pos="0">
                <a:srgbClr val="4373C9"/>
              </a:gs>
              <a:gs pos="30000">
                <a:srgbClr val="416EC2"/>
              </a:gs>
              <a:gs pos="75000">
                <a:srgbClr val="2D5092"/>
              </a:gs>
              <a:gs pos="100000">
                <a:srgbClr val="213B6A"/>
              </a:gs>
            </a:gsLst>
            <a:path path="circle">
              <a:fillToRect r="100%" t="100%"/>
            </a:path>
            <a:tileRect b="-100%" l="-100%"/>
          </a:gra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400">
                <a:solidFill>
                  <a:schemeClr val="lt1"/>
                </a:solidFill>
                <a:latin typeface="Arial"/>
                <a:ea typeface="Arial"/>
                <a:cs typeface="Arial"/>
                <a:sym typeface="Arial"/>
              </a:rPr>
              <a:t>Mang tính ý chí</a:t>
            </a:r>
            <a:endParaRPr sz="2400">
              <a:solidFill>
                <a:schemeClr val="lt1"/>
              </a:solidFill>
              <a:latin typeface="Arial"/>
              <a:ea typeface="Arial"/>
              <a:cs typeface="Arial"/>
              <a:sym typeface="Arial"/>
            </a:endParaRPr>
          </a:p>
        </p:txBody>
      </p:sp>
      <p:sp>
        <p:nvSpPr>
          <p:cNvPr id="1874" name="Google Shape;1874;p105"/>
          <p:cNvSpPr/>
          <p:nvPr/>
        </p:nvSpPr>
        <p:spPr>
          <a:xfrm>
            <a:off x="685800" y="2179883"/>
            <a:ext cx="4492406" cy="835377"/>
          </a:xfrm>
          <a:prstGeom prst="chevron">
            <a:avLst>
              <a:gd fmla="val 50000" name="adj"/>
            </a:avLst>
          </a:prstGeom>
          <a:gradFill>
            <a:gsLst>
              <a:gs pos="0">
                <a:srgbClr val="BA0500"/>
              </a:gs>
              <a:gs pos="30000">
                <a:srgbClr val="B20500"/>
              </a:gs>
              <a:gs pos="75000">
                <a:srgbClr val="890000"/>
              </a:gs>
              <a:gs pos="100000">
                <a:srgbClr val="630000"/>
              </a:gs>
            </a:gsLst>
            <a:path path="circle">
              <a:fillToRect r="100%" t="100%"/>
            </a:path>
            <a:tileRect b="-100%" l="-100%"/>
          </a:gra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400">
                <a:solidFill>
                  <a:schemeClr val="lt1"/>
                </a:solidFill>
                <a:latin typeface="Arial"/>
                <a:ea typeface="Arial"/>
                <a:cs typeface="Arial"/>
                <a:sym typeface="Arial"/>
              </a:rPr>
              <a:t>Chịu sự chi phối của cơ sở kinh tế</a:t>
            </a:r>
            <a:endParaRPr sz="2400">
              <a:solidFill>
                <a:schemeClr val="lt1"/>
              </a:solidFill>
              <a:latin typeface="Arial"/>
              <a:ea typeface="Arial"/>
              <a:cs typeface="Arial"/>
              <a:sym typeface="Arial"/>
            </a:endParaRPr>
          </a:p>
        </p:txBody>
      </p:sp>
      <p:sp>
        <p:nvSpPr>
          <p:cNvPr id="1875" name="Google Shape;1875;p105"/>
          <p:cNvSpPr/>
          <p:nvPr/>
        </p:nvSpPr>
        <p:spPr>
          <a:xfrm>
            <a:off x="685800" y="3140566"/>
            <a:ext cx="5098166" cy="835377"/>
          </a:xfrm>
          <a:prstGeom prst="chevron">
            <a:avLst>
              <a:gd fmla="val 50000" name="adj"/>
            </a:avLst>
          </a:prstGeom>
          <a:gradFill>
            <a:gsLst>
              <a:gs pos="0">
                <a:srgbClr val="FAC500"/>
              </a:gs>
              <a:gs pos="30000">
                <a:srgbClr val="F1BE00"/>
              </a:gs>
              <a:gs pos="75000">
                <a:srgbClr val="B88F00"/>
              </a:gs>
              <a:gs pos="100000">
                <a:srgbClr val="866900"/>
              </a:gs>
            </a:gsLst>
            <a:path path="circle">
              <a:fillToRect r="100%" t="100%"/>
            </a:path>
            <a:tileRect b="-100%" l="-100%"/>
          </a:gra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400">
                <a:solidFill>
                  <a:schemeClr val="lt1"/>
                </a:solidFill>
                <a:latin typeface="Arial"/>
                <a:ea typeface="Arial"/>
                <a:cs typeface="Arial"/>
                <a:sym typeface="Arial"/>
              </a:rPr>
              <a:t>Được hình thành trên cơ sở quy phạm pháp luật</a:t>
            </a:r>
            <a:endParaRPr sz="2400">
              <a:solidFill>
                <a:schemeClr val="lt1"/>
              </a:solidFill>
              <a:latin typeface="Arial"/>
              <a:ea typeface="Arial"/>
              <a:cs typeface="Arial"/>
              <a:sym typeface="Arial"/>
            </a:endParaRPr>
          </a:p>
        </p:txBody>
      </p:sp>
      <p:sp>
        <p:nvSpPr>
          <p:cNvPr id="1876" name="Google Shape;1876;p105"/>
          <p:cNvSpPr/>
          <p:nvPr/>
        </p:nvSpPr>
        <p:spPr>
          <a:xfrm>
            <a:off x="685800" y="4101249"/>
            <a:ext cx="4896228" cy="835377"/>
          </a:xfrm>
          <a:prstGeom prst="chevron">
            <a:avLst>
              <a:gd fmla="val 50000" name="adj"/>
            </a:avLst>
          </a:prstGeom>
          <a:gradFill>
            <a:gsLst>
              <a:gs pos="0">
                <a:srgbClr val="8291B6"/>
              </a:gs>
              <a:gs pos="30000">
                <a:srgbClr val="7C8DB0"/>
              </a:gs>
              <a:gs pos="75000">
                <a:srgbClr val="5B6783"/>
              </a:gs>
              <a:gs pos="100000">
                <a:srgbClr val="434B5F"/>
              </a:gs>
            </a:gsLst>
            <a:path path="circle">
              <a:fillToRect r="100%" t="100%"/>
            </a:path>
            <a:tileRect b="-100%" l="-100%"/>
          </a:gra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400">
                <a:solidFill>
                  <a:schemeClr val="lt1"/>
                </a:solidFill>
                <a:latin typeface="Arial"/>
                <a:ea typeface="Arial"/>
                <a:cs typeface="Arial"/>
                <a:sym typeface="Arial"/>
              </a:rPr>
              <a:t>Chủ thể QHPL mang quyền, nghĩa vụ pháp lý mà QPPL dự kiến trước</a:t>
            </a:r>
            <a:endParaRPr sz="2400">
              <a:solidFill>
                <a:schemeClr val="lt1"/>
              </a:solidFill>
              <a:latin typeface="Arial"/>
              <a:ea typeface="Arial"/>
              <a:cs typeface="Arial"/>
              <a:sym typeface="Arial"/>
            </a:endParaRPr>
          </a:p>
        </p:txBody>
      </p:sp>
      <p:sp>
        <p:nvSpPr>
          <p:cNvPr id="1877" name="Google Shape;1877;p105"/>
          <p:cNvSpPr/>
          <p:nvPr/>
        </p:nvSpPr>
        <p:spPr>
          <a:xfrm>
            <a:off x="685800" y="5061932"/>
            <a:ext cx="5098152" cy="835377"/>
          </a:xfrm>
          <a:prstGeom prst="chevron">
            <a:avLst>
              <a:gd fmla="val 50000" name="adj"/>
            </a:avLst>
          </a:prstGeom>
          <a:gradFill>
            <a:gsLst>
              <a:gs pos="0">
                <a:srgbClr val="5C636D"/>
              </a:gs>
              <a:gs pos="30000">
                <a:srgbClr val="585F6A"/>
              </a:gs>
              <a:gs pos="75000">
                <a:srgbClr val="41464F"/>
              </a:gs>
              <a:gs pos="100000">
                <a:srgbClr val="303338"/>
              </a:gs>
            </a:gsLst>
            <a:path path="circle">
              <a:fillToRect r="100%" t="100%"/>
            </a:path>
            <a:tileRect b="-100%" l="-100%"/>
          </a:gra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400">
                <a:solidFill>
                  <a:schemeClr val="lt1"/>
                </a:solidFill>
                <a:latin typeface="Arial"/>
                <a:ea typeface="Arial"/>
                <a:cs typeface="Arial"/>
                <a:sym typeface="Arial"/>
              </a:rPr>
              <a:t>Được bảo đảm thực hiện bằng nhà nước</a:t>
            </a:r>
            <a:endParaRPr sz="2400">
              <a:solidFill>
                <a:schemeClr val="lt1"/>
              </a:solidFill>
              <a:latin typeface="Arial"/>
              <a:ea typeface="Arial"/>
              <a:cs typeface="Arial"/>
              <a:sym typeface="Arial"/>
            </a:endParaRPr>
          </a:p>
        </p:txBody>
      </p:sp>
      <p:sp>
        <p:nvSpPr>
          <p:cNvPr id="1878" name="Google Shape;1878;p105"/>
          <p:cNvSpPr/>
          <p:nvPr/>
        </p:nvSpPr>
        <p:spPr>
          <a:xfrm>
            <a:off x="685800" y="6022615"/>
            <a:ext cx="4290510" cy="835377"/>
          </a:xfrm>
          <a:prstGeom prst="chevron">
            <a:avLst>
              <a:gd fmla="val 50000" name="adj"/>
            </a:avLst>
          </a:prstGeom>
          <a:gradFill>
            <a:gsLst>
              <a:gs pos="0">
                <a:srgbClr val="4373C9"/>
              </a:gs>
              <a:gs pos="30000">
                <a:srgbClr val="416EC2"/>
              </a:gs>
              <a:gs pos="75000">
                <a:srgbClr val="2D5092"/>
              </a:gs>
              <a:gs pos="100000">
                <a:srgbClr val="213B6A"/>
              </a:gs>
            </a:gsLst>
            <a:path path="circle">
              <a:fillToRect r="100%" t="100%"/>
            </a:path>
            <a:tileRect b="-100%" l="-100%"/>
          </a:gra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400">
                <a:solidFill>
                  <a:schemeClr val="lt1"/>
                </a:solidFill>
                <a:latin typeface="Arial"/>
                <a:ea typeface="Arial"/>
                <a:cs typeface="Arial"/>
                <a:sym typeface="Arial"/>
              </a:rPr>
              <a:t>Mang tính xác định cụ thể</a:t>
            </a:r>
            <a:endParaRPr sz="2400">
              <a:solidFill>
                <a:schemeClr val="lt1"/>
              </a:solidFill>
              <a:latin typeface="Arial"/>
              <a:ea typeface="Arial"/>
              <a:cs typeface="Arial"/>
              <a:sym typeface="Arial"/>
            </a:endParaRPr>
          </a:p>
        </p:txBody>
      </p:sp>
      <p:sp>
        <p:nvSpPr>
          <p:cNvPr id="1879" name="Google Shape;1879;p105"/>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4.7.1	Đặc điểm của QHPL</a:t>
            </a:r>
            <a:endParaRPr/>
          </a:p>
        </p:txBody>
      </p:sp>
      <p:sp>
        <p:nvSpPr>
          <p:cNvPr id="1880" name="Google Shape;1880;p105"/>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881" name="Google Shape;1881;p10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5" name="Shape 1885"/>
        <p:cNvGrpSpPr/>
        <p:nvPr/>
      </p:nvGrpSpPr>
      <p:grpSpPr>
        <a:xfrm>
          <a:off x="0" y="0"/>
          <a:ext cx="0" cy="0"/>
          <a:chOff x="0" y="0"/>
          <a:chExt cx="0" cy="0"/>
        </a:xfrm>
      </p:grpSpPr>
      <p:sp>
        <p:nvSpPr>
          <p:cNvPr id="1886" name="Google Shape;1886;p106"/>
          <p:cNvSpPr txBox="1"/>
          <p:nvPr/>
        </p:nvSpPr>
        <p:spPr>
          <a:xfrm>
            <a:off x="1371600" y="1524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4.7.2	Cơ cấu của QHPL</a:t>
            </a:r>
            <a:endParaRPr/>
          </a:p>
        </p:txBody>
      </p:sp>
      <p:sp>
        <p:nvSpPr>
          <p:cNvPr id="1887" name="Google Shape;1887;p106"/>
          <p:cNvSpPr/>
          <p:nvPr/>
        </p:nvSpPr>
        <p:spPr>
          <a:xfrm>
            <a:off x="381000" y="1219200"/>
            <a:ext cx="8458200" cy="5029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Nội dung</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Chủ thể</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Khách thể</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rgbClr val="FF0000"/>
              </a:buClr>
              <a:buSzPts val="1800"/>
              <a:buFont typeface="Arial"/>
              <a:buChar char="•"/>
            </a:pPr>
            <a:r>
              <a:rPr b="1" i="1" lang="en-US" sz="1800" u="none" cap="none" strike="noStrike">
                <a:solidFill>
                  <a:srgbClr val="FF0000"/>
                </a:solidFill>
                <a:latin typeface="Arial"/>
                <a:ea typeface="Arial"/>
                <a:cs typeface="Arial"/>
                <a:sym typeface="Arial"/>
              </a:rPr>
              <a:t>Quan hệ pháp luật hình thành khi có sự xuất hiện của sự kiện pháp lý</a:t>
            </a:r>
            <a:endParaRPr b="1" i="1" sz="1800" u="none" cap="none" strike="noStrike">
              <a:solidFill>
                <a:srgbClr val="FF0000"/>
              </a:solidFill>
              <a:latin typeface="Arial"/>
              <a:ea typeface="Arial"/>
              <a:cs typeface="Arial"/>
              <a:sym typeface="Arial"/>
            </a:endParaRPr>
          </a:p>
        </p:txBody>
      </p:sp>
      <p:sp>
        <p:nvSpPr>
          <p:cNvPr id="1888" name="Google Shape;1888;p106"/>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889" name="Google Shape;1889;p10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107"/>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Chủ thể của QHPL</a:t>
            </a:r>
            <a:endParaRPr/>
          </a:p>
        </p:txBody>
      </p:sp>
      <p:pic>
        <p:nvPicPr>
          <p:cNvPr descr="C:\Documents and Settings\anh re\My Documents\My Pictures\RelationshipMarketing.jpg" id="1895" name="Google Shape;1895;p107"/>
          <p:cNvPicPr preferRelativeResize="0"/>
          <p:nvPr/>
        </p:nvPicPr>
        <p:blipFill rotWithShape="1">
          <a:blip r:embed="rId3">
            <a:alphaModFix/>
          </a:blip>
          <a:srcRect b="0" l="0" r="0" t="0"/>
          <a:stretch/>
        </p:blipFill>
        <p:spPr>
          <a:xfrm>
            <a:off x="5410200" y="1447800"/>
            <a:ext cx="3429000" cy="3352800"/>
          </a:xfrm>
          <a:prstGeom prst="rect">
            <a:avLst/>
          </a:prstGeom>
          <a:noFill/>
          <a:ln>
            <a:noFill/>
          </a:ln>
        </p:spPr>
      </p:pic>
      <p:sp>
        <p:nvSpPr>
          <p:cNvPr id="1896" name="Google Shape;1896;p107"/>
          <p:cNvSpPr txBox="1"/>
          <p:nvPr/>
        </p:nvSpPr>
        <p:spPr>
          <a:xfrm>
            <a:off x="304800" y="1566863"/>
            <a:ext cx="5181600" cy="4185761"/>
          </a:xfrm>
          <a:prstGeom prst="rect">
            <a:avLst/>
          </a:prstGeom>
          <a:no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800">
                <a:solidFill>
                  <a:srgbClr val="FF0000"/>
                </a:solidFill>
                <a:latin typeface="Times New Roman"/>
                <a:ea typeface="Times New Roman"/>
                <a:cs typeface="Times New Roman"/>
                <a:sym typeface="Times New Roman"/>
              </a:rPr>
              <a:t>Chủ thể quan hệ pháp luật là những cá nhân và tổ chức có năng lực chủ thể.</a:t>
            </a:r>
            <a:endParaRPr/>
          </a:p>
          <a:p>
            <a:pPr indent="0" lvl="0" marL="0" marR="0" rtl="0" algn="just">
              <a:spcBef>
                <a:spcPts val="1400"/>
              </a:spcBef>
              <a:spcAft>
                <a:spcPts val="0"/>
              </a:spcAft>
              <a:buNone/>
            </a:pPr>
            <a:r>
              <a:rPr lang="en-US" sz="2800">
                <a:solidFill>
                  <a:schemeClr val="dk1"/>
                </a:solidFill>
                <a:latin typeface="Times New Roman"/>
                <a:ea typeface="Times New Roman"/>
                <a:cs typeface="Times New Roman"/>
                <a:sym typeface="Times New Roman"/>
              </a:rPr>
              <a:t>Những cá nhân và tổ chức này là những người có khả năng trở thành các bên tham gia quan hệ pháp luật có được các quyền chủ thể và nghĩa vụ pháp lý trên cơ sở quy phạm pháp luật.</a:t>
            </a:r>
            <a:endParaRPr sz="2800">
              <a:solidFill>
                <a:schemeClr val="dk2"/>
              </a:solidFill>
              <a:latin typeface="Times New Roman"/>
              <a:ea typeface="Times New Roman"/>
              <a:cs typeface="Times New Roman"/>
              <a:sym typeface="Times New Roman"/>
            </a:endParaRPr>
          </a:p>
        </p:txBody>
      </p:sp>
      <p:sp>
        <p:nvSpPr>
          <p:cNvPr id="1897" name="Google Shape;1897;p107"/>
          <p:cNvSpPr txBox="1"/>
          <p:nvPr>
            <p:ph idx="11" type="ftr"/>
          </p:nvPr>
        </p:nvSpPr>
        <p:spPr>
          <a:xfrm rot="5400000">
            <a:off x="6782726" y="3529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898" name="Google Shape;1898;p10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gtEl>
                                        <p:attrNameLst>
                                          <p:attrName>style.visibility</p:attrName>
                                        </p:attrNameLst>
                                      </p:cBhvr>
                                      <p:to>
                                        <p:strVal val="visible"/>
                                      </p:to>
                                    </p:set>
                                    <p:animEffect filter="fade" transition="in">
                                      <p:cBhvr>
                                        <p:cTn dur="500"/>
                                        <p:tgtEl>
                                          <p:spTgt spid="18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sp>
        <p:nvSpPr>
          <p:cNvPr id="1903" name="Google Shape;1903;p10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04" name="Google Shape;1904;p10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p109"/>
          <p:cNvSpPr/>
          <p:nvPr/>
        </p:nvSpPr>
        <p:spPr>
          <a:xfrm>
            <a:off x="457200" y="1397000"/>
            <a:ext cx="8458200" cy="4851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Năng lực pháp luật (ĐK cần)</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Là khả năng 1 cá nhân hay tổ chức có được những quyền và nghĩa vụ pháp lý do pháp luật quy định</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Năng lực hành vi (ĐK đủ)</a:t>
            </a:r>
            <a:endParaRPr b="0" i="0" sz="1800" u="none" cap="none" strike="noStrike">
              <a:solidFill>
                <a:schemeClr val="dk1"/>
              </a:solidFill>
              <a:latin typeface="Arial"/>
              <a:ea typeface="Arial"/>
              <a:cs typeface="Arial"/>
              <a:sym typeface="Arial"/>
            </a:endParaRPr>
          </a:p>
          <a:p>
            <a:pPr indent="-139700" lvl="2" marL="228600" marR="0" rtl="0" algn="l">
              <a:lnSpc>
                <a:spcPct val="75000"/>
              </a:lnSpc>
              <a:spcBef>
                <a:spcPts val="18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Là khả năng của cá nhân hoặc tổ chức được nhà nước thừa nhận, bằng hành vi của mình xác lập và thực hiện các quyền và nghĩa vụ pháp lý tham gia vào các QHPL, cũng như độc lập chịu trách nhiệm về những hành vi của mình</a:t>
            </a:r>
            <a:endParaRPr b="0" i="1" sz="2200" u="sng" cap="none" strike="noStrike">
              <a:solidFill>
                <a:srgbClr val="FF0000"/>
              </a:solidFill>
              <a:latin typeface="Times New Roman"/>
              <a:ea typeface="Times New Roman"/>
              <a:cs typeface="Times New Roman"/>
              <a:sym typeface="Times New Roman"/>
            </a:endParaRPr>
          </a:p>
        </p:txBody>
      </p:sp>
      <p:sp>
        <p:nvSpPr>
          <p:cNvPr id="1910" name="Google Shape;1910;p109"/>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11" name="Google Shape;1911;p10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sp>
        <p:nvSpPr>
          <p:cNvPr id="1916" name="Google Shape;1916;p110"/>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Times New Roman"/>
              <a:buNone/>
            </a:pPr>
            <a:r>
              <a:rPr lang="en-US">
                <a:latin typeface="Times New Roman"/>
                <a:ea typeface="Times New Roman"/>
                <a:cs typeface="Times New Roman"/>
                <a:sym typeface="Times New Roman"/>
              </a:rPr>
              <a:t>Chủ thể QHPL</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Cá nhân</a:t>
            </a:r>
            <a:endParaRPr>
              <a:latin typeface="Times New Roman"/>
              <a:ea typeface="Times New Roman"/>
              <a:cs typeface="Times New Roman"/>
              <a:sym typeface="Times New Roman"/>
            </a:endParaRPr>
          </a:p>
        </p:txBody>
      </p:sp>
      <p:sp>
        <p:nvSpPr>
          <p:cNvPr id="1917" name="Google Shape;1917;p11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Times New Roman"/>
                <a:ea typeface="Times New Roman"/>
                <a:cs typeface="Times New Roman"/>
                <a:sym typeface="Times New Roman"/>
              </a:rPr>
              <a:t>Gồm: công dân nước sở tại, công dân nước ngoài và người ko có quốc tịch đang công tác, làm ăn, sinh sống tại nước sở tại. </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Để trở thành chủ thể QHPL, cá nhân phải có đủ NLPL và NLHV</a:t>
            </a:r>
            <a:endParaRPr>
              <a:latin typeface="Times New Roman"/>
              <a:ea typeface="Times New Roman"/>
              <a:cs typeface="Times New Roman"/>
              <a:sym typeface="Times New Roman"/>
            </a:endParaRPr>
          </a:p>
        </p:txBody>
      </p:sp>
      <p:sp>
        <p:nvSpPr>
          <p:cNvPr id="1918" name="Google Shape;1918;p110"/>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19" name="Google Shape;1919;p11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sp>
        <p:nvSpPr>
          <p:cNvPr id="1924" name="Google Shape;1924;p11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Arial"/>
              <a:buNone/>
            </a:pPr>
            <a:r>
              <a:rPr lang="en-US"/>
              <a:t>Chủ thể qhpl</a:t>
            </a:r>
            <a:br>
              <a:rPr lang="en-US"/>
            </a:br>
            <a:r>
              <a:rPr lang="en-US"/>
              <a:t>tổ chức</a:t>
            </a:r>
            <a:endParaRPr/>
          </a:p>
        </p:txBody>
      </p:sp>
      <p:sp>
        <p:nvSpPr>
          <p:cNvPr id="1925" name="Google Shape;1925;p111"/>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Times New Roman"/>
                <a:ea typeface="Times New Roman"/>
                <a:cs typeface="Times New Roman"/>
                <a:sym typeface="Times New Roman"/>
              </a:rPr>
              <a:t>Năng lực pháp luật và NLHV của tổ chức xuất hiện đồng thời ở thời điểm tổ chức đó được thành lập hợp pháp hoặc được công nhận hợp pháp và mất đi khi tổ chức ấy chấm dứt sự tồn tại trong các trường hợp như giải thể, phá sản, chia tách, sáp nhập</a:t>
            </a:r>
            <a:endParaRPr>
              <a:latin typeface="Times New Roman"/>
              <a:ea typeface="Times New Roman"/>
              <a:cs typeface="Times New Roman"/>
              <a:sym typeface="Times New Roman"/>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Nhà nước</a:t>
            </a:r>
            <a:endParaRPr>
              <a:latin typeface="Times New Roman"/>
              <a:ea typeface="Times New Roman"/>
              <a:cs typeface="Times New Roman"/>
              <a:sym typeface="Times New Roman"/>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Pháp nhân – Tư cách pháp nhân</a:t>
            </a:r>
            <a:endParaRPr>
              <a:latin typeface="Times New Roman"/>
              <a:ea typeface="Times New Roman"/>
              <a:cs typeface="Times New Roman"/>
              <a:sym typeface="Times New Roman"/>
            </a:endParaRPr>
          </a:p>
        </p:txBody>
      </p:sp>
      <p:sp>
        <p:nvSpPr>
          <p:cNvPr id="1926" name="Google Shape;1926;p111"/>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27" name="Google Shape;1927;p11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sp>
        <p:nvSpPr>
          <p:cNvPr id="1932" name="Google Shape;1932;p112"/>
          <p:cNvSpPr txBox="1"/>
          <p:nvPr>
            <p:ph type="title"/>
          </p:nvPr>
        </p:nvSpPr>
        <p:spPr>
          <a:xfrm>
            <a:off x="1371600" y="228600"/>
            <a:ext cx="655320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Font typeface="Arial"/>
              <a:buNone/>
            </a:pPr>
            <a:r>
              <a:rPr b="1" i="1" lang="en-US" sz="2400">
                <a:solidFill>
                  <a:schemeClr val="dk1"/>
                </a:solidFill>
                <a:latin typeface="Arial"/>
                <a:ea typeface="Arial"/>
                <a:cs typeface="Arial"/>
                <a:sym typeface="Arial"/>
              </a:rPr>
              <a:t>tổ chức có tư cách pháp nhân</a:t>
            </a:r>
            <a:endParaRPr b="1" i="1" sz="2400">
              <a:solidFill>
                <a:schemeClr val="dk1"/>
              </a:solidFill>
              <a:latin typeface="Arial"/>
              <a:ea typeface="Arial"/>
              <a:cs typeface="Arial"/>
              <a:sym typeface="Arial"/>
            </a:endParaRPr>
          </a:p>
        </p:txBody>
      </p:sp>
      <p:sp>
        <p:nvSpPr>
          <p:cNvPr id="1933" name="Google Shape;1933;p112"/>
          <p:cNvSpPr/>
          <p:nvPr/>
        </p:nvSpPr>
        <p:spPr>
          <a:xfrm>
            <a:off x="457200" y="1295400"/>
            <a:ext cx="8305800" cy="5029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Được cơ quan nhà nước có thẩm quyền thành lập, cho phép thành lập, đăng ký, công nhận</a:t>
            </a:r>
            <a:endParaRPr b="0"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Có cơ cấu tổ chức chặt chẽ</a:t>
            </a:r>
            <a:endParaRPr b="0"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Có tài sản độc lập, chịu trách nhiệm bằng tài sản đó</a:t>
            </a:r>
            <a:endParaRPr b="0"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Nhân danh mình tham gia các QHPL một cách độc lập </a:t>
            </a:r>
            <a:endParaRPr b="0" i="0" sz="2400" u="none" cap="none" strike="noStrike">
              <a:solidFill>
                <a:schemeClr val="dk1"/>
              </a:solidFill>
              <a:latin typeface="Arial"/>
              <a:ea typeface="Arial"/>
              <a:cs typeface="Arial"/>
              <a:sym typeface="Arial"/>
            </a:endParaRPr>
          </a:p>
        </p:txBody>
      </p:sp>
      <p:sp>
        <p:nvSpPr>
          <p:cNvPr id="1934" name="Google Shape;1934;p112"/>
          <p:cNvSpPr txBox="1"/>
          <p:nvPr>
            <p:ph idx="11" type="ftr"/>
          </p:nvPr>
        </p:nvSpPr>
        <p:spPr>
          <a:xfrm rot="5400000">
            <a:off x="6744626" y="34916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35" name="Google Shape;1935;p11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9" name="Shape 1939"/>
        <p:cNvGrpSpPr/>
        <p:nvPr/>
      </p:nvGrpSpPr>
      <p:grpSpPr>
        <a:xfrm>
          <a:off x="0" y="0"/>
          <a:ext cx="0" cy="0"/>
          <a:chOff x="0" y="0"/>
          <a:chExt cx="0" cy="0"/>
        </a:xfrm>
      </p:grpSpPr>
      <p:sp>
        <p:nvSpPr>
          <p:cNvPr id="1940" name="Google Shape;1940;p113"/>
          <p:cNvSpPr txBox="1"/>
          <p:nvPr/>
        </p:nvSpPr>
        <p:spPr>
          <a:xfrm>
            <a:off x="1371600" y="1524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Nội dung của QHPL</a:t>
            </a:r>
            <a:endParaRPr/>
          </a:p>
        </p:txBody>
      </p:sp>
      <p:sp>
        <p:nvSpPr>
          <p:cNvPr id="1941" name="Google Shape;1941;p113"/>
          <p:cNvSpPr/>
          <p:nvPr/>
        </p:nvSpPr>
        <p:spPr>
          <a:xfrm>
            <a:off x="228600" y="2133600"/>
            <a:ext cx="6553200" cy="2971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rgbClr val="2B2F36"/>
                </a:solidFill>
                <a:latin typeface="Arial"/>
                <a:ea typeface="Arial"/>
                <a:cs typeface="Arial"/>
                <a:sym typeface="Arial"/>
              </a:rPr>
              <a:t>   </a:t>
            </a:r>
            <a:r>
              <a:rPr lang="en-US" sz="2800">
                <a:solidFill>
                  <a:schemeClr val="dk1"/>
                </a:solidFill>
                <a:latin typeface="Arial"/>
                <a:ea typeface="Arial"/>
                <a:cs typeface="Arial"/>
                <a:sym typeface="Arial"/>
              </a:rPr>
              <a:t>Nội dung QHPL chính là quyền và nghĩa vụ của chủ thể khi tham gia QHPL.</a:t>
            </a:r>
            <a:endParaRPr sz="2800">
              <a:solidFill>
                <a:schemeClr val="dk1"/>
              </a:solidFill>
              <a:latin typeface="Arial"/>
              <a:ea typeface="Arial"/>
              <a:cs typeface="Arial"/>
              <a:sym typeface="Arial"/>
            </a:endParaRPr>
          </a:p>
        </p:txBody>
      </p:sp>
      <p:sp>
        <p:nvSpPr>
          <p:cNvPr id="1942" name="Google Shape;1942;p113"/>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43" name="Google Shape;1943;p11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41">
                                            <p:txEl>
                                              <p:pRg end="0" st="0"/>
                                            </p:txEl>
                                          </p:spTgt>
                                        </p:tgtEl>
                                        <p:attrNameLst>
                                          <p:attrName>style.visibility</p:attrName>
                                        </p:attrNameLst>
                                      </p:cBhvr>
                                      <p:to>
                                        <p:strVal val="visible"/>
                                      </p:to>
                                    </p:set>
                                    <p:animEffect filter="fade" transition="in">
                                      <p:cBhvr>
                                        <p:cTn dur="500"/>
                                        <p:tgtEl>
                                          <p:spTgt spid="194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114"/>
          <p:cNvSpPr txBox="1"/>
          <p:nvPr/>
        </p:nvSpPr>
        <p:spPr>
          <a:xfrm>
            <a:off x="1371600" y="1524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Arial"/>
                <a:ea typeface="Arial"/>
                <a:cs typeface="Arial"/>
                <a:sym typeface="Arial"/>
              </a:rPr>
              <a:t>Quyền chủ thể</a:t>
            </a:r>
            <a:endParaRPr sz="3200">
              <a:solidFill>
                <a:schemeClr val="dk1"/>
              </a:solidFill>
              <a:latin typeface="Arial"/>
              <a:ea typeface="Arial"/>
              <a:cs typeface="Arial"/>
              <a:sym typeface="Arial"/>
            </a:endParaRPr>
          </a:p>
        </p:txBody>
      </p:sp>
      <p:sp>
        <p:nvSpPr>
          <p:cNvPr id="1949" name="Google Shape;1949;p114"/>
          <p:cNvSpPr/>
          <p:nvPr/>
        </p:nvSpPr>
        <p:spPr>
          <a:xfrm>
            <a:off x="304800" y="990600"/>
            <a:ext cx="8534400" cy="5334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Quyền chủ thể là khả năng xử sự của chủ thể được pháp luật cho phép trong QHPL</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Là khả năng của chủ thể được hành động trong khuôn khổ do pháp luật quy định trước</a:t>
            </a:r>
            <a:endParaRPr b="0" i="0" sz="1800" u="none" cap="none" strike="noStrike">
              <a:solidFill>
                <a:schemeClr val="dk1"/>
              </a:solidFill>
              <a:latin typeface="Arial"/>
              <a:ea typeface="Arial"/>
              <a:cs typeface="Arial"/>
              <a:sym typeface="Arial"/>
            </a:endParaRPr>
          </a:p>
          <a:p>
            <a:pPr indent="-139700" lvl="2" marL="228600" marR="0" rtl="0" algn="l">
              <a:lnSpc>
                <a:spcPct val="75000"/>
              </a:lnSpc>
              <a:spcBef>
                <a:spcPts val="18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Khả năng của chủ thể yêu cầu các chủ thể có liên quan thực hiện nghĩa vụ (thực hiện đầy đủ nghĩa vụ của họ hoặc chấm dứt những hành vi cản trở) nhằm đảm bảo việc thực hiện quyền chủ thể của mình.</a:t>
            </a:r>
            <a:endParaRPr b="0" i="0" sz="22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22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Khả năng của chủ thể yêu cầu cơ quan nhà nước có thẩm quyền bảo vệ quyền, lợi ích của mình, bằng cách thực hiện sự cưỡng chế cần thiết đối với bên kia để họ thực hiện nghĩa vụ trong trường hợp quyền của mình bị vi phạm</a:t>
            </a:r>
            <a:endParaRPr b="0" i="0" sz="1800" u="none" cap="none" strike="noStrike">
              <a:solidFill>
                <a:schemeClr val="dk1"/>
              </a:solidFill>
              <a:latin typeface="Times New Roman"/>
              <a:ea typeface="Times New Roman"/>
              <a:cs typeface="Times New Roman"/>
              <a:sym typeface="Times New Roman"/>
            </a:endParaRPr>
          </a:p>
        </p:txBody>
      </p:sp>
      <p:sp>
        <p:nvSpPr>
          <p:cNvPr id="1950" name="Google Shape;1950;p114"/>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51" name="Google Shape;1951;p11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pic>
        <p:nvPicPr>
          <p:cNvPr descr="03" id="1956" name="Google Shape;1956;p115"/>
          <p:cNvPicPr preferRelativeResize="0"/>
          <p:nvPr/>
        </p:nvPicPr>
        <p:blipFill rotWithShape="1">
          <a:blip r:embed="rId3">
            <a:alphaModFix/>
          </a:blip>
          <a:srcRect b="0" l="0" r="0" t="0"/>
          <a:stretch/>
        </p:blipFill>
        <p:spPr>
          <a:xfrm rot="-977267">
            <a:off x="5837238" y="2590800"/>
            <a:ext cx="2679700" cy="3429000"/>
          </a:xfrm>
          <a:prstGeom prst="rect">
            <a:avLst/>
          </a:prstGeom>
          <a:noFill/>
          <a:ln>
            <a:noFill/>
          </a:ln>
        </p:spPr>
      </p:pic>
      <p:sp>
        <p:nvSpPr>
          <p:cNvPr id="1957" name="Google Shape;1957;p115"/>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rgbClr val="0070C0"/>
                </a:solidFill>
                <a:latin typeface="Times New Roman"/>
                <a:ea typeface="Times New Roman"/>
                <a:cs typeface="Times New Roman"/>
                <a:sym typeface="Times New Roman"/>
              </a:rPr>
              <a:t>Nghĩa vụ pháp lý</a:t>
            </a:r>
            <a:endParaRPr sz="2400">
              <a:solidFill>
                <a:srgbClr val="0070C0"/>
              </a:solidFill>
              <a:latin typeface="Times New Roman"/>
              <a:ea typeface="Times New Roman"/>
              <a:cs typeface="Times New Roman"/>
              <a:sym typeface="Times New Roman"/>
            </a:endParaRPr>
          </a:p>
        </p:txBody>
      </p:sp>
      <p:sp>
        <p:nvSpPr>
          <p:cNvPr id="1958" name="Google Shape;1958;p115"/>
          <p:cNvSpPr/>
          <p:nvPr/>
        </p:nvSpPr>
        <p:spPr>
          <a:xfrm>
            <a:off x="533400" y="1143000"/>
            <a:ext cx="8382000" cy="144780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hlink"/>
              </a:buClr>
              <a:buSzPts val="2400"/>
              <a:buFont typeface="Noto Sans Symbols"/>
              <a:buNone/>
            </a:pPr>
            <a:r>
              <a:rPr lang="en-US" sz="2400">
                <a:solidFill>
                  <a:schemeClr val="dk1"/>
                </a:solidFill>
                <a:latin typeface="Times New Roman"/>
                <a:ea typeface="Times New Roman"/>
                <a:cs typeface="Times New Roman"/>
                <a:sym typeface="Times New Roman"/>
              </a:rPr>
              <a:t>Là cách xử sự mà nhà nước bắt buộc chủ thể phải tiến hành theo quy định của pháp luật nhằm đáp ứng việc thực hiện quyền của chủ thể khác</a:t>
            </a:r>
            <a:endParaRPr sz="2400">
              <a:solidFill>
                <a:schemeClr val="dk2"/>
              </a:solidFill>
              <a:latin typeface="Times New Roman"/>
              <a:ea typeface="Times New Roman"/>
              <a:cs typeface="Times New Roman"/>
              <a:sym typeface="Times New Roman"/>
            </a:endParaRPr>
          </a:p>
        </p:txBody>
      </p:sp>
      <p:sp>
        <p:nvSpPr>
          <p:cNvPr id="1959" name="Google Shape;1959;p115"/>
          <p:cNvSpPr/>
          <p:nvPr/>
        </p:nvSpPr>
        <p:spPr>
          <a:xfrm>
            <a:off x="228600" y="2590800"/>
            <a:ext cx="541020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0066"/>
                </a:solidFill>
                <a:latin typeface="Times New Roman"/>
                <a:ea typeface="Times New Roman"/>
                <a:cs typeface="Times New Roman"/>
                <a:sym typeface="Times New Roman"/>
              </a:rPr>
              <a:t>Đặc điểm của nghĩa vụ pháp lý</a:t>
            </a:r>
            <a:endParaRPr b="1" sz="2400">
              <a:solidFill>
                <a:srgbClr val="FF0066"/>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Chủ thể bắt buộc phải thực hiện những xử sự nhất định do pháp luật quy định </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Cách xử sự này nhằm đáp ứng quyền của chủ thể kia</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Được đảm bảo thực hiện bằng cưỡng chế nhà nước</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Chủ thể phải chịu trách nhiệm pháp lý khi ko thực hiện nghĩa vụ</a:t>
            </a:r>
            <a:endParaRPr sz="2400">
              <a:solidFill>
                <a:schemeClr val="dk2"/>
              </a:solidFill>
              <a:latin typeface="Times New Roman"/>
              <a:ea typeface="Times New Roman"/>
              <a:cs typeface="Times New Roman"/>
              <a:sym typeface="Times New Roman"/>
            </a:endParaRPr>
          </a:p>
        </p:txBody>
      </p:sp>
      <p:sp>
        <p:nvSpPr>
          <p:cNvPr id="1960" name="Google Shape;1960;p115"/>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61" name="Google Shape;1961;p11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56"/>
                                        </p:tgtEl>
                                        <p:attrNameLst>
                                          <p:attrName>style.visibility</p:attrName>
                                        </p:attrNameLst>
                                      </p:cBhvr>
                                      <p:to>
                                        <p:strVal val="visible"/>
                                      </p:to>
                                    </p:set>
                                    <p:anim calcmode="lin" valueType="num">
                                      <p:cBhvr additive="base">
                                        <p:cTn dur="500"/>
                                        <p:tgtEl>
                                          <p:spTgt spid="1956"/>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58">
                                            <p:txEl>
                                              <p:pRg end="0" st="0"/>
                                            </p:txEl>
                                          </p:spTgt>
                                        </p:tgtEl>
                                        <p:attrNameLst>
                                          <p:attrName>style.visibility</p:attrName>
                                        </p:attrNameLst>
                                      </p:cBhvr>
                                      <p:to>
                                        <p:strVal val="visible"/>
                                      </p:to>
                                    </p:set>
                                    <p:animEffect filter="fade" transition="in">
                                      <p:cBhvr>
                                        <p:cTn dur="500"/>
                                        <p:tgtEl>
                                          <p:spTgt spid="1958">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9">
                                            <p:txEl>
                                              <p:pRg end="0" st="0"/>
                                            </p:txEl>
                                          </p:spTgt>
                                        </p:tgtEl>
                                        <p:attrNameLst>
                                          <p:attrName>style.visibility</p:attrName>
                                        </p:attrNameLst>
                                      </p:cBhvr>
                                      <p:to>
                                        <p:strVal val="visible"/>
                                      </p:to>
                                    </p:set>
                                    <p:animEffect filter="fade" transition="in">
                                      <p:cBhvr>
                                        <p:cTn dur="500"/>
                                        <p:tgtEl>
                                          <p:spTgt spid="1959">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59">
                                            <p:txEl>
                                              <p:pRg end="1" st="1"/>
                                            </p:txEl>
                                          </p:spTgt>
                                        </p:tgtEl>
                                        <p:attrNameLst>
                                          <p:attrName>style.visibility</p:attrName>
                                        </p:attrNameLst>
                                      </p:cBhvr>
                                      <p:to>
                                        <p:strVal val="visible"/>
                                      </p:to>
                                    </p:set>
                                    <p:animEffect filter="fade" transition="in">
                                      <p:cBhvr>
                                        <p:cTn dur="500"/>
                                        <p:tgtEl>
                                          <p:spTgt spid="1959">
                                            <p:txEl>
                                              <p:pRg end="1" st="1"/>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59">
                                            <p:txEl>
                                              <p:pRg end="2" st="2"/>
                                            </p:txEl>
                                          </p:spTgt>
                                        </p:tgtEl>
                                        <p:attrNameLst>
                                          <p:attrName>style.visibility</p:attrName>
                                        </p:attrNameLst>
                                      </p:cBhvr>
                                      <p:to>
                                        <p:strVal val="visible"/>
                                      </p:to>
                                    </p:set>
                                    <p:animEffect filter="fade" transition="in">
                                      <p:cBhvr>
                                        <p:cTn dur="500"/>
                                        <p:tgtEl>
                                          <p:spTgt spid="1959">
                                            <p:txEl>
                                              <p:pRg end="2" st="2"/>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959">
                                            <p:txEl>
                                              <p:pRg end="3" st="3"/>
                                            </p:txEl>
                                          </p:spTgt>
                                        </p:tgtEl>
                                        <p:attrNameLst>
                                          <p:attrName>style.visibility</p:attrName>
                                        </p:attrNameLst>
                                      </p:cBhvr>
                                      <p:to>
                                        <p:strVal val="visible"/>
                                      </p:to>
                                    </p:set>
                                    <p:animEffect filter="fade" transition="in">
                                      <p:cBhvr>
                                        <p:cTn dur="500"/>
                                        <p:tgtEl>
                                          <p:spTgt spid="1959">
                                            <p:txEl>
                                              <p:pRg end="3" st="3"/>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59">
                                            <p:txEl>
                                              <p:pRg end="4" st="4"/>
                                            </p:txEl>
                                          </p:spTgt>
                                        </p:tgtEl>
                                        <p:attrNameLst>
                                          <p:attrName>style.visibility</p:attrName>
                                        </p:attrNameLst>
                                      </p:cBhvr>
                                      <p:to>
                                        <p:strVal val="visible"/>
                                      </p:to>
                                    </p:set>
                                    <p:animEffect filter="fade" transition="in">
                                      <p:cBhvr>
                                        <p:cTn dur="500"/>
                                        <p:tgtEl>
                                          <p:spTgt spid="195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116"/>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Khách thể của QHPL</a:t>
            </a:r>
            <a:endParaRPr/>
          </a:p>
        </p:txBody>
      </p:sp>
      <p:pic>
        <p:nvPicPr>
          <p:cNvPr descr="C:\Documents and Settings\anh re\My Documents\My Pictures\think_idea.jpg" id="1967" name="Google Shape;1967;p116"/>
          <p:cNvPicPr preferRelativeResize="0"/>
          <p:nvPr/>
        </p:nvPicPr>
        <p:blipFill rotWithShape="1">
          <a:blip r:embed="rId3">
            <a:alphaModFix/>
          </a:blip>
          <a:srcRect b="0" l="0" r="0" t="0"/>
          <a:stretch/>
        </p:blipFill>
        <p:spPr>
          <a:xfrm>
            <a:off x="5638800" y="2438400"/>
            <a:ext cx="3276600" cy="3063875"/>
          </a:xfrm>
          <a:prstGeom prst="rect">
            <a:avLst/>
          </a:prstGeom>
          <a:noFill/>
          <a:ln>
            <a:noFill/>
          </a:ln>
        </p:spPr>
      </p:pic>
      <p:sp>
        <p:nvSpPr>
          <p:cNvPr id="1968" name="Google Shape;1968;p116"/>
          <p:cNvSpPr/>
          <p:nvPr/>
        </p:nvSpPr>
        <p:spPr>
          <a:xfrm>
            <a:off x="228600" y="990600"/>
            <a:ext cx="5181600" cy="3733800"/>
          </a:xfrm>
          <a:prstGeom prst="rect">
            <a:avLst/>
          </a:prstGeom>
          <a:noFill/>
          <a:ln>
            <a:noFill/>
          </a:ln>
        </p:spPr>
        <p:txBody>
          <a:bodyPr anchorCtr="0" anchor="t" bIns="45700" lIns="91425" spcFirstLastPara="1" rIns="91425" wrap="square" tIns="45700">
            <a:noAutofit/>
          </a:bodyPr>
          <a:lstStyle/>
          <a:p>
            <a:pPr indent="-342900" lvl="0" marL="342900" marR="0" rtl="0" algn="just">
              <a:spcBef>
                <a:spcPts val="0"/>
              </a:spcBef>
              <a:spcAft>
                <a:spcPts val="0"/>
              </a:spcAft>
              <a:buClr>
                <a:schemeClr val="hlink"/>
              </a:buClr>
              <a:buSzPts val="2000"/>
              <a:buFont typeface="Noto Sans Symbols"/>
              <a:buNone/>
            </a:pPr>
            <a:r>
              <a:rPr lang="en-US" sz="2000">
                <a:solidFill>
                  <a:srgbClr val="2B2F36"/>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Khách thể của QHPL là những gì mà QHPL đó hướng tới và các bên tham gia mong muốn đạt được nhằm thỏa mãn các lợi ích và nhu cầu của mình khi tham gia QHPL</a:t>
            </a:r>
            <a:endParaRPr/>
          </a:p>
          <a:p>
            <a:pPr indent="-342900" lvl="0" marL="342900" marR="0" rtl="0" algn="just">
              <a:spcBef>
                <a:spcPts val="0"/>
              </a:spcBef>
              <a:spcAft>
                <a:spcPts val="0"/>
              </a:spcAft>
              <a:buClr>
                <a:schemeClr val="hlink"/>
              </a:buClr>
              <a:buSzPts val="2000"/>
              <a:buFont typeface="Noto Sans Symbols"/>
              <a:buNone/>
            </a:pPr>
            <a:r>
              <a:t/>
            </a:r>
            <a:endParaRPr sz="2000">
              <a:solidFill>
                <a:schemeClr val="accent1"/>
              </a:solidFill>
              <a:latin typeface="Times New Roman"/>
              <a:ea typeface="Times New Roman"/>
              <a:cs typeface="Times New Roman"/>
              <a:sym typeface="Times New Roman"/>
            </a:endParaRPr>
          </a:p>
        </p:txBody>
      </p:sp>
      <p:sp>
        <p:nvSpPr>
          <p:cNvPr id="1969" name="Google Shape;1969;p116"/>
          <p:cNvSpPr/>
          <p:nvPr/>
        </p:nvSpPr>
        <p:spPr>
          <a:xfrm>
            <a:off x="609600" y="2438400"/>
            <a:ext cx="5029200" cy="4191000"/>
          </a:xfrm>
          <a:prstGeom prst="roundRect">
            <a:avLst>
              <a:gd fmla="val 16667"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Hướng tới: Hành vi của chủ thể</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Lợi ích tinh thần</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Lợi ích vật chất</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Giá trị xã hội</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Khách thể của QHPL phản ánh lợi ích của chủ thể. Khách thể là yếu tố thúc đẩy chủ thể tham gia QHPL. Sự quan tâm nhiều hay ít của chủ thể QHP đối với khách thể là động lực thúc đẩy sự phát sinh, tồn tại hay chấm dứt QHPL. </a:t>
            </a:r>
            <a:endParaRPr/>
          </a:p>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970" name="Google Shape;1970;p116"/>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71" name="Google Shape;1971;p11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2000" fill="hold"/>
                                        <p:tgtEl>
                                          <p:spTgt spid="1967"/>
                                        </p:tgtEl>
                                        <p:attrNameLst>
                                          <p:attrName>r</p:attrName>
                                        </p:attrNameLst>
                                      </p:cBhvr>
                                    </p:animRo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68">
                                            <p:txEl>
                                              <p:pRg end="0" st="0"/>
                                            </p:txEl>
                                          </p:spTgt>
                                        </p:tgtEl>
                                        <p:attrNameLst>
                                          <p:attrName>style.visibility</p:attrName>
                                        </p:attrNameLst>
                                      </p:cBhvr>
                                      <p:to>
                                        <p:strVal val="visible"/>
                                      </p:to>
                                    </p:set>
                                    <p:animEffect filter="fade" transition="in">
                                      <p:cBhvr>
                                        <p:cTn dur="500"/>
                                        <p:tgtEl>
                                          <p:spTgt spid="1968">
                                            <p:txEl>
                                              <p:pRg end="0" st="0"/>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968">
                                            <p:txEl>
                                              <p:pRg end="1" st="1"/>
                                            </p:txEl>
                                          </p:spTgt>
                                        </p:tgtEl>
                                        <p:attrNameLst>
                                          <p:attrName>style.visibility</p:attrName>
                                        </p:attrNameLst>
                                      </p:cBhvr>
                                      <p:to>
                                        <p:strVal val="visible"/>
                                      </p:to>
                                    </p:set>
                                    <p:animEffect filter="fade" transition="in">
                                      <p:cBhvr>
                                        <p:cTn dur="500"/>
                                        <p:tgtEl>
                                          <p:spTgt spid="196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5" name="Shape 1975"/>
        <p:cNvGrpSpPr/>
        <p:nvPr/>
      </p:nvGrpSpPr>
      <p:grpSpPr>
        <a:xfrm>
          <a:off x="0" y="0"/>
          <a:ext cx="0" cy="0"/>
          <a:chOff x="0" y="0"/>
          <a:chExt cx="0" cy="0"/>
        </a:xfrm>
      </p:grpSpPr>
      <p:sp>
        <p:nvSpPr>
          <p:cNvPr id="1976" name="Google Shape;1976;p11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Times New Roman"/>
              <a:buNone/>
            </a:pPr>
            <a:r>
              <a:rPr b="1" lang="en-US">
                <a:latin typeface="Times New Roman"/>
                <a:ea typeface="Times New Roman"/>
                <a:cs typeface="Times New Roman"/>
                <a:sym typeface="Times New Roman"/>
              </a:rPr>
              <a:t>4.7.3	Căn cứ phát sinh QHPL</a:t>
            </a:r>
            <a:endParaRPr>
              <a:latin typeface="Times New Roman"/>
              <a:ea typeface="Times New Roman"/>
              <a:cs typeface="Times New Roman"/>
              <a:sym typeface="Times New Roman"/>
            </a:endParaRPr>
          </a:p>
        </p:txBody>
      </p:sp>
      <p:sp>
        <p:nvSpPr>
          <p:cNvPr id="1977" name="Google Shape;1977;p11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Times New Roman"/>
                <a:ea typeface="Times New Roman"/>
                <a:cs typeface="Times New Roman"/>
                <a:sym typeface="Times New Roman"/>
              </a:rPr>
              <a:t>QHPL phát sinh, thay đổi hoặc chấm dứt dưới tác động của 3 yếu tố: QPPL, chủ thể, sự kiện pháp lý</a:t>
            </a:r>
            <a:endParaRPr>
              <a:latin typeface="Times New Roman"/>
              <a:ea typeface="Times New Roman"/>
              <a:cs typeface="Times New Roman"/>
              <a:sym typeface="Times New Roman"/>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QPPL tác động tới các QHXH nhất định và biến chúng thành QHPL.</a:t>
            </a:r>
            <a:endParaRPr/>
          </a:p>
          <a:p>
            <a:pPr indent="-274320" lvl="0" marL="274320" rtl="0" algn="l">
              <a:spcBef>
                <a:spcPts val="600"/>
              </a:spcBef>
              <a:spcAft>
                <a:spcPts val="0"/>
              </a:spcAft>
              <a:buSzPts val="1680"/>
              <a:buNone/>
            </a:pPr>
            <a:r>
              <a:rPr lang="en-US">
                <a:latin typeface="Times New Roman"/>
                <a:ea typeface="Times New Roman"/>
                <a:cs typeface="Times New Roman"/>
                <a:sym typeface="Times New Roman"/>
              </a:rPr>
              <a:t>   QHPL cũng ko thể nảy sinh nếu ko có chủ thể</a:t>
            </a:r>
            <a:endParaRPr>
              <a:latin typeface="Times New Roman"/>
              <a:ea typeface="Times New Roman"/>
              <a:cs typeface="Times New Roman"/>
              <a:sym typeface="Times New Roman"/>
            </a:endParaRPr>
          </a:p>
          <a:p>
            <a:pPr indent="-274320" lvl="0" marL="274320" rtl="0" algn="l">
              <a:spcBef>
                <a:spcPts val="600"/>
              </a:spcBef>
              <a:spcAft>
                <a:spcPts val="0"/>
              </a:spcAft>
              <a:buSzPts val="1680"/>
              <a:buNone/>
            </a:pPr>
            <a:r>
              <a:rPr lang="en-US">
                <a:latin typeface="Times New Roman"/>
                <a:ea typeface="Times New Roman"/>
                <a:cs typeface="Times New Roman"/>
                <a:sym typeface="Times New Roman"/>
              </a:rPr>
              <a:t>   QPPL cũng chỉ có thể làm nảy sinh QHPL giữa các chủ thể nêu được gắn liền với sự kiện pháp lý</a:t>
            </a:r>
            <a:endParaRPr>
              <a:latin typeface="Times New Roman"/>
              <a:ea typeface="Times New Roman"/>
              <a:cs typeface="Times New Roman"/>
              <a:sym typeface="Times New Roman"/>
            </a:endParaRPr>
          </a:p>
        </p:txBody>
      </p:sp>
      <p:sp>
        <p:nvSpPr>
          <p:cNvPr id="1978" name="Google Shape;1978;p117"/>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79" name="Google Shape;1979;p11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3" name="Shape 1983"/>
        <p:cNvGrpSpPr/>
        <p:nvPr/>
      </p:nvGrpSpPr>
      <p:grpSpPr>
        <a:xfrm>
          <a:off x="0" y="0"/>
          <a:ext cx="0" cy="0"/>
          <a:chOff x="0" y="0"/>
          <a:chExt cx="0" cy="0"/>
        </a:xfrm>
      </p:grpSpPr>
      <p:sp>
        <p:nvSpPr>
          <p:cNvPr id="1984" name="Google Shape;1984;p118"/>
          <p:cNvSpPr txBox="1"/>
          <p:nvPr/>
        </p:nvSpPr>
        <p:spPr>
          <a:xfrm>
            <a:off x="1371600" y="228600"/>
            <a:ext cx="6553200" cy="685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rgbClr val="0070C0"/>
                </a:solidFill>
                <a:latin typeface="Arial"/>
                <a:ea typeface="Arial"/>
                <a:cs typeface="Arial"/>
                <a:sym typeface="Arial"/>
              </a:rPr>
              <a:t>Sự kiện pháp lý</a:t>
            </a:r>
            <a:endParaRPr sz="3200">
              <a:solidFill>
                <a:srgbClr val="0070C0"/>
              </a:solidFill>
              <a:latin typeface="Arial"/>
              <a:ea typeface="Arial"/>
              <a:cs typeface="Arial"/>
              <a:sym typeface="Arial"/>
            </a:endParaRPr>
          </a:p>
        </p:txBody>
      </p:sp>
      <p:sp>
        <p:nvSpPr>
          <p:cNvPr id="1985" name="Google Shape;1985;p118"/>
          <p:cNvSpPr/>
          <p:nvPr/>
        </p:nvSpPr>
        <p:spPr>
          <a:xfrm>
            <a:off x="3276600" y="2046288"/>
            <a:ext cx="5257800" cy="224676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hlink"/>
              </a:buClr>
              <a:buSzPts val="2800"/>
              <a:buFont typeface="Noto Sans Symbols"/>
              <a:buNone/>
            </a:pPr>
            <a:r>
              <a:rPr lang="en-US" sz="2800">
                <a:solidFill>
                  <a:schemeClr val="dk1"/>
                </a:solidFill>
                <a:latin typeface="Times New Roman"/>
                <a:ea typeface="Times New Roman"/>
                <a:cs typeface="Times New Roman"/>
                <a:sym typeface="Times New Roman"/>
              </a:rPr>
              <a:t>Những sự kiên thực tế (điều kiện, hoàn cảnh, tình huống của đời sống thực tế) mà sự xuất hiện hoặc mất đi của chúng sẽ làm phát sinh, thay đổi hay chấm dứt QHPL</a:t>
            </a:r>
            <a:endParaRPr i="1" sz="2800" u="sng">
              <a:solidFill>
                <a:srgbClr val="FF3399"/>
              </a:solidFill>
              <a:latin typeface="Times New Roman"/>
              <a:ea typeface="Times New Roman"/>
              <a:cs typeface="Times New Roman"/>
              <a:sym typeface="Times New Roman"/>
            </a:endParaRPr>
          </a:p>
        </p:txBody>
      </p:sp>
      <p:pic>
        <p:nvPicPr>
          <p:cNvPr descr="C:\Documents and Settings\anh re\My Documents\My Pictures\danger-zone.jpg" id="1986" name="Google Shape;1986;p118"/>
          <p:cNvPicPr preferRelativeResize="0"/>
          <p:nvPr/>
        </p:nvPicPr>
        <p:blipFill rotWithShape="1">
          <a:blip r:embed="rId3">
            <a:alphaModFix/>
          </a:blip>
          <a:srcRect b="0" l="0" r="0" t="0"/>
          <a:stretch/>
        </p:blipFill>
        <p:spPr>
          <a:xfrm>
            <a:off x="457200" y="2514600"/>
            <a:ext cx="2209800" cy="1992313"/>
          </a:xfrm>
          <a:prstGeom prst="rect">
            <a:avLst/>
          </a:prstGeom>
          <a:noFill/>
          <a:ln>
            <a:noFill/>
          </a:ln>
        </p:spPr>
      </p:pic>
      <p:sp>
        <p:nvSpPr>
          <p:cNvPr id="1987" name="Google Shape;1987;p118"/>
          <p:cNvSpPr/>
          <p:nvPr/>
        </p:nvSpPr>
        <p:spPr>
          <a:xfrm>
            <a:off x="3048000" y="1752600"/>
            <a:ext cx="5715000" cy="3505200"/>
          </a:xfrm>
          <a:prstGeom prst="roundRect">
            <a:avLst>
              <a:gd fmla="val 16667" name="adj"/>
            </a:avLst>
          </a:prstGeom>
          <a:noFill/>
          <a:ln cap="flat" cmpd="sng" w="38100">
            <a:solidFill>
              <a:srgbClr val="C7144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dk2"/>
              </a:solidFill>
              <a:latin typeface="Verdana"/>
              <a:ea typeface="Verdana"/>
              <a:cs typeface="Verdana"/>
              <a:sym typeface="Verdana"/>
            </a:endParaRPr>
          </a:p>
        </p:txBody>
      </p:sp>
      <p:sp>
        <p:nvSpPr>
          <p:cNvPr id="1988" name="Google Shape;1988;p118"/>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89" name="Google Shape;1989;p11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6"/>
                                        </p:tgtEl>
                                        <p:attrNameLst>
                                          <p:attrName>style.visibility</p:attrName>
                                        </p:attrNameLst>
                                      </p:cBhvr>
                                      <p:to>
                                        <p:strVal val="visible"/>
                                      </p:to>
                                    </p:set>
                                    <p:animEffect filter="fade" transition="in">
                                      <p:cBhvr>
                                        <p:cTn dur="500"/>
                                        <p:tgtEl>
                                          <p:spTgt spid="1986"/>
                                        </p:tgtEl>
                                      </p:cBhvr>
                                    </p:animEffect>
                                  </p:childTnLst>
                                </p:cTn>
                              </p:par>
                              <p:par>
                                <p:cTn fill="hold" nodeType="withEffect" presetClass="entr" presetID="10" presetSubtype="0">
                                  <p:stCondLst>
                                    <p:cond delay="0"/>
                                  </p:stCondLst>
                                  <p:childTnLst>
                                    <p:set>
                                      <p:cBhvr>
                                        <p:cTn dur="1" fill="hold">
                                          <p:stCondLst>
                                            <p:cond delay="0"/>
                                          </p:stCondLst>
                                        </p:cTn>
                                        <p:tgtEl>
                                          <p:spTgt spid="1987"/>
                                        </p:tgtEl>
                                        <p:attrNameLst>
                                          <p:attrName>style.visibility</p:attrName>
                                        </p:attrNameLst>
                                      </p:cBhvr>
                                      <p:to>
                                        <p:strVal val="visible"/>
                                      </p:to>
                                    </p:set>
                                    <p:animEffect filter="fade" transition="in">
                                      <p:cBhvr>
                                        <p:cTn dur="500"/>
                                        <p:tgtEl>
                                          <p:spTgt spid="1987"/>
                                        </p:tgtEl>
                                      </p:cBhvr>
                                    </p:animEffect>
                                  </p:childTnLst>
                                </p:cTn>
                              </p:par>
                              <p:par>
                                <p:cTn fill="hold" nodeType="withEffect" presetClass="entr" presetID="10" presetSubtype="0">
                                  <p:stCondLst>
                                    <p:cond delay="0"/>
                                  </p:stCondLst>
                                  <p:childTnLst>
                                    <p:set>
                                      <p:cBhvr>
                                        <p:cTn dur="1" fill="hold">
                                          <p:stCondLst>
                                            <p:cond delay="0"/>
                                          </p:stCondLst>
                                        </p:cTn>
                                        <p:tgtEl>
                                          <p:spTgt spid="1985"/>
                                        </p:tgtEl>
                                        <p:attrNameLst>
                                          <p:attrName>style.visibility</p:attrName>
                                        </p:attrNameLst>
                                      </p:cBhvr>
                                      <p:to>
                                        <p:strVal val="visible"/>
                                      </p:to>
                                    </p:set>
                                    <p:animEffect filter="fade" transition="in">
                                      <p:cBhvr>
                                        <p:cTn dur="500"/>
                                        <p:tgtEl>
                                          <p:spTgt spid="19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3" name="Shape 1993"/>
        <p:cNvGrpSpPr/>
        <p:nvPr/>
      </p:nvGrpSpPr>
      <p:grpSpPr>
        <a:xfrm>
          <a:off x="0" y="0"/>
          <a:ext cx="0" cy="0"/>
          <a:chOff x="0" y="0"/>
          <a:chExt cx="0" cy="0"/>
        </a:xfrm>
      </p:grpSpPr>
      <p:sp>
        <p:nvSpPr>
          <p:cNvPr id="1994" name="Google Shape;1994;p11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Times New Roman"/>
              <a:buNone/>
            </a:pPr>
            <a:r>
              <a:rPr lang="en-US">
                <a:latin typeface="Times New Roman"/>
                <a:ea typeface="Times New Roman"/>
                <a:cs typeface="Times New Roman"/>
                <a:sym typeface="Times New Roman"/>
              </a:rPr>
              <a:t>Sự kiện pháp lý</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Phân loại</a:t>
            </a:r>
            <a:endParaRPr>
              <a:latin typeface="Times New Roman"/>
              <a:ea typeface="Times New Roman"/>
              <a:cs typeface="Times New Roman"/>
              <a:sym typeface="Times New Roman"/>
            </a:endParaRPr>
          </a:p>
        </p:txBody>
      </p:sp>
      <p:sp>
        <p:nvSpPr>
          <p:cNvPr id="1995" name="Google Shape;1995;p11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Times New Roman"/>
                <a:ea typeface="Times New Roman"/>
                <a:cs typeface="Times New Roman"/>
                <a:sym typeface="Times New Roman"/>
              </a:rPr>
              <a:t>Căn cứ vào số lượng SKPL và mối quan hệ giữa chúng trong việc làm ps, thay đổi, chấm dứt QHPL: Sự kiện pháp lý đơn giản và SKPL phức tạp (đk đơn giản và cần nhiều đk)</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Căn cứ kết quả tác động của SKPL đối với QHPL: SKPL phát sinh– SKPL thay đổi– SKPL chấm dứt</a:t>
            </a:r>
            <a:endParaRPr>
              <a:latin typeface="Times New Roman"/>
              <a:ea typeface="Times New Roman"/>
              <a:cs typeface="Times New Roman"/>
              <a:sym typeface="Times New Roman"/>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Phổ biến nhất là cách phân loại căn cứ theo tiêu chuẩn ý chí, SKPL được chia thành sự biến và hành vi.</a:t>
            </a:r>
            <a:endParaRPr/>
          </a:p>
          <a:p>
            <a:pPr indent="-167640" lvl="0" marL="274320" rtl="0" algn="l">
              <a:spcBef>
                <a:spcPts val="600"/>
              </a:spcBef>
              <a:spcAft>
                <a:spcPts val="0"/>
              </a:spcAft>
              <a:buSzPts val="1680"/>
              <a:buNone/>
            </a:pPr>
            <a:r>
              <a:t/>
            </a:r>
            <a:endParaRPr>
              <a:latin typeface="Times New Roman"/>
              <a:ea typeface="Times New Roman"/>
              <a:cs typeface="Times New Roman"/>
              <a:sym typeface="Times New Roman"/>
            </a:endParaRPr>
          </a:p>
        </p:txBody>
      </p:sp>
      <p:sp>
        <p:nvSpPr>
          <p:cNvPr id="1996" name="Google Shape;1996;p119"/>
          <p:cNvSpPr txBox="1"/>
          <p:nvPr>
            <p:ph idx="11" type="ftr"/>
          </p:nvPr>
        </p:nvSpPr>
        <p:spPr>
          <a:xfrm rot="5400000">
            <a:off x="6706526" y="34535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1997" name="Google Shape;1997;p11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grpSp>
        <p:nvGrpSpPr>
          <p:cNvPr id="2002" name="Google Shape;2002;p120"/>
          <p:cNvGrpSpPr/>
          <p:nvPr/>
        </p:nvGrpSpPr>
        <p:grpSpPr>
          <a:xfrm>
            <a:off x="2951163" y="1552575"/>
            <a:ext cx="407987" cy="568325"/>
            <a:chOff x="1859" y="1981"/>
            <a:chExt cx="257" cy="358"/>
          </a:xfrm>
        </p:grpSpPr>
        <p:pic>
          <p:nvPicPr>
            <p:cNvPr id="2003" name="Google Shape;2003;p120"/>
            <p:cNvPicPr preferRelativeResize="0"/>
            <p:nvPr/>
          </p:nvPicPr>
          <p:blipFill rotWithShape="1">
            <a:blip r:embed="rId3">
              <a:alphaModFix/>
            </a:blip>
            <a:srcRect b="0" l="0" r="0" t="0"/>
            <a:stretch/>
          </p:blipFill>
          <p:spPr>
            <a:xfrm>
              <a:off x="1859" y="1981"/>
              <a:ext cx="257" cy="358"/>
            </a:xfrm>
            <a:prstGeom prst="rect">
              <a:avLst/>
            </a:prstGeom>
            <a:noFill/>
            <a:ln>
              <a:noFill/>
            </a:ln>
          </p:spPr>
        </p:pic>
        <p:sp>
          <p:nvSpPr>
            <p:cNvPr id="2004" name="Google Shape;2004;p120"/>
            <p:cNvSpPr txBox="1"/>
            <p:nvPr/>
          </p:nvSpPr>
          <p:spPr>
            <a:xfrm>
              <a:off x="1992" y="2073"/>
              <a:ext cx="91" cy="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Verdana"/>
                <a:ea typeface="Verdana"/>
                <a:cs typeface="Verdana"/>
                <a:sym typeface="Verdana"/>
              </a:endParaRPr>
            </a:p>
          </p:txBody>
        </p:sp>
      </p:grpSp>
      <p:grpSp>
        <p:nvGrpSpPr>
          <p:cNvPr id="2005" name="Google Shape;2005;p120"/>
          <p:cNvGrpSpPr/>
          <p:nvPr/>
        </p:nvGrpSpPr>
        <p:grpSpPr>
          <a:xfrm>
            <a:off x="5553075" y="1498600"/>
            <a:ext cx="409575" cy="573088"/>
            <a:chOff x="3498" y="1947"/>
            <a:chExt cx="258" cy="361"/>
          </a:xfrm>
        </p:grpSpPr>
        <p:pic>
          <p:nvPicPr>
            <p:cNvPr id="2006" name="Google Shape;2006;p120"/>
            <p:cNvPicPr preferRelativeResize="0"/>
            <p:nvPr/>
          </p:nvPicPr>
          <p:blipFill rotWithShape="1">
            <a:blip r:embed="rId4">
              <a:alphaModFix/>
            </a:blip>
            <a:srcRect b="0" l="0" r="0" t="0"/>
            <a:stretch/>
          </p:blipFill>
          <p:spPr>
            <a:xfrm>
              <a:off x="3498" y="1947"/>
              <a:ext cx="258" cy="361"/>
            </a:xfrm>
            <a:prstGeom prst="rect">
              <a:avLst/>
            </a:prstGeom>
            <a:noFill/>
            <a:ln>
              <a:noFill/>
            </a:ln>
          </p:spPr>
        </p:pic>
        <p:sp>
          <p:nvSpPr>
            <p:cNvPr id="2007" name="Google Shape;2007;p120"/>
            <p:cNvSpPr txBox="1"/>
            <p:nvPr/>
          </p:nvSpPr>
          <p:spPr>
            <a:xfrm>
              <a:off x="3535" y="2042"/>
              <a:ext cx="90" cy="149"/>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Verdana"/>
                <a:ea typeface="Verdana"/>
                <a:cs typeface="Verdana"/>
                <a:sym typeface="Verdana"/>
              </a:endParaRPr>
            </a:p>
          </p:txBody>
        </p:sp>
      </p:grpSp>
      <p:sp>
        <p:nvSpPr>
          <p:cNvPr id="2008" name="Google Shape;2008;p120"/>
          <p:cNvSpPr/>
          <p:nvPr/>
        </p:nvSpPr>
        <p:spPr>
          <a:xfrm>
            <a:off x="304800" y="1379538"/>
            <a:ext cx="2573338" cy="719137"/>
          </a:xfrm>
          <a:prstGeom prst="can">
            <a:avLst>
              <a:gd fmla="val 25000" name="adj"/>
            </a:avLst>
          </a:prstGeom>
          <a:solidFill>
            <a:schemeClr val="accent2"/>
          </a:solidFill>
          <a:ln cap="flat" cmpd="sng" w="25400">
            <a:solidFill>
              <a:srgbClr val="556E9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009" name="Google Shape;2009;p120"/>
          <p:cNvSpPr/>
          <p:nvPr/>
        </p:nvSpPr>
        <p:spPr>
          <a:xfrm>
            <a:off x="5943600" y="1379538"/>
            <a:ext cx="2719388" cy="719137"/>
          </a:xfrm>
          <a:prstGeom prst="can">
            <a:avLst>
              <a:gd fmla="val 25000" name="adj"/>
            </a:avLst>
          </a:prstGeom>
          <a:solidFill>
            <a:schemeClr val="accent4"/>
          </a:solidFill>
          <a:ln cap="flat" cmpd="sng" w="34925">
            <a:solidFill>
              <a:schemeClr val="lt1"/>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grpSp>
        <p:nvGrpSpPr>
          <p:cNvPr id="2010" name="Google Shape;2010;p120"/>
          <p:cNvGrpSpPr/>
          <p:nvPr/>
        </p:nvGrpSpPr>
        <p:grpSpPr>
          <a:xfrm>
            <a:off x="3200400" y="617538"/>
            <a:ext cx="2484438" cy="2400300"/>
            <a:chOff x="3185525" y="2209800"/>
            <a:chExt cx="2484702" cy="2400165"/>
          </a:xfrm>
        </p:grpSpPr>
        <p:sp>
          <p:nvSpPr>
            <p:cNvPr id="2011" name="Google Shape;2011;p120"/>
            <p:cNvSpPr/>
            <p:nvPr/>
          </p:nvSpPr>
          <p:spPr>
            <a:xfrm>
              <a:off x="3306189" y="2209800"/>
              <a:ext cx="2325933" cy="2400165"/>
            </a:xfrm>
            <a:prstGeom prst="ellipse">
              <a:avLst/>
            </a:prstGeom>
            <a:gradFill>
              <a:gsLst>
                <a:gs pos="0">
                  <a:srgbClr val="767676"/>
                </a:gs>
                <a:gs pos="50000">
                  <a:srgbClr val="FFFFFF"/>
                </a:gs>
                <a:gs pos="100000">
                  <a:srgbClr val="767676"/>
                </a:gs>
              </a:gsLst>
              <a:lin ang="5400000" scaled="0"/>
            </a:gradFill>
            <a:ln cap="flat" cmpd="sng" w="571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2" name="Google Shape;2012;p120"/>
            <p:cNvSpPr/>
            <p:nvPr/>
          </p:nvSpPr>
          <p:spPr>
            <a:xfrm>
              <a:off x="3438688" y="2345041"/>
              <a:ext cx="2059495" cy="2125223"/>
            </a:xfrm>
            <a:prstGeom prst="ellipse">
              <a:avLst/>
            </a:prstGeom>
            <a:gradFill>
              <a:gsLst>
                <a:gs pos="0">
                  <a:srgbClr val="A2A2A2"/>
                </a:gs>
                <a:gs pos="50000">
                  <a:srgbClr val="FFFFFF"/>
                </a:gs>
                <a:gs pos="100000">
                  <a:srgbClr val="A2A2A2"/>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3" name="Google Shape;2013;p120"/>
            <p:cNvSpPr/>
            <p:nvPr/>
          </p:nvSpPr>
          <p:spPr>
            <a:xfrm>
              <a:off x="3799953" y="3170183"/>
              <a:ext cx="184170" cy="480986"/>
            </a:xfrm>
            <a:prstGeom prst="ellipse">
              <a:avLst/>
            </a:prstGeom>
            <a:gradFill>
              <a:gsLst>
                <a:gs pos="0">
                  <a:srgbClr val="FFFFFF"/>
                </a:gs>
                <a:gs pos="50000">
                  <a:schemeClr val="hlink"/>
                </a:gs>
                <a:gs pos="100000">
                  <a:srgbClr val="FFFFFF"/>
                </a:gs>
              </a:gsLst>
              <a:lin ang="27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4" name="Google Shape;2014;p120"/>
            <p:cNvSpPr/>
            <p:nvPr/>
          </p:nvSpPr>
          <p:spPr>
            <a:xfrm>
              <a:off x="3798365" y="3165421"/>
              <a:ext cx="193696" cy="490510"/>
            </a:xfrm>
            <a:prstGeom prst="ellipse">
              <a:avLst/>
            </a:prstGeom>
            <a:gradFill>
              <a:gsLst>
                <a:gs pos="0">
                  <a:srgbClr val="C7D7FF"/>
                </a:gs>
                <a:gs pos="30000">
                  <a:srgbClr val="C2D7FF"/>
                </a:gs>
                <a:gs pos="75000">
                  <a:srgbClr val="A2C0FF"/>
                </a:gs>
                <a:gs pos="100000">
                  <a:srgbClr val="81ACFF"/>
                </a:gs>
              </a:gsLst>
              <a:path path="circle">
                <a:fillToRect r="100%" t="100%"/>
              </a:path>
              <a:tileRect b="-100%" l="-100%"/>
            </a:gradFill>
            <a:ln cap="flat" cmpd="sng" w="12700">
              <a:solidFill>
                <a:srgbClr val="4D7ACD"/>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5" name="Google Shape;2015;p120"/>
            <p:cNvSpPr/>
            <p:nvPr/>
          </p:nvSpPr>
          <p:spPr>
            <a:xfrm>
              <a:off x="3679290" y="3168596"/>
              <a:ext cx="1578143" cy="480985"/>
            </a:xfrm>
            <a:prstGeom prst="ellipse">
              <a:avLst/>
            </a:prstGeom>
            <a:gradFill>
              <a:gsLst>
                <a:gs pos="0">
                  <a:srgbClr val="9E4915"/>
                </a:gs>
                <a:gs pos="50000">
                  <a:schemeClr val="hlink"/>
                </a:gs>
                <a:gs pos="100000">
                  <a:srgbClr val="9E4915"/>
                </a:gs>
              </a:gsLst>
              <a:lin ang="18900000" scaled="0"/>
            </a:grad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6" name="Google Shape;2016;p120"/>
            <p:cNvSpPr/>
            <p:nvPr/>
          </p:nvSpPr>
          <p:spPr>
            <a:xfrm>
              <a:off x="3679203" y="2594718"/>
              <a:ext cx="1578466" cy="1631815"/>
            </a:xfrm>
            <a:prstGeom prst="ellipse">
              <a:avLst/>
            </a:prstGeom>
            <a:blipFill rotWithShape="1">
              <a:blip r:embed="rId5">
                <a:alphaModFix/>
              </a:blip>
              <a:tile algn="tl" flip="y" tx="0" sx="40000" ty="0" sy="50000"/>
            </a:blip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17" name="Google Shape;2017;p120"/>
            <p:cNvSpPr txBox="1"/>
            <p:nvPr/>
          </p:nvSpPr>
          <p:spPr>
            <a:xfrm>
              <a:off x="3185525" y="2895561"/>
              <a:ext cx="2484702" cy="120026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lt2"/>
                  </a:solidFill>
                  <a:latin typeface="Arial"/>
                  <a:ea typeface="Arial"/>
                  <a:cs typeface="Arial"/>
                  <a:sym typeface="Arial"/>
                </a:rPr>
                <a:t>Sự kiện </a:t>
              </a:r>
              <a:endParaRPr/>
            </a:p>
            <a:p>
              <a:pPr indent="0" lvl="0" marL="0" marR="0" rtl="0" algn="ctr">
                <a:spcBef>
                  <a:spcPts val="0"/>
                </a:spcBef>
                <a:spcAft>
                  <a:spcPts val="0"/>
                </a:spcAft>
                <a:buNone/>
              </a:pPr>
              <a:r>
                <a:rPr b="1" lang="en-US" sz="2400">
                  <a:solidFill>
                    <a:schemeClr val="lt2"/>
                  </a:solidFill>
                  <a:latin typeface="Arial"/>
                  <a:ea typeface="Arial"/>
                  <a:cs typeface="Arial"/>
                  <a:sym typeface="Arial"/>
                </a:rPr>
                <a:t>pháp lý</a:t>
              </a:r>
              <a:endParaRPr/>
            </a:p>
            <a:p>
              <a:pPr indent="0" lvl="0" marL="0" marR="0" rtl="0" algn="ctr">
                <a:spcBef>
                  <a:spcPts val="0"/>
                </a:spcBef>
                <a:spcAft>
                  <a:spcPts val="0"/>
                </a:spcAft>
                <a:buNone/>
              </a:pPr>
              <a:r>
                <a:t/>
              </a:r>
              <a:endParaRPr b="1" sz="2400">
                <a:solidFill>
                  <a:schemeClr val="lt2"/>
                </a:solidFill>
                <a:latin typeface="Arial"/>
                <a:ea typeface="Arial"/>
                <a:cs typeface="Arial"/>
                <a:sym typeface="Arial"/>
              </a:endParaRPr>
            </a:p>
          </p:txBody>
        </p:sp>
      </p:grpSp>
      <p:sp>
        <p:nvSpPr>
          <p:cNvPr id="2018" name="Google Shape;2018;p120"/>
          <p:cNvSpPr txBox="1"/>
          <p:nvPr/>
        </p:nvSpPr>
        <p:spPr>
          <a:xfrm>
            <a:off x="533400" y="1565275"/>
            <a:ext cx="22098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lt2"/>
                </a:solidFill>
                <a:latin typeface="Arial"/>
                <a:ea typeface="Arial"/>
                <a:cs typeface="Arial"/>
                <a:sym typeface="Arial"/>
              </a:rPr>
              <a:t>Hành vi</a:t>
            </a:r>
            <a:endParaRPr/>
          </a:p>
        </p:txBody>
      </p:sp>
      <p:sp>
        <p:nvSpPr>
          <p:cNvPr id="2019" name="Google Shape;2019;p120"/>
          <p:cNvSpPr txBox="1"/>
          <p:nvPr/>
        </p:nvSpPr>
        <p:spPr>
          <a:xfrm>
            <a:off x="6148388" y="1565275"/>
            <a:ext cx="2438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lt2"/>
                </a:solidFill>
                <a:latin typeface="Arial"/>
                <a:ea typeface="Arial"/>
                <a:cs typeface="Arial"/>
                <a:sym typeface="Arial"/>
              </a:rPr>
              <a:t>Sự biến</a:t>
            </a:r>
            <a:endParaRPr/>
          </a:p>
        </p:txBody>
      </p:sp>
      <p:sp>
        <p:nvSpPr>
          <p:cNvPr id="2020" name="Google Shape;2020;p120"/>
          <p:cNvSpPr/>
          <p:nvPr/>
        </p:nvSpPr>
        <p:spPr>
          <a:xfrm>
            <a:off x="457200" y="2293362"/>
            <a:ext cx="2743200" cy="4031238"/>
          </a:xfrm>
          <a:prstGeom prst="roundRect">
            <a:avLst>
              <a:gd fmla="val 16667" name="adj"/>
            </a:avLst>
          </a:prstGeom>
          <a:gradFill>
            <a:gsLst>
              <a:gs pos="0">
                <a:srgbClr val="C7D7FF"/>
              </a:gs>
              <a:gs pos="30000">
                <a:srgbClr val="C2D7FF"/>
              </a:gs>
              <a:gs pos="75000">
                <a:srgbClr val="A2C0FF"/>
              </a:gs>
              <a:gs pos="100000">
                <a:srgbClr val="81ACFF"/>
              </a:gs>
            </a:gsLst>
            <a:path path="circle">
              <a:fillToRect r="100%" t="100%"/>
            </a:path>
            <a:tileRect b="-100%" l="-100%"/>
          </a:gradFill>
          <a:ln cap="flat" cmpd="sng" w="12700">
            <a:solidFill>
              <a:srgbClr val="4D7ACD"/>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21" name="Google Shape;2021;p120"/>
          <p:cNvSpPr txBox="1"/>
          <p:nvPr/>
        </p:nvSpPr>
        <p:spPr>
          <a:xfrm>
            <a:off x="457200" y="2447924"/>
            <a:ext cx="2743200" cy="3046988"/>
          </a:xfrm>
          <a:prstGeom prst="rect">
            <a:avLst/>
          </a:prstGeom>
          <a:noFill/>
          <a:ln>
            <a:noFill/>
          </a:ln>
        </p:spPr>
        <p:txBody>
          <a:bodyPr anchorCtr="0" anchor="t" bIns="45700" lIns="91425" spcFirstLastPara="1" rIns="91425" wrap="square" tIns="45700">
            <a:spAutoFit/>
          </a:bodyPr>
          <a:lstStyle/>
          <a:p>
            <a:pPr indent="-152400" lvl="0" marL="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 Là những sự kiện xảy ra thông qua ý chí của con người</a:t>
            </a:r>
            <a:endParaRPr sz="2400">
              <a:solidFill>
                <a:schemeClr val="dk1"/>
              </a:solidFill>
              <a:latin typeface="Arial"/>
              <a:ea typeface="Arial"/>
              <a:cs typeface="Arial"/>
              <a:sym typeface="Arial"/>
            </a:endParaRPr>
          </a:p>
          <a:p>
            <a:pPr indent="-152400" lvl="0" marL="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 Gồm: hành động, không hành động, hợp pháp, không hợp pháp</a:t>
            </a:r>
            <a:endParaRPr sz="2400">
              <a:solidFill>
                <a:schemeClr val="dk1"/>
              </a:solidFill>
              <a:latin typeface="Arial"/>
              <a:ea typeface="Arial"/>
              <a:cs typeface="Arial"/>
              <a:sym typeface="Arial"/>
            </a:endParaRPr>
          </a:p>
        </p:txBody>
      </p:sp>
      <p:sp>
        <p:nvSpPr>
          <p:cNvPr id="2022" name="Google Shape;2022;p120"/>
          <p:cNvSpPr/>
          <p:nvPr/>
        </p:nvSpPr>
        <p:spPr>
          <a:xfrm>
            <a:off x="5638800" y="2293362"/>
            <a:ext cx="2895426" cy="3878838"/>
          </a:xfrm>
          <a:prstGeom prst="roundRect">
            <a:avLst>
              <a:gd fmla="val 16667" name="adj"/>
            </a:avLst>
          </a:prstGeom>
          <a:gradFill>
            <a:gsLst>
              <a:gs pos="0">
                <a:srgbClr val="FFFBB2"/>
              </a:gs>
              <a:gs pos="30000">
                <a:srgbClr val="FFFAA9"/>
              </a:gs>
              <a:gs pos="75000">
                <a:srgbClr val="FFFA7D"/>
              </a:gs>
              <a:gs pos="100000">
                <a:srgbClr val="FFFE4B"/>
              </a:gs>
            </a:gsLst>
            <a:path path="circle">
              <a:fillToRect r="100%" t="100%"/>
            </a:path>
            <a:tileRect b="-100%" l="-100%"/>
          </a:gradFill>
          <a:ln cap="flat" cmpd="sng" w="12700">
            <a:solidFill>
              <a:srgbClr val="FAC700"/>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Verdana"/>
              <a:ea typeface="Verdana"/>
              <a:cs typeface="Verdana"/>
              <a:sym typeface="Verdana"/>
            </a:endParaRPr>
          </a:p>
        </p:txBody>
      </p:sp>
      <p:sp>
        <p:nvSpPr>
          <p:cNvPr id="2023" name="Google Shape;2023;p120"/>
          <p:cNvSpPr txBox="1"/>
          <p:nvPr/>
        </p:nvSpPr>
        <p:spPr>
          <a:xfrm>
            <a:off x="5791200" y="2286000"/>
            <a:ext cx="2887663" cy="3416320"/>
          </a:xfrm>
          <a:prstGeom prst="rect">
            <a:avLst/>
          </a:prstGeom>
          <a:noFill/>
          <a:ln>
            <a:noFill/>
          </a:ln>
        </p:spPr>
        <p:txBody>
          <a:bodyPr anchorCtr="0" anchor="t" bIns="45700" lIns="91425" spcFirstLastPara="1" rIns="91425" wrap="square" tIns="45700">
            <a:spAutoFit/>
          </a:bodyPr>
          <a:lstStyle/>
          <a:p>
            <a:pPr indent="-152400" lvl="0" marL="0" marR="0" rtl="0" algn="l">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 là những sự kiện phát sinh k phụ thuộc hoặc ko trực tiếp phụ thuộc vào ý muốn chủ quan của con người nhưng cũng làm phát sinh, thay đổi chấm dứt 1 QHPL</a:t>
            </a:r>
            <a:endParaRPr sz="2400">
              <a:solidFill>
                <a:schemeClr val="dk1"/>
              </a:solidFill>
              <a:latin typeface="Arial"/>
              <a:ea typeface="Arial"/>
              <a:cs typeface="Arial"/>
              <a:sym typeface="Arial"/>
            </a:endParaRPr>
          </a:p>
        </p:txBody>
      </p:sp>
      <p:sp>
        <p:nvSpPr>
          <p:cNvPr id="2024" name="Google Shape;2024;p120"/>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025" name="Google Shape;2025;p12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0"/>
                                        </p:tgtEl>
                                        <p:attrNameLst>
                                          <p:attrName>style.visibility</p:attrName>
                                        </p:attrNameLst>
                                      </p:cBhvr>
                                      <p:to>
                                        <p:strVal val="visible"/>
                                      </p:to>
                                    </p:set>
                                    <p:animEffect filter="fade" transition="in">
                                      <p:cBhvr>
                                        <p:cTn dur="500"/>
                                        <p:tgtEl>
                                          <p:spTgt spid="20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0"/>
                                        </p:tgtEl>
                                        <p:attrNameLst>
                                          <p:attrName>style.visibility</p:attrName>
                                        </p:attrNameLst>
                                      </p:cBhvr>
                                      <p:to>
                                        <p:strVal val="visible"/>
                                      </p:to>
                                    </p:set>
                                    <p:animEffect filter="fade" transition="in">
                                      <p:cBhvr>
                                        <p:cTn dur="500"/>
                                        <p:tgtEl>
                                          <p:spTgt spid="2010"/>
                                        </p:tgtEl>
                                      </p:cBhvr>
                                    </p:animEffect>
                                  </p:childTnLst>
                                </p:cTn>
                              </p:par>
                              <p:par>
                                <p:cTn fill="hold" nodeType="withEffect" presetClass="entr" presetID="10" presetSubtype="0">
                                  <p:stCondLst>
                                    <p:cond delay="0"/>
                                  </p:stCondLst>
                                  <p:childTnLst>
                                    <p:set>
                                      <p:cBhvr>
                                        <p:cTn dur="1" fill="hold">
                                          <p:stCondLst>
                                            <p:cond delay="0"/>
                                          </p:stCondLst>
                                        </p:cTn>
                                        <p:tgtEl>
                                          <p:spTgt spid="2018"/>
                                        </p:tgtEl>
                                        <p:attrNameLst>
                                          <p:attrName>style.visibility</p:attrName>
                                        </p:attrNameLst>
                                      </p:cBhvr>
                                      <p:to>
                                        <p:strVal val="visible"/>
                                      </p:to>
                                    </p:set>
                                    <p:animEffect filter="fade" transition="in">
                                      <p:cBhvr>
                                        <p:cTn dur="500"/>
                                        <p:tgtEl>
                                          <p:spTgt spid="2018"/>
                                        </p:tgtEl>
                                      </p:cBhvr>
                                    </p:animEffect>
                                  </p:childTnLst>
                                </p:cTn>
                              </p:par>
                              <p:par>
                                <p:cTn fill="hold" nodeType="withEffect" presetClass="entr" presetID="10" presetSubtype="0">
                                  <p:stCondLst>
                                    <p:cond delay="0"/>
                                  </p:stCondLst>
                                  <p:childTnLst>
                                    <p:set>
                                      <p:cBhvr>
                                        <p:cTn dur="1" fill="hold">
                                          <p:stCondLst>
                                            <p:cond delay="0"/>
                                          </p:stCondLst>
                                        </p:cTn>
                                        <p:tgtEl>
                                          <p:spTgt spid="2008"/>
                                        </p:tgtEl>
                                        <p:attrNameLst>
                                          <p:attrName>style.visibility</p:attrName>
                                        </p:attrNameLst>
                                      </p:cBhvr>
                                      <p:to>
                                        <p:strVal val="visible"/>
                                      </p:to>
                                    </p:set>
                                    <p:animEffect filter="fade" transition="in">
                                      <p:cBhvr>
                                        <p:cTn dur="500"/>
                                        <p:tgtEl>
                                          <p:spTgt spid="2008"/>
                                        </p:tgtEl>
                                      </p:cBhvr>
                                    </p:animEffect>
                                  </p:childTnLst>
                                </p:cTn>
                              </p:par>
                              <p:par>
                                <p:cTn fill="hold" nodeType="withEffect" presetClass="entr" presetID="10" presetSubtype="0">
                                  <p:stCondLst>
                                    <p:cond delay="0"/>
                                  </p:stCondLst>
                                  <p:childTnLst>
                                    <p:set>
                                      <p:cBhvr>
                                        <p:cTn dur="1" fill="hold">
                                          <p:stCondLst>
                                            <p:cond delay="0"/>
                                          </p:stCondLst>
                                        </p:cTn>
                                        <p:tgtEl>
                                          <p:spTgt spid="2002"/>
                                        </p:tgtEl>
                                        <p:attrNameLst>
                                          <p:attrName>style.visibility</p:attrName>
                                        </p:attrNameLst>
                                      </p:cBhvr>
                                      <p:to>
                                        <p:strVal val="visible"/>
                                      </p:to>
                                    </p:set>
                                    <p:animEffect filter="fade" transition="in">
                                      <p:cBhvr>
                                        <p:cTn dur="500"/>
                                        <p:tgtEl>
                                          <p:spTgt spid="20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5"/>
                                        </p:tgtEl>
                                        <p:attrNameLst>
                                          <p:attrName>style.visibility</p:attrName>
                                        </p:attrNameLst>
                                      </p:cBhvr>
                                      <p:to>
                                        <p:strVal val="visible"/>
                                      </p:to>
                                    </p:set>
                                    <p:animEffect filter="fade" transition="in">
                                      <p:cBhvr>
                                        <p:cTn dur="500"/>
                                        <p:tgtEl>
                                          <p:spTgt spid="2005"/>
                                        </p:tgtEl>
                                      </p:cBhvr>
                                    </p:animEffect>
                                  </p:childTnLst>
                                </p:cTn>
                              </p:par>
                              <p:par>
                                <p:cTn fill="hold" nodeType="withEffect" presetClass="entr" presetID="10" presetSubtype="0">
                                  <p:stCondLst>
                                    <p:cond delay="0"/>
                                  </p:stCondLst>
                                  <p:childTnLst>
                                    <p:set>
                                      <p:cBhvr>
                                        <p:cTn dur="1" fill="hold">
                                          <p:stCondLst>
                                            <p:cond delay="0"/>
                                          </p:stCondLst>
                                        </p:cTn>
                                        <p:tgtEl>
                                          <p:spTgt spid="2019"/>
                                        </p:tgtEl>
                                        <p:attrNameLst>
                                          <p:attrName>style.visibility</p:attrName>
                                        </p:attrNameLst>
                                      </p:cBhvr>
                                      <p:to>
                                        <p:strVal val="visible"/>
                                      </p:to>
                                    </p:set>
                                    <p:animEffect filter="fade" transition="in">
                                      <p:cBhvr>
                                        <p:cTn dur="500"/>
                                        <p:tgtEl>
                                          <p:spTgt spid="2019"/>
                                        </p:tgtEl>
                                      </p:cBhvr>
                                    </p:animEffect>
                                  </p:childTnLst>
                                </p:cTn>
                              </p:par>
                              <p:par>
                                <p:cTn fill="hold" nodeType="withEffect" presetClass="entr" presetID="10" presetSubtype="0">
                                  <p:stCondLst>
                                    <p:cond delay="0"/>
                                  </p:stCondLst>
                                  <p:childTnLst>
                                    <p:set>
                                      <p:cBhvr>
                                        <p:cTn dur="1" fill="hold">
                                          <p:stCondLst>
                                            <p:cond delay="0"/>
                                          </p:stCondLst>
                                        </p:cTn>
                                        <p:tgtEl>
                                          <p:spTgt spid="2009"/>
                                        </p:tgtEl>
                                        <p:attrNameLst>
                                          <p:attrName>style.visibility</p:attrName>
                                        </p:attrNameLst>
                                      </p:cBhvr>
                                      <p:to>
                                        <p:strVal val="visible"/>
                                      </p:to>
                                    </p:set>
                                    <p:animEffect filter="fade" transition="in">
                                      <p:cBhvr>
                                        <p:cTn dur="500"/>
                                        <p:tgtEl>
                                          <p:spTgt spid="20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9" name="Shape 2029"/>
        <p:cNvGrpSpPr/>
        <p:nvPr/>
      </p:nvGrpSpPr>
      <p:grpSpPr>
        <a:xfrm>
          <a:off x="0" y="0"/>
          <a:ext cx="0" cy="0"/>
          <a:chOff x="0" y="0"/>
          <a:chExt cx="0" cy="0"/>
        </a:xfrm>
      </p:grpSpPr>
      <p:sp>
        <p:nvSpPr>
          <p:cNvPr id="2030" name="Google Shape;2030;p121"/>
          <p:cNvSpPr txBox="1"/>
          <p:nvPr>
            <p:ph type="title"/>
          </p:nvPr>
        </p:nvSpPr>
        <p:spPr>
          <a:xfrm>
            <a:off x="457200" y="0"/>
            <a:ext cx="8229600" cy="6858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2800"/>
              <a:buFont typeface="Times New Roman"/>
              <a:buNone/>
            </a:pPr>
            <a:r>
              <a:rPr lang="en-US" sz="2800">
                <a:latin typeface="Times New Roman"/>
                <a:ea typeface="Times New Roman"/>
                <a:cs typeface="Times New Roman"/>
                <a:sym typeface="Times New Roman"/>
              </a:rPr>
              <a:t>4.8	Thực hiện pháp luật </a:t>
            </a:r>
            <a:endParaRPr sz="2800">
              <a:latin typeface="Arial"/>
              <a:ea typeface="Arial"/>
              <a:cs typeface="Arial"/>
              <a:sym typeface="Arial"/>
            </a:endParaRPr>
          </a:p>
        </p:txBody>
      </p:sp>
      <p:sp>
        <p:nvSpPr>
          <p:cNvPr id="2031" name="Google Shape;2031;p121"/>
          <p:cNvSpPr/>
          <p:nvPr/>
        </p:nvSpPr>
        <p:spPr>
          <a:xfrm>
            <a:off x="914400" y="1219200"/>
            <a:ext cx="4038600" cy="2209800"/>
          </a:xfrm>
          <a:prstGeom prst="rightArrow">
            <a:avLst>
              <a:gd fmla="val 50000" name="adj1"/>
              <a:gd fmla="val 50000" name="adj2"/>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Arial"/>
                <a:ea typeface="Arial"/>
                <a:cs typeface="Arial"/>
                <a:sym typeface="Arial"/>
              </a:rPr>
              <a:t>“Thực hiện”: bằng hoạt động làm cho trở thành sự thật</a:t>
            </a:r>
            <a:endParaRPr sz="2000">
              <a:solidFill>
                <a:schemeClr val="lt1"/>
              </a:solidFill>
              <a:latin typeface="Arial"/>
              <a:ea typeface="Arial"/>
              <a:cs typeface="Arial"/>
              <a:sym typeface="Arial"/>
            </a:endParaRPr>
          </a:p>
        </p:txBody>
      </p:sp>
      <p:sp>
        <p:nvSpPr>
          <p:cNvPr id="2032" name="Google Shape;2032;p121"/>
          <p:cNvSpPr/>
          <p:nvPr/>
        </p:nvSpPr>
        <p:spPr>
          <a:xfrm>
            <a:off x="4648200" y="2286000"/>
            <a:ext cx="3886200" cy="3962400"/>
          </a:xfrm>
          <a:prstGeom prst="roundRect">
            <a:avLst>
              <a:gd fmla="val 16667" name="adj"/>
            </a:avLst>
          </a:prstGeom>
          <a:gradFill>
            <a:gsLst>
              <a:gs pos="0">
                <a:srgbClr val="F9C3C0"/>
              </a:gs>
              <a:gs pos="30000">
                <a:srgbClr val="FABBB8"/>
              </a:gs>
              <a:gs pos="75000">
                <a:srgbClr val="F79693"/>
              </a:gs>
              <a:gs pos="100000">
                <a:srgbClr val="F96F67"/>
              </a:gs>
            </a:gsLst>
            <a:path path="circle">
              <a:fillToRect r="100%" t="100%"/>
            </a:path>
            <a:tileRect b="-100%" l="-100%"/>
          </a:gradFill>
          <a:ln cap="flat" cmpd="sng" w="12700">
            <a:solidFill>
              <a:srgbClr val="B90C00"/>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500">
                <a:solidFill>
                  <a:schemeClr val="dk1"/>
                </a:solidFill>
                <a:latin typeface="Arial"/>
                <a:ea typeface="Arial"/>
                <a:cs typeface="Arial"/>
                <a:sym typeface="Arial"/>
              </a:rPr>
              <a:t>Thực hiện pháp luật: bằng những hành vi cụ thể làm cho pháp luật (quy định pháp luật) trở hành hiện thực trong cuộc sống</a:t>
            </a:r>
            <a:endParaRPr sz="2500">
              <a:solidFill>
                <a:schemeClr val="dk1"/>
              </a:solidFill>
              <a:latin typeface="Arial"/>
              <a:ea typeface="Arial"/>
              <a:cs typeface="Arial"/>
              <a:sym typeface="Arial"/>
            </a:endParaRPr>
          </a:p>
        </p:txBody>
      </p:sp>
      <p:pic>
        <p:nvPicPr>
          <p:cNvPr descr="E:\Bai giang\PL DC\Pics\imagesd.jpg" id="2033" name="Google Shape;2033;p121"/>
          <p:cNvPicPr preferRelativeResize="0"/>
          <p:nvPr>
            <p:ph idx="1" type="body"/>
          </p:nvPr>
        </p:nvPicPr>
        <p:blipFill rotWithShape="1">
          <a:blip r:embed="rId3">
            <a:alphaModFix/>
          </a:blip>
          <a:srcRect b="0" l="0" r="0" t="0"/>
          <a:stretch/>
        </p:blipFill>
        <p:spPr>
          <a:xfrm>
            <a:off x="0" y="3657600"/>
            <a:ext cx="4624251" cy="2809875"/>
          </a:xfrm>
          <a:prstGeom prst="rect">
            <a:avLst/>
          </a:prstGeom>
          <a:noFill/>
          <a:ln>
            <a:noFill/>
          </a:ln>
        </p:spPr>
      </p:pic>
      <p:sp>
        <p:nvSpPr>
          <p:cNvPr id="2034" name="Google Shape;2034;p121"/>
          <p:cNvSpPr/>
          <p:nvPr/>
        </p:nvSpPr>
        <p:spPr>
          <a:xfrm>
            <a:off x="457200" y="838200"/>
            <a:ext cx="21339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4.8.1	Khái niệm</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1"/>
                                        </p:tgtEl>
                                        <p:attrNameLst>
                                          <p:attrName>style.visibility</p:attrName>
                                        </p:attrNameLst>
                                      </p:cBhvr>
                                      <p:to>
                                        <p:strVal val="visible"/>
                                      </p:to>
                                    </p:set>
                                    <p:animEffect filter="fade" transition="in">
                                      <p:cBhvr>
                                        <p:cTn dur="500"/>
                                        <p:tgtEl>
                                          <p:spTgt spid="2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2"/>
                                        </p:tgtEl>
                                        <p:attrNameLst>
                                          <p:attrName>style.visibility</p:attrName>
                                        </p:attrNameLst>
                                      </p:cBhvr>
                                      <p:to>
                                        <p:strVal val="visible"/>
                                      </p:to>
                                    </p:set>
                                    <p:animEffect filter="fade" transition="in">
                                      <p:cBhvr>
                                        <p:cTn dur="500"/>
                                        <p:tgtEl>
                                          <p:spTgt spid="20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3"/>
                                        </p:tgtEl>
                                        <p:attrNameLst>
                                          <p:attrName>style.visibility</p:attrName>
                                        </p:attrNameLst>
                                      </p:cBhvr>
                                      <p:to>
                                        <p:strVal val="visible"/>
                                      </p:to>
                                    </p:set>
                                    <p:animEffect filter="fade" transition="in">
                                      <p:cBhvr>
                                        <p:cTn dur="2000"/>
                                        <p:tgtEl>
                                          <p:spTgt spid="20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8" name="Shape 2038"/>
        <p:cNvGrpSpPr/>
        <p:nvPr/>
      </p:nvGrpSpPr>
      <p:grpSpPr>
        <a:xfrm>
          <a:off x="0" y="0"/>
          <a:ext cx="0" cy="0"/>
          <a:chOff x="0" y="0"/>
          <a:chExt cx="0" cy="0"/>
        </a:xfrm>
      </p:grpSpPr>
      <p:sp>
        <p:nvSpPr>
          <p:cNvPr id="2039" name="Google Shape;2039;p122"/>
          <p:cNvSpPr txBox="1"/>
          <p:nvPr>
            <p:ph type="title"/>
          </p:nvPr>
        </p:nvSpPr>
        <p:spPr>
          <a:xfrm>
            <a:off x="990600" y="0"/>
            <a:ext cx="7790688"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2000"/>
              <a:buFont typeface="Arial"/>
              <a:buNone/>
            </a:pPr>
            <a:r>
              <a:rPr lang="en-US" sz="2000">
                <a:latin typeface="Arial"/>
                <a:ea typeface="Arial"/>
                <a:cs typeface="Arial"/>
                <a:sym typeface="Arial"/>
              </a:rPr>
              <a:t>4.8.1	Khái niệm</a:t>
            </a:r>
            <a:br>
              <a:rPr lang="en-US" sz="2000">
                <a:latin typeface="Arial"/>
                <a:ea typeface="Arial"/>
                <a:cs typeface="Arial"/>
                <a:sym typeface="Arial"/>
              </a:rPr>
            </a:br>
            <a:br>
              <a:rPr lang="en-US" sz="2400">
                <a:latin typeface="Arial"/>
                <a:ea typeface="Arial"/>
                <a:cs typeface="Arial"/>
                <a:sym typeface="Arial"/>
              </a:rPr>
            </a:br>
            <a:r>
              <a:rPr lang="en-US" sz="2400">
                <a:latin typeface="Arial"/>
                <a:ea typeface="Arial"/>
                <a:cs typeface="Arial"/>
                <a:sym typeface="Arial"/>
              </a:rPr>
              <a:t>Dấu hiệu của thực hiện pháp luật</a:t>
            </a:r>
            <a:endParaRPr sz="2400">
              <a:latin typeface="Arial"/>
              <a:ea typeface="Arial"/>
              <a:cs typeface="Arial"/>
              <a:sym typeface="Arial"/>
            </a:endParaRPr>
          </a:p>
        </p:txBody>
      </p:sp>
      <p:sp>
        <p:nvSpPr>
          <p:cNvPr id="2040" name="Google Shape;2040;p122"/>
          <p:cNvSpPr/>
          <p:nvPr/>
        </p:nvSpPr>
        <p:spPr>
          <a:xfrm>
            <a:off x="0" y="1219200"/>
            <a:ext cx="9144000" cy="5410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Hành vi xác định hay xử sự thực tế</a:t>
            </a:r>
            <a:endParaRPr b="0" i="0" sz="2400" u="none" cap="none" strike="noStrike">
              <a:solidFill>
                <a:schemeClr val="dk1"/>
              </a:solidFill>
              <a:latin typeface="Arial"/>
              <a:ea typeface="Arial"/>
              <a:cs typeface="Arial"/>
              <a:sym typeface="Arial"/>
            </a:endParaRPr>
          </a:p>
          <a:p>
            <a:pPr indent="0" lvl="1" marL="114300" marR="0" rtl="0" algn="l">
              <a:lnSpc>
                <a:spcPct val="75000"/>
              </a:lnSpc>
              <a:spcBef>
                <a:spcPts val="2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52400" lvl="1" marL="114300" marR="0" rtl="0" algn="l">
              <a:lnSpc>
                <a:spcPct val="75000"/>
              </a:lnSpc>
              <a:spcBef>
                <a:spcPts val="1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Hành vi hợp pháp</a:t>
            </a:r>
            <a:endParaRPr b="0" i="0" sz="2400" u="none" cap="none" strike="noStrike">
              <a:solidFill>
                <a:schemeClr val="dk1"/>
              </a:solidFill>
              <a:latin typeface="Arial"/>
              <a:ea typeface="Arial"/>
              <a:cs typeface="Arial"/>
              <a:sym typeface="Arial"/>
            </a:endParaRPr>
          </a:p>
          <a:p>
            <a:pPr indent="0" lvl="1" marL="114300" marR="0" rtl="0" algn="l">
              <a:lnSpc>
                <a:spcPct val="75000"/>
              </a:lnSpc>
              <a:spcBef>
                <a:spcPts val="2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52400" lvl="1" marL="114300" marR="0" rtl="0" algn="l">
              <a:lnSpc>
                <a:spcPct val="75000"/>
              </a:lnSpc>
              <a:spcBef>
                <a:spcPts val="18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Hành vi của chủ thể có năng lực hành vi</a:t>
            </a:r>
            <a:endParaRPr b="0" i="0" sz="2400" u="none" cap="none" strike="noStrike">
              <a:solidFill>
                <a:schemeClr val="dk1"/>
              </a:solidFill>
              <a:latin typeface="Arial"/>
              <a:ea typeface="Arial"/>
              <a:cs typeface="Arial"/>
              <a:sym typeface="Arial"/>
            </a:endParaRPr>
          </a:p>
        </p:txBody>
      </p:sp>
      <p:cxnSp>
        <p:nvCxnSpPr>
          <p:cNvPr id="2041" name="Google Shape;2041;p122"/>
          <p:cNvCxnSpPr/>
          <p:nvPr/>
        </p:nvCxnSpPr>
        <p:spPr>
          <a:xfrm>
            <a:off x="1143000" y="609600"/>
            <a:ext cx="4038600" cy="1588"/>
          </a:xfrm>
          <a:prstGeom prst="straightConnector1">
            <a:avLst/>
          </a:prstGeom>
          <a:noFill/>
          <a:ln cap="flat" cmpd="sng" w="12700">
            <a:solidFill>
              <a:srgbClr val="FF6803"/>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39"/>
                                        </p:tgtEl>
                                        <p:attrNameLst>
                                          <p:attrName>style.visibility</p:attrName>
                                        </p:attrNameLst>
                                      </p:cBhvr>
                                      <p:to>
                                        <p:strVal val="visible"/>
                                      </p:to>
                                    </p:set>
                                    <p:anim calcmode="lin" valueType="num">
                                      <p:cBhvr additive="base">
                                        <p:cTn dur="500"/>
                                        <p:tgtEl>
                                          <p:spTgt spid="20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5" name="Shape 2045"/>
        <p:cNvGrpSpPr/>
        <p:nvPr/>
      </p:nvGrpSpPr>
      <p:grpSpPr>
        <a:xfrm>
          <a:off x="0" y="0"/>
          <a:ext cx="0" cy="0"/>
          <a:chOff x="0" y="0"/>
          <a:chExt cx="0" cy="0"/>
        </a:xfrm>
      </p:grpSpPr>
      <p:sp>
        <p:nvSpPr>
          <p:cNvPr id="2046" name="Google Shape;2046;p123"/>
          <p:cNvSpPr txBox="1"/>
          <p:nvPr>
            <p:ph type="title"/>
          </p:nvPr>
        </p:nvSpPr>
        <p:spPr>
          <a:xfrm>
            <a:off x="457200" y="267494"/>
            <a:ext cx="8686800" cy="13990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0000"/>
              </a:buClr>
              <a:buSzPts val="3000"/>
              <a:buFont typeface="Arial"/>
              <a:buNone/>
            </a:pPr>
            <a:r>
              <a:rPr lang="en-US">
                <a:solidFill>
                  <a:srgbClr val="FF0000"/>
                </a:solidFill>
              </a:rPr>
              <a:t>       </a:t>
            </a:r>
            <a:r>
              <a:rPr lang="en-US" sz="2800">
                <a:solidFill>
                  <a:srgbClr val="FF0000"/>
                </a:solidFill>
                <a:latin typeface="Arial"/>
                <a:ea typeface="Arial"/>
                <a:cs typeface="Arial"/>
                <a:sym typeface="Arial"/>
              </a:rPr>
              <a:t>Hành vi nào sau đây là thực hiện pháp luật?</a:t>
            </a:r>
            <a:endParaRPr sz="4400">
              <a:solidFill>
                <a:srgbClr val="FF0000"/>
              </a:solidFill>
            </a:endParaRPr>
          </a:p>
        </p:txBody>
      </p:sp>
      <p:sp>
        <p:nvSpPr>
          <p:cNvPr id="2047" name="Google Shape;2047;p12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sz="2400">
                <a:latin typeface="Arial"/>
                <a:ea typeface="Arial"/>
                <a:cs typeface="Arial"/>
                <a:sym typeface="Arial"/>
              </a:rPr>
              <a:t>.</a:t>
            </a:r>
            <a:endParaRPr sz="2400">
              <a:latin typeface="Arial"/>
              <a:ea typeface="Arial"/>
              <a:cs typeface="Arial"/>
              <a:sym typeface="Arial"/>
            </a:endParaRPr>
          </a:p>
        </p:txBody>
      </p:sp>
      <p:sp>
        <p:nvSpPr>
          <p:cNvPr id="2048" name="Google Shape;2048;p123"/>
          <p:cNvSpPr/>
          <p:nvPr/>
        </p:nvSpPr>
        <p:spPr>
          <a:xfrm>
            <a:off x="685800" y="457200"/>
            <a:ext cx="990600" cy="762000"/>
          </a:xfrm>
          <a:prstGeom prst="heptagon">
            <a:avLst>
              <a:gd fmla="val 102572" name="hf"/>
              <a:gd fmla="val 105210" name="vf"/>
            </a:avLst>
          </a:prstGeom>
          <a:gradFill>
            <a:gsLst>
              <a:gs pos="0">
                <a:srgbClr val="5C636D"/>
              </a:gs>
              <a:gs pos="30000">
                <a:srgbClr val="585F6A"/>
              </a:gs>
              <a:gs pos="75000">
                <a:srgbClr val="41464F"/>
              </a:gs>
              <a:gs pos="100000">
                <a:srgbClr val="303338"/>
              </a:gs>
            </a:gsLst>
            <a:path path="circle">
              <a:fillToRect r="100%" t="100%"/>
            </a:path>
            <a:tileRect b="-100%" l="-100%"/>
          </a:gra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lt1"/>
                </a:solidFill>
                <a:latin typeface="Arial"/>
                <a:ea typeface="Arial"/>
                <a:cs typeface="Arial"/>
                <a:sym typeface="Arial"/>
              </a:rPr>
              <a:t>?</a:t>
            </a:r>
            <a:endParaRPr sz="3600">
              <a:solidFill>
                <a:schemeClr val="lt1"/>
              </a:solidFill>
              <a:latin typeface="Arial"/>
              <a:ea typeface="Arial"/>
              <a:cs typeface="Arial"/>
              <a:sym typeface="Arial"/>
            </a:endParaRPr>
          </a:p>
        </p:txBody>
      </p:sp>
      <p:sp>
        <p:nvSpPr>
          <p:cNvPr id="2049" name="Google Shape;2049;p123"/>
          <p:cNvSpPr/>
          <p:nvPr/>
        </p:nvSpPr>
        <p:spPr>
          <a:xfrm>
            <a:off x="609600" y="2133600"/>
            <a:ext cx="4191000" cy="1066800"/>
          </a:xfrm>
          <a:prstGeom prst="round2SameRect">
            <a:avLst>
              <a:gd fmla="val 16667" name="adj1"/>
              <a:gd fmla="val 0" name="adj2"/>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Arial"/>
                <a:ea typeface="Arial"/>
                <a:cs typeface="Arial"/>
                <a:sym typeface="Arial"/>
              </a:rPr>
              <a:t>A (18 tuổi) kết hôn với B (17 tuổi)</a:t>
            </a:r>
            <a:endParaRPr sz="2000">
              <a:solidFill>
                <a:schemeClr val="lt1"/>
              </a:solidFill>
              <a:latin typeface="Arial"/>
              <a:ea typeface="Arial"/>
              <a:cs typeface="Arial"/>
              <a:sym typeface="Arial"/>
            </a:endParaRPr>
          </a:p>
        </p:txBody>
      </p:sp>
      <p:sp>
        <p:nvSpPr>
          <p:cNvPr id="2050" name="Google Shape;2050;p123"/>
          <p:cNvSpPr/>
          <p:nvPr/>
        </p:nvSpPr>
        <p:spPr>
          <a:xfrm>
            <a:off x="4191000" y="3352800"/>
            <a:ext cx="4648200" cy="990600"/>
          </a:xfrm>
          <a:prstGeom prst="round2SameRect">
            <a:avLst>
              <a:gd fmla="val 16667" name="adj1"/>
              <a:gd fmla="val 0" name="adj2"/>
            </a:avLst>
          </a:prstGeom>
          <a:gradFill>
            <a:gsLst>
              <a:gs pos="0">
                <a:srgbClr val="DFE6F8"/>
              </a:gs>
              <a:gs pos="30000">
                <a:srgbClr val="DAE4F9"/>
              </a:gs>
              <a:gs pos="75000">
                <a:srgbClr val="C9D5F6"/>
              </a:gs>
              <a:gs pos="100000">
                <a:srgbClr val="B6CBF6"/>
              </a:gs>
            </a:gsLst>
            <a:path path="circle">
              <a:fillToRect r="100%" t="100%"/>
            </a:path>
            <a:tileRect b="-100%" l="-100%"/>
          </a:gradFill>
          <a:ln cap="flat" cmpd="sng" w="12700">
            <a:solidFill>
              <a:srgbClr val="8A9BBD"/>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C nộp thuế thu nhập cá nhân</a:t>
            </a:r>
            <a:endParaRPr sz="2400">
              <a:solidFill>
                <a:schemeClr val="dk1"/>
              </a:solidFill>
              <a:latin typeface="Arial"/>
              <a:ea typeface="Arial"/>
              <a:cs typeface="Arial"/>
              <a:sym typeface="Arial"/>
            </a:endParaRPr>
          </a:p>
        </p:txBody>
      </p:sp>
      <p:sp>
        <p:nvSpPr>
          <p:cNvPr id="2051" name="Google Shape;2051;p123"/>
          <p:cNvSpPr/>
          <p:nvPr/>
        </p:nvSpPr>
        <p:spPr>
          <a:xfrm>
            <a:off x="533400" y="4495800"/>
            <a:ext cx="4724400" cy="990600"/>
          </a:xfrm>
          <a:prstGeom prst="round1Rect">
            <a:avLst>
              <a:gd fmla="val 16667" name="adj"/>
            </a:avLst>
          </a:prstGeom>
          <a:solidFill>
            <a:schemeClr val="accent5"/>
          </a:solidFill>
          <a:ln cap="flat" cmpd="sng" w="25400">
            <a:solidFill>
              <a:srgbClr val="7E879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Arial"/>
                <a:ea typeface="Arial"/>
                <a:cs typeface="Arial"/>
                <a:sym typeface="Arial"/>
              </a:rPr>
              <a:t>D không đi vào đường ngược chiều</a:t>
            </a:r>
            <a:endParaRPr sz="2000">
              <a:solidFill>
                <a:schemeClr val="lt1"/>
              </a:solidFill>
              <a:latin typeface="Arial"/>
              <a:ea typeface="Arial"/>
              <a:cs typeface="Arial"/>
              <a:sym typeface="Arial"/>
            </a:endParaRPr>
          </a:p>
        </p:txBody>
      </p:sp>
      <p:sp>
        <p:nvSpPr>
          <p:cNvPr id="2052" name="Google Shape;2052;p123"/>
          <p:cNvSpPr/>
          <p:nvPr/>
        </p:nvSpPr>
        <p:spPr>
          <a:xfrm>
            <a:off x="4114800" y="5638800"/>
            <a:ext cx="4191000" cy="838200"/>
          </a:xfrm>
          <a:prstGeom prst="round2SameRect">
            <a:avLst>
              <a:gd fmla="val 16667" name="adj1"/>
              <a:gd fmla="val 0" name="adj2"/>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Arial"/>
                <a:ea typeface="Arial"/>
                <a:cs typeface="Arial"/>
                <a:sym typeface="Arial"/>
              </a:rPr>
              <a:t>E cố ý gây thương tích cho G</a:t>
            </a:r>
            <a:endParaRPr sz="2000">
              <a:solidFill>
                <a:schemeClr val="lt1"/>
              </a:solidFill>
              <a:latin typeface="Arial"/>
              <a:ea typeface="Arial"/>
              <a:cs typeface="Arial"/>
              <a:sym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6" name="Shape 2056"/>
        <p:cNvGrpSpPr/>
        <p:nvPr/>
      </p:nvGrpSpPr>
      <p:grpSpPr>
        <a:xfrm>
          <a:off x="0" y="0"/>
          <a:ext cx="0" cy="0"/>
          <a:chOff x="0" y="0"/>
          <a:chExt cx="0" cy="0"/>
        </a:xfrm>
      </p:grpSpPr>
      <p:sp>
        <p:nvSpPr>
          <p:cNvPr id="2057" name="Google Shape;2057;p124"/>
          <p:cNvSpPr txBox="1"/>
          <p:nvPr>
            <p:ph type="title"/>
          </p:nvPr>
        </p:nvSpPr>
        <p:spPr>
          <a:xfrm>
            <a:off x="381000" y="381000"/>
            <a:ext cx="7239000" cy="97536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br>
              <a:rPr lang="en-US" sz="2800">
                <a:solidFill>
                  <a:schemeClr val="dk1"/>
                </a:solidFill>
                <a:latin typeface="Times New Roman"/>
                <a:ea typeface="Times New Roman"/>
                <a:cs typeface="Times New Roman"/>
                <a:sym typeface="Times New Roman"/>
              </a:rPr>
            </a:br>
            <a:r>
              <a:rPr b="0" lang="en-US" sz="2000">
                <a:solidFill>
                  <a:schemeClr val="dk1"/>
                </a:solidFill>
                <a:latin typeface="Times New Roman"/>
                <a:ea typeface="Times New Roman"/>
                <a:cs typeface="Times New Roman"/>
                <a:sym typeface="Times New Roman"/>
              </a:rPr>
              <a:t>4.8.1	khái niệm</a:t>
            </a:r>
            <a:br>
              <a:rPr lang="en-US" sz="2800">
                <a:solidFill>
                  <a:schemeClr val="dk1"/>
                </a:solidFill>
                <a:latin typeface="Times New Roman"/>
                <a:ea typeface="Times New Roman"/>
                <a:cs typeface="Times New Roman"/>
                <a:sym typeface="Times New Roman"/>
              </a:rPr>
            </a:br>
            <a:br>
              <a:rPr lang="en-US" sz="2800">
                <a:solidFill>
                  <a:schemeClr val="dk1"/>
                </a:solidFill>
                <a:latin typeface="Times New Roman"/>
                <a:ea typeface="Times New Roman"/>
                <a:cs typeface="Times New Roman"/>
                <a:sym typeface="Times New Roman"/>
              </a:rPr>
            </a:br>
            <a:r>
              <a:rPr b="0" lang="en-US" sz="2000">
                <a:solidFill>
                  <a:schemeClr val="dk1"/>
                </a:solidFill>
                <a:latin typeface="Times New Roman"/>
                <a:ea typeface="Times New Roman"/>
                <a:cs typeface="Times New Roman"/>
                <a:sym typeface="Times New Roman"/>
              </a:rPr>
              <a:t>ĐỊNH NGHĨA</a:t>
            </a:r>
            <a:endParaRPr b="0" sz="2800">
              <a:solidFill>
                <a:schemeClr val="dk1"/>
              </a:solidFill>
              <a:latin typeface="Times New Roman"/>
              <a:ea typeface="Times New Roman"/>
              <a:cs typeface="Times New Roman"/>
              <a:sym typeface="Times New Roman"/>
            </a:endParaRPr>
          </a:p>
        </p:txBody>
      </p:sp>
      <p:sp>
        <p:nvSpPr>
          <p:cNvPr id="2058" name="Google Shape;2058;p124"/>
          <p:cNvSpPr/>
          <p:nvPr/>
        </p:nvSpPr>
        <p:spPr>
          <a:xfrm>
            <a:off x="4343400" y="1066800"/>
            <a:ext cx="4800600" cy="2667000"/>
          </a:xfrm>
          <a:prstGeom prst="wedgeEllipseCallout">
            <a:avLst>
              <a:gd fmla="val -20833" name="adj1"/>
              <a:gd fmla="val 62500" name="adj2"/>
            </a:avLst>
          </a:prstGeom>
          <a:solidFill>
            <a:srgbClr val="FFFF99"/>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Hành vi thực hiện pháp luật là những xử sự (hành động hoặc không hành động) của các chủ thể pháp luật (các cá nhân, tổ chức) phù hợp với những yêu cầu của các quy phạm pháp luật, có ích cho xã hội, nhà nước và cá nhân.</a:t>
            </a:r>
            <a:endParaRPr/>
          </a:p>
        </p:txBody>
      </p:sp>
      <p:sp>
        <p:nvSpPr>
          <p:cNvPr id="2059" name="Google Shape;2059;p124"/>
          <p:cNvSpPr/>
          <p:nvPr/>
        </p:nvSpPr>
        <p:spPr>
          <a:xfrm>
            <a:off x="609600" y="3810000"/>
            <a:ext cx="6400800" cy="2590800"/>
          </a:xfrm>
          <a:prstGeom prst="horizontalScroll">
            <a:avLst>
              <a:gd fmla="val 12500" name="adj"/>
            </a:avLst>
          </a:prstGeom>
          <a:gradFill>
            <a:gsLst>
              <a:gs pos="0">
                <a:srgbClr val="C7D7FF"/>
              </a:gs>
              <a:gs pos="30000">
                <a:srgbClr val="C2D7FF"/>
              </a:gs>
              <a:gs pos="75000">
                <a:srgbClr val="A2C0FF"/>
              </a:gs>
              <a:gs pos="100000">
                <a:srgbClr val="81ACFF"/>
              </a:gs>
            </a:gsLst>
            <a:path path="circle">
              <a:fillToRect r="100%" t="100%"/>
            </a:path>
            <a:tileRect b="-100%" l="-100%"/>
          </a:gradFill>
          <a:ln cap="flat" cmpd="sng" w="12700">
            <a:solidFill>
              <a:srgbClr val="4D7ACD"/>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400">
                <a:solidFill>
                  <a:schemeClr val="dk1"/>
                </a:solidFill>
                <a:latin typeface="Arial"/>
                <a:ea typeface="Arial"/>
                <a:cs typeface="Arial"/>
                <a:sym typeface="Arial"/>
              </a:rPr>
              <a:t>Thực hiện pháp luật là quá trình hoạt động có tổ chức mà các chủ thể pháp luật bằng hành vi của mình thực thi các quy định pháp luật trong thực tế đời sống.</a:t>
            </a:r>
            <a:endParaRPr sz="2400">
              <a:solidFill>
                <a:schemeClr val="dk1"/>
              </a:solidFill>
              <a:latin typeface="Arial"/>
              <a:ea typeface="Arial"/>
              <a:cs typeface="Arial"/>
              <a:sym typeface="Arial"/>
            </a:endParaRPr>
          </a:p>
        </p:txBody>
      </p:sp>
      <p:cxnSp>
        <p:nvCxnSpPr>
          <p:cNvPr id="2060" name="Google Shape;2060;p124"/>
          <p:cNvCxnSpPr>
            <a:stCxn id="2057" idx="1"/>
          </p:cNvCxnSpPr>
          <p:nvPr/>
        </p:nvCxnSpPr>
        <p:spPr>
          <a:xfrm flipH="1" rot="10800000">
            <a:off x="381000" y="838080"/>
            <a:ext cx="3581400" cy="30600"/>
          </a:xfrm>
          <a:prstGeom prst="straightConnector1">
            <a:avLst/>
          </a:prstGeom>
          <a:noFill/>
          <a:ln cap="flat" cmpd="sng" w="12700">
            <a:solidFill>
              <a:srgbClr val="FF6803"/>
            </a:solidFill>
            <a:prstDash val="solid"/>
            <a:round/>
            <a:headEnd len="sm" w="sm" type="none"/>
            <a:tailEnd len="sm" w="sm" type="none"/>
          </a:ln>
        </p:spPr>
      </p:cxnSp>
      <p:pic>
        <p:nvPicPr>
          <p:cNvPr descr="E:\Bai giang\PL DC\Pics\images (3).jpg" id="2061" name="Google Shape;2061;p124"/>
          <p:cNvPicPr preferRelativeResize="0"/>
          <p:nvPr>
            <p:ph idx="1" type="body"/>
          </p:nvPr>
        </p:nvPicPr>
        <p:blipFill rotWithShape="1">
          <a:blip r:embed="rId3">
            <a:alphaModFix/>
          </a:blip>
          <a:srcRect b="0" l="0" r="0" t="0"/>
          <a:stretch/>
        </p:blipFill>
        <p:spPr>
          <a:xfrm>
            <a:off x="685800" y="1447800"/>
            <a:ext cx="3370072" cy="2362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7"/>
                                        </p:tgtEl>
                                        <p:attrNameLst>
                                          <p:attrName>style.visibility</p:attrName>
                                        </p:attrNameLst>
                                      </p:cBhvr>
                                      <p:to>
                                        <p:strVal val="visible"/>
                                      </p:to>
                                    </p:set>
                                    <p:anim calcmode="lin" valueType="num">
                                      <p:cBhvr additive="base">
                                        <p:cTn dur="500"/>
                                        <p:tgtEl>
                                          <p:spTgt spid="205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9"/>
                                        </p:tgtEl>
                                        <p:attrNameLst>
                                          <p:attrName>style.visibility</p:attrName>
                                        </p:attrNameLst>
                                      </p:cBhvr>
                                      <p:to>
                                        <p:strVal val="visible"/>
                                      </p:to>
                                    </p:set>
                                    <p:animEffect filter="fade" transition="in">
                                      <p:cBhvr>
                                        <p:cTn dur="2000"/>
                                        <p:tgtEl>
                                          <p:spTgt spid="20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8"/>
                                        </p:tgtEl>
                                        <p:attrNameLst>
                                          <p:attrName>style.visibility</p:attrName>
                                        </p:attrNameLst>
                                      </p:cBhvr>
                                      <p:to>
                                        <p:strVal val="visible"/>
                                      </p:to>
                                    </p:set>
                                    <p:animEffect filter="fade" transition="in">
                                      <p:cBhvr>
                                        <p:cTn dur="500"/>
                                        <p:tgtEl>
                                          <p:spTgt spid="2058"/>
                                        </p:tgtEl>
                                      </p:cBhvr>
                                    </p:animEffect>
                                  </p:childTnLst>
                                </p:cTn>
                              </p:par>
                              <p:par>
                                <p:cTn fill="hold" nodeType="withEffect" presetClass="entr" presetID="10" presetSubtype="0">
                                  <p:stCondLst>
                                    <p:cond delay="0"/>
                                  </p:stCondLst>
                                  <p:childTnLst>
                                    <p:set>
                                      <p:cBhvr>
                                        <p:cTn dur="1" fill="hold">
                                          <p:stCondLst>
                                            <p:cond delay="0"/>
                                          </p:stCondLst>
                                        </p:cTn>
                                        <p:tgtEl>
                                          <p:spTgt spid="2061"/>
                                        </p:tgtEl>
                                        <p:attrNameLst>
                                          <p:attrName>style.visibility</p:attrName>
                                        </p:attrNameLst>
                                      </p:cBhvr>
                                      <p:to>
                                        <p:strVal val="visible"/>
                                      </p:to>
                                    </p:set>
                                    <p:animEffect filter="fade" transition="in">
                                      <p:cBhvr>
                                        <p:cTn dur="500"/>
                                        <p:tgtEl>
                                          <p:spTgt spid="20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5" name="Shape 2065"/>
        <p:cNvGrpSpPr/>
        <p:nvPr/>
      </p:nvGrpSpPr>
      <p:grpSpPr>
        <a:xfrm>
          <a:off x="0" y="0"/>
          <a:ext cx="0" cy="0"/>
          <a:chOff x="0" y="0"/>
          <a:chExt cx="0" cy="0"/>
        </a:xfrm>
      </p:grpSpPr>
      <p:sp>
        <p:nvSpPr>
          <p:cNvPr id="2066" name="Google Shape;2066;p125"/>
          <p:cNvSpPr txBox="1"/>
          <p:nvPr>
            <p:ph type="title"/>
          </p:nvPr>
        </p:nvSpPr>
        <p:spPr>
          <a:xfrm>
            <a:off x="1435608" y="274638"/>
            <a:ext cx="7498080" cy="6397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imes New Roman"/>
              <a:buNone/>
            </a:pPr>
            <a:r>
              <a:rPr lang="en-US" sz="3200">
                <a:solidFill>
                  <a:schemeClr val="dk1"/>
                </a:solidFill>
                <a:latin typeface="Times New Roman"/>
                <a:ea typeface="Times New Roman"/>
                <a:cs typeface="Times New Roman"/>
                <a:sym typeface="Times New Roman"/>
              </a:rPr>
              <a:t>4.8.2 Các hình thức thực hiện pháp luật</a:t>
            </a:r>
            <a:endParaRPr sz="3200">
              <a:solidFill>
                <a:schemeClr val="dk1"/>
              </a:solidFill>
              <a:latin typeface="Times New Roman"/>
              <a:ea typeface="Times New Roman"/>
              <a:cs typeface="Times New Roman"/>
              <a:sym typeface="Times New Roman"/>
            </a:endParaRPr>
          </a:p>
        </p:txBody>
      </p:sp>
      <p:sp>
        <p:nvSpPr>
          <p:cNvPr id="2067" name="Google Shape;2067;p125"/>
          <p:cNvSpPr/>
          <p:nvPr/>
        </p:nvSpPr>
        <p:spPr>
          <a:xfrm>
            <a:off x="228600" y="1066800"/>
            <a:ext cx="8705850" cy="5638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58750" lvl="1" marL="114300" marR="0" rtl="0" algn="l">
              <a:lnSpc>
                <a:spcPct val="75000"/>
              </a:lnSpc>
              <a:spcBef>
                <a:spcPts val="0"/>
              </a:spcBef>
              <a:spcAft>
                <a:spcPts val="0"/>
              </a:spcAft>
              <a:buClr>
                <a:schemeClr val="dk1"/>
              </a:buClr>
              <a:buSzPts val="2500"/>
              <a:buFont typeface="Times New Roman"/>
              <a:buChar char="•"/>
            </a:pPr>
            <a:r>
              <a:rPr b="0" i="0" lang="en-US" sz="2500" u="none" cap="none" strike="noStrike">
                <a:solidFill>
                  <a:schemeClr val="dk1"/>
                </a:solidFill>
                <a:latin typeface="Times New Roman"/>
                <a:ea typeface="Times New Roman"/>
                <a:cs typeface="Times New Roman"/>
                <a:sym typeface="Times New Roman"/>
              </a:rPr>
              <a:t>Các hình thức thực hiện pháp luật</a:t>
            </a:r>
            <a:endParaRPr b="0" i="0" sz="25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5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Tuân thủ pháp luật</a:t>
            </a:r>
            <a:endParaRPr b="1" i="0" sz="24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2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52400" lvl="2" marL="228600" marR="0" rtl="0" algn="l">
              <a:lnSpc>
                <a:spcPct val="75000"/>
              </a:lnSpc>
              <a:spcBef>
                <a:spcPts val="18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Chấp hành pháp luật</a:t>
            </a:r>
            <a:endParaRPr b="1" i="0" sz="24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2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52400" lvl="2" marL="228600" marR="0" rtl="0" algn="l">
              <a:lnSpc>
                <a:spcPct val="75000"/>
              </a:lnSpc>
              <a:spcBef>
                <a:spcPts val="18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Sử dụng pháp luật</a:t>
            </a:r>
            <a:endParaRPr b="1" i="0" sz="24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2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52400" lvl="2" marL="228600" marR="0" rtl="0" algn="l">
              <a:lnSpc>
                <a:spcPct val="75000"/>
              </a:lnSpc>
              <a:spcBef>
                <a:spcPts val="18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Áp dụng pháp luật</a:t>
            </a:r>
            <a:endParaRPr b="1" i="0" sz="24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2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1" name="Shape 2071"/>
        <p:cNvGrpSpPr/>
        <p:nvPr/>
      </p:nvGrpSpPr>
      <p:grpSpPr>
        <a:xfrm>
          <a:off x="0" y="0"/>
          <a:ext cx="0" cy="0"/>
          <a:chOff x="0" y="0"/>
          <a:chExt cx="0" cy="0"/>
        </a:xfrm>
      </p:grpSpPr>
      <p:sp>
        <p:nvSpPr>
          <p:cNvPr id="2072" name="Google Shape;2072;p126"/>
          <p:cNvSpPr txBox="1"/>
          <p:nvPr>
            <p:ph type="title"/>
          </p:nvPr>
        </p:nvSpPr>
        <p:spPr>
          <a:xfrm>
            <a:off x="457200" y="0"/>
            <a:ext cx="7467600" cy="14478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FF0000"/>
              </a:buClr>
              <a:buSzPct val="100000"/>
              <a:buFont typeface="Arial"/>
              <a:buNone/>
            </a:pPr>
            <a:br>
              <a:rPr lang="en-US">
                <a:solidFill>
                  <a:srgbClr val="FF0000"/>
                </a:solidFill>
                <a:latin typeface="Arial"/>
                <a:ea typeface="Arial"/>
                <a:cs typeface="Arial"/>
                <a:sym typeface="Arial"/>
              </a:rPr>
            </a:br>
            <a:br>
              <a:rPr lang="en-US">
                <a:solidFill>
                  <a:srgbClr val="FF0000"/>
                </a:solidFill>
                <a:latin typeface="Arial"/>
                <a:ea typeface="Arial"/>
                <a:cs typeface="Arial"/>
                <a:sym typeface="Arial"/>
              </a:rPr>
            </a:br>
            <a:br>
              <a:rPr lang="en-US">
                <a:solidFill>
                  <a:srgbClr val="FF0000"/>
                </a:solidFill>
                <a:latin typeface="Arial"/>
                <a:ea typeface="Arial"/>
                <a:cs typeface="Arial"/>
                <a:sym typeface="Arial"/>
              </a:rPr>
            </a:br>
            <a:br>
              <a:rPr lang="en-US">
                <a:solidFill>
                  <a:srgbClr val="FF0000"/>
                </a:solidFill>
                <a:latin typeface="Arial"/>
                <a:ea typeface="Arial"/>
                <a:cs typeface="Arial"/>
                <a:sym typeface="Arial"/>
              </a:rPr>
            </a:br>
            <a:r>
              <a:rPr lang="en-US" sz="2000">
                <a:solidFill>
                  <a:schemeClr val="dk1"/>
                </a:solidFill>
                <a:latin typeface="Times New Roman"/>
                <a:ea typeface="Times New Roman"/>
                <a:cs typeface="Times New Roman"/>
                <a:sym typeface="Times New Roman"/>
              </a:rPr>
              <a:t>4.8.2 Các hình thức thực hiện pháp luật</a:t>
            </a:r>
            <a:br>
              <a:rPr lang="en-US">
                <a:solidFill>
                  <a:srgbClr val="FF0000"/>
                </a:solidFill>
                <a:latin typeface="Arial"/>
                <a:ea typeface="Arial"/>
                <a:cs typeface="Arial"/>
                <a:sym typeface="Arial"/>
              </a:rPr>
            </a:br>
            <a:br>
              <a:rPr lang="en-US">
                <a:solidFill>
                  <a:srgbClr val="FF0000"/>
                </a:solidFill>
                <a:latin typeface="Arial"/>
                <a:ea typeface="Arial"/>
                <a:cs typeface="Arial"/>
                <a:sym typeface="Arial"/>
              </a:rPr>
            </a:br>
            <a:r>
              <a:rPr lang="en-US">
                <a:solidFill>
                  <a:srgbClr val="FF0000"/>
                </a:solidFill>
                <a:latin typeface="Arial"/>
                <a:ea typeface="Arial"/>
                <a:cs typeface="Arial"/>
                <a:sym typeface="Arial"/>
              </a:rPr>
              <a:t>Tuân thủ pháp luật</a:t>
            </a:r>
            <a:endParaRPr>
              <a:solidFill>
                <a:srgbClr val="FF0000"/>
              </a:solidFill>
              <a:latin typeface="Arial"/>
              <a:ea typeface="Arial"/>
              <a:cs typeface="Arial"/>
              <a:sym typeface="Arial"/>
            </a:endParaRPr>
          </a:p>
        </p:txBody>
      </p:sp>
      <p:sp>
        <p:nvSpPr>
          <p:cNvPr id="2073" name="Google Shape;2073;p126"/>
          <p:cNvSpPr/>
          <p:nvPr/>
        </p:nvSpPr>
        <p:spPr>
          <a:xfrm>
            <a:off x="990600" y="1219200"/>
            <a:ext cx="6781800" cy="2743200"/>
          </a:xfrm>
          <a:prstGeom prst="horizontalScroll">
            <a:avLst>
              <a:gd fmla="val 12500" name="adj"/>
            </a:avLst>
          </a:prstGeom>
          <a:gradFill>
            <a:gsLst>
              <a:gs pos="0">
                <a:srgbClr val="FFCCAF"/>
              </a:gs>
              <a:gs pos="30000">
                <a:srgbClr val="FFC7A8"/>
              </a:gs>
              <a:gs pos="75000">
                <a:srgbClr val="FFAC7C"/>
              </a:gs>
              <a:gs pos="100000">
                <a:srgbClr val="FF924A"/>
              </a:gs>
            </a:gsLst>
            <a:path path="circle">
              <a:fillToRect r="100%" t="100%"/>
            </a:path>
            <a:tileRect b="-100%" l="-100%"/>
          </a:gradFill>
          <a:ln cap="flat" cmpd="sng" w="12700">
            <a:solidFill>
              <a:srgbClr val="FF6803"/>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400">
                <a:solidFill>
                  <a:schemeClr val="dk1"/>
                </a:solidFill>
                <a:latin typeface="Arial"/>
                <a:ea typeface="Arial"/>
                <a:cs typeface="Arial"/>
                <a:sym typeface="Arial"/>
              </a:rPr>
              <a:t>Thực hiện những quy phạm pháp luật mang tính chất ngăn cấm bằng hành vi thụ động, trong đó chủ thể pháp luật kiềm chế không làm những việc mà pháp luật cấm</a:t>
            </a:r>
            <a:endParaRPr b="1" sz="2400">
              <a:solidFill>
                <a:schemeClr val="dk1"/>
              </a:solidFill>
              <a:latin typeface="Arial"/>
              <a:ea typeface="Arial"/>
              <a:cs typeface="Arial"/>
              <a:sym typeface="Arial"/>
            </a:endParaRPr>
          </a:p>
        </p:txBody>
      </p:sp>
      <p:sp>
        <p:nvSpPr>
          <p:cNvPr id="2074" name="Google Shape;2074;p126"/>
          <p:cNvSpPr/>
          <p:nvPr/>
        </p:nvSpPr>
        <p:spPr>
          <a:xfrm>
            <a:off x="2743200" y="3352800"/>
            <a:ext cx="3581400" cy="1676400"/>
          </a:xfrm>
          <a:prstGeom prst="leftRightUpArrow">
            <a:avLst>
              <a:gd fmla="val 25000" name="adj1"/>
              <a:gd fmla="val 25000" name="adj2"/>
              <a:gd fmla="val 25000" name="adj3"/>
            </a:avLst>
          </a:prstGeom>
          <a:gradFill>
            <a:gsLst>
              <a:gs pos="0">
                <a:srgbClr val="FFFBB2"/>
              </a:gs>
              <a:gs pos="30000">
                <a:srgbClr val="FFFAA9"/>
              </a:gs>
              <a:gs pos="75000">
                <a:srgbClr val="FFFA7D"/>
              </a:gs>
              <a:gs pos="100000">
                <a:srgbClr val="FFFE4B"/>
              </a:gs>
            </a:gsLst>
            <a:path path="circle">
              <a:fillToRect r="100%" t="100%"/>
            </a:path>
            <a:tileRect b="-100%" l="-100%"/>
          </a:gradFill>
          <a:ln cap="flat" cmpd="sng" w="12700">
            <a:solidFill>
              <a:srgbClr val="FAC700"/>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Quy phạm cấm đoán</a:t>
            </a:r>
            <a:endParaRPr sz="2000">
              <a:solidFill>
                <a:schemeClr val="dk1"/>
              </a:solidFill>
              <a:latin typeface="Arial"/>
              <a:ea typeface="Arial"/>
              <a:cs typeface="Arial"/>
              <a:sym typeface="Arial"/>
            </a:endParaRPr>
          </a:p>
        </p:txBody>
      </p:sp>
      <p:cxnSp>
        <p:nvCxnSpPr>
          <p:cNvPr id="2075" name="Google Shape;2075;p126"/>
          <p:cNvCxnSpPr>
            <a:stCxn id="2072" idx="1"/>
          </p:cNvCxnSpPr>
          <p:nvPr/>
        </p:nvCxnSpPr>
        <p:spPr>
          <a:xfrm flipH="1" rot="10800000">
            <a:off x="457200" y="685800"/>
            <a:ext cx="4800600" cy="38100"/>
          </a:xfrm>
          <a:prstGeom prst="straightConnector1">
            <a:avLst/>
          </a:prstGeom>
          <a:noFill/>
          <a:ln cap="flat" cmpd="sng" w="12700">
            <a:solidFill>
              <a:srgbClr val="FF6803"/>
            </a:solidFill>
            <a:prstDash val="solid"/>
            <a:round/>
            <a:headEnd len="sm" w="sm" type="none"/>
            <a:tailEnd len="sm" w="sm" type="none"/>
          </a:ln>
        </p:spPr>
      </p:cxnSp>
      <p:pic>
        <p:nvPicPr>
          <p:cNvPr descr="E:\Bai giang\PL DC\Pics\tải xuống (17).jpg" id="2076" name="Google Shape;2076;p126"/>
          <p:cNvPicPr preferRelativeResize="0"/>
          <p:nvPr/>
        </p:nvPicPr>
        <p:blipFill rotWithShape="1">
          <a:blip r:embed="rId3">
            <a:alphaModFix/>
          </a:blip>
          <a:srcRect b="0" l="0" r="0" t="0"/>
          <a:stretch/>
        </p:blipFill>
        <p:spPr>
          <a:xfrm>
            <a:off x="381000" y="4800600"/>
            <a:ext cx="2466975" cy="1847850"/>
          </a:xfrm>
          <a:prstGeom prst="rect">
            <a:avLst/>
          </a:prstGeom>
          <a:noFill/>
          <a:ln>
            <a:noFill/>
          </a:ln>
        </p:spPr>
      </p:pic>
      <p:pic>
        <p:nvPicPr>
          <p:cNvPr descr="E:\Bai giang\PL DC\Pics\images (56).jpg" id="2077" name="Google Shape;2077;p126"/>
          <p:cNvPicPr preferRelativeResize="0"/>
          <p:nvPr/>
        </p:nvPicPr>
        <p:blipFill rotWithShape="1">
          <a:blip r:embed="rId4">
            <a:alphaModFix/>
          </a:blip>
          <a:srcRect b="0" l="0" r="0" t="0"/>
          <a:stretch/>
        </p:blipFill>
        <p:spPr>
          <a:xfrm>
            <a:off x="6172200" y="4325815"/>
            <a:ext cx="2743200" cy="2532185"/>
          </a:xfrm>
          <a:prstGeom prst="rect">
            <a:avLst/>
          </a:prstGeom>
          <a:noFill/>
          <a:ln>
            <a:noFill/>
          </a:ln>
        </p:spPr>
      </p:pic>
      <p:sp>
        <p:nvSpPr>
          <p:cNvPr id="2078" name="Google Shape;2078;p12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2"/>
                                        </p:tgtEl>
                                        <p:attrNameLst>
                                          <p:attrName>style.visibility</p:attrName>
                                        </p:attrNameLst>
                                      </p:cBhvr>
                                      <p:to>
                                        <p:strVal val="visible"/>
                                      </p:to>
                                    </p:set>
                                    <p:anim calcmode="lin" valueType="num">
                                      <p:cBhvr additive="base">
                                        <p:cTn dur="500"/>
                                        <p:tgtEl>
                                          <p:spTgt spid="20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3"/>
                                        </p:tgtEl>
                                        <p:attrNameLst>
                                          <p:attrName>style.visibility</p:attrName>
                                        </p:attrNameLst>
                                      </p:cBhvr>
                                      <p:to>
                                        <p:strVal val="visible"/>
                                      </p:to>
                                    </p:set>
                                    <p:animEffect filter="fade" transition="in">
                                      <p:cBhvr>
                                        <p:cTn dur="2000"/>
                                        <p:tgtEl>
                                          <p:spTgt spid="2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74"/>
                                        </p:tgtEl>
                                        <p:attrNameLst>
                                          <p:attrName>style.visibility</p:attrName>
                                        </p:attrNameLst>
                                      </p:cBhvr>
                                      <p:to>
                                        <p:strVal val="visible"/>
                                      </p:to>
                                    </p:set>
                                    <p:anim calcmode="lin" valueType="num">
                                      <p:cBhvr additive="base">
                                        <p:cTn dur="500"/>
                                        <p:tgtEl>
                                          <p:spTgt spid="207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6"/>
                                        </p:tgtEl>
                                        <p:attrNameLst>
                                          <p:attrName>style.visibility</p:attrName>
                                        </p:attrNameLst>
                                      </p:cBhvr>
                                      <p:to>
                                        <p:strVal val="visible"/>
                                      </p:to>
                                    </p:set>
                                    <p:animEffect filter="fade" transition="in">
                                      <p:cBhvr>
                                        <p:cTn dur="500"/>
                                        <p:tgtEl>
                                          <p:spTgt spid="20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7"/>
                                        </p:tgtEl>
                                        <p:attrNameLst>
                                          <p:attrName>style.visibility</p:attrName>
                                        </p:attrNameLst>
                                      </p:cBhvr>
                                      <p:to>
                                        <p:strVal val="visible"/>
                                      </p:to>
                                    </p:set>
                                    <p:animEffect filter="fade" transition="in">
                                      <p:cBhvr>
                                        <p:cTn dur="2000"/>
                                        <p:tgtEl>
                                          <p:spTgt spid="20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2" name="Shape 2082"/>
        <p:cNvGrpSpPr/>
        <p:nvPr/>
      </p:nvGrpSpPr>
      <p:grpSpPr>
        <a:xfrm>
          <a:off x="0" y="0"/>
          <a:ext cx="0" cy="0"/>
          <a:chOff x="0" y="0"/>
          <a:chExt cx="0" cy="0"/>
        </a:xfrm>
      </p:grpSpPr>
      <p:sp>
        <p:nvSpPr>
          <p:cNvPr id="2083" name="Google Shape;2083;p12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a:t>.</a:t>
            </a:r>
            <a:endParaRPr/>
          </a:p>
        </p:txBody>
      </p:sp>
      <p:sp>
        <p:nvSpPr>
          <p:cNvPr id="2084" name="Google Shape;2084;p12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1"/>
              </a:buClr>
              <a:buSzPct val="100000"/>
              <a:buFont typeface="Arial"/>
              <a:buNone/>
            </a:pPr>
            <a:r>
              <a:rPr b="0" lang="en-US" sz="2000">
                <a:solidFill>
                  <a:schemeClr val="dk1"/>
                </a:solidFill>
                <a:latin typeface="Arial"/>
                <a:ea typeface="Arial"/>
                <a:cs typeface="Arial"/>
                <a:sym typeface="Arial"/>
              </a:rPr>
              <a:t>4.8.2 Các hình thức thực hiện pháp luật</a:t>
            </a:r>
            <a:br>
              <a:rPr b="0" lang="en-US" sz="2000">
                <a:solidFill>
                  <a:schemeClr val="dk1"/>
                </a:solidFill>
                <a:latin typeface="Arial"/>
                <a:ea typeface="Arial"/>
                <a:cs typeface="Arial"/>
                <a:sym typeface="Arial"/>
              </a:rPr>
            </a:br>
            <a:br>
              <a:rPr b="0" lang="en-US" sz="1800">
                <a:latin typeface="Arial"/>
                <a:ea typeface="Arial"/>
                <a:cs typeface="Arial"/>
                <a:sym typeface="Arial"/>
              </a:rPr>
            </a:br>
            <a:r>
              <a:rPr lang="en-US" sz="3100">
                <a:solidFill>
                  <a:srgbClr val="FF0000"/>
                </a:solidFill>
                <a:latin typeface="Arial"/>
                <a:ea typeface="Arial"/>
                <a:cs typeface="Arial"/>
                <a:sym typeface="Arial"/>
              </a:rPr>
              <a:t>Sử dụng pháp luật</a:t>
            </a:r>
            <a:br>
              <a:rPr lang="en-US" sz="1800"/>
            </a:br>
            <a:endParaRPr b="0" sz="1800">
              <a:latin typeface="Arial"/>
              <a:ea typeface="Arial"/>
              <a:cs typeface="Arial"/>
              <a:sym typeface="Arial"/>
            </a:endParaRPr>
          </a:p>
        </p:txBody>
      </p:sp>
      <p:sp>
        <p:nvSpPr>
          <p:cNvPr id="2085" name="Google Shape;2085;p127"/>
          <p:cNvSpPr/>
          <p:nvPr/>
        </p:nvSpPr>
        <p:spPr>
          <a:xfrm>
            <a:off x="0" y="1371600"/>
            <a:ext cx="9144000" cy="2514600"/>
          </a:xfrm>
          <a:prstGeom prst="ribbon2">
            <a:avLst>
              <a:gd fmla="val 16667" name="adj1"/>
              <a:gd fmla="val 50000" name="adj2"/>
            </a:avLst>
          </a:prstGeom>
          <a:gradFill>
            <a:gsLst>
              <a:gs pos="0">
                <a:srgbClr val="FFCCAF"/>
              </a:gs>
              <a:gs pos="30000">
                <a:srgbClr val="FFC7A8"/>
              </a:gs>
              <a:gs pos="75000">
                <a:srgbClr val="FFAC7C"/>
              </a:gs>
              <a:gs pos="100000">
                <a:srgbClr val="FF924A"/>
              </a:gs>
            </a:gsLst>
            <a:path path="circle">
              <a:fillToRect r="100%" t="100%"/>
            </a:path>
            <a:tileRect b="-100%" l="-100%"/>
          </a:gradFill>
          <a:ln cap="flat" cmpd="sng" w="12700">
            <a:solidFill>
              <a:srgbClr val="FF6803"/>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200">
                <a:solidFill>
                  <a:schemeClr val="dk1"/>
                </a:solidFill>
                <a:latin typeface="Arial"/>
                <a:ea typeface="Arial"/>
                <a:cs typeface="Arial"/>
                <a:sym typeface="Arial"/>
              </a:rPr>
              <a:t>Thực hiện những quy định về quyền chủ thể của pháp luật, trong đó các chủ thể pháp luật chủ động, tự mình quyết định việc thực hiện hay không thực hiện điều mà pháp luật cho phép</a:t>
            </a:r>
            <a:endParaRPr b="1" sz="2200">
              <a:solidFill>
                <a:schemeClr val="dk1"/>
              </a:solidFill>
              <a:latin typeface="Arial"/>
              <a:ea typeface="Arial"/>
              <a:cs typeface="Arial"/>
              <a:sym typeface="Arial"/>
            </a:endParaRPr>
          </a:p>
        </p:txBody>
      </p:sp>
      <p:cxnSp>
        <p:nvCxnSpPr>
          <p:cNvPr id="2086" name="Google Shape;2086;p127"/>
          <p:cNvCxnSpPr/>
          <p:nvPr/>
        </p:nvCxnSpPr>
        <p:spPr>
          <a:xfrm>
            <a:off x="533400" y="533400"/>
            <a:ext cx="4267200" cy="1588"/>
          </a:xfrm>
          <a:prstGeom prst="straightConnector1">
            <a:avLst/>
          </a:prstGeom>
          <a:noFill/>
          <a:ln cap="flat" cmpd="sng" w="12700">
            <a:solidFill>
              <a:srgbClr val="FF6803"/>
            </a:solidFill>
            <a:prstDash val="solid"/>
            <a:round/>
            <a:headEnd len="sm" w="sm" type="none"/>
            <a:tailEnd len="sm" w="sm" type="none"/>
          </a:ln>
        </p:spPr>
      </p:cxnSp>
      <p:sp>
        <p:nvSpPr>
          <p:cNvPr id="2087" name="Google Shape;2087;p127"/>
          <p:cNvSpPr/>
          <p:nvPr/>
        </p:nvSpPr>
        <p:spPr>
          <a:xfrm>
            <a:off x="3657600" y="3505200"/>
            <a:ext cx="1752600" cy="2057400"/>
          </a:xfrm>
          <a:prstGeom prst="upArrow">
            <a:avLst>
              <a:gd fmla="val 50000" name="adj1"/>
              <a:gd fmla="val 50000" name="adj2"/>
            </a:avLst>
          </a:prstGeom>
          <a:gradFill>
            <a:gsLst>
              <a:gs pos="0">
                <a:srgbClr val="C7D7FF"/>
              </a:gs>
              <a:gs pos="30000">
                <a:srgbClr val="C2D7FF"/>
              </a:gs>
              <a:gs pos="75000">
                <a:srgbClr val="A2C0FF"/>
              </a:gs>
              <a:gs pos="100000">
                <a:srgbClr val="81ACFF"/>
              </a:gs>
            </a:gsLst>
            <a:path path="circle">
              <a:fillToRect r="100%" t="100%"/>
            </a:path>
            <a:tileRect b="-100%" l="-100%"/>
          </a:gradFill>
          <a:ln cap="flat" cmpd="sng" w="12700">
            <a:solidFill>
              <a:srgbClr val="4D7ACD"/>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Arial"/>
                <a:ea typeface="Arial"/>
                <a:cs typeface="Arial"/>
                <a:sym typeface="Arial"/>
              </a:rPr>
              <a:t>Quy phạm trao quyền</a:t>
            </a:r>
            <a:endParaRPr sz="2000">
              <a:solidFill>
                <a:schemeClr val="dk1"/>
              </a:solidFill>
              <a:latin typeface="Arial"/>
              <a:ea typeface="Arial"/>
              <a:cs typeface="Arial"/>
              <a:sym typeface="Arial"/>
            </a:endParaRPr>
          </a:p>
        </p:txBody>
      </p:sp>
      <p:pic>
        <p:nvPicPr>
          <p:cNvPr descr="E:\Bai giang\PL DC\Pics\tải xuống (22).jpg" id="2088" name="Google Shape;2088;p127"/>
          <p:cNvPicPr preferRelativeResize="0"/>
          <p:nvPr/>
        </p:nvPicPr>
        <p:blipFill rotWithShape="1">
          <a:blip r:embed="rId3">
            <a:alphaModFix/>
          </a:blip>
          <a:srcRect b="0" l="0" r="0" t="0"/>
          <a:stretch/>
        </p:blipFill>
        <p:spPr>
          <a:xfrm>
            <a:off x="533400" y="4572000"/>
            <a:ext cx="2619375" cy="1743075"/>
          </a:xfrm>
          <a:prstGeom prst="rect">
            <a:avLst/>
          </a:prstGeom>
          <a:noFill/>
          <a:ln>
            <a:noFill/>
          </a:ln>
        </p:spPr>
      </p:pic>
      <p:pic>
        <p:nvPicPr>
          <p:cNvPr descr="E:\Bai giang\PL DC\Pics\tải xuống (23).jpg" id="2089" name="Google Shape;2089;p127"/>
          <p:cNvPicPr preferRelativeResize="0"/>
          <p:nvPr/>
        </p:nvPicPr>
        <p:blipFill rotWithShape="1">
          <a:blip r:embed="rId4">
            <a:alphaModFix/>
          </a:blip>
          <a:srcRect b="0" l="0" r="0" t="0"/>
          <a:stretch/>
        </p:blipFill>
        <p:spPr>
          <a:xfrm>
            <a:off x="6553200" y="4419600"/>
            <a:ext cx="2143125" cy="2143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4"/>
                                        </p:tgtEl>
                                        <p:attrNameLst>
                                          <p:attrName>style.visibility</p:attrName>
                                        </p:attrNameLst>
                                      </p:cBhvr>
                                      <p:to>
                                        <p:strVal val="visible"/>
                                      </p:to>
                                    </p:set>
                                    <p:animEffect filter="fade" transition="in">
                                      <p:cBhvr>
                                        <p:cTn dur="500"/>
                                        <p:tgtEl>
                                          <p:spTgt spid="20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85"/>
                                        </p:tgtEl>
                                        <p:attrNameLst>
                                          <p:attrName>style.visibility</p:attrName>
                                        </p:attrNameLst>
                                      </p:cBhvr>
                                      <p:to>
                                        <p:strVal val="visible"/>
                                      </p:to>
                                    </p:set>
                                    <p:anim calcmode="lin" valueType="num">
                                      <p:cBhvr additive="base">
                                        <p:cTn dur="500"/>
                                        <p:tgtEl>
                                          <p:spTgt spid="20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87"/>
                                        </p:tgtEl>
                                        <p:attrNameLst>
                                          <p:attrName>style.visibility</p:attrName>
                                        </p:attrNameLst>
                                      </p:cBhvr>
                                      <p:to>
                                        <p:strVal val="visible"/>
                                      </p:to>
                                    </p:set>
                                    <p:anim calcmode="lin" valueType="num">
                                      <p:cBhvr additive="base">
                                        <p:cTn dur="500"/>
                                        <p:tgtEl>
                                          <p:spTgt spid="20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8"/>
                                        </p:tgtEl>
                                        <p:attrNameLst>
                                          <p:attrName>style.visibility</p:attrName>
                                        </p:attrNameLst>
                                      </p:cBhvr>
                                      <p:to>
                                        <p:strVal val="visible"/>
                                      </p:to>
                                    </p:set>
                                    <p:animEffect filter="fade" transition="in">
                                      <p:cBhvr>
                                        <p:cTn dur="500"/>
                                        <p:tgtEl>
                                          <p:spTgt spid="20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9"/>
                                        </p:tgtEl>
                                        <p:attrNameLst>
                                          <p:attrName>style.visibility</p:attrName>
                                        </p:attrNameLst>
                                      </p:cBhvr>
                                      <p:to>
                                        <p:strVal val="visible"/>
                                      </p:to>
                                    </p:set>
                                    <p:animEffect filter="fade" transition="in">
                                      <p:cBhvr>
                                        <p:cTn dur="2000"/>
                                        <p:tgtEl>
                                          <p:spTgt spid="20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3" name="Shape 2093"/>
        <p:cNvGrpSpPr/>
        <p:nvPr/>
      </p:nvGrpSpPr>
      <p:grpSpPr>
        <a:xfrm>
          <a:off x="0" y="0"/>
          <a:ext cx="0" cy="0"/>
          <a:chOff x="0" y="0"/>
          <a:chExt cx="0" cy="0"/>
        </a:xfrm>
      </p:grpSpPr>
      <p:sp>
        <p:nvSpPr>
          <p:cNvPr id="2094" name="Google Shape;2094;p128"/>
          <p:cNvSpPr txBox="1"/>
          <p:nvPr>
            <p:ph type="title"/>
          </p:nvPr>
        </p:nvSpPr>
        <p:spPr>
          <a:xfrm>
            <a:off x="301752" y="228600"/>
            <a:ext cx="85344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4.8.2 Các hình thức thực hiện pháp luật</a:t>
            </a:r>
            <a:br>
              <a:rPr lang="en-US" sz="1800">
                <a:latin typeface="Arial"/>
                <a:ea typeface="Arial"/>
                <a:cs typeface="Arial"/>
                <a:sym typeface="Arial"/>
              </a:rPr>
            </a:br>
            <a:br>
              <a:rPr lang="en-US" sz="1800">
                <a:latin typeface="Arial"/>
                <a:ea typeface="Arial"/>
                <a:cs typeface="Arial"/>
                <a:sym typeface="Arial"/>
              </a:rPr>
            </a:br>
            <a:r>
              <a:rPr lang="en-US" sz="3100">
                <a:solidFill>
                  <a:srgbClr val="C00000"/>
                </a:solidFill>
                <a:latin typeface="Arial"/>
                <a:ea typeface="Arial"/>
                <a:cs typeface="Arial"/>
                <a:sym typeface="Arial"/>
              </a:rPr>
              <a:t>Áp dụng pháp luật</a:t>
            </a:r>
            <a:endParaRPr sz="3100">
              <a:solidFill>
                <a:srgbClr val="C00000"/>
              </a:solidFill>
            </a:endParaRPr>
          </a:p>
        </p:txBody>
      </p:sp>
      <p:sp>
        <p:nvSpPr>
          <p:cNvPr id="2095" name="Google Shape;2095;p128"/>
          <p:cNvSpPr txBox="1"/>
          <p:nvPr>
            <p:ph idx="1" type="body"/>
          </p:nvPr>
        </p:nvSpPr>
        <p:spPr>
          <a:xfrm>
            <a:off x="381000" y="19050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260"/>
              <a:buNone/>
            </a:pPr>
            <a:r>
              <a:rPr lang="en-US" sz="1800"/>
              <a:t>.</a:t>
            </a:r>
            <a:endParaRPr/>
          </a:p>
        </p:txBody>
      </p:sp>
      <p:sp>
        <p:nvSpPr>
          <p:cNvPr id="2096" name="Google Shape;2096;p128"/>
          <p:cNvSpPr/>
          <p:nvPr/>
        </p:nvSpPr>
        <p:spPr>
          <a:xfrm>
            <a:off x="685800" y="1447800"/>
            <a:ext cx="7924800" cy="3276600"/>
          </a:xfrm>
          <a:prstGeom prst="horizontalScroll">
            <a:avLst>
              <a:gd fmla="val 12500" name="adj"/>
            </a:avLst>
          </a:prstGeom>
          <a:solidFill>
            <a:srgbClr val="C6D5EF"/>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400">
                <a:solidFill>
                  <a:schemeClr val="dk1"/>
                </a:solidFill>
                <a:latin typeface="Arial"/>
                <a:ea typeface="Arial"/>
                <a:cs typeface="Arial"/>
                <a:sym typeface="Arial"/>
              </a:rPr>
              <a:t>Nhà nước thông qua các cơ quan có thẩm quyền hoặc nhà chức trách tổ chức cho các chủ thể thực hiện những quy định của pháp luật một cách đầy đủ và nghiêm chỉnh.</a:t>
            </a:r>
            <a:endParaRPr b="1" sz="2400">
              <a:solidFill>
                <a:schemeClr val="dk1"/>
              </a:solidFill>
              <a:latin typeface="Arial"/>
              <a:ea typeface="Arial"/>
              <a:cs typeface="Arial"/>
              <a:sym typeface="Arial"/>
            </a:endParaRPr>
          </a:p>
        </p:txBody>
      </p:sp>
      <p:cxnSp>
        <p:nvCxnSpPr>
          <p:cNvPr id="2097" name="Google Shape;2097;p128"/>
          <p:cNvCxnSpPr/>
          <p:nvPr/>
        </p:nvCxnSpPr>
        <p:spPr>
          <a:xfrm>
            <a:off x="228600" y="609600"/>
            <a:ext cx="5257800" cy="1588"/>
          </a:xfrm>
          <a:prstGeom prst="straightConnector1">
            <a:avLst/>
          </a:prstGeom>
          <a:noFill/>
          <a:ln cap="flat" cmpd="sng" w="12700">
            <a:solidFill>
              <a:srgbClr val="FF6803"/>
            </a:solidFill>
            <a:prstDash val="solid"/>
            <a:round/>
            <a:headEnd len="sm" w="sm" type="none"/>
            <a:tailEnd len="sm" w="sm" type="none"/>
          </a:ln>
        </p:spPr>
      </p:cxnSp>
      <p:pic>
        <p:nvPicPr>
          <p:cNvPr descr="E:\Bai giang\PL DC\Pics\images (59).jpg" id="2098" name="Google Shape;2098;p128"/>
          <p:cNvPicPr preferRelativeResize="0"/>
          <p:nvPr/>
        </p:nvPicPr>
        <p:blipFill rotWithShape="1">
          <a:blip r:embed="rId3">
            <a:alphaModFix/>
          </a:blip>
          <a:srcRect b="0" l="0" r="0" t="0"/>
          <a:stretch/>
        </p:blipFill>
        <p:spPr>
          <a:xfrm>
            <a:off x="1143000" y="4648200"/>
            <a:ext cx="2619375" cy="1743075"/>
          </a:xfrm>
          <a:prstGeom prst="rect">
            <a:avLst/>
          </a:prstGeom>
          <a:noFill/>
          <a:ln>
            <a:noFill/>
          </a:ln>
        </p:spPr>
      </p:pic>
      <p:pic>
        <p:nvPicPr>
          <p:cNvPr descr="E:\Bai giang\PL DC\Pics\tải xuống (24).jpg" id="2099" name="Google Shape;2099;p128"/>
          <p:cNvPicPr preferRelativeResize="0"/>
          <p:nvPr/>
        </p:nvPicPr>
        <p:blipFill rotWithShape="1">
          <a:blip r:embed="rId4">
            <a:alphaModFix/>
          </a:blip>
          <a:srcRect b="0" l="0" r="0" t="0"/>
          <a:stretch/>
        </p:blipFill>
        <p:spPr>
          <a:xfrm>
            <a:off x="5562600" y="4220889"/>
            <a:ext cx="2819400" cy="26371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4"/>
                                        </p:tgtEl>
                                        <p:attrNameLst>
                                          <p:attrName>style.visibility</p:attrName>
                                        </p:attrNameLst>
                                      </p:cBhvr>
                                      <p:to>
                                        <p:strVal val="visible"/>
                                      </p:to>
                                    </p:set>
                                    <p:animEffect filter="fade" transition="in">
                                      <p:cBhvr>
                                        <p:cTn dur="500"/>
                                        <p:tgtEl>
                                          <p:spTgt spid="2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6"/>
                                        </p:tgtEl>
                                        <p:attrNameLst>
                                          <p:attrName>style.visibility</p:attrName>
                                        </p:attrNameLst>
                                      </p:cBhvr>
                                      <p:to>
                                        <p:strVal val="visible"/>
                                      </p:to>
                                    </p:set>
                                    <p:anim calcmode="lin" valueType="num">
                                      <p:cBhvr additive="base">
                                        <p:cTn dur="500"/>
                                        <p:tgtEl>
                                          <p:spTgt spid="20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3" name="Shape 2103"/>
        <p:cNvGrpSpPr/>
        <p:nvPr/>
      </p:nvGrpSpPr>
      <p:grpSpPr>
        <a:xfrm>
          <a:off x="0" y="0"/>
          <a:ext cx="0" cy="0"/>
          <a:chOff x="0" y="0"/>
          <a:chExt cx="0" cy="0"/>
        </a:xfrm>
      </p:grpSpPr>
      <p:sp>
        <p:nvSpPr>
          <p:cNvPr id="2104" name="Google Shape;2104;p12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2800"/>
              <a:buFont typeface="Arial"/>
              <a:buNone/>
            </a:pPr>
            <a:r>
              <a:rPr lang="en-US" sz="2800"/>
              <a:t>Định nghĩa</a:t>
            </a:r>
            <a:endParaRPr/>
          </a:p>
        </p:txBody>
      </p:sp>
      <p:sp>
        <p:nvSpPr>
          <p:cNvPr id="2105" name="Google Shape;2105;p12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a:t>.</a:t>
            </a:r>
            <a:endParaRPr/>
          </a:p>
        </p:txBody>
      </p:sp>
      <p:sp>
        <p:nvSpPr>
          <p:cNvPr id="2106" name="Google Shape;2106;p129"/>
          <p:cNvSpPr/>
          <p:nvPr/>
        </p:nvSpPr>
        <p:spPr>
          <a:xfrm>
            <a:off x="1524000" y="1447800"/>
            <a:ext cx="6629400" cy="4114800"/>
          </a:xfrm>
          <a:prstGeom prst="horizontalScroll">
            <a:avLst>
              <a:gd fmla="val 12500" name="adj"/>
            </a:avLst>
          </a:prstGeom>
          <a:solidFill>
            <a:srgbClr val="B8BEC6"/>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Áp dụng pháp luật là hoạt động mang tính tổ chức, thể hiện quyền lực nhà nước, do các cơ quan nhà nước có thẩm quyền hoặc cá nhân có thẩm quyền thực hiện theo thủ tục, trình tự do pháp luật quy định nhằm cá biệt hóa quy phạm pháp luật hiện hành đối với cá nhân, cơ quan, tổ chức cụ thể trong trường hợp cụ thể</a:t>
            </a:r>
            <a:endParaRPr sz="2400">
              <a:solidFill>
                <a:schemeClr val="dk1"/>
              </a:solidFill>
              <a:latin typeface="Times New Roman"/>
              <a:ea typeface="Times New Roman"/>
              <a:cs typeface="Times New Roman"/>
              <a:sym typeface="Times New Roman"/>
            </a:endParaRPr>
          </a:p>
        </p:txBody>
      </p:sp>
      <p:pic>
        <p:nvPicPr>
          <p:cNvPr descr="E:\Bai giang\PL DC\Pics\00.jpg" id="2107" name="Google Shape;2107;p129"/>
          <p:cNvPicPr preferRelativeResize="0"/>
          <p:nvPr/>
        </p:nvPicPr>
        <p:blipFill rotWithShape="1">
          <a:blip r:embed="rId3">
            <a:alphaModFix/>
          </a:blip>
          <a:srcRect b="0" l="0" r="0" t="0"/>
          <a:stretch/>
        </p:blipFill>
        <p:spPr>
          <a:xfrm>
            <a:off x="4038600" y="5010150"/>
            <a:ext cx="2466975" cy="1847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6"/>
                                        </p:tgtEl>
                                        <p:attrNameLst>
                                          <p:attrName>style.visibility</p:attrName>
                                        </p:attrNameLst>
                                      </p:cBhvr>
                                      <p:to>
                                        <p:strVal val="visible"/>
                                      </p:to>
                                    </p:set>
                                    <p:animEffect filter="fade" transition="in">
                                      <p:cBhvr>
                                        <p:cTn dur="2000"/>
                                        <p:tgtEl>
                                          <p:spTgt spid="2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1" name="Shape 2111"/>
        <p:cNvGrpSpPr/>
        <p:nvPr/>
      </p:nvGrpSpPr>
      <p:grpSpPr>
        <a:xfrm>
          <a:off x="0" y="0"/>
          <a:ext cx="0" cy="0"/>
          <a:chOff x="0" y="0"/>
          <a:chExt cx="0" cy="0"/>
        </a:xfrm>
      </p:grpSpPr>
      <p:sp>
        <p:nvSpPr>
          <p:cNvPr id="2112" name="Google Shape;2112;p130"/>
          <p:cNvSpPr txBox="1"/>
          <p:nvPr>
            <p:ph type="title"/>
          </p:nvPr>
        </p:nvSpPr>
        <p:spPr>
          <a:xfrm>
            <a:off x="1435608" y="274638"/>
            <a:ext cx="7498080" cy="4111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800"/>
              <a:buFont typeface="Times New Roman"/>
              <a:buNone/>
            </a:pPr>
            <a:r>
              <a:rPr b="1" lang="en-US" sz="2800">
                <a:solidFill>
                  <a:schemeClr val="dk1"/>
                </a:solidFill>
                <a:latin typeface="Times New Roman"/>
                <a:ea typeface="Times New Roman"/>
                <a:cs typeface="Times New Roman"/>
                <a:sym typeface="Times New Roman"/>
              </a:rPr>
              <a:t>Các trường hợp áp dụng pháp luật</a:t>
            </a:r>
            <a:endParaRPr b="1" sz="2800">
              <a:solidFill>
                <a:schemeClr val="dk1"/>
              </a:solidFill>
              <a:latin typeface="Times New Roman"/>
              <a:ea typeface="Times New Roman"/>
              <a:cs typeface="Times New Roman"/>
              <a:sym typeface="Times New Roman"/>
            </a:endParaRPr>
          </a:p>
        </p:txBody>
      </p:sp>
      <p:sp>
        <p:nvSpPr>
          <p:cNvPr id="2113" name="Google Shape;2113;p130"/>
          <p:cNvSpPr/>
          <p:nvPr/>
        </p:nvSpPr>
        <p:spPr>
          <a:xfrm>
            <a:off x="381000" y="914400"/>
            <a:ext cx="8553450" cy="5867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Áp dụng pháp luật</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khi quan hệ pháp luật chưa hình thành nếu thiếu sự can thiệp của cơ quan nhà nước có thẩm quyền </a:t>
            </a:r>
            <a:endParaRPr b="0" i="0" sz="20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2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khi có tranh chấp về quyền và nghĩa vụ pháp lý mà các chủ thể không tự giải quyết được</a:t>
            </a:r>
            <a:endParaRPr b="0" i="0" sz="20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2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khi nhà nước nhận thấy cần kiểm tra hoạt động của các bên tham gia những quan hệ pháp luật quan trọng, liên quan đến lợi ích quốc gia hoặc nhà nước nhận thấy cần thiết phải tham gia vào một số quan hệ pháp luật cụ thể với mục đích kiểm tra, giám sát nhằm bảo đảm đúng đắn của hành vi các chủ thể</a:t>
            </a:r>
            <a:endParaRPr b="0" i="0" sz="20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2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Khi có vi phạm pháp luật xảy ra và nhà nước thấy cần áp dụng chế tài (các biện pháp cưỡng chế) đối những những cá nhân, tổ chức vi phạm pháp luật</a:t>
            </a:r>
            <a:endParaRPr b="0" i="0" sz="20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2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2114" name="Google Shape;2114;p130"/>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15" name="Google Shape;2115;p13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9" name="Shape 2119"/>
        <p:cNvGrpSpPr/>
        <p:nvPr/>
      </p:nvGrpSpPr>
      <p:grpSpPr>
        <a:xfrm>
          <a:off x="0" y="0"/>
          <a:ext cx="0" cy="0"/>
          <a:chOff x="0" y="0"/>
          <a:chExt cx="0" cy="0"/>
        </a:xfrm>
      </p:grpSpPr>
      <p:sp>
        <p:nvSpPr>
          <p:cNvPr id="2120" name="Google Shape;2120;p131"/>
          <p:cNvSpPr txBox="1"/>
          <p:nvPr>
            <p:ph type="title"/>
          </p:nvPr>
        </p:nvSpPr>
        <p:spPr>
          <a:xfrm>
            <a:off x="457200" y="304800"/>
            <a:ext cx="7467600" cy="5635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Arial"/>
              <a:buNone/>
            </a:pPr>
            <a:r>
              <a:rPr lang="en-US"/>
              <a:t>Đặc điểm của áp dụng pháp luật</a:t>
            </a:r>
            <a:endParaRPr/>
          </a:p>
        </p:txBody>
      </p:sp>
      <p:sp>
        <p:nvSpPr>
          <p:cNvPr id="2121" name="Google Shape;2121;p131"/>
          <p:cNvSpPr/>
          <p:nvPr/>
        </p:nvSpPr>
        <p:spPr>
          <a:xfrm>
            <a:off x="457200" y="1143000"/>
            <a:ext cx="8229600" cy="5410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Chỉ được tiến hành bởi cơ quan nhà nước có thẩm quyền hoặc cá nhân có thẩm quyền</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Được tiến hành theo thủ tục, trình tự do pháp luật quy định (hình thức, thủ tục áp dụng pháp luật rất chặt chẽ)</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Mang tính quyền lực nhà nước</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Mang tính cá biệt, cụ thể</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Có tính sáng tạo</a:t>
            </a:r>
            <a:endParaRPr b="0" i="0" sz="2000" u="none" cap="none" strike="noStrike">
              <a:solidFill>
                <a:schemeClr val="dk1"/>
              </a:solidFill>
              <a:latin typeface="Times New Roman"/>
              <a:ea typeface="Times New Roman"/>
              <a:cs typeface="Times New Roman"/>
              <a:sym typeface="Times New Roman"/>
            </a:endParaRPr>
          </a:p>
        </p:txBody>
      </p:sp>
      <p:sp>
        <p:nvSpPr>
          <p:cNvPr id="2122" name="Google Shape;2122;p131"/>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23" name="Google Shape;2123;p13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7" name="Shape 2127"/>
        <p:cNvGrpSpPr/>
        <p:nvPr/>
      </p:nvGrpSpPr>
      <p:grpSpPr>
        <a:xfrm>
          <a:off x="0" y="0"/>
          <a:ext cx="0" cy="0"/>
          <a:chOff x="0" y="0"/>
          <a:chExt cx="0" cy="0"/>
        </a:xfrm>
      </p:grpSpPr>
      <p:sp>
        <p:nvSpPr>
          <p:cNvPr id="2128" name="Google Shape;2128;p132"/>
          <p:cNvSpPr txBox="1"/>
          <p:nvPr>
            <p:ph type="title"/>
          </p:nvPr>
        </p:nvSpPr>
        <p:spPr>
          <a:xfrm>
            <a:off x="457200" y="152400"/>
            <a:ext cx="8229600" cy="4572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Times New Roman"/>
              <a:buNone/>
            </a:pPr>
            <a:r>
              <a:rPr lang="en-US" sz="2800">
                <a:latin typeface="Times New Roman"/>
                <a:ea typeface="Times New Roman"/>
                <a:cs typeface="Times New Roman"/>
                <a:sym typeface="Times New Roman"/>
              </a:rPr>
              <a:t>Trình tự áp dụng pháp luật</a:t>
            </a:r>
            <a:endParaRPr sz="2800">
              <a:latin typeface="Times New Roman"/>
              <a:ea typeface="Times New Roman"/>
              <a:cs typeface="Times New Roman"/>
              <a:sym typeface="Times New Roman"/>
            </a:endParaRPr>
          </a:p>
        </p:txBody>
      </p:sp>
      <p:sp>
        <p:nvSpPr>
          <p:cNvPr id="2129" name="Google Shape;2129;p132"/>
          <p:cNvSpPr txBox="1"/>
          <p:nvPr>
            <p:ph idx="11" type="ftr"/>
          </p:nvPr>
        </p:nvSpPr>
        <p:spPr>
          <a:xfrm rot="5400000">
            <a:off x="7077260" y="17009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30" name="Google Shape;2130;p13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4" name="Shape 2134"/>
        <p:cNvGrpSpPr/>
        <p:nvPr/>
      </p:nvGrpSpPr>
      <p:grpSpPr>
        <a:xfrm>
          <a:off x="0" y="0"/>
          <a:ext cx="0" cy="0"/>
          <a:chOff x="0" y="0"/>
          <a:chExt cx="0" cy="0"/>
        </a:xfrm>
      </p:grpSpPr>
      <p:sp>
        <p:nvSpPr>
          <p:cNvPr id="2135" name="Google Shape;2135;p133"/>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Các hình thức áp dụng pháp luật tương tự</a:t>
            </a:r>
            <a:endParaRPr sz="2800">
              <a:solidFill>
                <a:schemeClr val="dk1"/>
              </a:solidFill>
              <a:latin typeface="Times New Roman"/>
              <a:ea typeface="Times New Roman"/>
              <a:cs typeface="Times New Roman"/>
              <a:sym typeface="Times New Roman"/>
            </a:endParaRPr>
          </a:p>
        </p:txBody>
      </p:sp>
      <p:sp>
        <p:nvSpPr>
          <p:cNvPr id="2136" name="Google Shape;2136;p133"/>
          <p:cNvSpPr/>
          <p:nvPr/>
        </p:nvSpPr>
        <p:spPr>
          <a:xfrm>
            <a:off x="457200" y="1219200"/>
            <a:ext cx="8229600" cy="5334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Áp dụng pháp luật tương tự</a:t>
            </a:r>
            <a:endParaRPr b="1" i="0" sz="24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24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Áp dụng tương tự quy phạm pháp luật: </a:t>
            </a:r>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Là việc lựa chọn quy phạm có hiệu lực pháp luật làm căn cứ pháp lý để giải quyết một vụ việc cụ thể nảy sinh chưa được dự kiến trước nhưng có dấu hiệu tương tự với một vụ việc khác được quy phạm pháp luật này trực tiếp điều chỉnh</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Áp dụng tương tự pháp luật (hay tương tự luật):</a:t>
            </a:r>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Là việc sử dụng những nguyên tắc pháp lý và dựa vào ý thức pháp luật để giải quyết một vụ viêc cụ thể mà chưa có quy phạm pháp luật trực tiếp điều chỉnh và cũng ko thể áp dụng tương tự quy phạm pháp luật</a:t>
            </a:r>
            <a:endParaRPr b="0" i="0" sz="18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2137" name="Google Shape;2137;p133"/>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38" name="Google Shape;2138;p13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Google Shape;2143;p134"/>
          <p:cNvSpPr txBox="1"/>
          <p:nvPr>
            <p:ph idx="1" type="body"/>
          </p:nvPr>
        </p:nvSpPr>
        <p:spPr>
          <a:xfrm>
            <a:off x="457200" y="1143000"/>
            <a:ext cx="8229600" cy="49831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a:t>.</a:t>
            </a:r>
            <a:endParaRPr/>
          </a:p>
        </p:txBody>
      </p:sp>
      <p:sp>
        <p:nvSpPr>
          <p:cNvPr id="2144" name="Google Shape;2144;p134"/>
          <p:cNvSpPr txBox="1"/>
          <p:nvPr>
            <p:ph type="title"/>
          </p:nvPr>
        </p:nvSpPr>
        <p:spPr>
          <a:xfrm>
            <a:off x="457200" y="274638"/>
            <a:ext cx="8229600" cy="7159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2800"/>
              <a:buFont typeface="Times New Roman"/>
              <a:buNone/>
            </a:pPr>
            <a:r>
              <a:rPr lang="en-US" sz="2800">
                <a:solidFill>
                  <a:schemeClr val="dk1"/>
                </a:solidFill>
                <a:latin typeface="Times New Roman"/>
                <a:ea typeface="Times New Roman"/>
                <a:cs typeface="Times New Roman"/>
                <a:sym typeface="Times New Roman"/>
              </a:rPr>
              <a:t>Điều kiện áp dụng pháp luật tương tự</a:t>
            </a:r>
            <a:endParaRPr sz="2800">
              <a:solidFill>
                <a:schemeClr val="dk1"/>
              </a:solidFill>
              <a:latin typeface="Times New Roman"/>
              <a:ea typeface="Times New Roman"/>
              <a:cs typeface="Times New Roman"/>
              <a:sym typeface="Times New Roman"/>
            </a:endParaRPr>
          </a:p>
        </p:txBody>
      </p:sp>
      <p:sp>
        <p:nvSpPr>
          <p:cNvPr id="2145" name="Google Shape;2145;p134"/>
          <p:cNvSpPr/>
          <p:nvPr/>
        </p:nvSpPr>
        <p:spPr>
          <a:xfrm>
            <a:off x="990600" y="1066800"/>
            <a:ext cx="7696200" cy="2209800"/>
          </a:xfrm>
          <a:prstGeom prst="roundRect">
            <a:avLst>
              <a:gd fmla="val 16667" name="adj"/>
            </a:avLst>
          </a:prstGeom>
          <a:solidFill>
            <a:srgbClr val="FFE6D6"/>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rgbClr val="FF0000"/>
                </a:solidFill>
                <a:latin typeface="Times New Roman"/>
                <a:ea typeface="Times New Roman"/>
                <a:cs typeface="Times New Roman"/>
                <a:sym typeface="Times New Roman"/>
              </a:rPr>
              <a:t>Điều kiện chung</a:t>
            </a:r>
            <a:endParaRPr b="1" sz="2000">
              <a:solidFill>
                <a:srgbClr val="FF0000"/>
              </a:solidFill>
              <a:latin typeface="Times New Roman"/>
              <a:ea typeface="Times New Roman"/>
              <a:cs typeface="Times New Roman"/>
              <a:sym typeface="Times New Roman"/>
            </a:endParaRPr>
          </a:p>
          <a:p>
            <a:pPr indent="-127000" lvl="0" marL="0" marR="0" rtl="0" algn="just">
              <a:spcBef>
                <a:spcPts val="0"/>
              </a:spcBef>
              <a:spcAft>
                <a:spcPts val="0"/>
              </a:spcAft>
              <a:buClr>
                <a:srgbClr val="FF0000"/>
              </a:buClr>
              <a:buSzPts val="2000"/>
              <a:buFont typeface="Times New Roman"/>
              <a:buChar char="-"/>
            </a:pPr>
            <a:r>
              <a:rPr lang="en-US" sz="2000">
                <a:solidFill>
                  <a:srgbClr val="FF0000"/>
                </a:solidFill>
                <a:latin typeface="Times New Roman"/>
                <a:ea typeface="Times New Roman"/>
                <a:cs typeface="Times New Roman"/>
                <a:sym typeface="Times New Roman"/>
              </a:rPr>
              <a:t>Vụ việc mang tính chất pháp lý</a:t>
            </a:r>
            <a:endParaRPr sz="2000">
              <a:solidFill>
                <a:srgbClr val="FF0000"/>
              </a:solidFill>
              <a:latin typeface="Times New Roman"/>
              <a:ea typeface="Times New Roman"/>
              <a:cs typeface="Times New Roman"/>
              <a:sym typeface="Times New Roman"/>
            </a:endParaRPr>
          </a:p>
          <a:p>
            <a:pPr indent="-127000" lvl="0" marL="0" marR="0" rtl="0" algn="just">
              <a:spcBef>
                <a:spcPts val="0"/>
              </a:spcBef>
              <a:spcAft>
                <a:spcPts val="0"/>
              </a:spcAft>
              <a:buClr>
                <a:srgbClr val="FF0000"/>
              </a:buClr>
              <a:buSzPts val="2000"/>
              <a:buFont typeface="Times New Roman"/>
              <a:buChar char="-"/>
            </a:pPr>
            <a:r>
              <a:rPr lang="en-US" sz="2000">
                <a:solidFill>
                  <a:srgbClr val="FF0000"/>
                </a:solidFill>
                <a:latin typeface="Times New Roman"/>
                <a:ea typeface="Times New Roman"/>
                <a:cs typeface="Times New Roman"/>
                <a:sym typeface="Times New Roman"/>
              </a:rPr>
              <a:t>ko có quy phạm pháp luật nào trực tiếp điều chỉnh.</a:t>
            </a:r>
            <a:endParaRPr/>
          </a:p>
          <a:p>
            <a:pPr indent="-127000" lvl="0" marL="0" marR="0" rtl="0" algn="just">
              <a:spcBef>
                <a:spcPts val="0"/>
              </a:spcBef>
              <a:spcAft>
                <a:spcPts val="0"/>
              </a:spcAft>
              <a:buClr>
                <a:srgbClr val="FF0000"/>
              </a:buClr>
              <a:buSzPts val="2000"/>
              <a:buFont typeface="Times New Roman"/>
              <a:buChar char="-"/>
            </a:pPr>
            <a:r>
              <a:rPr lang="en-US" sz="2000">
                <a:solidFill>
                  <a:srgbClr val="FF0000"/>
                </a:solidFill>
                <a:latin typeface="Times New Roman"/>
                <a:ea typeface="Times New Roman"/>
                <a:cs typeface="Times New Roman"/>
                <a:sym typeface="Times New Roman"/>
              </a:rPr>
              <a:t>Tìm ra được quy phạm điều chỉnh vụ việc giống với vụ việc đang cần giải quyết hoặc các nguyên tắc cơ bản của pháp luật</a:t>
            </a:r>
            <a:endParaRPr sz="2000">
              <a:solidFill>
                <a:srgbClr val="FF0000"/>
              </a:solidFill>
              <a:latin typeface="Times New Roman"/>
              <a:ea typeface="Times New Roman"/>
              <a:cs typeface="Times New Roman"/>
              <a:sym typeface="Times New Roman"/>
            </a:endParaRPr>
          </a:p>
          <a:p>
            <a:pPr indent="-127000" lvl="0" marL="0" marR="0" rtl="0" algn="just">
              <a:spcBef>
                <a:spcPts val="0"/>
              </a:spcBef>
              <a:spcAft>
                <a:spcPts val="0"/>
              </a:spcAft>
              <a:buClr>
                <a:srgbClr val="FF0000"/>
              </a:buClr>
              <a:buSzPts val="2000"/>
              <a:buFont typeface="Times New Roman"/>
              <a:buChar char="-"/>
            </a:pPr>
            <a:r>
              <a:rPr lang="en-US" sz="2000">
                <a:solidFill>
                  <a:srgbClr val="FF0000"/>
                </a:solidFill>
                <a:latin typeface="Times New Roman"/>
                <a:ea typeface="Times New Roman"/>
                <a:cs typeface="Times New Roman"/>
                <a:sym typeface="Times New Roman"/>
              </a:rPr>
              <a:t>Người áp dụng pháp luật có kiến thức pháp luật, kinh nghiệm sống phong phú</a:t>
            </a:r>
            <a:endParaRPr sz="2000">
              <a:solidFill>
                <a:srgbClr val="FF0000"/>
              </a:solidFill>
              <a:latin typeface="Times New Roman"/>
              <a:ea typeface="Times New Roman"/>
              <a:cs typeface="Times New Roman"/>
              <a:sym typeface="Times New Roman"/>
            </a:endParaRPr>
          </a:p>
        </p:txBody>
      </p:sp>
      <p:sp>
        <p:nvSpPr>
          <p:cNvPr id="2146" name="Google Shape;2146;p134"/>
          <p:cNvSpPr/>
          <p:nvPr/>
        </p:nvSpPr>
        <p:spPr>
          <a:xfrm>
            <a:off x="838200" y="3657600"/>
            <a:ext cx="7620000" cy="2438400"/>
          </a:xfrm>
          <a:prstGeom prst="roundRect">
            <a:avLst>
              <a:gd fmla="val 16667"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0000"/>
                </a:solidFill>
                <a:latin typeface="Times New Roman"/>
                <a:ea typeface="Times New Roman"/>
                <a:cs typeface="Times New Roman"/>
                <a:sym typeface="Times New Roman"/>
              </a:rPr>
              <a:t>Điều kiện riêng</a:t>
            </a:r>
            <a:endParaRPr b="1" sz="2400">
              <a:solidFill>
                <a:srgbClr val="FF0000"/>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147" name="Google Shape;2147;p134"/>
          <p:cNvSpPr/>
          <p:nvPr/>
        </p:nvSpPr>
        <p:spPr>
          <a:xfrm>
            <a:off x="228600" y="4038600"/>
            <a:ext cx="4648200" cy="2438400"/>
          </a:xfrm>
          <a:prstGeom prst="ellipse">
            <a:avLst/>
          </a:prstGeom>
          <a:solidFill>
            <a:srgbClr val="E2E9F7"/>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Đối với áp dụng tương tự quy phạm pháp luật: phải xác định được quy phạm pháp luật điều chỉnh trong trường hợp đã dự kiến có nội dung gần giống với vụ việc mới nảy sinh</a:t>
            </a:r>
            <a:endParaRPr sz="2000">
              <a:solidFill>
                <a:schemeClr val="dk1"/>
              </a:solidFill>
              <a:latin typeface="Times New Roman"/>
              <a:ea typeface="Times New Roman"/>
              <a:cs typeface="Times New Roman"/>
              <a:sym typeface="Times New Roman"/>
            </a:endParaRPr>
          </a:p>
        </p:txBody>
      </p:sp>
      <p:sp>
        <p:nvSpPr>
          <p:cNvPr id="2148" name="Google Shape;2148;p134"/>
          <p:cNvSpPr/>
          <p:nvPr/>
        </p:nvSpPr>
        <p:spPr>
          <a:xfrm>
            <a:off x="4876800" y="3962400"/>
            <a:ext cx="4267200" cy="2362200"/>
          </a:xfrm>
          <a:prstGeom prst="ellipse">
            <a:avLst/>
          </a:prstGeom>
          <a:solidFill>
            <a:srgbClr val="F8CCC6"/>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Đối với áp dụng tương tự pháp luật: phải xác định là ko có quy phạm pháp luật điều chỉnh vụ việc tương tự với vụ việc cần giải quyết</a:t>
            </a:r>
            <a:endParaRPr sz="2000">
              <a:solidFill>
                <a:schemeClr val="dk1"/>
              </a:solidFill>
              <a:latin typeface="Times New Roman"/>
              <a:ea typeface="Times New Roman"/>
              <a:cs typeface="Times New Roman"/>
              <a:sym typeface="Times New Roman"/>
            </a:endParaRPr>
          </a:p>
        </p:txBody>
      </p:sp>
      <p:sp>
        <p:nvSpPr>
          <p:cNvPr id="2149" name="Google Shape;2149;p134"/>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50" name="Google Shape;2150;p13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5"/>
                                        </p:tgtEl>
                                        <p:attrNameLst>
                                          <p:attrName>style.visibility</p:attrName>
                                        </p:attrNameLst>
                                      </p:cBhvr>
                                      <p:to>
                                        <p:strVal val="visible"/>
                                      </p:to>
                                    </p:set>
                                    <p:animEffect filter="fade" transition="in">
                                      <p:cBhvr>
                                        <p:cTn dur="500"/>
                                        <p:tgtEl>
                                          <p:spTgt spid="2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46"/>
                                        </p:tgtEl>
                                        <p:attrNameLst>
                                          <p:attrName>style.visibility</p:attrName>
                                        </p:attrNameLst>
                                      </p:cBhvr>
                                      <p:to>
                                        <p:strVal val="visible"/>
                                      </p:to>
                                    </p:set>
                                    <p:anim calcmode="lin" valueType="num">
                                      <p:cBhvr additive="base">
                                        <p:cTn dur="500"/>
                                        <p:tgtEl>
                                          <p:spTgt spid="214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7"/>
                                        </p:tgtEl>
                                        <p:attrNameLst>
                                          <p:attrName>style.visibility</p:attrName>
                                        </p:attrNameLst>
                                      </p:cBhvr>
                                      <p:to>
                                        <p:strVal val="visible"/>
                                      </p:to>
                                    </p:set>
                                    <p:animEffect filter="fade" transition="in">
                                      <p:cBhvr>
                                        <p:cTn dur="2000"/>
                                        <p:tgtEl>
                                          <p:spTgt spid="21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8"/>
                                        </p:tgtEl>
                                        <p:attrNameLst>
                                          <p:attrName>style.visibility</p:attrName>
                                        </p:attrNameLst>
                                      </p:cBhvr>
                                      <p:to>
                                        <p:strVal val="visible"/>
                                      </p:to>
                                    </p:set>
                                    <p:animEffect filter="fade" transition="in">
                                      <p:cBhvr>
                                        <p:cTn dur="2000"/>
                                        <p:tgtEl>
                                          <p:spTgt spid="2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4" name="Shape 2154"/>
        <p:cNvGrpSpPr/>
        <p:nvPr/>
      </p:nvGrpSpPr>
      <p:grpSpPr>
        <a:xfrm>
          <a:off x="0" y="0"/>
          <a:ext cx="0" cy="0"/>
          <a:chOff x="0" y="0"/>
          <a:chExt cx="0" cy="0"/>
        </a:xfrm>
      </p:grpSpPr>
      <p:sp>
        <p:nvSpPr>
          <p:cNvPr id="2155" name="Google Shape;2155;p135"/>
          <p:cNvSpPr txBox="1"/>
          <p:nvPr>
            <p:ph idx="1" type="body"/>
          </p:nvPr>
        </p:nvSpPr>
        <p:spPr>
          <a:xfrm>
            <a:off x="609600" y="1219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None/>
            </a:pPr>
            <a:r>
              <a:t/>
            </a:r>
            <a:endParaRPr sz="2400">
              <a:latin typeface="Times New Roman"/>
              <a:ea typeface="Times New Roman"/>
              <a:cs typeface="Times New Roman"/>
              <a:sym typeface="Times New Roman"/>
            </a:endParaRPr>
          </a:p>
          <a:p>
            <a:pPr indent="-167640" lvl="0" marL="274320" rtl="0" algn="just">
              <a:spcBef>
                <a:spcPts val="600"/>
              </a:spcBef>
              <a:spcAft>
                <a:spcPts val="0"/>
              </a:spcAft>
              <a:buSzPts val="1680"/>
              <a:buFont typeface="Arial"/>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Font typeface="Times New Roman"/>
              <a:buChar char="-"/>
            </a:pPr>
            <a:r>
              <a:rPr lang="en-US" sz="2400">
                <a:latin typeface="Times New Roman"/>
                <a:ea typeface="Times New Roman"/>
                <a:cs typeface="Times New Roman"/>
                <a:sym typeface="Times New Roman"/>
              </a:rPr>
              <a:t>Gắn với thẩm quyền của cơ quan, người có thẩm quyền ban hành văn bản</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Font typeface="Times New Roman"/>
              <a:buChar char="-"/>
            </a:pPr>
            <a:r>
              <a:rPr lang="en-US" sz="2400">
                <a:latin typeface="Times New Roman"/>
                <a:ea typeface="Times New Roman"/>
                <a:cs typeface="Times New Roman"/>
                <a:sym typeface="Times New Roman"/>
              </a:rPr>
              <a:t>Bao hàm việc phải làm rõ các từ ngữ, cách hiểu thống nhất để vận dụng đúng đắn trong khi thi hành pháp luật</a:t>
            </a:r>
            <a:endParaRPr sz="2400">
              <a:latin typeface="Times New Roman"/>
              <a:ea typeface="Times New Roman"/>
              <a:cs typeface="Times New Roman"/>
              <a:sym typeface="Times New Roman"/>
            </a:endParaRPr>
          </a:p>
        </p:txBody>
      </p:sp>
      <p:sp>
        <p:nvSpPr>
          <p:cNvPr id="2156" name="Google Shape;2156;p135"/>
          <p:cNvSpPr txBox="1"/>
          <p:nvPr>
            <p:ph type="title"/>
          </p:nvPr>
        </p:nvSpPr>
        <p:spPr>
          <a:xfrm>
            <a:off x="457200" y="274638"/>
            <a:ext cx="8229600" cy="563562"/>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r>
              <a:rPr b="1" lang="en-US" sz="3200">
                <a:solidFill>
                  <a:schemeClr val="dk1"/>
                </a:solidFill>
                <a:latin typeface="Times New Roman"/>
                <a:ea typeface="Times New Roman"/>
                <a:cs typeface="Times New Roman"/>
                <a:sym typeface="Times New Roman"/>
              </a:rPr>
              <a:t>4.8.3	Giải thích pháp luật</a:t>
            </a:r>
            <a:endParaRPr sz="3200">
              <a:solidFill>
                <a:schemeClr val="dk1"/>
              </a:solidFill>
              <a:latin typeface="Times New Roman"/>
              <a:ea typeface="Times New Roman"/>
              <a:cs typeface="Times New Roman"/>
              <a:sym typeface="Times New Roman"/>
            </a:endParaRPr>
          </a:p>
        </p:txBody>
      </p:sp>
      <p:sp>
        <p:nvSpPr>
          <p:cNvPr id="2157" name="Google Shape;2157;p135"/>
          <p:cNvSpPr/>
          <p:nvPr/>
        </p:nvSpPr>
        <p:spPr>
          <a:xfrm>
            <a:off x="1295400" y="381000"/>
            <a:ext cx="6096000" cy="3200400"/>
          </a:xfrm>
          <a:prstGeom prst="horizontalScroll">
            <a:avLst>
              <a:gd fmla="val 12500" name="adj"/>
            </a:avLst>
          </a:prstGeom>
          <a:solidFill>
            <a:srgbClr val="FF3399"/>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600">
                <a:solidFill>
                  <a:schemeClr val="lt1"/>
                </a:solidFill>
                <a:latin typeface="Times New Roman"/>
                <a:ea typeface="Times New Roman"/>
                <a:cs typeface="Times New Roman"/>
                <a:sym typeface="Times New Roman"/>
              </a:rPr>
              <a:t>Là làm sáng tỏ nội dung và tư tưởng của các quy phạm pháp luật để mọi người nhận thức pháp luật thống nhất, từ đó thực hiện pháp luật thống nhất</a:t>
            </a:r>
            <a:endParaRPr sz="2600">
              <a:solidFill>
                <a:schemeClr val="lt1"/>
              </a:solidFill>
              <a:latin typeface="Times New Roman"/>
              <a:ea typeface="Times New Roman"/>
              <a:cs typeface="Times New Roman"/>
              <a:sym typeface="Times New Roman"/>
            </a:endParaRPr>
          </a:p>
        </p:txBody>
      </p:sp>
      <p:pic>
        <p:nvPicPr>
          <p:cNvPr descr="E:\Bai giang\PL DC\Pics\47.jpg" id="2158" name="Google Shape;2158;p135"/>
          <p:cNvPicPr preferRelativeResize="0"/>
          <p:nvPr/>
        </p:nvPicPr>
        <p:blipFill rotWithShape="1">
          <a:blip r:embed="rId3">
            <a:alphaModFix/>
          </a:blip>
          <a:srcRect b="0" l="0" r="0" t="0"/>
          <a:stretch/>
        </p:blipFill>
        <p:spPr>
          <a:xfrm>
            <a:off x="6381750" y="5200650"/>
            <a:ext cx="2762250" cy="1657350"/>
          </a:xfrm>
          <a:prstGeom prst="rect">
            <a:avLst/>
          </a:prstGeom>
          <a:noFill/>
          <a:ln>
            <a:noFill/>
          </a:ln>
        </p:spPr>
      </p:pic>
      <p:sp>
        <p:nvSpPr>
          <p:cNvPr id="2159" name="Google Shape;2159;p135"/>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60" name="Google Shape;2160;p13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57"/>
                                        </p:tgtEl>
                                        <p:attrNameLst>
                                          <p:attrName>style.visibility</p:attrName>
                                        </p:attrNameLst>
                                      </p:cBhvr>
                                      <p:to>
                                        <p:strVal val="visible"/>
                                      </p:to>
                                    </p:set>
                                    <p:anim calcmode="lin" valueType="num">
                                      <p:cBhvr additive="base">
                                        <p:cTn dur="500"/>
                                        <p:tgtEl>
                                          <p:spTgt spid="21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4" name="Shape 2164"/>
        <p:cNvGrpSpPr/>
        <p:nvPr/>
      </p:nvGrpSpPr>
      <p:grpSpPr>
        <a:xfrm>
          <a:off x="0" y="0"/>
          <a:ext cx="0" cy="0"/>
          <a:chOff x="0" y="0"/>
          <a:chExt cx="0" cy="0"/>
        </a:xfrm>
      </p:grpSpPr>
      <p:sp>
        <p:nvSpPr>
          <p:cNvPr id="2165" name="Google Shape;2165;p136"/>
          <p:cNvSpPr txBox="1"/>
          <p:nvPr>
            <p:ph type="title"/>
          </p:nvPr>
        </p:nvSpPr>
        <p:spPr>
          <a:xfrm>
            <a:off x="457200" y="274638"/>
            <a:ext cx="8229600" cy="5635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Hình thức giải thích pháp luật</a:t>
            </a:r>
            <a:endParaRPr sz="3200">
              <a:solidFill>
                <a:srgbClr val="FF0000"/>
              </a:solidFill>
              <a:latin typeface="Times New Roman"/>
              <a:ea typeface="Times New Roman"/>
              <a:cs typeface="Times New Roman"/>
              <a:sym typeface="Times New Roman"/>
            </a:endParaRPr>
          </a:p>
        </p:txBody>
      </p:sp>
      <p:sp>
        <p:nvSpPr>
          <p:cNvPr id="2166" name="Google Shape;2166;p136"/>
          <p:cNvSpPr/>
          <p:nvPr/>
        </p:nvSpPr>
        <p:spPr>
          <a:xfrm>
            <a:off x="457200" y="1066800"/>
            <a:ext cx="8229600" cy="5791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Giải thích chính thức</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Của cơ quan có thẩm quyền</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Có giá trị pháp lý bắt buộc</a:t>
            </a:r>
            <a:endParaRPr b="0" i="0" sz="24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52400" lvl="1" marL="114300" marR="0" rtl="0" algn="l">
              <a:lnSpc>
                <a:spcPct val="75000"/>
              </a:lnSpc>
              <a:spcBef>
                <a:spcPts val="18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Giải thích không chính thức</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Của bất cứ cá nhân, tổ chức nào</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Không có giá trị pháp lý bắt buộc</a:t>
            </a:r>
            <a:endParaRPr b="0" i="0" sz="2400" u="none" cap="none" strike="noStrike">
              <a:solidFill>
                <a:schemeClr val="dk1"/>
              </a:solidFill>
              <a:latin typeface="Times New Roman"/>
              <a:ea typeface="Times New Roman"/>
              <a:cs typeface="Times New Roman"/>
              <a:sym typeface="Times New Roman"/>
            </a:endParaRPr>
          </a:p>
        </p:txBody>
      </p:sp>
      <p:sp>
        <p:nvSpPr>
          <p:cNvPr id="2167" name="Google Shape;2167;p136"/>
          <p:cNvSpPr/>
          <p:nvPr/>
        </p:nvSpPr>
        <p:spPr>
          <a:xfrm>
            <a:off x="1295400" y="4800600"/>
            <a:ext cx="7162800" cy="2057400"/>
          </a:xfrm>
          <a:prstGeom prst="leftRightArrow">
            <a:avLst>
              <a:gd fmla="val 50000" name="adj1"/>
              <a:gd fmla="val 50000" name="adj2"/>
            </a:avLst>
          </a:prstGeom>
          <a:gradFill>
            <a:gsLst>
              <a:gs pos="0">
                <a:srgbClr val="FFCCAF"/>
              </a:gs>
              <a:gs pos="30000">
                <a:srgbClr val="FFC7A8"/>
              </a:gs>
              <a:gs pos="75000">
                <a:srgbClr val="FFAC7C"/>
              </a:gs>
              <a:gs pos="100000">
                <a:srgbClr val="FF924A"/>
              </a:gs>
            </a:gsLst>
            <a:path path="circle">
              <a:fillToRect r="100%" t="100%"/>
            </a:path>
            <a:tileRect b="-100%" l="-100%"/>
          </a:gradFill>
          <a:ln cap="flat" cmpd="sng" w="12700">
            <a:solidFill>
              <a:srgbClr val="FF6803"/>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Các phương pháp GTPL: giải thích ngữ nghĩa, giải thích lôgic, giải thích về mặt lịch sử, giải thích hệ thống, giải thích chung, giải thích cụ thể, …</a:t>
            </a:r>
            <a:endParaRPr sz="2000">
              <a:solidFill>
                <a:schemeClr val="dk1"/>
              </a:solidFill>
              <a:latin typeface="Times New Roman"/>
              <a:ea typeface="Times New Roman"/>
              <a:cs typeface="Times New Roman"/>
              <a:sym typeface="Times New Roman"/>
            </a:endParaRPr>
          </a:p>
        </p:txBody>
      </p:sp>
      <p:sp>
        <p:nvSpPr>
          <p:cNvPr id="2168" name="Google Shape;2168;p136"/>
          <p:cNvSpPr/>
          <p:nvPr/>
        </p:nvSpPr>
        <p:spPr>
          <a:xfrm>
            <a:off x="381000" y="3124200"/>
            <a:ext cx="1676400" cy="1447800"/>
          </a:xfrm>
          <a:prstGeom prst="upArrow">
            <a:avLst>
              <a:gd fmla="val 50000" name="adj1"/>
              <a:gd fmla="val 50000" name="adj2"/>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lt1"/>
                </a:solidFill>
                <a:latin typeface="Times New Roman"/>
                <a:ea typeface="Times New Roman"/>
                <a:cs typeface="Times New Roman"/>
                <a:sym typeface="Times New Roman"/>
              </a:rPr>
              <a:t>Quy phạm</a:t>
            </a:r>
            <a:endParaRPr sz="2000">
              <a:solidFill>
                <a:schemeClr val="lt1"/>
              </a:solidFill>
              <a:latin typeface="Times New Roman"/>
              <a:ea typeface="Times New Roman"/>
              <a:cs typeface="Times New Roman"/>
              <a:sym typeface="Times New Roman"/>
            </a:endParaRPr>
          </a:p>
        </p:txBody>
      </p:sp>
      <p:sp>
        <p:nvSpPr>
          <p:cNvPr id="2169" name="Google Shape;2169;p136"/>
          <p:cNvSpPr/>
          <p:nvPr/>
        </p:nvSpPr>
        <p:spPr>
          <a:xfrm>
            <a:off x="4724400" y="3048000"/>
            <a:ext cx="1676400" cy="1524000"/>
          </a:xfrm>
          <a:prstGeom prst="upArrow">
            <a:avLst>
              <a:gd fmla="val 50000" name="adj1"/>
              <a:gd fmla="val 50000" name="adj2"/>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Ko quy  phạm</a:t>
            </a:r>
            <a:endParaRPr sz="1800">
              <a:solidFill>
                <a:schemeClr val="lt1"/>
              </a:solidFill>
              <a:latin typeface="Times New Roman"/>
              <a:ea typeface="Times New Roman"/>
              <a:cs typeface="Times New Roman"/>
              <a:sym typeface="Times New Roman"/>
            </a:endParaRPr>
          </a:p>
        </p:txBody>
      </p:sp>
      <p:sp>
        <p:nvSpPr>
          <p:cNvPr id="2170" name="Google Shape;2170;p136"/>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71" name="Google Shape;2171;p13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68"/>
                                        </p:tgtEl>
                                        <p:attrNameLst>
                                          <p:attrName>style.visibility</p:attrName>
                                        </p:attrNameLst>
                                      </p:cBhvr>
                                      <p:to>
                                        <p:strVal val="visible"/>
                                      </p:to>
                                    </p:set>
                                    <p:anim calcmode="lin" valueType="num">
                                      <p:cBhvr additive="base">
                                        <p:cTn dur="500"/>
                                        <p:tgtEl>
                                          <p:spTgt spid="21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69"/>
                                        </p:tgtEl>
                                        <p:attrNameLst>
                                          <p:attrName>style.visibility</p:attrName>
                                        </p:attrNameLst>
                                      </p:cBhvr>
                                      <p:to>
                                        <p:strVal val="visible"/>
                                      </p:to>
                                    </p:set>
                                    <p:anim calcmode="lin" valueType="num">
                                      <p:cBhvr additive="base">
                                        <p:cTn dur="500"/>
                                        <p:tgtEl>
                                          <p:spTgt spid="216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7"/>
                                        </p:tgtEl>
                                        <p:attrNameLst>
                                          <p:attrName>style.visibility</p:attrName>
                                        </p:attrNameLst>
                                      </p:cBhvr>
                                      <p:to>
                                        <p:strVal val="visible"/>
                                      </p:to>
                                    </p:set>
                                    <p:animEffect filter="fade" transition="in">
                                      <p:cBhvr>
                                        <p:cTn dur="2000"/>
                                        <p:tgtEl>
                                          <p:spTgt spid="2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sp>
        <p:nvSpPr>
          <p:cNvPr id="2176" name="Google Shape;2176;p137"/>
          <p:cNvSpPr txBox="1"/>
          <p:nvPr>
            <p:ph type="title"/>
          </p:nvPr>
        </p:nvSpPr>
        <p:spPr>
          <a:xfrm>
            <a:off x="609600" y="0"/>
            <a:ext cx="8229600" cy="63976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Thẩm quyền giải thích pháp luật</a:t>
            </a:r>
            <a:endParaRPr sz="3200">
              <a:latin typeface="Times New Roman"/>
              <a:ea typeface="Times New Roman"/>
              <a:cs typeface="Times New Roman"/>
              <a:sym typeface="Times New Roman"/>
            </a:endParaRPr>
          </a:p>
        </p:txBody>
      </p:sp>
      <p:sp>
        <p:nvSpPr>
          <p:cNvPr id="2177" name="Google Shape;2177;p137"/>
          <p:cNvSpPr txBox="1"/>
          <p:nvPr>
            <p:ph idx="1" type="body"/>
          </p:nvPr>
        </p:nvSpPr>
        <p:spPr>
          <a:xfrm>
            <a:off x="457200" y="1882808"/>
            <a:ext cx="8686800" cy="4572000"/>
          </a:xfrm>
          <a:prstGeom prst="rect">
            <a:avLst/>
          </a:prstGeom>
          <a:noFill/>
          <a:ln>
            <a:noFill/>
          </a:ln>
        </p:spPr>
        <p:txBody>
          <a:bodyPr anchorCtr="0" anchor="t" bIns="45700" lIns="91425" spcFirstLastPara="1" rIns="91425" wrap="square" tIns="45700">
            <a:normAutofit/>
          </a:bodyPr>
          <a:lstStyle/>
          <a:p>
            <a:pPr indent="-167640" lvl="0" marL="274320" rtl="0" algn="l">
              <a:spcBef>
                <a:spcPts val="0"/>
              </a:spcBef>
              <a:spcAft>
                <a:spcPts val="0"/>
              </a:spcAft>
              <a:buSzPts val="1680"/>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Char char="🞆"/>
            </a:pPr>
            <a:r>
              <a:rPr lang="en-US" sz="2400">
                <a:latin typeface="Times New Roman"/>
                <a:ea typeface="Times New Roman"/>
                <a:cs typeface="Times New Roman"/>
                <a:sym typeface="Times New Roman"/>
              </a:rPr>
              <a:t>UBTVQH là cơ quan duy nhất có thẩm quyền giải thích pháp luật. Giúp việc cho UBTVQH có Hội đồng dân tộc, các Ủy ban của Quốc hội, Văn phòng Quốc hội; Ban công tác lập pháp</a:t>
            </a:r>
            <a:endParaRPr sz="2400">
              <a:latin typeface="Times New Roman"/>
              <a:ea typeface="Times New Roman"/>
              <a:cs typeface="Times New Roman"/>
              <a:sym typeface="Times New Roman"/>
            </a:endParaRPr>
          </a:p>
          <a:p>
            <a:pPr indent="-274320" lvl="0" marL="274320" rtl="0" algn="l">
              <a:spcBef>
                <a:spcPts val="600"/>
              </a:spcBef>
              <a:spcAft>
                <a:spcPts val="0"/>
              </a:spcAft>
              <a:buSzPts val="1680"/>
              <a:buNone/>
            </a:pPr>
            <a:r>
              <a:t/>
            </a:r>
            <a:endParaRPr sz="2400">
              <a:latin typeface="Times New Roman"/>
              <a:ea typeface="Times New Roman"/>
              <a:cs typeface="Times New Roman"/>
              <a:sym typeface="Times New Roman"/>
            </a:endParaRPr>
          </a:p>
        </p:txBody>
      </p:sp>
      <p:sp>
        <p:nvSpPr>
          <p:cNvPr id="2178" name="Google Shape;2178;p137"/>
          <p:cNvSpPr/>
          <p:nvPr/>
        </p:nvSpPr>
        <p:spPr>
          <a:xfrm>
            <a:off x="228600" y="4724400"/>
            <a:ext cx="2362200" cy="1676400"/>
          </a:xfrm>
          <a:prstGeom prst="triangle">
            <a:avLst>
              <a:gd fmla="val 50000" name="adj"/>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lt1"/>
                </a:solidFill>
                <a:latin typeface="Times New Roman"/>
                <a:ea typeface="Times New Roman"/>
                <a:cs typeface="Times New Roman"/>
                <a:sym typeface="Times New Roman"/>
              </a:rPr>
              <a:t>Tòa án</a:t>
            </a:r>
            <a:endParaRPr sz="2800">
              <a:solidFill>
                <a:schemeClr val="lt1"/>
              </a:solidFill>
              <a:latin typeface="Times New Roman"/>
              <a:ea typeface="Times New Roman"/>
              <a:cs typeface="Times New Roman"/>
              <a:sym typeface="Times New Roman"/>
            </a:endParaRPr>
          </a:p>
        </p:txBody>
      </p:sp>
      <p:sp>
        <p:nvSpPr>
          <p:cNvPr id="2179" name="Google Shape;2179;p137"/>
          <p:cNvSpPr/>
          <p:nvPr/>
        </p:nvSpPr>
        <p:spPr>
          <a:xfrm>
            <a:off x="4114800" y="4572000"/>
            <a:ext cx="2743200" cy="1905000"/>
          </a:xfrm>
          <a:prstGeom prst="triangle">
            <a:avLst>
              <a:gd fmla="val 50000" name="adj"/>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Cơ quan ban hành VBQPPL</a:t>
            </a:r>
            <a:endParaRPr sz="2400">
              <a:solidFill>
                <a:schemeClr val="lt1"/>
              </a:solidFill>
              <a:latin typeface="Times New Roman"/>
              <a:ea typeface="Times New Roman"/>
              <a:cs typeface="Times New Roman"/>
              <a:sym typeface="Times New Roman"/>
            </a:endParaRPr>
          </a:p>
        </p:txBody>
      </p:sp>
      <p:pic>
        <p:nvPicPr>
          <p:cNvPr descr="E:\Bai giang\PL DC\Pics\anle3.jpg" id="2180" name="Google Shape;2180;p137"/>
          <p:cNvPicPr preferRelativeResize="0"/>
          <p:nvPr/>
        </p:nvPicPr>
        <p:blipFill rotWithShape="1">
          <a:blip r:embed="rId3">
            <a:alphaModFix/>
          </a:blip>
          <a:srcRect b="0" l="0" r="0" t="0"/>
          <a:stretch/>
        </p:blipFill>
        <p:spPr>
          <a:xfrm>
            <a:off x="2057400" y="3657600"/>
            <a:ext cx="2571750" cy="1771650"/>
          </a:xfrm>
          <a:prstGeom prst="rect">
            <a:avLst/>
          </a:prstGeom>
          <a:noFill/>
          <a:ln>
            <a:noFill/>
          </a:ln>
        </p:spPr>
      </p:pic>
      <p:pic>
        <p:nvPicPr>
          <p:cNvPr descr="E:\Bai giang\PL DC\Pics\3.jpg" id="2181" name="Google Shape;2181;p137"/>
          <p:cNvPicPr preferRelativeResize="0"/>
          <p:nvPr/>
        </p:nvPicPr>
        <p:blipFill rotWithShape="1">
          <a:blip r:embed="rId4">
            <a:alphaModFix/>
          </a:blip>
          <a:srcRect b="0" l="0" r="0" t="0"/>
          <a:stretch/>
        </p:blipFill>
        <p:spPr>
          <a:xfrm>
            <a:off x="6229350" y="4038600"/>
            <a:ext cx="2914650" cy="1571625"/>
          </a:xfrm>
          <a:prstGeom prst="rect">
            <a:avLst/>
          </a:prstGeom>
          <a:noFill/>
          <a:ln>
            <a:noFill/>
          </a:ln>
        </p:spPr>
      </p:pic>
      <p:pic>
        <p:nvPicPr>
          <p:cNvPr descr="E:\Bai giang\PL DC\Pics\45.jpg" id="2182" name="Google Shape;2182;p137"/>
          <p:cNvPicPr preferRelativeResize="0"/>
          <p:nvPr/>
        </p:nvPicPr>
        <p:blipFill rotWithShape="1">
          <a:blip r:embed="rId5">
            <a:alphaModFix/>
          </a:blip>
          <a:srcRect b="0" l="0" r="0" t="0"/>
          <a:stretch/>
        </p:blipFill>
        <p:spPr>
          <a:xfrm>
            <a:off x="3124200" y="609600"/>
            <a:ext cx="3733800" cy="1781175"/>
          </a:xfrm>
          <a:prstGeom prst="rect">
            <a:avLst/>
          </a:prstGeom>
          <a:noFill/>
          <a:ln>
            <a:noFill/>
          </a:ln>
        </p:spPr>
      </p:pic>
      <p:sp>
        <p:nvSpPr>
          <p:cNvPr id="2183" name="Google Shape;2183;p137"/>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84" name="Google Shape;2184;p13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8"/>
                                        </p:tgtEl>
                                        <p:attrNameLst>
                                          <p:attrName>style.visibility</p:attrName>
                                        </p:attrNameLst>
                                      </p:cBhvr>
                                      <p:to>
                                        <p:strVal val="visible"/>
                                      </p:to>
                                    </p:set>
                                    <p:animEffect filter="fade" transition="in">
                                      <p:cBhvr>
                                        <p:cTn dur="2000"/>
                                        <p:tgtEl>
                                          <p:spTgt spid="2178"/>
                                        </p:tgtEl>
                                      </p:cBhvr>
                                    </p:animEffect>
                                  </p:childTnLst>
                                </p:cTn>
                              </p:par>
                              <p:par>
                                <p:cTn fill="hold" nodeType="withEffect" presetClass="entr" presetID="10" presetSubtype="0">
                                  <p:stCondLst>
                                    <p:cond delay="0"/>
                                  </p:stCondLst>
                                  <p:childTnLst>
                                    <p:set>
                                      <p:cBhvr>
                                        <p:cTn dur="1" fill="hold">
                                          <p:stCondLst>
                                            <p:cond delay="0"/>
                                          </p:stCondLst>
                                        </p:cTn>
                                        <p:tgtEl>
                                          <p:spTgt spid="2180"/>
                                        </p:tgtEl>
                                        <p:attrNameLst>
                                          <p:attrName>style.visibility</p:attrName>
                                        </p:attrNameLst>
                                      </p:cBhvr>
                                      <p:to>
                                        <p:strVal val="visible"/>
                                      </p:to>
                                    </p:set>
                                    <p:animEffect filter="fade" transition="in">
                                      <p:cBhvr>
                                        <p:cTn dur="2000"/>
                                        <p:tgtEl>
                                          <p:spTgt spid="2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79"/>
                                        </p:tgtEl>
                                        <p:attrNameLst>
                                          <p:attrName>style.visibility</p:attrName>
                                        </p:attrNameLst>
                                      </p:cBhvr>
                                      <p:to>
                                        <p:strVal val="visible"/>
                                      </p:to>
                                    </p:set>
                                    <p:anim calcmode="lin" valueType="num">
                                      <p:cBhvr additive="base">
                                        <p:cTn dur="500"/>
                                        <p:tgtEl>
                                          <p:spTgt spid="21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81"/>
                                        </p:tgtEl>
                                        <p:attrNameLst>
                                          <p:attrName>style.visibility</p:attrName>
                                        </p:attrNameLst>
                                      </p:cBhvr>
                                      <p:to>
                                        <p:strVal val="visible"/>
                                      </p:to>
                                    </p:set>
                                    <p:anim calcmode="lin" valueType="num">
                                      <p:cBhvr additive="base">
                                        <p:cTn dur="500"/>
                                        <p:tgtEl>
                                          <p:spTgt spid="21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8" name="Shape 2188"/>
        <p:cNvGrpSpPr/>
        <p:nvPr/>
      </p:nvGrpSpPr>
      <p:grpSpPr>
        <a:xfrm>
          <a:off x="0" y="0"/>
          <a:ext cx="0" cy="0"/>
          <a:chOff x="0" y="0"/>
          <a:chExt cx="0" cy="0"/>
        </a:xfrm>
      </p:grpSpPr>
      <p:sp>
        <p:nvSpPr>
          <p:cNvPr id="2189" name="Google Shape;2189;p138"/>
          <p:cNvSpPr txBox="1"/>
          <p:nvPr>
            <p:ph type="title"/>
          </p:nvPr>
        </p:nvSpPr>
        <p:spPr>
          <a:xfrm>
            <a:off x="0" y="0"/>
            <a:ext cx="8839200" cy="838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4.9	Vi phạm pháp luật &amp;</a:t>
            </a:r>
            <a:r>
              <a:rPr b="1" lang="en-US" sz="2800">
                <a:solidFill>
                  <a:schemeClr val="dk1"/>
                </a:solidFill>
                <a:latin typeface="Times New Roman"/>
                <a:ea typeface="Times New Roman"/>
                <a:cs typeface="Times New Roman"/>
                <a:sym typeface="Times New Roman"/>
              </a:rPr>
              <a:t>TRÁCH NHIỆM PHÁP LÝ</a:t>
            </a:r>
            <a:endParaRPr sz="2800">
              <a:solidFill>
                <a:srgbClr val="FF0000"/>
              </a:solidFill>
              <a:latin typeface="Times New Roman"/>
              <a:ea typeface="Times New Roman"/>
              <a:cs typeface="Times New Roman"/>
              <a:sym typeface="Times New Roman"/>
            </a:endParaRPr>
          </a:p>
        </p:txBody>
      </p:sp>
      <p:sp>
        <p:nvSpPr>
          <p:cNvPr id="2190" name="Google Shape;2190;p138"/>
          <p:cNvSpPr/>
          <p:nvPr/>
        </p:nvSpPr>
        <p:spPr>
          <a:xfrm>
            <a:off x="2133600" y="1371600"/>
            <a:ext cx="7010400" cy="4724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Vi phạm pháp luật</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Có lỗi</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Do chủ thể có năng lực trách nhiệm pháp lý thực hiện</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Xâm hại hoặc đe dọa xâm hại đến quan hệ xã hội được pháp luật bảo vệ</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Hành vi trái pháp luật</a:t>
            </a:r>
            <a:endParaRPr b="0" i="0" sz="2400" u="none" cap="none" strike="noStrike">
              <a:solidFill>
                <a:schemeClr val="dk1"/>
              </a:solidFill>
              <a:latin typeface="Times New Roman"/>
              <a:ea typeface="Times New Roman"/>
              <a:cs typeface="Times New Roman"/>
              <a:sym typeface="Times New Roman"/>
            </a:endParaRPr>
          </a:p>
        </p:txBody>
      </p:sp>
      <p:sp>
        <p:nvSpPr>
          <p:cNvPr id="2191" name="Google Shape;2191;p138"/>
          <p:cNvSpPr/>
          <p:nvPr/>
        </p:nvSpPr>
        <p:spPr>
          <a:xfrm>
            <a:off x="228600" y="4419600"/>
            <a:ext cx="3810000" cy="1938992"/>
          </a:xfrm>
          <a:prstGeom prst="rect">
            <a:avLst/>
          </a:prstGeom>
          <a:noFill/>
          <a:ln>
            <a:noFill/>
          </a:ln>
        </p:spPr>
        <p:txBody>
          <a:bodyPr anchorCtr="0" anchor="ctr" bIns="45700" lIns="91425" spcFirstLastPara="1" rIns="91425" wrap="square" tIns="45700">
            <a:spAutoFit/>
          </a:bodyPr>
          <a:lstStyle/>
          <a:p>
            <a:pPr indent="-127000" lvl="0" marL="0" marR="0" rtl="0" algn="just">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Không thực hiện các quy định của pháp luật</a:t>
            </a:r>
            <a:endParaRPr b="0" i="0" sz="2000" u="none" cap="none" strike="noStrike">
              <a:solidFill>
                <a:schemeClr val="dk1"/>
              </a:solidFill>
              <a:latin typeface="Times New Roman"/>
              <a:ea typeface="Times New Roman"/>
              <a:cs typeface="Times New Roman"/>
              <a:sym typeface="Times New Roman"/>
            </a:endParaRPr>
          </a:p>
          <a:p>
            <a:pPr indent="-127000" lvl="0" marL="0" marR="0" rtl="0" algn="just">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Thực hiện ko đúng các quy định của pháp luật</a:t>
            </a:r>
            <a:endParaRPr b="0" i="0" sz="2000" u="none" cap="none" strike="noStrike">
              <a:solidFill>
                <a:schemeClr val="dk1"/>
              </a:solidFill>
              <a:latin typeface="Times New Roman"/>
              <a:ea typeface="Times New Roman"/>
              <a:cs typeface="Times New Roman"/>
              <a:sym typeface="Times New Roman"/>
            </a:endParaRPr>
          </a:p>
          <a:p>
            <a:pPr indent="-127000" lvl="0" marL="0" marR="0" rtl="0" algn="just">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Thực hiện những quy định cấm của pháp luật</a:t>
            </a:r>
            <a:endParaRPr b="0" i="0" sz="2000" u="none" cap="none" strike="noStrike">
              <a:solidFill>
                <a:schemeClr val="dk1"/>
              </a:solidFill>
              <a:latin typeface="Times New Roman"/>
              <a:ea typeface="Times New Roman"/>
              <a:cs typeface="Times New Roman"/>
              <a:sym typeface="Times New Roman"/>
            </a:endParaRPr>
          </a:p>
        </p:txBody>
      </p:sp>
      <p:sp>
        <p:nvSpPr>
          <p:cNvPr id="2192" name="Google Shape;2192;p138"/>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193" name="Google Shape;2193;p13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194" name="Google Shape;2194;p138"/>
          <p:cNvSpPr/>
          <p:nvPr/>
        </p:nvSpPr>
        <p:spPr>
          <a:xfrm>
            <a:off x="304800" y="1066800"/>
            <a:ext cx="335059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4.9.1	Khái niệm VPPL</a:t>
            </a:r>
            <a:endParaRPr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89"/>
                                        </p:tgtEl>
                                        <p:attrNameLst>
                                          <p:attrName>style.visibility</p:attrName>
                                        </p:attrNameLst>
                                      </p:cBhvr>
                                      <p:to>
                                        <p:strVal val="visible"/>
                                      </p:to>
                                    </p:set>
                                    <p:anim calcmode="lin" valueType="num">
                                      <p:cBhvr additive="base">
                                        <p:cTn dur="500"/>
                                        <p:tgtEl>
                                          <p:spTgt spid="21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gtEl>
                                        <p:attrNameLst>
                                          <p:attrName>style.visibility</p:attrName>
                                        </p:attrNameLst>
                                      </p:cBhvr>
                                      <p:to>
                                        <p:strVal val="visible"/>
                                      </p:to>
                                    </p:set>
                                    <p:animEffect filter="fade" transition="in">
                                      <p:cBhvr>
                                        <p:cTn dur="2000"/>
                                        <p:tgtEl>
                                          <p:spTgt spid="2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8" name="Shape 2198"/>
        <p:cNvGrpSpPr/>
        <p:nvPr/>
      </p:nvGrpSpPr>
      <p:grpSpPr>
        <a:xfrm>
          <a:off x="0" y="0"/>
          <a:ext cx="0" cy="0"/>
          <a:chOff x="0" y="0"/>
          <a:chExt cx="0" cy="0"/>
        </a:xfrm>
      </p:grpSpPr>
      <p:sp>
        <p:nvSpPr>
          <p:cNvPr id="2199" name="Google Shape;2199;p139"/>
          <p:cNvSpPr txBox="1"/>
          <p:nvPr>
            <p:ph type="title"/>
          </p:nvPr>
        </p:nvSpPr>
        <p:spPr>
          <a:xfrm>
            <a:off x="1435608" y="274638"/>
            <a:ext cx="7498080"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Times New Roman"/>
              <a:buNone/>
            </a:pPr>
            <a:r>
              <a:rPr lang="en-US" sz="3200">
                <a:solidFill>
                  <a:schemeClr val="dk1"/>
                </a:solidFill>
                <a:latin typeface="Times New Roman"/>
                <a:ea typeface="Times New Roman"/>
                <a:cs typeface="Times New Roman"/>
                <a:sym typeface="Times New Roman"/>
              </a:rPr>
              <a:t>Các dấu hiệu của VPPL</a:t>
            </a:r>
            <a:endParaRPr sz="3200">
              <a:solidFill>
                <a:schemeClr val="dk1"/>
              </a:solidFill>
              <a:latin typeface="Times New Roman"/>
              <a:ea typeface="Times New Roman"/>
              <a:cs typeface="Times New Roman"/>
              <a:sym typeface="Times New Roman"/>
            </a:endParaRPr>
          </a:p>
        </p:txBody>
      </p:sp>
      <p:sp>
        <p:nvSpPr>
          <p:cNvPr id="2200" name="Google Shape;2200;p139"/>
          <p:cNvSpPr/>
          <p:nvPr/>
        </p:nvSpPr>
        <p:spPr>
          <a:xfrm>
            <a:off x="457200" y="2242605"/>
            <a:ext cx="1179994" cy="2982389"/>
          </a:xfrm>
          <a:prstGeom prst="ellipse">
            <a:avLst/>
          </a:prstGeom>
          <a:gradFill>
            <a:gsLst>
              <a:gs pos="0">
                <a:srgbClr val="C7D7FF"/>
              </a:gs>
              <a:gs pos="30000">
                <a:srgbClr val="C2D7FF"/>
              </a:gs>
              <a:gs pos="75000">
                <a:srgbClr val="A2C0FF"/>
              </a:gs>
              <a:gs pos="100000">
                <a:srgbClr val="81ACFF"/>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Arial"/>
                <a:ea typeface="Arial"/>
                <a:cs typeface="Arial"/>
                <a:sym typeface="Arial"/>
              </a:rPr>
              <a:t>Hành vi</a:t>
            </a:r>
            <a:endParaRPr sz="1800">
              <a:solidFill>
                <a:schemeClr val="dk1"/>
              </a:solidFill>
              <a:latin typeface="Arial"/>
              <a:ea typeface="Arial"/>
              <a:cs typeface="Arial"/>
              <a:sym typeface="Arial"/>
            </a:endParaRPr>
          </a:p>
        </p:txBody>
      </p:sp>
      <p:sp>
        <p:nvSpPr>
          <p:cNvPr id="2201" name="Google Shape;2201;p139"/>
          <p:cNvSpPr/>
          <p:nvPr/>
        </p:nvSpPr>
        <p:spPr>
          <a:xfrm>
            <a:off x="1718976" y="3529343"/>
            <a:ext cx="408914" cy="408914"/>
          </a:xfrm>
          <a:prstGeom prst="mathPlus">
            <a:avLst>
              <a:gd fmla="val 23520" name="adj1"/>
            </a:avLst>
          </a:prstGeom>
          <a:gradFill>
            <a:gsLst>
              <a:gs pos="0">
                <a:srgbClr val="C7D7FF"/>
              </a:gs>
              <a:gs pos="30000">
                <a:srgbClr val="C2D7FF"/>
              </a:gs>
              <a:gs pos="75000">
                <a:srgbClr val="A2C0FF"/>
              </a:gs>
              <a:gs pos="100000">
                <a:srgbClr val="81ACFF"/>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sz="1800">
              <a:solidFill>
                <a:schemeClr val="dk1"/>
              </a:solidFill>
              <a:latin typeface="Arial"/>
              <a:ea typeface="Arial"/>
              <a:cs typeface="Arial"/>
              <a:sym typeface="Arial"/>
            </a:endParaRPr>
          </a:p>
        </p:txBody>
      </p:sp>
      <p:sp>
        <p:nvSpPr>
          <p:cNvPr id="2202" name="Google Shape;2202;p139"/>
          <p:cNvSpPr/>
          <p:nvPr/>
        </p:nvSpPr>
        <p:spPr>
          <a:xfrm>
            <a:off x="2209672" y="2194668"/>
            <a:ext cx="1474560" cy="3078263"/>
          </a:xfrm>
          <a:prstGeom prst="ellipse">
            <a:avLst/>
          </a:prstGeom>
          <a:gradFill>
            <a:gsLst>
              <a:gs pos="0">
                <a:srgbClr val="F9C3C0"/>
              </a:gs>
              <a:gs pos="30000">
                <a:srgbClr val="FABBB8"/>
              </a:gs>
              <a:gs pos="75000">
                <a:srgbClr val="F79693"/>
              </a:gs>
              <a:gs pos="100000">
                <a:srgbClr val="F96F67"/>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Arial"/>
                <a:ea typeface="Arial"/>
                <a:cs typeface="Arial"/>
                <a:sym typeface="Arial"/>
              </a:rPr>
              <a:t>Trái pháp luật</a:t>
            </a:r>
            <a:endParaRPr sz="1800">
              <a:solidFill>
                <a:schemeClr val="dk1"/>
              </a:solidFill>
              <a:latin typeface="Arial"/>
              <a:ea typeface="Arial"/>
              <a:cs typeface="Arial"/>
              <a:sym typeface="Arial"/>
            </a:endParaRPr>
          </a:p>
        </p:txBody>
      </p:sp>
      <p:sp>
        <p:nvSpPr>
          <p:cNvPr id="2203" name="Google Shape;2203;p139"/>
          <p:cNvSpPr/>
          <p:nvPr/>
        </p:nvSpPr>
        <p:spPr>
          <a:xfrm>
            <a:off x="3766014" y="3529343"/>
            <a:ext cx="408914" cy="408914"/>
          </a:xfrm>
          <a:prstGeom prst="mathPlus">
            <a:avLst>
              <a:gd fmla="val 23520" name="adj1"/>
            </a:avLst>
          </a:prstGeom>
          <a:gradFill>
            <a:gsLst>
              <a:gs pos="0">
                <a:srgbClr val="F9C3C0"/>
              </a:gs>
              <a:gs pos="30000">
                <a:srgbClr val="FABBB8"/>
              </a:gs>
              <a:gs pos="75000">
                <a:srgbClr val="F79693"/>
              </a:gs>
              <a:gs pos="100000">
                <a:srgbClr val="F96F67"/>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sz="1800">
              <a:solidFill>
                <a:schemeClr val="dk1"/>
              </a:solidFill>
              <a:latin typeface="Arial"/>
              <a:ea typeface="Arial"/>
              <a:cs typeface="Arial"/>
              <a:sym typeface="Arial"/>
            </a:endParaRPr>
          </a:p>
        </p:txBody>
      </p:sp>
      <p:sp>
        <p:nvSpPr>
          <p:cNvPr id="2204" name="Google Shape;2204;p139"/>
          <p:cNvSpPr/>
          <p:nvPr/>
        </p:nvSpPr>
        <p:spPr>
          <a:xfrm>
            <a:off x="4256710" y="2145132"/>
            <a:ext cx="1193644" cy="3177335"/>
          </a:xfrm>
          <a:prstGeom prst="ellipse">
            <a:avLst/>
          </a:prstGeom>
          <a:gradFill>
            <a:gsLst>
              <a:gs pos="0">
                <a:srgbClr val="C7D7FF"/>
              </a:gs>
              <a:gs pos="30000">
                <a:srgbClr val="C2D7FF"/>
              </a:gs>
              <a:gs pos="75000">
                <a:srgbClr val="A2C0FF"/>
              </a:gs>
              <a:gs pos="100000">
                <a:srgbClr val="81ACFF"/>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Arial"/>
                <a:ea typeface="Arial"/>
                <a:cs typeface="Arial"/>
                <a:sym typeface="Arial"/>
              </a:rPr>
              <a:t>Lỗi</a:t>
            </a:r>
            <a:endParaRPr sz="1800">
              <a:solidFill>
                <a:schemeClr val="dk1"/>
              </a:solidFill>
              <a:latin typeface="Arial"/>
              <a:ea typeface="Arial"/>
              <a:cs typeface="Arial"/>
              <a:sym typeface="Arial"/>
            </a:endParaRPr>
          </a:p>
        </p:txBody>
      </p:sp>
      <p:sp>
        <p:nvSpPr>
          <p:cNvPr id="2205" name="Google Shape;2205;p139"/>
          <p:cNvSpPr/>
          <p:nvPr/>
        </p:nvSpPr>
        <p:spPr>
          <a:xfrm>
            <a:off x="5532136" y="3529343"/>
            <a:ext cx="408914" cy="408914"/>
          </a:xfrm>
          <a:prstGeom prst="mathPlus">
            <a:avLst>
              <a:gd fmla="val 23520" name="adj1"/>
            </a:avLst>
          </a:prstGeom>
          <a:gradFill>
            <a:gsLst>
              <a:gs pos="0">
                <a:srgbClr val="C7D7FF"/>
              </a:gs>
              <a:gs pos="30000">
                <a:srgbClr val="C2D7FF"/>
              </a:gs>
              <a:gs pos="75000">
                <a:srgbClr val="A2C0FF"/>
              </a:gs>
              <a:gs pos="100000">
                <a:srgbClr val="81ACFF"/>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sz="1800">
              <a:solidFill>
                <a:schemeClr val="dk1"/>
              </a:solidFill>
              <a:latin typeface="Arial"/>
              <a:ea typeface="Arial"/>
              <a:cs typeface="Arial"/>
              <a:sym typeface="Arial"/>
            </a:endParaRPr>
          </a:p>
        </p:txBody>
      </p:sp>
      <p:sp>
        <p:nvSpPr>
          <p:cNvPr id="2206" name="Google Shape;2206;p139"/>
          <p:cNvSpPr/>
          <p:nvPr/>
        </p:nvSpPr>
        <p:spPr>
          <a:xfrm>
            <a:off x="6022832" y="1972840"/>
            <a:ext cx="1545842" cy="3521919"/>
          </a:xfrm>
          <a:prstGeom prst="ellipse">
            <a:avLst/>
          </a:prstGeom>
          <a:gradFill>
            <a:gsLst>
              <a:gs pos="0">
                <a:srgbClr val="F9C3C0"/>
              </a:gs>
              <a:gs pos="30000">
                <a:srgbClr val="FABBB8"/>
              </a:gs>
              <a:gs pos="75000">
                <a:srgbClr val="F79693"/>
              </a:gs>
              <a:gs pos="100000">
                <a:srgbClr val="F96F67"/>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Arial"/>
                <a:ea typeface="Arial"/>
                <a:cs typeface="Arial"/>
                <a:sym typeface="Arial"/>
              </a:rPr>
              <a:t>Chủ thể có năng lực TNPL </a:t>
            </a:r>
            <a:endParaRPr sz="1800">
              <a:solidFill>
                <a:schemeClr val="dk1"/>
              </a:solidFill>
              <a:latin typeface="Arial"/>
              <a:ea typeface="Arial"/>
              <a:cs typeface="Arial"/>
              <a:sym typeface="Arial"/>
            </a:endParaRPr>
          </a:p>
        </p:txBody>
      </p:sp>
      <p:sp>
        <p:nvSpPr>
          <p:cNvPr id="2207" name="Google Shape;2207;p139"/>
          <p:cNvSpPr/>
          <p:nvPr/>
        </p:nvSpPr>
        <p:spPr>
          <a:xfrm>
            <a:off x="7650456" y="3529343"/>
            <a:ext cx="408914" cy="408914"/>
          </a:xfrm>
          <a:prstGeom prst="mathEqual">
            <a:avLst>
              <a:gd fmla="val 23520" name="adj1"/>
              <a:gd fmla="val 11760" name="adj2"/>
            </a:avLst>
          </a:prstGeom>
          <a:gradFill>
            <a:gsLst>
              <a:gs pos="0">
                <a:srgbClr val="F9C3C0"/>
              </a:gs>
              <a:gs pos="30000">
                <a:srgbClr val="FABBB8"/>
              </a:gs>
              <a:gs pos="75000">
                <a:srgbClr val="F79693"/>
              </a:gs>
              <a:gs pos="100000">
                <a:srgbClr val="F96F67"/>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t/>
            </a:r>
            <a:endParaRPr sz="1800">
              <a:solidFill>
                <a:schemeClr val="dk1"/>
              </a:solidFill>
              <a:latin typeface="Arial"/>
              <a:ea typeface="Arial"/>
              <a:cs typeface="Arial"/>
              <a:sym typeface="Arial"/>
            </a:endParaRPr>
          </a:p>
        </p:txBody>
      </p:sp>
      <p:sp>
        <p:nvSpPr>
          <p:cNvPr id="2208" name="Google Shape;2208;p139"/>
          <p:cNvSpPr/>
          <p:nvPr/>
        </p:nvSpPr>
        <p:spPr>
          <a:xfrm>
            <a:off x="8141152" y="2099183"/>
            <a:ext cx="1002837" cy="3269234"/>
          </a:xfrm>
          <a:prstGeom prst="ellipse">
            <a:avLst/>
          </a:prstGeom>
          <a:gradFill>
            <a:gsLst>
              <a:gs pos="0">
                <a:srgbClr val="C7D7FF"/>
              </a:gs>
              <a:gs pos="30000">
                <a:srgbClr val="C2D7FF"/>
              </a:gs>
              <a:gs pos="75000">
                <a:srgbClr val="A2C0FF"/>
              </a:gs>
              <a:gs pos="100000">
                <a:srgbClr val="81ACFF"/>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Arial"/>
                <a:ea typeface="Arial"/>
                <a:cs typeface="Arial"/>
                <a:sym typeface="Arial"/>
              </a:rPr>
              <a:t>VPPL</a:t>
            </a:r>
            <a:endParaRPr sz="1800">
              <a:solidFill>
                <a:schemeClr val="dk1"/>
              </a:solidFill>
              <a:latin typeface="Arial"/>
              <a:ea typeface="Arial"/>
              <a:cs typeface="Arial"/>
              <a:sym typeface="Arial"/>
            </a:endParaRPr>
          </a:p>
        </p:txBody>
      </p:sp>
      <p:sp>
        <p:nvSpPr>
          <p:cNvPr id="2209" name="Google Shape;2209;p139"/>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10" name="Google Shape;2210;p13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9"/>
                                        </p:tgtEl>
                                        <p:attrNameLst>
                                          <p:attrName>style.visibility</p:attrName>
                                        </p:attrNameLst>
                                      </p:cBhvr>
                                      <p:to>
                                        <p:strVal val="visible"/>
                                      </p:to>
                                    </p:set>
                                    <p:animEffect filter="fade" transition="in">
                                      <p:cBhvr>
                                        <p:cTn dur="500"/>
                                        <p:tgtEl>
                                          <p:spTgt spid="2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4" name="Shape 2214"/>
        <p:cNvGrpSpPr/>
        <p:nvPr/>
      </p:nvGrpSpPr>
      <p:grpSpPr>
        <a:xfrm>
          <a:off x="0" y="0"/>
          <a:ext cx="0" cy="0"/>
          <a:chOff x="0" y="0"/>
          <a:chExt cx="0" cy="0"/>
        </a:xfrm>
      </p:grpSpPr>
      <p:sp>
        <p:nvSpPr>
          <p:cNvPr id="2215" name="Google Shape;2215;p140"/>
          <p:cNvSpPr txBox="1"/>
          <p:nvPr>
            <p:ph type="title"/>
          </p:nvPr>
        </p:nvSpPr>
        <p:spPr>
          <a:xfrm>
            <a:off x="1435608" y="274638"/>
            <a:ext cx="7498080" cy="4111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800"/>
              <a:buFont typeface="Times New Roman"/>
              <a:buNone/>
            </a:pPr>
            <a:r>
              <a:rPr b="1" lang="en-US" sz="2800">
                <a:solidFill>
                  <a:schemeClr val="dk1"/>
                </a:solidFill>
                <a:latin typeface="Times New Roman"/>
                <a:ea typeface="Times New Roman"/>
                <a:cs typeface="Times New Roman"/>
                <a:sym typeface="Times New Roman"/>
              </a:rPr>
              <a:t>4.9.2	Các yếu tố cấu thành VPPL</a:t>
            </a:r>
            <a:endParaRPr b="1" sz="2800">
              <a:solidFill>
                <a:schemeClr val="dk1"/>
              </a:solidFill>
              <a:latin typeface="Times New Roman"/>
              <a:ea typeface="Times New Roman"/>
              <a:cs typeface="Times New Roman"/>
              <a:sym typeface="Times New Roman"/>
            </a:endParaRPr>
          </a:p>
        </p:txBody>
      </p:sp>
      <p:sp>
        <p:nvSpPr>
          <p:cNvPr id="2216" name="Google Shape;2216;p140"/>
          <p:cNvSpPr/>
          <p:nvPr/>
        </p:nvSpPr>
        <p:spPr>
          <a:xfrm>
            <a:off x="457200" y="914400"/>
            <a:ext cx="8229600" cy="5715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Vi phạm pháp luật</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Mặt khách quan</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Mặt chủ quan</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Chủ thể</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Khách thể</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17" name="Google Shape;2217;p140"/>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18" name="Google Shape;2218;p14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5"/>
                                        </p:tgtEl>
                                        <p:attrNameLst>
                                          <p:attrName>style.visibility</p:attrName>
                                        </p:attrNameLst>
                                      </p:cBhvr>
                                      <p:to>
                                        <p:strVal val="visible"/>
                                      </p:to>
                                    </p:set>
                                    <p:animEffect filter="fade" transition="in">
                                      <p:cBhvr>
                                        <p:cTn dur="500"/>
                                        <p:tgtEl>
                                          <p:spTgt spid="2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2" name="Shape 2222"/>
        <p:cNvGrpSpPr/>
        <p:nvPr/>
      </p:nvGrpSpPr>
      <p:grpSpPr>
        <a:xfrm>
          <a:off x="0" y="0"/>
          <a:ext cx="0" cy="0"/>
          <a:chOff x="0" y="0"/>
          <a:chExt cx="0" cy="0"/>
        </a:xfrm>
      </p:grpSpPr>
      <p:sp>
        <p:nvSpPr>
          <p:cNvPr id="2223" name="Google Shape;2223;p141"/>
          <p:cNvSpPr txBox="1"/>
          <p:nvPr>
            <p:ph type="title"/>
          </p:nvPr>
        </p:nvSpPr>
        <p:spPr>
          <a:xfrm>
            <a:off x="1435608" y="0"/>
            <a:ext cx="7498080" cy="141763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2800"/>
              <a:buFont typeface="Times New Roman"/>
              <a:buNone/>
            </a:pPr>
            <a:r>
              <a:rPr lang="en-US" sz="2800">
                <a:latin typeface="Times New Roman"/>
                <a:ea typeface="Times New Roman"/>
                <a:cs typeface="Times New Roman"/>
                <a:sym typeface="Times New Roman"/>
              </a:rPr>
              <a:t>Mặt khách quan của VPPL</a:t>
            </a:r>
            <a:br>
              <a:rPr lang="en-US" sz="2800">
                <a:latin typeface="Times New Roman"/>
                <a:ea typeface="Times New Roman"/>
                <a:cs typeface="Times New Roman"/>
                <a:sym typeface="Times New Roman"/>
              </a:rPr>
            </a:br>
            <a:r>
              <a:rPr lang="en-US" sz="2000">
                <a:solidFill>
                  <a:srgbClr val="FF0000"/>
                </a:solidFill>
                <a:latin typeface="Times New Roman"/>
                <a:ea typeface="Times New Roman"/>
                <a:cs typeface="Times New Roman"/>
                <a:sym typeface="Times New Roman"/>
              </a:rPr>
              <a:t>Là những </a:t>
            </a:r>
            <a:r>
              <a:rPr lang="en-US" sz="2200">
                <a:solidFill>
                  <a:srgbClr val="FF0000"/>
                </a:solidFill>
                <a:latin typeface="Times New Roman"/>
                <a:ea typeface="Times New Roman"/>
                <a:cs typeface="Times New Roman"/>
                <a:sym typeface="Times New Roman"/>
              </a:rPr>
              <a:t>biểu hiện ra bên ngoài của VPPL mà con người có thể nhận thức được bằng trực quan sinh động</a:t>
            </a:r>
            <a:endParaRPr sz="2200">
              <a:solidFill>
                <a:srgbClr val="FF0000"/>
              </a:solidFill>
              <a:latin typeface="Times New Roman"/>
              <a:ea typeface="Times New Roman"/>
              <a:cs typeface="Times New Roman"/>
              <a:sym typeface="Times New Roman"/>
            </a:endParaRPr>
          </a:p>
        </p:txBody>
      </p:sp>
      <p:sp>
        <p:nvSpPr>
          <p:cNvPr id="2224" name="Google Shape;2224;p141"/>
          <p:cNvSpPr/>
          <p:nvPr/>
        </p:nvSpPr>
        <p:spPr>
          <a:xfrm>
            <a:off x="1435100" y="1299677"/>
            <a:ext cx="2085637" cy="1460651"/>
          </a:xfrm>
          <a:prstGeom prst="roundRect">
            <a:avLst>
              <a:gd fmla="val 16667" name="adj"/>
            </a:avLst>
          </a:prstGeom>
          <a:gradFill>
            <a:gsLst>
              <a:gs pos="0">
                <a:srgbClr val="F9C3C0"/>
              </a:gs>
              <a:gs pos="30000">
                <a:srgbClr val="FABBB8"/>
              </a:gs>
              <a:gs pos="75000">
                <a:srgbClr val="F79693"/>
              </a:gs>
              <a:gs pos="100000">
                <a:srgbClr val="F96F67"/>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Times New Roman"/>
                <a:ea typeface="Times New Roman"/>
                <a:cs typeface="Times New Roman"/>
                <a:sym typeface="Times New Roman"/>
              </a:rPr>
              <a:t>1. Hành vi</a:t>
            </a:r>
            <a:endParaRPr sz="1800">
              <a:solidFill>
                <a:schemeClr val="dk1"/>
              </a:solidFill>
              <a:latin typeface="Times New Roman"/>
              <a:ea typeface="Times New Roman"/>
              <a:cs typeface="Times New Roman"/>
              <a:sym typeface="Times New Roman"/>
            </a:endParaRPr>
          </a:p>
        </p:txBody>
      </p:sp>
      <p:sp>
        <p:nvSpPr>
          <p:cNvPr id="2225" name="Google Shape;2225;p141"/>
          <p:cNvSpPr/>
          <p:nvPr/>
        </p:nvSpPr>
        <p:spPr>
          <a:xfrm rot="5400000">
            <a:off x="3833230" y="987184"/>
            <a:ext cx="1460651" cy="2085637"/>
          </a:xfrm>
          <a:prstGeom prst="round2SameRect">
            <a:avLst>
              <a:gd fmla="val 16667" name="adj1"/>
              <a:gd fmla="val 0" name="adj2"/>
            </a:avLst>
          </a:prstGeom>
          <a:solidFill>
            <a:srgbClr val="E4CBCA">
              <a:alpha val="89803"/>
            </a:srgbClr>
          </a:solidFill>
          <a:ln cap="flat" cmpd="sng" w="12700">
            <a:solidFill>
              <a:srgbClr val="C6A7A5">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141"/>
          <p:cNvSpPr txBox="1"/>
          <p:nvPr/>
        </p:nvSpPr>
        <p:spPr>
          <a:xfrm>
            <a:off x="3520732" y="1370971"/>
            <a:ext cx="2014334" cy="1318045"/>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trái pháp luật,</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thể hiện dưới dạng hành động hoặc ko hành động,</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gây thiệt hại hoặc đe dọa gây thiệt hại cho xã hộii</a:t>
            </a:r>
            <a:endParaRPr b="0" i="0" sz="1800" u="none" cap="none" strike="noStrike">
              <a:solidFill>
                <a:schemeClr val="dk1"/>
              </a:solidFill>
              <a:latin typeface="Times New Roman"/>
              <a:ea typeface="Times New Roman"/>
              <a:cs typeface="Times New Roman"/>
              <a:sym typeface="Times New Roman"/>
            </a:endParaRPr>
          </a:p>
        </p:txBody>
      </p:sp>
      <p:sp>
        <p:nvSpPr>
          <p:cNvPr id="2227" name="Google Shape;2227;p141"/>
          <p:cNvSpPr/>
          <p:nvPr/>
        </p:nvSpPr>
        <p:spPr>
          <a:xfrm>
            <a:off x="1435100" y="2496008"/>
            <a:ext cx="2085637" cy="1746116"/>
          </a:xfrm>
          <a:prstGeom prst="roundRect">
            <a:avLst>
              <a:gd fmla="val 16667" name="adj"/>
            </a:avLst>
          </a:prstGeom>
          <a:gradFill>
            <a:gsLst>
              <a:gs pos="0">
                <a:srgbClr val="FFFBB2"/>
              </a:gs>
              <a:gs pos="30000">
                <a:srgbClr val="FFFAA9"/>
              </a:gs>
              <a:gs pos="75000">
                <a:srgbClr val="FFFA7D"/>
              </a:gs>
              <a:gs pos="100000">
                <a:srgbClr val="FFFE4B"/>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Times New Roman"/>
                <a:ea typeface="Times New Roman"/>
                <a:cs typeface="Times New Roman"/>
                <a:sym typeface="Times New Roman"/>
              </a:rPr>
              <a:t>2. Hậu quả</a:t>
            </a:r>
            <a:endParaRPr sz="1800">
              <a:solidFill>
                <a:schemeClr val="dk1"/>
              </a:solidFill>
              <a:latin typeface="Times New Roman"/>
              <a:ea typeface="Times New Roman"/>
              <a:cs typeface="Times New Roman"/>
              <a:sym typeface="Times New Roman"/>
            </a:endParaRPr>
          </a:p>
        </p:txBody>
      </p:sp>
      <p:sp>
        <p:nvSpPr>
          <p:cNvPr id="2228" name="Google Shape;2228;p141"/>
          <p:cNvSpPr/>
          <p:nvPr/>
        </p:nvSpPr>
        <p:spPr>
          <a:xfrm rot="5400000">
            <a:off x="3690497" y="2326248"/>
            <a:ext cx="1746116" cy="2085637"/>
          </a:xfrm>
          <a:prstGeom prst="round2SameRect">
            <a:avLst>
              <a:gd fmla="val 16667" name="adj1"/>
              <a:gd fmla="val 0" name="adj2"/>
            </a:avLst>
          </a:prstGeom>
          <a:solidFill>
            <a:srgbClr val="FBEDCC">
              <a:alpha val="89803"/>
            </a:srgbClr>
          </a:solidFill>
          <a:ln cap="flat" cmpd="sng" w="12700">
            <a:solidFill>
              <a:srgbClr val="DFCDA3">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41"/>
          <p:cNvSpPr txBox="1"/>
          <p:nvPr/>
        </p:nvSpPr>
        <p:spPr>
          <a:xfrm>
            <a:off x="3520714" y="2581224"/>
            <a:ext cx="2000399" cy="1575639"/>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sự thiệt hại cho xã hội: là những tổn thất thực tế về mặt vật chất, tinh thần mà xã hội phải gánh chịu</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hoặc nguy cơ tất yếu xảy ra thiệt hại về vật chất hoặc tinh thần nếu hành vi trái pháp luật ko được ngăn chặn kịp thời</a:t>
            </a:r>
            <a:endParaRPr b="0" i="0" sz="1800" u="none" cap="none" strike="noStrike">
              <a:solidFill>
                <a:schemeClr val="dk1"/>
              </a:solidFill>
              <a:latin typeface="Times New Roman"/>
              <a:ea typeface="Times New Roman"/>
              <a:cs typeface="Times New Roman"/>
              <a:sym typeface="Times New Roman"/>
            </a:endParaRPr>
          </a:p>
        </p:txBody>
      </p:sp>
      <p:sp>
        <p:nvSpPr>
          <p:cNvPr id="2230" name="Google Shape;2230;p141"/>
          <p:cNvSpPr/>
          <p:nvPr/>
        </p:nvSpPr>
        <p:spPr>
          <a:xfrm>
            <a:off x="1435100" y="4125928"/>
            <a:ext cx="2085637" cy="1164404"/>
          </a:xfrm>
          <a:prstGeom prst="roundRect">
            <a:avLst>
              <a:gd fmla="val 16667" name="adj"/>
            </a:avLst>
          </a:prstGeom>
          <a:gradFill>
            <a:gsLst>
              <a:gs pos="0">
                <a:srgbClr val="F9C3C0"/>
              </a:gs>
              <a:gs pos="30000">
                <a:srgbClr val="FABBB8"/>
              </a:gs>
              <a:gs pos="75000">
                <a:srgbClr val="F79693"/>
              </a:gs>
              <a:gs pos="100000">
                <a:srgbClr val="F96F67"/>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Times New Roman"/>
                <a:ea typeface="Times New Roman"/>
                <a:cs typeface="Times New Roman"/>
                <a:sym typeface="Times New Roman"/>
              </a:rPr>
              <a:t>3. Quan hệ nhân quả giữa hành vi và hậu quả</a:t>
            </a:r>
            <a:endParaRPr sz="1800">
              <a:solidFill>
                <a:schemeClr val="dk1"/>
              </a:solidFill>
              <a:latin typeface="Times New Roman"/>
              <a:ea typeface="Times New Roman"/>
              <a:cs typeface="Times New Roman"/>
              <a:sym typeface="Times New Roman"/>
            </a:endParaRPr>
          </a:p>
        </p:txBody>
      </p:sp>
      <p:sp>
        <p:nvSpPr>
          <p:cNvPr id="2231" name="Google Shape;2231;p141"/>
          <p:cNvSpPr/>
          <p:nvPr/>
        </p:nvSpPr>
        <p:spPr>
          <a:xfrm rot="5400000">
            <a:off x="3981353" y="3665312"/>
            <a:ext cx="1164404" cy="2085637"/>
          </a:xfrm>
          <a:prstGeom prst="round2SameRect">
            <a:avLst>
              <a:gd fmla="val 16667" name="adj1"/>
              <a:gd fmla="val 0" name="adj2"/>
            </a:avLst>
          </a:prstGeom>
          <a:solidFill>
            <a:srgbClr val="E4CBCA">
              <a:alpha val="89803"/>
            </a:srgbClr>
          </a:solidFill>
          <a:ln cap="flat" cmpd="sng" w="12700">
            <a:solidFill>
              <a:srgbClr val="C6A7A5">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41"/>
          <p:cNvSpPr txBox="1"/>
          <p:nvPr/>
        </p:nvSpPr>
        <p:spPr>
          <a:xfrm>
            <a:off x="3520734" y="4182758"/>
            <a:ext cx="2028796" cy="1050721"/>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Hành vi trái pháp luật là nguyên nhân trực tiếp phát sinh hậu quả, sự thiệt hại của xã hội đóng vai trò là kết quả tất yếu</a:t>
            </a:r>
            <a:endParaRPr b="0" i="0" sz="1800" u="none" cap="none" strike="noStrike">
              <a:solidFill>
                <a:schemeClr val="dk1"/>
              </a:solidFill>
              <a:latin typeface="Times New Roman"/>
              <a:ea typeface="Times New Roman"/>
              <a:cs typeface="Times New Roman"/>
              <a:sym typeface="Times New Roman"/>
            </a:endParaRPr>
          </a:p>
        </p:txBody>
      </p:sp>
      <p:sp>
        <p:nvSpPr>
          <p:cNvPr id="2233" name="Google Shape;2233;p141"/>
          <p:cNvSpPr/>
          <p:nvPr/>
        </p:nvSpPr>
        <p:spPr>
          <a:xfrm>
            <a:off x="1435100" y="5671039"/>
            <a:ext cx="5880832" cy="752309"/>
          </a:xfrm>
          <a:prstGeom prst="roundRect">
            <a:avLst>
              <a:gd fmla="val 16667" name="adj"/>
            </a:avLst>
          </a:prstGeom>
          <a:gradFill>
            <a:gsLst>
              <a:gs pos="0">
                <a:srgbClr val="FFFBB2"/>
              </a:gs>
              <a:gs pos="30000">
                <a:srgbClr val="FFFAA9"/>
              </a:gs>
              <a:gs pos="75000">
                <a:srgbClr val="FFFA7D"/>
              </a:gs>
              <a:gs pos="100000">
                <a:srgbClr val="FFFE4B"/>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Times New Roman"/>
                <a:ea typeface="Times New Roman"/>
                <a:cs typeface="Times New Roman"/>
                <a:sym typeface="Times New Roman"/>
              </a:rPr>
              <a:t>Ngoài ra: thời gian, địa điểm thực hiện hành vi vi phạm, công cụ thực hiện hành vi vi phạm, phương tiện thực hiện hành vi vi phạm…</a:t>
            </a:r>
            <a:endParaRPr sz="1800">
              <a:solidFill>
                <a:schemeClr val="dk1"/>
              </a:solidFill>
              <a:latin typeface="Times New Roman"/>
              <a:ea typeface="Times New Roman"/>
              <a:cs typeface="Times New Roman"/>
              <a:sym typeface="Times New Roman"/>
            </a:endParaRPr>
          </a:p>
        </p:txBody>
      </p:sp>
      <p:sp>
        <p:nvSpPr>
          <p:cNvPr id="2234" name="Google Shape;2234;p141"/>
          <p:cNvSpPr txBox="1"/>
          <p:nvPr>
            <p:ph idx="11" type="ftr"/>
          </p:nvPr>
        </p:nvSpPr>
        <p:spPr>
          <a:xfrm rot="5400000">
            <a:off x="7229660" y="1548580"/>
            <a:ext cx="34629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35" name="Google Shape;2235;p14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3"/>
                                        </p:tgtEl>
                                        <p:attrNameLst>
                                          <p:attrName>style.visibility</p:attrName>
                                        </p:attrNameLst>
                                      </p:cBhvr>
                                      <p:to>
                                        <p:strVal val="visible"/>
                                      </p:to>
                                    </p:set>
                                    <p:animEffect filter="fade" transition="in">
                                      <p:cBhvr>
                                        <p:cTn dur="500"/>
                                        <p:tgtEl>
                                          <p:spTgt spid="2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3"/>
                                        </p:tgtEl>
                                        <p:attrNameLst>
                                          <p:attrName>style.visibility</p:attrName>
                                        </p:attrNameLst>
                                      </p:cBhvr>
                                      <p:to>
                                        <p:strVal val="visible"/>
                                      </p:to>
                                    </p:set>
                                    <p:anim calcmode="lin" valueType="num">
                                      <p:cBhvr additive="base">
                                        <p:cTn dur="500"/>
                                        <p:tgtEl>
                                          <p:spTgt spid="222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9" name="Shape 2239"/>
        <p:cNvGrpSpPr/>
        <p:nvPr/>
      </p:nvGrpSpPr>
      <p:grpSpPr>
        <a:xfrm>
          <a:off x="0" y="0"/>
          <a:ext cx="0" cy="0"/>
          <a:chOff x="0" y="0"/>
          <a:chExt cx="0" cy="0"/>
        </a:xfrm>
      </p:grpSpPr>
      <p:sp>
        <p:nvSpPr>
          <p:cNvPr id="2240" name="Google Shape;2240;p14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2800"/>
              <a:buFont typeface="Times New Roman"/>
              <a:buNone/>
            </a:pPr>
            <a:r>
              <a:rPr lang="en-US" sz="2800">
                <a:latin typeface="Times New Roman"/>
                <a:ea typeface="Times New Roman"/>
                <a:cs typeface="Times New Roman"/>
                <a:sym typeface="Times New Roman"/>
              </a:rPr>
              <a:t>Mặt chủ quan của VPPL</a:t>
            </a:r>
            <a:br>
              <a:rPr lang="en-US" sz="2800">
                <a:latin typeface="Times New Roman"/>
                <a:ea typeface="Times New Roman"/>
                <a:cs typeface="Times New Roman"/>
                <a:sym typeface="Times New Roman"/>
              </a:rPr>
            </a:br>
            <a:r>
              <a:rPr lang="en-US" sz="2400">
                <a:solidFill>
                  <a:srgbClr val="FF0000"/>
                </a:solidFill>
                <a:latin typeface="Times New Roman"/>
                <a:ea typeface="Times New Roman"/>
                <a:cs typeface="Times New Roman"/>
                <a:sym typeface="Times New Roman"/>
              </a:rPr>
              <a:t>là trạng thái tâm lý bên trong của chủ thể vi phạm pháp luật</a:t>
            </a:r>
            <a:endParaRPr sz="2400">
              <a:solidFill>
                <a:srgbClr val="FF0000"/>
              </a:solidFill>
              <a:latin typeface="Times New Roman"/>
              <a:ea typeface="Times New Roman"/>
              <a:cs typeface="Times New Roman"/>
              <a:sym typeface="Times New Roman"/>
            </a:endParaRPr>
          </a:p>
        </p:txBody>
      </p:sp>
      <p:sp>
        <p:nvSpPr>
          <p:cNvPr id="2241" name="Google Shape;2241;p142"/>
          <p:cNvSpPr txBox="1"/>
          <p:nvPr>
            <p:ph idx="1" type="body"/>
          </p:nvPr>
        </p:nvSpPr>
        <p:spPr>
          <a:xfrm>
            <a:off x="533400" y="1447800"/>
            <a:ext cx="8400288" cy="5181600"/>
          </a:xfrm>
          <a:prstGeom prst="rect">
            <a:avLst/>
          </a:prstGeom>
          <a:noFill/>
          <a:ln>
            <a:noFill/>
          </a:ln>
        </p:spPr>
        <p:txBody>
          <a:bodyPr anchorCtr="0" anchor="t" bIns="45700" lIns="91425" spcFirstLastPara="1" rIns="91425" wrap="square" tIns="45700">
            <a:normAutofit/>
          </a:bodyPr>
          <a:lstStyle/>
          <a:p>
            <a:pPr indent="-514350" lvl="0" marL="596646" rtl="0" algn="just">
              <a:spcBef>
                <a:spcPts val="0"/>
              </a:spcBef>
              <a:spcAft>
                <a:spcPts val="0"/>
              </a:spcAft>
              <a:buSzPts val="1400"/>
              <a:buAutoNum type="arabicPeriod"/>
            </a:pPr>
            <a:r>
              <a:rPr lang="en-US" sz="2000">
                <a:latin typeface="Times New Roman"/>
                <a:ea typeface="Times New Roman"/>
                <a:cs typeface="Times New Roman"/>
                <a:sym typeface="Times New Roman"/>
              </a:rPr>
              <a:t>Lỗi: trạng thái tâm lý phản ánh thái độ tiêu cực của chủ thể đối với hành vi trái pháp luật của mình và hậu quả do hành vi đó gây ra</a:t>
            </a:r>
            <a:endParaRPr sz="2000">
              <a:latin typeface="Times New Roman"/>
              <a:ea typeface="Times New Roman"/>
              <a:cs typeface="Times New Roman"/>
              <a:sym typeface="Times New Roman"/>
            </a:endParaRPr>
          </a:p>
          <a:p>
            <a:pPr indent="-514350" lvl="0" marL="596646" rtl="0" algn="l">
              <a:spcBef>
                <a:spcPts val="600"/>
              </a:spcBef>
              <a:spcAft>
                <a:spcPts val="0"/>
              </a:spcAft>
              <a:buSzPts val="1400"/>
              <a:buNone/>
            </a:pPr>
            <a:r>
              <a:t/>
            </a:r>
            <a:endParaRPr sz="2000">
              <a:latin typeface="Times New Roman"/>
              <a:ea typeface="Times New Roman"/>
              <a:cs typeface="Times New Roman"/>
              <a:sym typeface="Times New Roman"/>
            </a:endParaRPr>
          </a:p>
          <a:p>
            <a:pPr indent="-514350" lvl="0" marL="596646" rtl="0" algn="l">
              <a:spcBef>
                <a:spcPts val="600"/>
              </a:spcBef>
              <a:spcAft>
                <a:spcPts val="0"/>
              </a:spcAft>
              <a:buSzPts val="1400"/>
              <a:buNone/>
            </a:pPr>
            <a:r>
              <a:t/>
            </a:r>
            <a:endParaRPr sz="2000">
              <a:latin typeface="Times New Roman"/>
              <a:ea typeface="Times New Roman"/>
              <a:cs typeface="Times New Roman"/>
              <a:sym typeface="Times New Roman"/>
            </a:endParaRPr>
          </a:p>
          <a:p>
            <a:pPr indent="-514350" lvl="0" marL="596646" rtl="0" algn="l">
              <a:spcBef>
                <a:spcPts val="600"/>
              </a:spcBef>
              <a:spcAft>
                <a:spcPts val="0"/>
              </a:spcAft>
              <a:buSzPts val="1400"/>
              <a:buNone/>
            </a:pPr>
            <a:r>
              <a:t/>
            </a:r>
            <a:endParaRPr sz="2000">
              <a:latin typeface="Times New Roman"/>
              <a:ea typeface="Times New Roman"/>
              <a:cs typeface="Times New Roman"/>
              <a:sym typeface="Times New Roman"/>
            </a:endParaRPr>
          </a:p>
          <a:p>
            <a:pPr indent="-425450" lvl="0" marL="596646" rtl="0" algn="l">
              <a:spcBef>
                <a:spcPts val="600"/>
              </a:spcBef>
              <a:spcAft>
                <a:spcPts val="0"/>
              </a:spcAft>
              <a:buSzPts val="1400"/>
              <a:buNone/>
            </a:pPr>
            <a:r>
              <a:t/>
            </a:r>
            <a:endParaRPr sz="2000">
              <a:latin typeface="Times New Roman"/>
              <a:ea typeface="Times New Roman"/>
              <a:cs typeface="Times New Roman"/>
              <a:sym typeface="Times New Roman"/>
            </a:endParaRPr>
          </a:p>
          <a:p>
            <a:pPr indent="-425450" lvl="0" marL="596646" rtl="0" algn="l">
              <a:spcBef>
                <a:spcPts val="600"/>
              </a:spcBef>
              <a:spcAft>
                <a:spcPts val="0"/>
              </a:spcAft>
              <a:buSzPts val="1400"/>
              <a:buNone/>
            </a:pPr>
            <a:r>
              <a:t/>
            </a:r>
            <a:endParaRPr sz="2000">
              <a:latin typeface="Times New Roman"/>
              <a:ea typeface="Times New Roman"/>
              <a:cs typeface="Times New Roman"/>
              <a:sym typeface="Times New Roman"/>
            </a:endParaRPr>
          </a:p>
          <a:p>
            <a:pPr indent="-425450" lvl="0" marL="596646" rtl="0" algn="l">
              <a:spcBef>
                <a:spcPts val="600"/>
              </a:spcBef>
              <a:spcAft>
                <a:spcPts val="0"/>
              </a:spcAft>
              <a:buSzPts val="1400"/>
              <a:buNone/>
            </a:pPr>
            <a:r>
              <a:t/>
            </a:r>
            <a:endParaRPr sz="2000">
              <a:latin typeface="Times New Roman"/>
              <a:ea typeface="Times New Roman"/>
              <a:cs typeface="Times New Roman"/>
              <a:sym typeface="Times New Roman"/>
            </a:endParaRPr>
          </a:p>
          <a:p>
            <a:pPr indent="-425450" lvl="0" marL="596646" rtl="0" algn="l">
              <a:spcBef>
                <a:spcPts val="600"/>
              </a:spcBef>
              <a:spcAft>
                <a:spcPts val="0"/>
              </a:spcAft>
              <a:buSzPts val="1400"/>
              <a:buNone/>
            </a:pPr>
            <a:r>
              <a:t/>
            </a:r>
            <a:endParaRPr sz="2000">
              <a:latin typeface="Times New Roman"/>
              <a:ea typeface="Times New Roman"/>
              <a:cs typeface="Times New Roman"/>
              <a:sym typeface="Times New Roman"/>
            </a:endParaRPr>
          </a:p>
          <a:p>
            <a:pPr indent="-514350" lvl="0" marL="596646" rtl="0" algn="l">
              <a:spcBef>
                <a:spcPts val="600"/>
              </a:spcBef>
              <a:spcAft>
                <a:spcPts val="0"/>
              </a:spcAft>
              <a:buSzPts val="1400"/>
              <a:buNone/>
            </a:pPr>
            <a:r>
              <a:t/>
            </a:r>
            <a:endParaRPr sz="2000">
              <a:latin typeface="Times New Roman"/>
              <a:ea typeface="Times New Roman"/>
              <a:cs typeface="Times New Roman"/>
              <a:sym typeface="Times New Roman"/>
            </a:endParaRPr>
          </a:p>
          <a:p>
            <a:pPr indent="-514350" lvl="0" marL="596646" rtl="0" algn="just">
              <a:spcBef>
                <a:spcPts val="600"/>
              </a:spcBef>
              <a:spcAft>
                <a:spcPts val="0"/>
              </a:spcAft>
              <a:buSzPts val="1400"/>
              <a:buNone/>
            </a:pPr>
            <a:r>
              <a:rPr lang="en-US" sz="2000">
                <a:latin typeface="Times New Roman"/>
                <a:ea typeface="Times New Roman"/>
                <a:cs typeface="Times New Roman"/>
                <a:sym typeface="Times New Roman"/>
              </a:rPr>
              <a:t>2.	</a:t>
            </a:r>
            <a:r>
              <a:rPr lang="en-US" sz="2000">
                <a:solidFill>
                  <a:srgbClr val="FF0000"/>
                </a:solidFill>
                <a:latin typeface="Times New Roman"/>
                <a:ea typeface="Times New Roman"/>
                <a:cs typeface="Times New Roman"/>
                <a:sym typeface="Times New Roman"/>
              </a:rPr>
              <a:t> Động cơ: </a:t>
            </a:r>
            <a:r>
              <a:rPr lang="en-US" sz="2000">
                <a:latin typeface="Times New Roman"/>
                <a:ea typeface="Times New Roman"/>
                <a:cs typeface="Times New Roman"/>
                <a:sym typeface="Times New Roman"/>
              </a:rPr>
              <a:t>nguyên nhân bên trong thôi thúc chủ thể thực hiện hành vi vi phạm pháp luật</a:t>
            </a:r>
            <a:endParaRPr sz="2000">
              <a:latin typeface="Times New Roman"/>
              <a:ea typeface="Times New Roman"/>
              <a:cs typeface="Times New Roman"/>
              <a:sym typeface="Times New Roman"/>
            </a:endParaRPr>
          </a:p>
          <a:p>
            <a:pPr indent="-514350" lvl="0" marL="596646" rtl="0" algn="just">
              <a:spcBef>
                <a:spcPts val="600"/>
              </a:spcBef>
              <a:spcAft>
                <a:spcPts val="0"/>
              </a:spcAft>
              <a:buSzPts val="1400"/>
              <a:buNone/>
            </a:pPr>
            <a:r>
              <a:rPr lang="en-US" sz="2000">
                <a:latin typeface="Times New Roman"/>
                <a:ea typeface="Times New Roman"/>
                <a:cs typeface="Times New Roman"/>
                <a:sym typeface="Times New Roman"/>
              </a:rPr>
              <a:t>3.	</a:t>
            </a:r>
            <a:r>
              <a:rPr lang="en-US" sz="2000">
                <a:solidFill>
                  <a:srgbClr val="FF0000"/>
                </a:solidFill>
                <a:latin typeface="Times New Roman"/>
                <a:ea typeface="Times New Roman"/>
                <a:cs typeface="Times New Roman"/>
                <a:sym typeface="Times New Roman"/>
              </a:rPr>
              <a:t>Mục đích: </a:t>
            </a:r>
            <a:r>
              <a:rPr lang="en-US" sz="2000">
                <a:latin typeface="Times New Roman"/>
                <a:ea typeface="Times New Roman"/>
                <a:cs typeface="Times New Roman"/>
                <a:sym typeface="Times New Roman"/>
              </a:rPr>
              <a:t>kết quả cuối cùng mà chủ thể mong muốn đạt được khi thực hiện hành vi vi phạm</a:t>
            </a:r>
            <a:endParaRPr sz="2000">
              <a:latin typeface="Times New Roman"/>
              <a:ea typeface="Times New Roman"/>
              <a:cs typeface="Times New Roman"/>
              <a:sym typeface="Times New Roman"/>
            </a:endParaRPr>
          </a:p>
        </p:txBody>
      </p:sp>
      <p:sp>
        <p:nvSpPr>
          <p:cNvPr id="2242" name="Google Shape;2242;p142"/>
          <p:cNvSpPr/>
          <p:nvPr/>
        </p:nvSpPr>
        <p:spPr>
          <a:xfrm>
            <a:off x="2133600" y="2209800"/>
            <a:ext cx="6477000" cy="2743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Lỗi</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Lỗi cố ý</a:t>
            </a:r>
            <a:endParaRPr b="0" i="0" sz="1800" u="none" cap="none" strike="noStrike">
              <a:solidFill>
                <a:schemeClr val="dk1"/>
              </a:solidFill>
              <a:latin typeface="Times New Roman"/>
              <a:ea typeface="Times New Roman"/>
              <a:cs typeface="Times New Roman"/>
              <a:sym typeface="Times New Roman"/>
            </a:endParaRPr>
          </a:p>
          <a:p>
            <a:pPr indent="-114300" lvl="3" marL="3429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Cố ý trực tiếp</a:t>
            </a:r>
            <a:endParaRPr b="0" i="0" sz="1800" u="none" cap="none" strike="noStrike">
              <a:solidFill>
                <a:schemeClr val="dk1"/>
              </a:solidFill>
              <a:latin typeface="Times New Roman"/>
              <a:ea typeface="Times New Roman"/>
              <a:cs typeface="Times New Roman"/>
              <a:sym typeface="Times New Roman"/>
            </a:endParaRPr>
          </a:p>
          <a:p>
            <a:pPr indent="0" lvl="3" marL="3429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3" marL="3429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Cố ý gián tiếp</a:t>
            </a:r>
            <a:endParaRPr b="0" i="0" sz="1800" u="none" cap="none" strike="noStrike">
              <a:solidFill>
                <a:schemeClr val="dk1"/>
              </a:solidFill>
              <a:latin typeface="Times New Roman"/>
              <a:ea typeface="Times New Roman"/>
              <a:cs typeface="Times New Roman"/>
              <a:sym typeface="Times New Roman"/>
            </a:endParaRPr>
          </a:p>
          <a:p>
            <a:pPr indent="0" lvl="3" marL="3429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Lỗi vô ý</a:t>
            </a:r>
            <a:endParaRPr b="0" i="0" sz="1800" u="none" cap="none" strike="noStrike">
              <a:solidFill>
                <a:schemeClr val="dk1"/>
              </a:solidFill>
              <a:latin typeface="Times New Roman"/>
              <a:ea typeface="Times New Roman"/>
              <a:cs typeface="Times New Roman"/>
              <a:sym typeface="Times New Roman"/>
            </a:endParaRPr>
          </a:p>
          <a:p>
            <a:pPr indent="-114300" lvl="3" marL="3429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Vô ý do cẩu thả</a:t>
            </a:r>
            <a:endParaRPr b="0" i="0" sz="1800" u="none" cap="none" strike="noStrike">
              <a:solidFill>
                <a:schemeClr val="dk1"/>
              </a:solidFill>
              <a:latin typeface="Times New Roman"/>
              <a:ea typeface="Times New Roman"/>
              <a:cs typeface="Times New Roman"/>
              <a:sym typeface="Times New Roman"/>
            </a:endParaRPr>
          </a:p>
          <a:p>
            <a:pPr indent="0" lvl="3" marL="3429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3" marL="3429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Vô ý vì quá tự tin</a:t>
            </a:r>
            <a:endParaRPr b="0" i="0" sz="1800" u="none" cap="none" strike="noStrike">
              <a:solidFill>
                <a:schemeClr val="dk1"/>
              </a:solidFill>
              <a:latin typeface="Times New Roman"/>
              <a:ea typeface="Times New Roman"/>
              <a:cs typeface="Times New Roman"/>
              <a:sym typeface="Times New Roman"/>
            </a:endParaRPr>
          </a:p>
          <a:p>
            <a:pPr indent="0" lvl="3" marL="3429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3" name="Google Shape;2243;p142"/>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44" name="Google Shape;2244;p14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0"/>
                                        </p:tgtEl>
                                        <p:attrNameLst>
                                          <p:attrName>style.visibility</p:attrName>
                                        </p:attrNameLst>
                                      </p:cBhvr>
                                      <p:to>
                                        <p:strVal val="visible"/>
                                      </p:to>
                                    </p:set>
                                    <p:anim calcmode="lin" valueType="num">
                                      <p:cBhvr additive="base">
                                        <p:cTn dur="500"/>
                                        <p:tgtEl>
                                          <p:spTgt spid="224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0"/>
                                        </p:tgtEl>
                                        <p:attrNameLst>
                                          <p:attrName>style.visibility</p:attrName>
                                        </p:attrNameLst>
                                      </p:cBhvr>
                                      <p:to>
                                        <p:strVal val="visible"/>
                                      </p:to>
                                    </p:set>
                                    <p:animEffect filter="fade" transition="in">
                                      <p:cBhvr>
                                        <p:cTn dur="500"/>
                                        <p:tgtEl>
                                          <p:spTgt spid="2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0" st="0"/>
                                            </p:txEl>
                                          </p:spTgt>
                                        </p:tgtEl>
                                        <p:attrNameLst>
                                          <p:attrName>style.visibility</p:attrName>
                                        </p:attrNameLst>
                                      </p:cBhvr>
                                      <p:to>
                                        <p:strVal val="visible"/>
                                      </p:to>
                                    </p:set>
                                    <p:anim calcmode="lin" valueType="num">
                                      <p:cBhvr additive="base">
                                        <p:cTn dur="500"/>
                                        <p:tgtEl>
                                          <p:spTgt spid="224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1" st="1"/>
                                            </p:txEl>
                                          </p:spTgt>
                                        </p:tgtEl>
                                        <p:attrNameLst>
                                          <p:attrName>style.visibility</p:attrName>
                                        </p:attrNameLst>
                                      </p:cBhvr>
                                      <p:to>
                                        <p:strVal val="visible"/>
                                      </p:to>
                                    </p:set>
                                    <p:anim calcmode="lin" valueType="num">
                                      <p:cBhvr additive="base">
                                        <p:cTn dur="500"/>
                                        <p:tgtEl>
                                          <p:spTgt spid="224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2" st="2"/>
                                            </p:txEl>
                                          </p:spTgt>
                                        </p:tgtEl>
                                        <p:attrNameLst>
                                          <p:attrName>style.visibility</p:attrName>
                                        </p:attrNameLst>
                                      </p:cBhvr>
                                      <p:to>
                                        <p:strVal val="visible"/>
                                      </p:to>
                                    </p:set>
                                    <p:anim calcmode="lin" valueType="num">
                                      <p:cBhvr additive="base">
                                        <p:cTn dur="500"/>
                                        <p:tgtEl>
                                          <p:spTgt spid="224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3" st="3"/>
                                            </p:txEl>
                                          </p:spTgt>
                                        </p:tgtEl>
                                        <p:attrNameLst>
                                          <p:attrName>style.visibility</p:attrName>
                                        </p:attrNameLst>
                                      </p:cBhvr>
                                      <p:to>
                                        <p:strVal val="visible"/>
                                      </p:to>
                                    </p:set>
                                    <p:anim calcmode="lin" valueType="num">
                                      <p:cBhvr additive="base">
                                        <p:cTn dur="500"/>
                                        <p:tgtEl>
                                          <p:spTgt spid="224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4" st="4"/>
                                            </p:txEl>
                                          </p:spTgt>
                                        </p:tgtEl>
                                        <p:attrNameLst>
                                          <p:attrName>style.visibility</p:attrName>
                                        </p:attrNameLst>
                                      </p:cBhvr>
                                      <p:to>
                                        <p:strVal val="visible"/>
                                      </p:to>
                                    </p:set>
                                    <p:anim calcmode="lin" valueType="num">
                                      <p:cBhvr additive="base">
                                        <p:cTn dur="500"/>
                                        <p:tgtEl>
                                          <p:spTgt spid="224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5" st="5"/>
                                            </p:txEl>
                                          </p:spTgt>
                                        </p:tgtEl>
                                        <p:attrNameLst>
                                          <p:attrName>style.visibility</p:attrName>
                                        </p:attrNameLst>
                                      </p:cBhvr>
                                      <p:to>
                                        <p:strVal val="visible"/>
                                      </p:to>
                                    </p:set>
                                    <p:anim calcmode="lin" valueType="num">
                                      <p:cBhvr additive="base">
                                        <p:cTn dur="500"/>
                                        <p:tgtEl>
                                          <p:spTgt spid="224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6" st="6"/>
                                            </p:txEl>
                                          </p:spTgt>
                                        </p:tgtEl>
                                        <p:attrNameLst>
                                          <p:attrName>style.visibility</p:attrName>
                                        </p:attrNameLst>
                                      </p:cBhvr>
                                      <p:to>
                                        <p:strVal val="visible"/>
                                      </p:to>
                                    </p:set>
                                    <p:anim calcmode="lin" valueType="num">
                                      <p:cBhvr additive="base">
                                        <p:cTn dur="500"/>
                                        <p:tgtEl>
                                          <p:spTgt spid="224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7" st="7"/>
                                            </p:txEl>
                                          </p:spTgt>
                                        </p:tgtEl>
                                        <p:attrNameLst>
                                          <p:attrName>style.visibility</p:attrName>
                                        </p:attrNameLst>
                                      </p:cBhvr>
                                      <p:to>
                                        <p:strVal val="visible"/>
                                      </p:to>
                                    </p:set>
                                    <p:anim calcmode="lin" valueType="num">
                                      <p:cBhvr additive="base">
                                        <p:cTn dur="500"/>
                                        <p:tgtEl>
                                          <p:spTgt spid="224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8" st="8"/>
                                            </p:txEl>
                                          </p:spTgt>
                                        </p:tgtEl>
                                        <p:attrNameLst>
                                          <p:attrName>style.visibility</p:attrName>
                                        </p:attrNameLst>
                                      </p:cBhvr>
                                      <p:to>
                                        <p:strVal val="visible"/>
                                      </p:to>
                                    </p:set>
                                    <p:anim calcmode="lin" valueType="num">
                                      <p:cBhvr additive="base">
                                        <p:cTn dur="500"/>
                                        <p:tgtEl>
                                          <p:spTgt spid="224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9" st="9"/>
                                            </p:txEl>
                                          </p:spTgt>
                                        </p:tgtEl>
                                        <p:attrNameLst>
                                          <p:attrName>style.visibility</p:attrName>
                                        </p:attrNameLst>
                                      </p:cBhvr>
                                      <p:to>
                                        <p:strVal val="visible"/>
                                      </p:to>
                                    </p:set>
                                    <p:anim calcmode="lin" valueType="num">
                                      <p:cBhvr additive="base">
                                        <p:cTn dur="500"/>
                                        <p:tgtEl>
                                          <p:spTgt spid="2241">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41">
                                            <p:txEl>
                                              <p:pRg end="10" st="10"/>
                                            </p:txEl>
                                          </p:spTgt>
                                        </p:tgtEl>
                                        <p:attrNameLst>
                                          <p:attrName>style.visibility</p:attrName>
                                        </p:attrNameLst>
                                      </p:cBhvr>
                                      <p:to>
                                        <p:strVal val="visible"/>
                                      </p:to>
                                    </p:set>
                                    <p:anim calcmode="lin" valueType="num">
                                      <p:cBhvr additive="base">
                                        <p:cTn dur="500"/>
                                        <p:tgtEl>
                                          <p:spTgt spid="2241">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8" name="Shape 2248"/>
        <p:cNvGrpSpPr/>
        <p:nvPr/>
      </p:nvGrpSpPr>
      <p:grpSpPr>
        <a:xfrm>
          <a:off x="0" y="0"/>
          <a:ext cx="0" cy="0"/>
          <a:chOff x="0" y="0"/>
          <a:chExt cx="0" cy="0"/>
        </a:xfrm>
      </p:grpSpPr>
      <p:sp>
        <p:nvSpPr>
          <p:cNvPr id="2249" name="Google Shape;2249;p143"/>
          <p:cNvSpPr txBox="1"/>
          <p:nvPr>
            <p:ph type="title"/>
          </p:nvPr>
        </p:nvSpPr>
        <p:spPr>
          <a:xfrm>
            <a:off x="457200" y="152400"/>
            <a:ext cx="8229600"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Chủ thể</a:t>
            </a:r>
            <a:endParaRPr sz="3200">
              <a:solidFill>
                <a:srgbClr val="FF0000"/>
              </a:solidFill>
              <a:latin typeface="Times New Roman"/>
              <a:ea typeface="Times New Roman"/>
              <a:cs typeface="Times New Roman"/>
              <a:sym typeface="Times New Roman"/>
            </a:endParaRPr>
          </a:p>
        </p:txBody>
      </p:sp>
      <p:sp>
        <p:nvSpPr>
          <p:cNvPr id="2250" name="Google Shape;2250;p14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a:t>.</a:t>
            </a:r>
            <a:endParaRPr/>
          </a:p>
        </p:txBody>
      </p:sp>
      <p:sp>
        <p:nvSpPr>
          <p:cNvPr id="2251" name="Google Shape;2251;p143"/>
          <p:cNvSpPr/>
          <p:nvPr/>
        </p:nvSpPr>
        <p:spPr>
          <a:xfrm>
            <a:off x="1755058" y="894735"/>
            <a:ext cx="6705600" cy="1010265"/>
          </a:xfrm>
          <a:prstGeom prst="roundRect">
            <a:avLst>
              <a:gd fmla="val 16667" name="adj"/>
            </a:avLst>
          </a:prstGeom>
          <a:solidFill>
            <a:schemeClr val="lt1"/>
          </a:solid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Cá nhân + tổ chức có năng lực trách nhiệm pháp lý</a:t>
            </a:r>
            <a:endParaRPr sz="2400">
              <a:solidFill>
                <a:schemeClr val="dk1"/>
              </a:solidFill>
              <a:latin typeface="Times New Roman"/>
              <a:ea typeface="Times New Roman"/>
              <a:cs typeface="Times New Roman"/>
              <a:sym typeface="Times New Roman"/>
            </a:endParaRPr>
          </a:p>
        </p:txBody>
      </p:sp>
      <p:sp>
        <p:nvSpPr>
          <p:cNvPr id="2252" name="Google Shape;2252;p143"/>
          <p:cNvSpPr/>
          <p:nvPr/>
        </p:nvSpPr>
        <p:spPr>
          <a:xfrm>
            <a:off x="990600" y="1676400"/>
            <a:ext cx="7924800" cy="4876800"/>
          </a:xfrm>
          <a:prstGeom prst="star5">
            <a:avLst>
              <a:gd fmla="val 19098" name="adj"/>
              <a:gd fmla="val 105146" name="hf"/>
              <a:gd fmla="val 110557" name="vf"/>
            </a:avLst>
          </a:prstGeom>
          <a:solidFill>
            <a:srgbClr val="FFFF99"/>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200">
                <a:solidFill>
                  <a:schemeClr val="dk1"/>
                </a:solidFill>
                <a:latin typeface="Times New Roman"/>
                <a:ea typeface="Times New Roman"/>
                <a:cs typeface="Times New Roman"/>
                <a:sym typeface="Times New Roman"/>
              </a:rPr>
              <a:t>Năng lực trách nhiệm pháp lý là khả năng của chủ thể tự chịu trách nhiệm về hành vi của mình trước Nhà nước</a:t>
            </a:r>
            <a:endParaRPr sz="2200">
              <a:solidFill>
                <a:schemeClr val="dk1"/>
              </a:solidFill>
              <a:latin typeface="Times New Roman"/>
              <a:ea typeface="Times New Roman"/>
              <a:cs typeface="Times New Roman"/>
              <a:sym typeface="Times New Roman"/>
            </a:endParaRPr>
          </a:p>
        </p:txBody>
      </p:sp>
      <p:sp>
        <p:nvSpPr>
          <p:cNvPr id="2253" name="Google Shape;2253;p143"/>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54" name="Google Shape;2254;p14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1"/>
                                        </p:tgtEl>
                                        <p:attrNameLst>
                                          <p:attrName>style.visibility</p:attrName>
                                        </p:attrNameLst>
                                      </p:cBhvr>
                                      <p:to>
                                        <p:strVal val="visible"/>
                                      </p:to>
                                    </p:set>
                                    <p:animEffect filter="fade" transition="in">
                                      <p:cBhvr>
                                        <p:cTn dur="2000"/>
                                        <p:tgtEl>
                                          <p:spTgt spid="2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2"/>
                                        </p:tgtEl>
                                        <p:attrNameLst>
                                          <p:attrName>style.visibility</p:attrName>
                                        </p:attrNameLst>
                                      </p:cBhvr>
                                      <p:to>
                                        <p:strVal val="visible"/>
                                      </p:to>
                                    </p:set>
                                    <p:anim calcmode="lin" valueType="num">
                                      <p:cBhvr additive="base">
                                        <p:cTn dur="500"/>
                                        <p:tgtEl>
                                          <p:spTgt spid="225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8" name="Shape 2258"/>
        <p:cNvGrpSpPr/>
        <p:nvPr/>
      </p:nvGrpSpPr>
      <p:grpSpPr>
        <a:xfrm>
          <a:off x="0" y="0"/>
          <a:ext cx="0" cy="0"/>
          <a:chOff x="0" y="0"/>
          <a:chExt cx="0" cy="0"/>
        </a:xfrm>
      </p:grpSpPr>
      <p:sp>
        <p:nvSpPr>
          <p:cNvPr id="2259" name="Google Shape;2259;p144"/>
          <p:cNvSpPr txBox="1"/>
          <p:nvPr>
            <p:ph type="title"/>
          </p:nvPr>
        </p:nvSpPr>
        <p:spPr>
          <a:xfrm>
            <a:off x="457200" y="0"/>
            <a:ext cx="8229600" cy="11430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Khách thể</a:t>
            </a:r>
            <a:endParaRPr sz="3200">
              <a:solidFill>
                <a:srgbClr val="FF0000"/>
              </a:solidFill>
              <a:latin typeface="Times New Roman"/>
              <a:ea typeface="Times New Roman"/>
              <a:cs typeface="Times New Roman"/>
              <a:sym typeface="Times New Roman"/>
            </a:endParaRPr>
          </a:p>
        </p:txBody>
      </p:sp>
      <p:sp>
        <p:nvSpPr>
          <p:cNvPr id="2260" name="Google Shape;2260;p144"/>
          <p:cNvSpPr txBox="1"/>
          <p:nvPr>
            <p:ph idx="1" type="body"/>
          </p:nvPr>
        </p:nvSpPr>
        <p:spPr>
          <a:xfrm>
            <a:off x="1435608" y="1066800"/>
            <a:ext cx="7498080" cy="5181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latin typeface="Times New Roman"/>
                <a:ea typeface="Times New Roman"/>
                <a:cs typeface="Times New Roman"/>
                <a:sym typeface="Times New Roman"/>
              </a:rPr>
              <a:t>Những quan hệ xã hội được pháp luật bảo vệ nhưng bị hành vi vi phạm pháp luật xâm hại</a:t>
            </a:r>
            <a:endParaRPr sz="2400">
              <a:latin typeface="Times New Roman"/>
              <a:ea typeface="Times New Roman"/>
              <a:cs typeface="Times New Roman"/>
              <a:sym typeface="Times New Roman"/>
            </a:endParaRPr>
          </a:p>
          <a:p>
            <a:pPr indent="-274320" lvl="0" marL="274320" rtl="0" algn="l">
              <a:spcBef>
                <a:spcPts val="600"/>
              </a:spcBef>
              <a:spcAft>
                <a:spcPts val="0"/>
              </a:spcAft>
              <a:buSzPts val="1680"/>
              <a:buChar char="🞆"/>
            </a:pPr>
            <a:r>
              <a:rPr lang="en-US" sz="2400">
                <a:latin typeface="Times New Roman"/>
                <a:ea typeface="Times New Roman"/>
                <a:cs typeface="Times New Roman"/>
                <a:sym typeface="Times New Roman"/>
              </a:rPr>
              <a:t>Tính chất của khách thể bị xâm hại phản ánh mức độ nguy hiểm của hành vi vi phạm pháp luật</a:t>
            </a:r>
            <a:endParaRPr sz="2400">
              <a:latin typeface="Times New Roman"/>
              <a:ea typeface="Times New Roman"/>
              <a:cs typeface="Times New Roman"/>
              <a:sym typeface="Times New Roman"/>
            </a:endParaRPr>
          </a:p>
          <a:p>
            <a:pPr indent="-274320" lvl="0" marL="274320" rtl="0" algn="l">
              <a:spcBef>
                <a:spcPts val="600"/>
              </a:spcBef>
              <a:spcAft>
                <a:spcPts val="0"/>
              </a:spcAft>
              <a:buSzPts val="1680"/>
              <a:buNone/>
            </a:pPr>
            <a:r>
              <a:t/>
            </a:r>
            <a:endParaRPr sz="2400">
              <a:latin typeface="Times New Roman"/>
              <a:ea typeface="Times New Roman"/>
              <a:cs typeface="Times New Roman"/>
              <a:sym typeface="Times New Roman"/>
            </a:endParaRPr>
          </a:p>
        </p:txBody>
      </p:sp>
      <p:sp>
        <p:nvSpPr>
          <p:cNvPr id="2261" name="Google Shape;2261;p144"/>
          <p:cNvSpPr/>
          <p:nvPr/>
        </p:nvSpPr>
        <p:spPr>
          <a:xfrm>
            <a:off x="1600200" y="3276600"/>
            <a:ext cx="6934200" cy="2438400"/>
          </a:xfrm>
          <a:prstGeom prst="flowChartPunchedTape">
            <a:avLst/>
          </a:prstGeom>
          <a:solidFill>
            <a:srgbClr val="FFE6D6"/>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rgbClr val="FF0000"/>
                </a:solidFill>
                <a:latin typeface="Times New Roman"/>
                <a:ea typeface="Times New Roman"/>
                <a:cs typeface="Times New Roman"/>
                <a:sym typeface="Times New Roman"/>
              </a:rPr>
              <a:t>Phân biệt khách thể quan hệ pháp luật và khách thể vi phạm pháp luật</a:t>
            </a:r>
            <a:endParaRPr sz="2800">
              <a:solidFill>
                <a:srgbClr val="FF0000"/>
              </a:solidFill>
              <a:latin typeface="Times New Roman"/>
              <a:ea typeface="Times New Roman"/>
              <a:cs typeface="Times New Roman"/>
              <a:sym typeface="Times New Roman"/>
            </a:endParaRPr>
          </a:p>
        </p:txBody>
      </p:sp>
      <p:sp>
        <p:nvSpPr>
          <p:cNvPr id="2262" name="Google Shape;2262;p144"/>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63" name="Google Shape;2263;p14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9"/>
                                        </p:tgtEl>
                                        <p:attrNameLst>
                                          <p:attrName>style.visibility</p:attrName>
                                        </p:attrNameLst>
                                      </p:cBhvr>
                                      <p:to>
                                        <p:strVal val="visible"/>
                                      </p:to>
                                    </p:set>
                                    <p:animEffect filter="fade" transition="in">
                                      <p:cBhvr>
                                        <p:cTn dur="500"/>
                                        <p:tgtEl>
                                          <p:spTgt spid="2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0">
                                            <p:txEl>
                                              <p:pRg end="0" st="0"/>
                                            </p:txEl>
                                          </p:spTgt>
                                        </p:tgtEl>
                                        <p:attrNameLst>
                                          <p:attrName>style.visibility</p:attrName>
                                        </p:attrNameLst>
                                      </p:cBhvr>
                                      <p:to>
                                        <p:strVal val="visible"/>
                                      </p:to>
                                    </p:set>
                                    <p:animEffect filter="fade" transition="in">
                                      <p:cBhvr>
                                        <p:cTn dur="500"/>
                                        <p:tgtEl>
                                          <p:spTgt spid="22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0">
                                            <p:txEl>
                                              <p:pRg end="1" st="1"/>
                                            </p:txEl>
                                          </p:spTgt>
                                        </p:tgtEl>
                                        <p:attrNameLst>
                                          <p:attrName>style.visibility</p:attrName>
                                        </p:attrNameLst>
                                      </p:cBhvr>
                                      <p:to>
                                        <p:strVal val="visible"/>
                                      </p:to>
                                    </p:set>
                                    <p:animEffect filter="fade" transition="in">
                                      <p:cBhvr>
                                        <p:cTn dur="500"/>
                                        <p:tgtEl>
                                          <p:spTgt spid="22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0">
                                            <p:txEl>
                                              <p:pRg end="2" st="2"/>
                                            </p:txEl>
                                          </p:spTgt>
                                        </p:tgtEl>
                                        <p:attrNameLst>
                                          <p:attrName>style.visibility</p:attrName>
                                        </p:attrNameLst>
                                      </p:cBhvr>
                                      <p:to>
                                        <p:strVal val="visible"/>
                                      </p:to>
                                    </p:set>
                                    <p:animEffect filter="fade" transition="in">
                                      <p:cBhvr>
                                        <p:cTn dur="500"/>
                                        <p:tgtEl>
                                          <p:spTgt spid="22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1"/>
                                        </p:tgtEl>
                                        <p:attrNameLst>
                                          <p:attrName>style.visibility</p:attrName>
                                        </p:attrNameLst>
                                      </p:cBhvr>
                                      <p:to>
                                        <p:strVal val="visible"/>
                                      </p:to>
                                    </p:set>
                                    <p:anim calcmode="lin" valueType="num">
                                      <p:cBhvr additive="base">
                                        <p:cTn dur="500"/>
                                        <p:tgtEl>
                                          <p:spTgt spid="226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7" name="Shape 2267"/>
        <p:cNvGrpSpPr/>
        <p:nvPr/>
      </p:nvGrpSpPr>
      <p:grpSpPr>
        <a:xfrm>
          <a:off x="0" y="0"/>
          <a:ext cx="0" cy="0"/>
          <a:chOff x="0" y="0"/>
          <a:chExt cx="0" cy="0"/>
        </a:xfrm>
      </p:grpSpPr>
      <p:sp>
        <p:nvSpPr>
          <p:cNvPr id="2268" name="Google Shape;2268;p145"/>
          <p:cNvSpPr txBox="1"/>
          <p:nvPr>
            <p:ph type="title"/>
          </p:nvPr>
        </p:nvSpPr>
        <p:spPr>
          <a:xfrm>
            <a:off x="914400" y="0"/>
            <a:ext cx="8229600" cy="7620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rgbClr val="FF0000"/>
              </a:buClr>
              <a:buSzPct val="100000"/>
              <a:buFont typeface="Times New Roman"/>
              <a:buNone/>
            </a:pPr>
            <a:r>
              <a:rPr lang="en-US" sz="2400">
                <a:solidFill>
                  <a:srgbClr val="FF0000"/>
                </a:solidFill>
                <a:latin typeface="Times New Roman"/>
                <a:ea typeface="Times New Roman"/>
                <a:cs typeface="Times New Roman"/>
                <a:sym typeface="Times New Roman"/>
              </a:rPr>
              <a:t>Phân loại VPPL</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Căn cứ vào tính chất, mức độ nguy hiểm cho xã hội</a:t>
            </a:r>
            <a:endParaRPr sz="2400">
              <a:solidFill>
                <a:schemeClr val="dk1"/>
              </a:solidFill>
              <a:latin typeface="Times New Roman"/>
              <a:ea typeface="Times New Roman"/>
              <a:cs typeface="Times New Roman"/>
              <a:sym typeface="Times New Roman"/>
            </a:endParaRPr>
          </a:p>
        </p:txBody>
      </p:sp>
      <p:sp>
        <p:nvSpPr>
          <p:cNvPr id="2269" name="Google Shape;2269;p145"/>
          <p:cNvSpPr txBox="1"/>
          <p:nvPr>
            <p:ph idx="1" type="body"/>
          </p:nvPr>
        </p:nvSpPr>
        <p:spPr>
          <a:xfrm>
            <a:off x="457200" y="1143000"/>
            <a:ext cx="8229600" cy="49831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graphicFrame>
        <p:nvGraphicFramePr>
          <p:cNvPr id="2270" name="Google Shape;2270;p145"/>
          <p:cNvGraphicFramePr/>
          <p:nvPr/>
        </p:nvGraphicFramePr>
        <p:xfrm>
          <a:off x="990600" y="914400"/>
          <a:ext cx="3000000" cy="3000000"/>
        </p:xfrm>
        <a:graphic>
          <a:graphicData uri="http://schemas.openxmlformats.org/drawingml/2006/table">
            <a:tbl>
              <a:tblPr bandRow="1" firstRow="1">
                <a:noFill/>
                <a:tableStyleId>{E556D886-79C6-4B34-8550-496D3A3E74C1}</a:tableStyleId>
              </a:tblPr>
              <a:tblGrid>
                <a:gridCol w="1981200"/>
                <a:gridCol w="2743200"/>
                <a:gridCol w="1600200"/>
                <a:gridCol w="1600200"/>
              </a:tblGrid>
              <a:tr h="481850">
                <a:tc>
                  <a:txBody>
                    <a:bodyPr/>
                    <a:lstStyle/>
                    <a:p>
                      <a:pPr indent="0" lvl="0" marL="0" marR="0" rtl="0" algn="ctr">
                        <a:lnSpc>
                          <a:spcPct val="100000"/>
                        </a:lnSpc>
                        <a:spcBef>
                          <a:spcPts val="0"/>
                        </a:spcBef>
                        <a:spcAft>
                          <a:spcPts val="0"/>
                        </a:spcAft>
                        <a:buNone/>
                      </a:pPr>
                      <a:r>
                        <a:rPr lang="en-US" sz="1800" u="none" cap="none" strike="noStrike">
                          <a:solidFill>
                            <a:schemeClr val="dk1"/>
                          </a:solidFill>
                          <a:latin typeface="Times New Roman"/>
                          <a:ea typeface="Times New Roman"/>
                          <a:cs typeface="Times New Roman"/>
                          <a:sym typeface="Times New Roman"/>
                        </a:rPr>
                        <a:t>Loại vi phạm</a:t>
                      </a:r>
                      <a:endParaRPr b="1" sz="1800" u="none" cap="none" strike="noStrike">
                        <a:solidFill>
                          <a:schemeClr val="dk1"/>
                        </a:solidFill>
                        <a:latin typeface="Times New Roman"/>
                        <a:ea typeface="Times New Roman"/>
                        <a:cs typeface="Times New Roman"/>
                        <a:sym typeface="Times New Roman"/>
                      </a:endParaRPr>
                    </a:p>
                  </a:txBody>
                  <a:tcPr marT="0" marB="0" marR="68575" marL="68575"/>
                </a:tc>
                <a:tc>
                  <a:txBody>
                    <a:bodyPr/>
                    <a:lstStyle/>
                    <a:p>
                      <a:pPr indent="0" lvl="0" marL="0" marR="0" rtl="0" algn="ctr">
                        <a:lnSpc>
                          <a:spcPct val="100000"/>
                        </a:lnSpc>
                        <a:spcBef>
                          <a:spcPts val="0"/>
                        </a:spcBef>
                        <a:spcAft>
                          <a:spcPts val="0"/>
                        </a:spcAft>
                        <a:buNone/>
                      </a:pPr>
                      <a:r>
                        <a:rPr lang="en-US" sz="1800" u="none" cap="none" strike="noStrike">
                          <a:solidFill>
                            <a:schemeClr val="dk1"/>
                          </a:solidFill>
                          <a:latin typeface="Times New Roman"/>
                          <a:ea typeface="Times New Roman"/>
                          <a:cs typeface="Times New Roman"/>
                          <a:sym typeface="Times New Roman"/>
                        </a:rPr>
                        <a:t>Đối tượng bị vi phạm</a:t>
                      </a:r>
                      <a:endParaRPr b="1" sz="1800" u="none" cap="none" strike="noStrike">
                        <a:solidFill>
                          <a:schemeClr val="dk1"/>
                        </a:solidFill>
                        <a:latin typeface="Times New Roman"/>
                        <a:ea typeface="Times New Roman"/>
                        <a:cs typeface="Times New Roman"/>
                        <a:sym typeface="Times New Roman"/>
                      </a:endParaRPr>
                    </a:p>
                  </a:txBody>
                  <a:tcPr marT="0" marB="0" marR="68575" marL="68575"/>
                </a:tc>
                <a:tc>
                  <a:txBody>
                    <a:bodyPr/>
                    <a:lstStyle/>
                    <a:p>
                      <a:pPr indent="0" lvl="0" marL="0" marR="0" rtl="0" algn="ctr">
                        <a:lnSpc>
                          <a:spcPct val="100000"/>
                        </a:lnSpc>
                        <a:spcBef>
                          <a:spcPts val="0"/>
                        </a:spcBef>
                        <a:spcAft>
                          <a:spcPts val="0"/>
                        </a:spcAft>
                        <a:buNone/>
                      </a:pPr>
                      <a:r>
                        <a:rPr lang="en-US" sz="1800" u="none" cap="none" strike="noStrike">
                          <a:solidFill>
                            <a:schemeClr val="dk1"/>
                          </a:solidFill>
                          <a:latin typeface="Times New Roman"/>
                          <a:ea typeface="Times New Roman"/>
                          <a:cs typeface="Times New Roman"/>
                          <a:sym typeface="Times New Roman"/>
                        </a:rPr>
                        <a:t>Chủ thể</a:t>
                      </a:r>
                      <a:endParaRPr b="1" sz="1800" u="none" cap="none" strike="noStrike">
                        <a:solidFill>
                          <a:schemeClr val="dk1"/>
                        </a:solidFill>
                        <a:latin typeface="Times New Roman"/>
                        <a:ea typeface="Times New Roman"/>
                        <a:cs typeface="Times New Roman"/>
                        <a:sym typeface="Times New Roman"/>
                      </a:endParaRPr>
                    </a:p>
                  </a:txBody>
                  <a:tcPr marT="0" marB="0" marR="68575" marL="68575"/>
                </a:tc>
                <a:tc>
                  <a:txBody>
                    <a:bodyPr/>
                    <a:lstStyle/>
                    <a:p>
                      <a:pPr indent="0" lvl="0" marL="0" marR="0" rtl="0" algn="ctr">
                        <a:lnSpc>
                          <a:spcPct val="100000"/>
                        </a:lnSpc>
                        <a:spcBef>
                          <a:spcPts val="0"/>
                        </a:spcBef>
                        <a:spcAft>
                          <a:spcPts val="0"/>
                        </a:spcAft>
                        <a:buNone/>
                      </a:pPr>
                      <a:r>
                        <a:rPr lang="en-US" sz="1800" u="none" cap="none" strike="noStrike">
                          <a:solidFill>
                            <a:schemeClr val="dk1"/>
                          </a:solidFill>
                          <a:latin typeface="Times New Roman"/>
                          <a:ea typeface="Times New Roman"/>
                          <a:cs typeface="Times New Roman"/>
                          <a:sym typeface="Times New Roman"/>
                        </a:rPr>
                        <a:t>Hậu quả</a:t>
                      </a:r>
                      <a:endParaRPr b="1" sz="1800" u="none" cap="none" strike="noStrike">
                        <a:solidFill>
                          <a:schemeClr val="dk1"/>
                        </a:solidFill>
                        <a:latin typeface="Times New Roman"/>
                        <a:ea typeface="Times New Roman"/>
                        <a:cs typeface="Times New Roman"/>
                        <a:sym typeface="Times New Roman"/>
                      </a:endParaRPr>
                    </a:p>
                  </a:txBody>
                  <a:tcPr marT="0" marB="0" marR="68575" marL="68575"/>
                </a:tc>
              </a:tr>
              <a:tr h="1445550">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Vi phạm hình sự</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(Mức độ nguy hiểm cho xã hội cao)</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Độc lập, chủ quyền, tính mạng, sức khỏe tài sản… (được quy định trong Bộ luật hình sự)</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Cá nhân</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Án tích</a:t>
                      </a:r>
                      <a:endParaRPr sz="1800" u="none" cap="none" strike="noStrike">
                        <a:latin typeface="Times New Roman"/>
                        <a:ea typeface="Times New Roman"/>
                        <a:cs typeface="Times New Roman"/>
                        <a:sym typeface="Times New Roman"/>
                      </a:endParaRPr>
                    </a:p>
                  </a:txBody>
                  <a:tcPr marT="0" marB="0" marR="68575" marL="68575"/>
                </a:tc>
              </a:tr>
              <a:tr h="160617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Vi phạm hành chính</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(mức độ nguy hiểm cho xã hội thấp hơn so với tội phạm)</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Quy tắc quản lý nhà nước (quy định trong pháp luật hành chính)</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Cá nhân, tổ chức</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Ko phải chịu án tích</a:t>
                      </a:r>
                      <a:endParaRPr sz="1800" u="none" cap="none" strike="noStrike">
                        <a:latin typeface="Times New Roman"/>
                        <a:ea typeface="Times New Roman"/>
                        <a:cs typeface="Times New Roman"/>
                        <a:sym typeface="Times New Roman"/>
                      </a:endParaRPr>
                    </a:p>
                  </a:txBody>
                  <a:tcPr marT="0" marB="0" marR="68575" marL="68575"/>
                </a:tc>
              </a:tr>
              <a:tr h="120462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Vi phạm dân sự</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Quan hệ tài sản, quan hệ nhân than chủ yếu được quy định trong (Bộ luật dân sự)</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Cá nhân, tổ chức</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Thường phải bồi thường thiệt hại</a:t>
                      </a:r>
                      <a:endParaRPr sz="1800" u="none" cap="none" strike="noStrike">
                        <a:latin typeface="Times New Roman"/>
                        <a:ea typeface="Times New Roman"/>
                        <a:cs typeface="Times New Roman"/>
                        <a:sym typeface="Times New Roman"/>
                      </a:endParaRPr>
                    </a:p>
                  </a:txBody>
                  <a:tcPr marT="0" marB="0" marR="68575" marL="68575"/>
                </a:tc>
              </a:tr>
              <a:tr h="722775">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Vi phạm kỷ luật</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Quy tắc xác lập trật tự trong các tổ chức</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Cá nhân trong tổ chức</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Chịu các hình thức kỷ luật</a:t>
                      </a:r>
                      <a:endParaRPr sz="1800" u="none" cap="none" strike="noStrike">
                        <a:latin typeface="Times New Roman"/>
                        <a:ea typeface="Times New Roman"/>
                        <a:cs typeface="Times New Roman"/>
                        <a:sym typeface="Times New Roman"/>
                      </a:endParaRPr>
                    </a:p>
                  </a:txBody>
                  <a:tcPr marT="0" marB="0" marR="68575" marL="68575"/>
                </a:tc>
              </a:tr>
            </a:tbl>
          </a:graphicData>
        </a:graphic>
      </p:graphicFrame>
      <p:sp>
        <p:nvSpPr>
          <p:cNvPr id="2271" name="Google Shape;2271;p145"/>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72" name="Google Shape;2272;p14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8"/>
                                        </p:tgtEl>
                                        <p:attrNameLst>
                                          <p:attrName>style.visibility</p:attrName>
                                        </p:attrNameLst>
                                      </p:cBhvr>
                                      <p:to>
                                        <p:strVal val="visible"/>
                                      </p:to>
                                    </p:set>
                                    <p:animEffect filter="fade" transition="in">
                                      <p:cBhvr>
                                        <p:cTn dur="2000"/>
                                        <p:tgtEl>
                                          <p:spTgt spid="2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0"/>
                                        </p:tgtEl>
                                        <p:attrNameLst>
                                          <p:attrName>style.visibility</p:attrName>
                                        </p:attrNameLst>
                                      </p:cBhvr>
                                      <p:to>
                                        <p:strVal val="visible"/>
                                      </p:to>
                                    </p:set>
                                    <p:anim calcmode="lin" valueType="num">
                                      <p:cBhvr additive="base">
                                        <p:cTn dur="500"/>
                                        <p:tgtEl>
                                          <p:spTgt spid="227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6" name="Shape 2276"/>
        <p:cNvGrpSpPr/>
        <p:nvPr/>
      </p:nvGrpSpPr>
      <p:grpSpPr>
        <a:xfrm>
          <a:off x="0" y="0"/>
          <a:ext cx="0" cy="0"/>
          <a:chOff x="0" y="0"/>
          <a:chExt cx="0" cy="0"/>
        </a:xfrm>
      </p:grpSpPr>
      <p:sp>
        <p:nvSpPr>
          <p:cNvPr id="2277" name="Google Shape;2277;p146"/>
          <p:cNvSpPr txBox="1"/>
          <p:nvPr>
            <p:ph type="title"/>
          </p:nvPr>
        </p:nvSpPr>
        <p:spPr>
          <a:xfrm>
            <a:off x="457200" y="274638"/>
            <a:ext cx="8382000" cy="102076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1"/>
              </a:buClr>
              <a:buSzPts val="3200"/>
              <a:buFont typeface="Times New Roman"/>
              <a:buNone/>
            </a:pPr>
            <a:r>
              <a:rPr b="1" lang="en-US" sz="3200">
                <a:solidFill>
                  <a:schemeClr val="dk1"/>
                </a:solidFill>
                <a:latin typeface="Times New Roman"/>
                <a:ea typeface="Times New Roman"/>
                <a:cs typeface="Times New Roman"/>
                <a:sym typeface="Times New Roman"/>
              </a:rPr>
              <a:t>4.9.3	TRÁCH NHIỆM PHÁP LÝ</a:t>
            </a:r>
            <a:br>
              <a:rPr b="1" lang="en-US" sz="3200">
                <a:solidFill>
                  <a:schemeClr val="dk1"/>
                </a:solidFill>
                <a:latin typeface="Times New Roman"/>
                <a:ea typeface="Times New Roman"/>
                <a:cs typeface="Times New Roman"/>
                <a:sym typeface="Times New Roman"/>
              </a:rPr>
            </a:br>
            <a:r>
              <a:rPr b="1" lang="en-US" sz="2700">
                <a:solidFill>
                  <a:schemeClr val="dk1"/>
                </a:solidFill>
                <a:latin typeface="Times New Roman"/>
                <a:ea typeface="Times New Roman"/>
                <a:cs typeface="Times New Roman"/>
                <a:sym typeface="Times New Roman"/>
              </a:rPr>
              <a:t>Khái niệm</a:t>
            </a:r>
            <a:endParaRPr sz="2700">
              <a:solidFill>
                <a:schemeClr val="dk1"/>
              </a:solidFill>
              <a:latin typeface="Times New Roman"/>
              <a:ea typeface="Times New Roman"/>
              <a:cs typeface="Times New Roman"/>
              <a:sym typeface="Times New Roman"/>
            </a:endParaRPr>
          </a:p>
        </p:txBody>
      </p:sp>
      <p:sp>
        <p:nvSpPr>
          <p:cNvPr id="2278" name="Google Shape;2278;p146"/>
          <p:cNvSpPr txBox="1"/>
          <p:nvPr>
            <p:ph idx="1" type="body"/>
          </p:nvPr>
        </p:nvSpPr>
        <p:spPr>
          <a:xfrm>
            <a:off x="304800" y="1066800"/>
            <a:ext cx="8628888" cy="54864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None/>
            </a:pPr>
            <a:r>
              <a:t/>
            </a:r>
            <a:endParaRPr sz="2400">
              <a:latin typeface="Times New Roman"/>
              <a:ea typeface="Times New Roman"/>
              <a:cs typeface="Times New Roman"/>
              <a:sym typeface="Times New Roman"/>
            </a:endParaRPr>
          </a:p>
          <a:p>
            <a:pPr indent="-274320" lvl="0" marL="274320" rtl="0" algn="just">
              <a:spcBef>
                <a:spcPts val="600"/>
              </a:spcBef>
              <a:spcAft>
                <a:spcPts val="0"/>
              </a:spcAft>
              <a:buSzPts val="1680"/>
              <a:buNone/>
            </a:pPr>
            <a:r>
              <a:t/>
            </a:r>
            <a:endParaRPr sz="2400">
              <a:latin typeface="Times New Roman"/>
              <a:ea typeface="Times New Roman"/>
              <a:cs typeface="Times New Roman"/>
              <a:sym typeface="Times New Roman"/>
            </a:endParaRPr>
          </a:p>
        </p:txBody>
      </p:sp>
      <p:sp>
        <p:nvSpPr>
          <p:cNvPr id="2279" name="Google Shape;2279;p146"/>
          <p:cNvSpPr/>
          <p:nvPr/>
        </p:nvSpPr>
        <p:spPr>
          <a:xfrm>
            <a:off x="609600" y="1371600"/>
            <a:ext cx="4038600" cy="1676400"/>
          </a:xfrm>
          <a:prstGeom prst="roundRect">
            <a:avLst>
              <a:gd fmla="val 16667" name="adj"/>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000">
                <a:solidFill>
                  <a:srgbClr val="FF0000"/>
                </a:solidFill>
                <a:latin typeface="Times New Roman"/>
                <a:ea typeface="Times New Roman"/>
                <a:cs typeface="Times New Roman"/>
                <a:sym typeface="Times New Roman"/>
              </a:rPr>
              <a:t>Hiểu theo nghĩa tích cực: là bổn phận, nghĩa vụ, thái độ tích cực và vai trò của cá nhân, tổ chức trong việc thực hiện pháp luật</a:t>
            </a:r>
            <a:endParaRPr sz="2000">
              <a:solidFill>
                <a:srgbClr val="FF0000"/>
              </a:solidFill>
              <a:latin typeface="Arial"/>
              <a:ea typeface="Arial"/>
              <a:cs typeface="Arial"/>
              <a:sym typeface="Arial"/>
            </a:endParaRPr>
          </a:p>
        </p:txBody>
      </p:sp>
      <p:sp>
        <p:nvSpPr>
          <p:cNvPr id="2280" name="Google Shape;2280;p146"/>
          <p:cNvSpPr/>
          <p:nvPr/>
        </p:nvSpPr>
        <p:spPr>
          <a:xfrm>
            <a:off x="4648200" y="2209800"/>
            <a:ext cx="4495800" cy="1981200"/>
          </a:xfrm>
          <a:prstGeom prst="roundRect">
            <a:avLst>
              <a:gd fmla="val 16667" name="adj"/>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Hiểu theo nghĩa tiêu cực: là sự gánh chịu hậu quả bất lợi về vật chất hoặc tinh thần của chủ thể vi phạm pháp luật do cơ quan nhà nước hoặc cá nhân có thẩm quyền áp dụng biện pháp cưỡng chế theo quy định đối với chủ thể ấy</a:t>
            </a:r>
            <a:endParaRPr sz="2000">
              <a:solidFill>
                <a:schemeClr val="dk1"/>
              </a:solidFill>
              <a:latin typeface="Times New Roman"/>
              <a:ea typeface="Times New Roman"/>
              <a:cs typeface="Times New Roman"/>
              <a:sym typeface="Times New Roman"/>
            </a:endParaRPr>
          </a:p>
        </p:txBody>
      </p:sp>
      <p:sp>
        <p:nvSpPr>
          <p:cNvPr id="2281" name="Google Shape;2281;p146"/>
          <p:cNvSpPr/>
          <p:nvPr/>
        </p:nvSpPr>
        <p:spPr>
          <a:xfrm>
            <a:off x="0" y="0"/>
            <a:ext cx="184731" cy="36933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82" name="Google Shape;2282;p146"/>
          <p:cNvSpPr/>
          <p:nvPr/>
        </p:nvSpPr>
        <p:spPr>
          <a:xfrm>
            <a:off x="1219200" y="4191000"/>
            <a:ext cx="7467600" cy="2895600"/>
          </a:xfrm>
          <a:prstGeom prst="horizontalScroll">
            <a:avLst>
              <a:gd fmla="val 12500" name="adj"/>
            </a:avLst>
          </a:prstGeom>
          <a:solidFill>
            <a:schemeClr val="accent4"/>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Trách nhiệm pháp lý là một loại quan hệ pháp luật đặc biệt phát sinh giữa nhà nước và chủ thể vi phạm pháp luật. trong đó, nhà nước thong qua các chủ thể có thẩm quyền (cơ quan, cá nhân) áp dụng các biện pháp cưỡng chế được quy định ở chế tài của quy phạm pháp luật đối với chủ thể vi phạm pháp luật. Chủ thể này có nghĩa vụ phải gánh chịu những hậu quả bất lợi do hành vi của mình gây ra</a:t>
            </a:r>
            <a:endParaRPr sz="2000">
              <a:solidFill>
                <a:schemeClr val="dk1"/>
              </a:solidFill>
              <a:latin typeface="Times New Roman"/>
              <a:ea typeface="Times New Roman"/>
              <a:cs typeface="Times New Roman"/>
              <a:sym typeface="Times New Roman"/>
            </a:endParaRPr>
          </a:p>
        </p:txBody>
      </p:sp>
      <p:sp>
        <p:nvSpPr>
          <p:cNvPr id="2283" name="Google Shape;2283;p146"/>
          <p:cNvSpPr txBox="1"/>
          <p:nvPr>
            <p:ph idx="11" type="ftr"/>
          </p:nvPr>
        </p:nvSpPr>
        <p:spPr>
          <a:xfrm rot="5400000">
            <a:off x="7077260" y="17009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84" name="Google Shape;2284;p14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7"/>
                                        </p:tgtEl>
                                        <p:attrNameLst>
                                          <p:attrName>style.visibility</p:attrName>
                                        </p:attrNameLst>
                                      </p:cBhvr>
                                      <p:to>
                                        <p:strVal val="visible"/>
                                      </p:to>
                                    </p:set>
                                    <p:animEffect filter="fade" transition="in">
                                      <p:cBhvr>
                                        <p:cTn dur="500"/>
                                        <p:tgtEl>
                                          <p:spTgt spid="2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9"/>
                                        </p:tgtEl>
                                        <p:attrNameLst>
                                          <p:attrName>style.visibility</p:attrName>
                                        </p:attrNameLst>
                                      </p:cBhvr>
                                      <p:to>
                                        <p:strVal val="visible"/>
                                      </p:to>
                                    </p:set>
                                    <p:anim calcmode="lin" valueType="num">
                                      <p:cBhvr additive="base">
                                        <p:cTn dur="500"/>
                                        <p:tgtEl>
                                          <p:spTgt spid="227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0"/>
                                        </p:tgtEl>
                                        <p:attrNameLst>
                                          <p:attrName>style.visibility</p:attrName>
                                        </p:attrNameLst>
                                      </p:cBhvr>
                                      <p:to>
                                        <p:strVal val="visible"/>
                                      </p:to>
                                    </p:set>
                                    <p:animEffect filter="fade" transition="in">
                                      <p:cBhvr>
                                        <p:cTn dur="500"/>
                                        <p:tgtEl>
                                          <p:spTgt spid="2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2"/>
                                        </p:tgtEl>
                                        <p:attrNameLst>
                                          <p:attrName>style.visibility</p:attrName>
                                        </p:attrNameLst>
                                      </p:cBhvr>
                                      <p:to>
                                        <p:strVal val="visible"/>
                                      </p:to>
                                    </p:set>
                                    <p:animEffect filter="fade" transition="in">
                                      <p:cBhvr>
                                        <p:cTn dur="2000"/>
                                        <p:tgtEl>
                                          <p:spTgt spid="2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8" name="Shape 2288"/>
        <p:cNvGrpSpPr/>
        <p:nvPr/>
      </p:nvGrpSpPr>
      <p:grpSpPr>
        <a:xfrm>
          <a:off x="0" y="0"/>
          <a:ext cx="0" cy="0"/>
          <a:chOff x="0" y="0"/>
          <a:chExt cx="0" cy="0"/>
        </a:xfrm>
      </p:grpSpPr>
      <p:sp>
        <p:nvSpPr>
          <p:cNvPr id="2289" name="Google Shape;2289;p14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600"/>
              <a:buFont typeface="Times New Roman"/>
              <a:buNone/>
            </a:pPr>
            <a:r>
              <a:rPr lang="en-US" sz="3600">
                <a:latin typeface="Times New Roman"/>
                <a:ea typeface="Times New Roman"/>
                <a:cs typeface="Times New Roman"/>
                <a:sym typeface="Times New Roman"/>
              </a:rPr>
              <a:t>TRÁCH NHIỆM PHÁP LÝ</a:t>
            </a:r>
            <a:br>
              <a:rPr lang="en-US">
                <a:latin typeface="Times New Roman"/>
                <a:ea typeface="Times New Roman"/>
                <a:cs typeface="Times New Roman"/>
                <a:sym typeface="Times New Roman"/>
              </a:rPr>
            </a:br>
            <a:r>
              <a:rPr lang="en-US" sz="2700">
                <a:solidFill>
                  <a:srgbClr val="FF0000"/>
                </a:solidFill>
                <a:latin typeface="Times New Roman"/>
                <a:ea typeface="Times New Roman"/>
                <a:cs typeface="Times New Roman"/>
                <a:sym typeface="Times New Roman"/>
              </a:rPr>
              <a:t>Đặc điểm</a:t>
            </a:r>
            <a:endParaRPr sz="2700">
              <a:solidFill>
                <a:srgbClr val="FF0000"/>
              </a:solidFill>
              <a:latin typeface="Times New Roman"/>
              <a:ea typeface="Times New Roman"/>
              <a:cs typeface="Times New Roman"/>
              <a:sym typeface="Times New Roman"/>
            </a:endParaRPr>
          </a:p>
        </p:txBody>
      </p:sp>
      <p:sp>
        <p:nvSpPr>
          <p:cNvPr id="2290" name="Google Shape;2290;p14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92500"/>
          </a:bodyPr>
          <a:lstStyle/>
          <a:p>
            <a:pPr indent="-274320" lvl="0" marL="274320" rtl="0" algn="just">
              <a:spcBef>
                <a:spcPts val="0"/>
              </a:spcBef>
              <a:spcAft>
                <a:spcPts val="0"/>
              </a:spcAft>
              <a:buSzPct val="70000"/>
              <a:buChar char="🞆"/>
            </a:pPr>
            <a:r>
              <a:rPr lang="en-US">
                <a:latin typeface="Times New Roman"/>
                <a:ea typeface="Times New Roman"/>
                <a:cs typeface="Times New Roman"/>
                <a:sym typeface="Times New Roman"/>
              </a:rPr>
              <a:t>Cơ sở thực tế là vi phạm pháp luật. Nghĩa là TNPL chỉ áp dụng khi có vi phạm pháp luật xảy ra</a:t>
            </a:r>
            <a:endParaRPr>
              <a:latin typeface="Times New Roman"/>
              <a:ea typeface="Times New Roman"/>
              <a:cs typeface="Times New Roman"/>
              <a:sym typeface="Times New Roman"/>
            </a:endParaRPr>
          </a:p>
          <a:p>
            <a:pPr indent="-274320" lvl="0" marL="274320" rtl="0" algn="just">
              <a:spcBef>
                <a:spcPts val="600"/>
              </a:spcBef>
              <a:spcAft>
                <a:spcPts val="0"/>
              </a:spcAft>
              <a:buSzPct val="70000"/>
              <a:buChar char="🞆"/>
            </a:pPr>
            <a:r>
              <a:rPr lang="en-US">
                <a:solidFill>
                  <a:srgbClr val="FF0000"/>
                </a:solidFill>
                <a:latin typeface="Times New Roman"/>
                <a:ea typeface="Times New Roman"/>
                <a:cs typeface="Times New Roman"/>
                <a:sym typeface="Times New Roman"/>
              </a:rPr>
              <a:t>Cơ sở pháp lý là văn bản áp dụng pháp luật có hiệu lực của cơ quan nhà nước có thẩm quyền. Quyết định do cơ quan nhà nước hoặc người có thẩm quyền ban hành trên cơ sở xem xét, giải quyết vụ việc vi phạm đã có hiệu lực pháp luật</a:t>
            </a:r>
            <a:endParaRPr>
              <a:solidFill>
                <a:srgbClr val="FF0000"/>
              </a:solidFill>
              <a:latin typeface="Times New Roman"/>
              <a:ea typeface="Times New Roman"/>
              <a:cs typeface="Times New Roman"/>
              <a:sym typeface="Times New Roman"/>
            </a:endParaRPr>
          </a:p>
          <a:p>
            <a:pPr indent="-274320" lvl="0" marL="274320" rtl="0" algn="just">
              <a:spcBef>
                <a:spcPts val="600"/>
              </a:spcBef>
              <a:spcAft>
                <a:spcPts val="0"/>
              </a:spcAft>
              <a:buSzPct val="70000"/>
              <a:buChar char="🞆"/>
            </a:pPr>
            <a:r>
              <a:rPr lang="en-US">
                <a:latin typeface="Times New Roman"/>
                <a:ea typeface="Times New Roman"/>
                <a:cs typeface="Times New Roman"/>
                <a:sym typeface="Times New Roman"/>
              </a:rPr>
              <a:t>Gắn liền với biện pháp cưỡng chế của Nhà nước: Mang tính chất trừng phạt hoặc khôi phục lại những quyền và lợi ích bị xâm phạm và đồng thời được áp dụng chỉ trên cơ sở những quyết định của cơ quan hoặc người có thẩm quyền</a:t>
            </a:r>
            <a:endParaRPr>
              <a:latin typeface="Times New Roman"/>
              <a:ea typeface="Times New Roman"/>
              <a:cs typeface="Times New Roman"/>
              <a:sym typeface="Times New Roman"/>
            </a:endParaRPr>
          </a:p>
          <a:p>
            <a:pPr indent="-274320" lvl="0" marL="274320" rtl="0" algn="just">
              <a:spcBef>
                <a:spcPts val="600"/>
              </a:spcBef>
              <a:spcAft>
                <a:spcPts val="0"/>
              </a:spcAft>
              <a:buSzPct val="70000"/>
              <a:buChar char="🞆"/>
            </a:pPr>
            <a:r>
              <a:rPr lang="en-US">
                <a:solidFill>
                  <a:srgbClr val="FF0000"/>
                </a:solidFill>
                <a:latin typeface="Times New Roman"/>
                <a:ea typeface="Times New Roman"/>
                <a:cs typeface="Times New Roman"/>
                <a:sym typeface="Times New Roman"/>
              </a:rPr>
              <a:t>Được áp dụng theo thủ tục, trình tự do pháp luật quy định </a:t>
            </a:r>
            <a:endParaRPr/>
          </a:p>
          <a:p>
            <a:pPr indent="-274320" lvl="0" marL="274320" rtl="0" algn="just">
              <a:spcBef>
                <a:spcPts val="600"/>
              </a:spcBef>
              <a:spcAft>
                <a:spcPts val="0"/>
              </a:spcAft>
              <a:buSzPct val="70000"/>
              <a:buChar char="🞆"/>
            </a:pPr>
            <a:r>
              <a:rPr lang="en-US">
                <a:latin typeface="Times New Roman"/>
                <a:ea typeface="Times New Roman"/>
                <a:cs typeface="Times New Roman"/>
                <a:sym typeface="Times New Roman"/>
              </a:rPr>
              <a:t>Việc áp dụng có mục đích rõ ràng, cụ thể: trừng phạt, giáo dục, răn đe chủ thể vi phạm</a:t>
            </a:r>
            <a:endParaRPr>
              <a:latin typeface="Times New Roman"/>
              <a:ea typeface="Times New Roman"/>
              <a:cs typeface="Times New Roman"/>
              <a:sym typeface="Times New Roman"/>
            </a:endParaRPr>
          </a:p>
        </p:txBody>
      </p:sp>
      <p:sp>
        <p:nvSpPr>
          <p:cNvPr id="2291" name="Google Shape;2291;p147"/>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292" name="Google Shape;2292;p14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9"/>
                                        </p:tgtEl>
                                        <p:attrNameLst>
                                          <p:attrName>style.visibility</p:attrName>
                                        </p:attrNameLst>
                                      </p:cBhvr>
                                      <p:to>
                                        <p:strVal val="visible"/>
                                      </p:to>
                                    </p:set>
                                    <p:animEffect filter="fade" transition="in">
                                      <p:cBhvr>
                                        <p:cTn dur="500"/>
                                        <p:tgtEl>
                                          <p:spTgt spid="2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0">
                                            <p:txEl>
                                              <p:pRg end="0" st="0"/>
                                            </p:txEl>
                                          </p:spTgt>
                                        </p:tgtEl>
                                        <p:attrNameLst>
                                          <p:attrName>style.visibility</p:attrName>
                                        </p:attrNameLst>
                                      </p:cBhvr>
                                      <p:to>
                                        <p:strVal val="visible"/>
                                      </p:to>
                                    </p:set>
                                    <p:animEffect filter="fade" transition="in">
                                      <p:cBhvr>
                                        <p:cTn dur="500"/>
                                        <p:tgtEl>
                                          <p:spTgt spid="22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0">
                                            <p:txEl>
                                              <p:pRg end="1" st="1"/>
                                            </p:txEl>
                                          </p:spTgt>
                                        </p:tgtEl>
                                        <p:attrNameLst>
                                          <p:attrName>style.visibility</p:attrName>
                                        </p:attrNameLst>
                                      </p:cBhvr>
                                      <p:to>
                                        <p:strVal val="visible"/>
                                      </p:to>
                                    </p:set>
                                    <p:animEffect filter="fade" transition="in">
                                      <p:cBhvr>
                                        <p:cTn dur="500"/>
                                        <p:tgtEl>
                                          <p:spTgt spid="22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0">
                                            <p:txEl>
                                              <p:pRg end="2" st="2"/>
                                            </p:txEl>
                                          </p:spTgt>
                                        </p:tgtEl>
                                        <p:attrNameLst>
                                          <p:attrName>style.visibility</p:attrName>
                                        </p:attrNameLst>
                                      </p:cBhvr>
                                      <p:to>
                                        <p:strVal val="visible"/>
                                      </p:to>
                                    </p:set>
                                    <p:animEffect filter="fade" transition="in">
                                      <p:cBhvr>
                                        <p:cTn dur="500"/>
                                        <p:tgtEl>
                                          <p:spTgt spid="22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0">
                                            <p:txEl>
                                              <p:pRg end="3" st="3"/>
                                            </p:txEl>
                                          </p:spTgt>
                                        </p:tgtEl>
                                        <p:attrNameLst>
                                          <p:attrName>style.visibility</p:attrName>
                                        </p:attrNameLst>
                                      </p:cBhvr>
                                      <p:to>
                                        <p:strVal val="visible"/>
                                      </p:to>
                                    </p:set>
                                    <p:animEffect filter="fade" transition="in">
                                      <p:cBhvr>
                                        <p:cTn dur="500"/>
                                        <p:tgtEl>
                                          <p:spTgt spid="22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0">
                                            <p:txEl>
                                              <p:pRg end="4" st="4"/>
                                            </p:txEl>
                                          </p:spTgt>
                                        </p:tgtEl>
                                        <p:attrNameLst>
                                          <p:attrName>style.visibility</p:attrName>
                                        </p:attrNameLst>
                                      </p:cBhvr>
                                      <p:to>
                                        <p:strVal val="visible"/>
                                      </p:to>
                                    </p:set>
                                    <p:animEffect filter="fade" transition="in">
                                      <p:cBhvr>
                                        <p:cTn dur="500"/>
                                        <p:tgtEl>
                                          <p:spTgt spid="229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6" name="Shape 2296"/>
        <p:cNvGrpSpPr/>
        <p:nvPr/>
      </p:nvGrpSpPr>
      <p:grpSpPr>
        <a:xfrm>
          <a:off x="0" y="0"/>
          <a:ext cx="0" cy="0"/>
          <a:chOff x="0" y="0"/>
          <a:chExt cx="0" cy="0"/>
        </a:xfrm>
      </p:grpSpPr>
      <p:sp>
        <p:nvSpPr>
          <p:cNvPr id="2297" name="Google Shape;2297;p148"/>
          <p:cNvSpPr txBox="1"/>
          <p:nvPr>
            <p:ph type="title"/>
          </p:nvPr>
        </p:nvSpPr>
        <p:spPr>
          <a:xfrm>
            <a:off x="914400" y="0"/>
            <a:ext cx="8229600" cy="7620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rgbClr val="FF0000"/>
              </a:buClr>
              <a:buSzPct val="100000"/>
              <a:buFont typeface="Times New Roman"/>
              <a:buNone/>
            </a:pPr>
            <a:r>
              <a:rPr lang="en-US" sz="2400">
                <a:solidFill>
                  <a:srgbClr val="FF0000"/>
                </a:solidFill>
                <a:latin typeface="Times New Roman"/>
                <a:ea typeface="Times New Roman"/>
                <a:cs typeface="Times New Roman"/>
                <a:sym typeface="Times New Roman"/>
              </a:rPr>
              <a:t>Phân loại TNPL</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tương ứng với các loại VPPL</a:t>
            </a:r>
            <a:endParaRPr sz="2400">
              <a:solidFill>
                <a:schemeClr val="dk1"/>
              </a:solidFill>
              <a:latin typeface="Times New Roman"/>
              <a:ea typeface="Times New Roman"/>
              <a:cs typeface="Times New Roman"/>
              <a:sym typeface="Times New Roman"/>
            </a:endParaRPr>
          </a:p>
        </p:txBody>
      </p:sp>
      <p:sp>
        <p:nvSpPr>
          <p:cNvPr id="2298" name="Google Shape;2298;p148"/>
          <p:cNvSpPr txBox="1"/>
          <p:nvPr>
            <p:ph idx="1" type="body"/>
          </p:nvPr>
        </p:nvSpPr>
        <p:spPr>
          <a:xfrm>
            <a:off x="457200" y="1143000"/>
            <a:ext cx="8229600" cy="498316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sz="2400">
                <a:latin typeface="Times New Roman"/>
                <a:ea typeface="Times New Roman"/>
                <a:cs typeface="Times New Roman"/>
                <a:sym typeface="Times New Roman"/>
              </a:rPr>
              <a:t>.</a:t>
            </a:r>
            <a:endParaRPr sz="2400">
              <a:latin typeface="Times New Roman"/>
              <a:ea typeface="Times New Roman"/>
              <a:cs typeface="Times New Roman"/>
              <a:sym typeface="Times New Roman"/>
            </a:endParaRPr>
          </a:p>
        </p:txBody>
      </p:sp>
      <p:graphicFrame>
        <p:nvGraphicFramePr>
          <p:cNvPr id="2299" name="Google Shape;2299;p148"/>
          <p:cNvGraphicFramePr/>
          <p:nvPr/>
        </p:nvGraphicFramePr>
        <p:xfrm>
          <a:off x="228600" y="838200"/>
          <a:ext cx="3000000" cy="3000000"/>
        </p:xfrm>
        <a:graphic>
          <a:graphicData uri="http://schemas.openxmlformats.org/drawingml/2006/table">
            <a:tbl>
              <a:tblPr bandRow="1" firstRow="1">
                <a:noFill/>
                <a:tableStyleId>{E556D886-79C6-4B34-8550-496D3A3E74C1}</a:tableStyleId>
              </a:tblPr>
              <a:tblGrid>
                <a:gridCol w="1371600"/>
                <a:gridCol w="1676400"/>
                <a:gridCol w="1600200"/>
                <a:gridCol w="3276600"/>
              </a:tblGrid>
              <a:tr h="481850">
                <a:tc>
                  <a:txBody>
                    <a:bodyPr/>
                    <a:lstStyle/>
                    <a:p>
                      <a:pPr indent="0" lvl="0" marL="0" marR="0" rtl="0" algn="ctr">
                        <a:lnSpc>
                          <a:spcPct val="100000"/>
                        </a:lnSpc>
                        <a:spcBef>
                          <a:spcPts val="0"/>
                        </a:spcBef>
                        <a:spcAft>
                          <a:spcPts val="0"/>
                        </a:spcAft>
                        <a:buNone/>
                      </a:pPr>
                      <a:r>
                        <a:rPr lang="en-US" sz="1800" u="none" cap="none" strike="noStrike">
                          <a:solidFill>
                            <a:srgbClr val="FF0000"/>
                          </a:solidFill>
                          <a:latin typeface="Times New Roman"/>
                          <a:ea typeface="Times New Roman"/>
                          <a:cs typeface="Times New Roman"/>
                          <a:sym typeface="Times New Roman"/>
                        </a:rPr>
                        <a:t>Loại TNPL</a:t>
                      </a:r>
                      <a:endParaRPr sz="1800" u="none" cap="none" strike="noStrike">
                        <a:solidFill>
                          <a:srgbClr val="FF0000"/>
                        </a:solidFill>
                        <a:latin typeface="Times New Roman"/>
                        <a:ea typeface="Times New Roman"/>
                        <a:cs typeface="Times New Roman"/>
                        <a:sym typeface="Times New Roman"/>
                      </a:endParaRPr>
                    </a:p>
                  </a:txBody>
                  <a:tcPr marT="0" marB="0" marR="68575" marL="68575"/>
                </a:tc>
                <a:tc>
                  <a:txBody>
                    <a:bodyPr/>
                    <a:lstStyle/>
                    <a:p>
                      <a:pPr indent="0" lvl="0" marL="0" marR="0" rtl="0" algn="ctr">
                        <a:lnSpc>
                          <a:spcPct val="100000"/>
                        </a:lnSpc>
                        <a:spcBef>
                          <a:spcPts val="0"/>
                        </a:spcBef>
                        <a:spcAft>
                          <a:spcPts val="0"/>
                        </a:spcAft>
                        <a:buNone/>
                      </a:pPr>
                      <a:r>
                        <a:rPr lang="en-US" sz="1800" u="none" cap="none" strike="noStrike">
                          <a:solidFill>
                            <a:srgbClr val="FF0000"/>
                          </a:solidFill>
                          <a:latin typeface="Times New Roman"/>
                          <a:ea typeface="Times New Roman"/>
                          <a:cs typeface="Times New Roman"/>
                          <a:sym typeface="Times New Roman"/>
                        </a:rPr>
                        <a:t>Đối tượng áp dụng</a:t>
                      </a:r>
                      <a:endParaRPr sz="1800" u="none" cap="none" strike="noStrike">
                        <a:solidFill>
                          <a:srgbClr val="FF0000"/>
                        </a:solidFill>
                        <a:latin typeface="Times New Roman"/>
                        <a:ea typeface="Times New Roman"/>
                        <a:cs typeface="Times New Roman"/>
                        <a:sym typeface="Times New Roman"/>
                      </a:endParaRPr>
                    </a:p>
                  </a:txBody>
                  <a:tcPr marT="0" marB="0" marR="68575" marL="68575"/>
                </a:tc>
                <a:tc>
                  <a:txBody>
                    <a:bodyPr/>
                    <a:lstStyle/>
                    <a:p>
                      <a:pPr indent="0" lvl="0" marL="0" marR="0" rtl="0" algn="ctr">
                        <a:lnSpc>
                          <a:spcPct val="100000"/>
                        </a:lnSpc>
                        <a:spcBef>
                          <a:spcPts val="0"/>
                        </a:spcBef>
                        <a:spcAft>
                          <a:spcPts val="0"/>
                        </a:spcAft>
                        <a:buNone/>
                      </a:pPr>
                      <a:r>
                        <a:rPr lang="en-US" sz="1800" u="none" cap="none" strike="noStrike">
                          <a:solidFill>
                            <a:srgbClr val="FF0000"/>
                          </a:solidFill>
                          <a:latin typeface="Times New Roman"/>
                          <a:ea typeface="Times New Roman"/>
                          <a:cs typeface="Times New Roman"/>
                          <a:sym typeface="Times New Roman"/>
                        </a:rPr>
                        <a:t>Chủ thể áp dụng</a:t>
                      </a:r>
                      <a:endParaRPr sz="1800" u="none" cap="none" strike="noStrike">
                        <a:solidFill>
                          <a:srgbClr val="FF0000"/>
                        </a:solidFill>
                        <a:latin typeface="Times New Roman"/>
                        <a:ea typeface="Times New Roman"/>
                        <a:cs typeface="Times New Roman"/>
                        <a:sym typeface="Times New Roman"/>
                      </a:endParaRPr>
                    </a:p>
                  </a:txBody>
                  <a:tcPr marT="0" marB="0" marR="68575" marL="68575"/>
                </a:tc>
                <a:tc>
                  <a:txBody>
                    <a:bodyPr/>
                    <a:lstStyle/>
                    <a:p>
                      <a:pPr indent="0" lvl="0" marL="0" marR="0" rtl="0" algn="ctr">
                        <a:lnSpc>
                          <a:spcPct val="100000"/>
                        </a:lnSpc>
                        <a:spcBef>
                          <a:spcPts val="0"/>
                        </a:spcBef>
                        <a:spcAft>
                          <a:spcPts val="0"/>
                        </a:spcAft>
                        <a:buNone/>
                      </a:pPr>
                      <a:r>
                        <a:rPr lang="en-US" sz="1800" u="none" cap="none" strike="noStrike">
                          <a:solidFill>
                            <a:srgbClr val="FF0000"/>
                          </a:solidFill>
                          <a:latin typeface="Times New Roman"/>
                          <a:ea typeface="Times New Roman"/>
                          <a:cs typeface="Times New Roman"/>
                          <a:sym typeface="Times New Roman"/>
                        </a:rPr>
                        <a:t>Hình thức</a:t>
                      </a:r>
                      <a:endParaRPr sz="1800" u="none" cap="none" strike="noStrike">
                        <a:solidFill>
                          <a:srgbClr val="FF0000"/>
                        </a:solidFill>
                        <a:latin typeface="Times New Roman"/>
                        <a:ea typeface="Times New Roman"/>
                        <a:cs typeface="Times New Roman"/>
                        <a:sym typeface="Times New Roman"/>
                      </a:endParaRPr>
                    </a:p>
                  </a:txBody>
                  <a:tcPr marT="0" marB="0" marR="68575" marL="68575"/>
                </a:tc>
              </a:tr>
              <a:tr h="1445550">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TN hình sự</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Tội phạm</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Tòa án</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rPr lang="en-US" sz="1800" u="none" cap="none" strike="noStrike">
                          <a:latin typeface="Times New Roman"/>
                          <a:ea typeface="Times New Roman"/>
                          <a:cs typeface="Times New Roman"/>
                          <a:sym typeface="Times New Roman"/>
                        </a:rPr>
                        <a:t>Hình phạt</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 HP chính: cảnh cáo, phạt tiền, trục xuất, tử hình,…</a:t>
                      </a:r>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 HP bổ sung: quản chế, giáo dục…</a:t>
                      </a:r>
                      <a:endParaRPr sz="1800" u="none" cap="none" strike="noStrike">
                        <a:latin typeface="Times New Roman"/>
                        <a:ea typeface="Times New Roman"/>
                        <a:cs typeface="Times New Roman"/>
                        <a:sym typeface="Times New Roman"/>
                      </a:endParaRPr>
                    </a:p>
                  </a:txBody>
                  <a:tcPr marT="0" marB="0" marR="68575" marL="68575"/>
                </a:tc>
              </a:tr>
              <a:tr h="1606175">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TN hành chính</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Cá nhân, tổ chức</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Chủ thể có thẩm quyền tiến hành</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rPr lang="en-US" sz="1800" u="none" cap="none" strike="noStrike">
                          <a:latin typeface="Times New Roman"/>
                          <a:ea typeface="Times New Roman"/>
                          <a:cs typeface="Times New Roman"/>
                          <a:sym typeface="Times New Roman"/>
                        </a:rPr>
                        <a:t>Xử phạt </a:t>
                      </a:r>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 XP chính: cảnh cáo, phạt tiền, trục xuất…</a:t>
                      </a:r>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 BS: tịch thu tang vật, ptien dung để thực hiện HVVP, quản chế hành chính, giáo dục tại xã phường…</a:t>
                      </a:r>
                      <a:endParaRPr sz="1800" u="none" cap="none" strike="noStrike">
                        <a:latin typeface="Times New Roman"/>
                        <a:ea typeface="Times New Roman"/>
                        <a:cs typeface="Times New Roman"/>
                        <a:sym typeface="Times New Roman"/>
                      </a:endParaRPr>
                    </a:p>
                  </a:txBody>
                  <a:tcPr marT="0" marB="0" marR="68575" marL="68575"/>
                </a:tc>
              </a:tr>
              <a:tr h="1204625">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TN dân sự</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Cá nhân, tổ chức</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Các bên, tòa án, trọng tài</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0" marR="0" rtl="0" algn="just">
                        <a:lnSpc>
                          <a:spcPct val="100000"/>
                        </a:lnSpc>
                        <a:spcBef>
                          <a:spcPts val="1200"/>
                        </a:spcBef>
                        <a:spcAft>
                          <a:spcPts val="0"/>
                        </a:spcAft>
                        <a:buNone/>
                      </a:pPr>
                      <a:r>
                        <a:rPr lang="en-US" sz="1800" u="none" cap="none" strike="noStrike">
                          <a:latin typeface="Times New Roman"/>
                          <a:ea typeface="Times New Roman"/>
                          <a:cs typeface="Times New Roman"/>
                          <a:sym typeface="Times New Roman"/>
                        </a:rPr>
                        <a:t>Bồi thường, đính chính, xin lỗi</a:t>
                      </a:r>
                      <a:endParaRPr sz="1800" u="none" cap="none" strike="noStrike">
                        <a:latin typeface="Times New Roman"/>
                        <a:ea typeface="Times New Roman"/>
                        <a:cs typeface="Times New Roman"/>
                        <a:sym typeface="Times New Roman"/>
                      </a:endParaRPr>
                    </a:p>
                  </a:txBody>
                  <a:tcPr marT="0" marB="0" marR="68575" marL="68575"/>
                </a:tc>
              </a:tr>
              <a:tr h="722775">
                <a:tc>
                  <a:txBody>
                    <a:bodyPr/>
                    <a:lstStyle/>
                    <a:p>
                      <a:pPr indent="0" lvl="0" marL="0" marR="0" rtl="0" algn="just">
                        <a:lnSpc>
                          <a:spcPct val="100000"/>
                        </a:lnSpc>
                        <a:spcBef>
                          <a:spcPts val="0"/>
                        </a:spcBef>
                        <a:spcAft>
                          <a:spcPts val="0"/>
                        </a:spcAft>
                        <a:buNone/>
                      </a:pPr>
                      <a:r>
                        <a:rPr lang="en-US" sz="1800" u="none" cap="none" strike="noStrike">
                          <a:latin typeface="Times New Roman"/>
                          <a:ea typeface="Times New Roman"/>
                          <a:cs typeface="Times New Roman"/>
                          <a:sym typeface="Times New Roman"/>
                        </a:rPr>
                        <a:t>TN kỷ luật</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rPr lang="en-US" sz="1800" u="none" cap="none" strike="noStrike">
                          <a:latin typeface="Times New Roman"/>
                          <a:ea typeface="Times New Roman"/>
                          <a:cs typeface="Times New Roman"/>
                          <a:sym typeface="Times New Roman"/>
                        </a:rPr>
                        <a:t>Cá nhân trong tổ chức</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rPr lang="en-US" sz="1800" u="none" cap="none" strike="noStrike">
                          <a:latin typeface="Times New Roman"/>
                          <a:ea typeface="Times New Roman"/>
                          <a:cs typeface="Times New Roman"/>
                          <a:sym typeface="Times New Roman"/>
                        </a:rPr>
                        <a:t>Đại diện hợp pháp của tổ chức</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00000"/>
                        </a:lnSpc>
                        <a:spcBef>
                          <a:spcPts val="0"/>
                        </a:spcBef>
                        <a:spcAft>
                          <a:spcPts val="0"/>
                        </a:spcAft>
                        <a:buNone/>
                      </a:pPr>
                      <a:r>
                        <a:rPr lang="en-US" sz="1800" u="none" cap="none" strike="noStrike">
                          <a:latin typeface="Times New Roman"/>
                          <a:ea typeface="Times New Roman"/>
                          <a:cs typeface="Times New Roman"/>
                          <a:sym typeface="Times New Roman"/>
                        </a:rPr>
                        <a:t>Khiển trách, cảnh cáo, cách chức, hạ bậc lương, đình chỉ công tác, thôi việc</a:t>
                      </a:r>
                      <a:endParaRPr sz="1800" u="none" cap="none" strike="noStrike">
                        <a:latin typeface="Times New Roman"/>
                        <a:ea typeface="Times New Roman"/>
                        <a:cs typeface="Times New Roman"/>
                        <a:sym typeface="Times New Roman"/>
                      </a:endParaRPr>
                    </a:p>
                  </a:txBody>
                  <a:tcPr marT="0" marB="0" marR="68575" marL="68575"/>
                </a:tc>
              </a:tr>
            </a:tbl>
          </a:graphicData>
        </a:graphic>
      </p:graphicFrame>
      <p:sp>
        <p:nvSpPr>
          <p:cNvPr id="2300" name="Google Shape;2300;p148"/>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01" name="Google Shape;2301;p14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7"/>
                                        </p:tgtEl>
                                        <p:attrNameLst>
                                          <p:attrName>style.visibility</p:attrName>
                                        </p:attrNameLst>
                                      </p:cBhvr>
                                      <p:to>
                                        <p:strVal val="visible"/>
                                      </p:to>
                                    </p:set>
                                    <p:animEffect filter="fade" transition="in">
                                      <p:cBhvr>
                                        <p:cTn dur="500"/>
                                        <p:tgtEl>
                                          <p:spTgt spid="2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9"/>
                                        </p:tgtEl>
                                        <p:attrNameLst>
                                          <p:attrName>style.visibility</p:attrName>
                                        </p:attrNameLst>
                                      </p:cBhvr>
                                      <p:to>
                                        <p:strVal val="visible"/>
                                      </p:to>
                                    </p:set>
                                    <p:animEffect filter="fade" transition="in">
                                      <p:cBhvr>
                                        <p:cTn dur="2000"/>
                                        <p:tgtEl>
                                          <p:spTgt spid="2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5" name="Shape 2305"/>
        <p:cNvGrpSpPr/>
        <p:nvPr/>
      </p:nvGrpSpPr>
      <p:grpSpPr>
        <a:xfrm>
          <a:off x="0" y="0"/>
          <a:ext cx="0" cy="0"/>
          <a:chOff x="0" y="0"/>
          <a:chExt cx="0" cy="0"/>
        </a:xfrm>
      </p:grpSpPr>
      <p:sp>
        <p:nvSpPr>
          <p:cNvPr id="2306" name="Google Shape;2306;p14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Arial"/>
              <a:buNone/>
            </a:pPr>
            <a:r>
              <a:rPr lang="en-US"/>
              <a:t>Tình huống</a:t>
            </a:r>
            <a:endParaRPr/>
          </a:p>
        </p:txBody>
      </p:sp>
      <p:sp>
        <p:nvSpPr>
          <p:cNvPr id="2307" name="Google Shape;2307;p14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just">
              <a:spcBef>
                <a:spcPts val="0"/>
              </a:spcBef>
              <a:spcAft>
                <a:spcPts val="0"/>
              </a:spcAft>
              <a:buSzPct val="70000"/>
              <a:buChar char="🞆"/>
            </a:pPr>
            <a:r>
              <a:rPr lang="en-US">
                <a:latin typeface="Times New Roman"/>
                <a:ea typeface="Times New Roman"/>
                <a:cs typeface="Times New Roman"/>
                <a:sym typeface="Times New Roman"/>
              </a:rPr>
              <a:t>- Chị Thanh (40 tuổi, không chồng), có quan hệ với anh Lê Mạnh H (đã có vợ), và sinh được một đứa con (cháu Minh). Sau khi chấm dứt quan hệ với anh H, chị luôn bị một người tên Đỗ Thị Kim Duân (43 tuổi) - vợ của H, gọi điện thoại chửi mắng.</a:t>
            </a:r>
            <a:endParaRPr/>
          </a:p>
          <a:p>
            <a:pPr indent="-274320" lvl="0" marL="274320" rtl="0" algn="just">
              <a:spcBef>
                <a:spcPts val="600"/>
              </a:spcBef>
              <a:spcAft>
                <a:spcPts val="0"/>
              </a:spcAft>
              <a:buSzPct val="70000"/>
              <a:buNone/>
            </a:pPr>
            <a:r>
              <a:rPr lang="en-US">
                <a:latin typeface="Times New Roman"/>
                <a:ea typeface="Times New Roman"/>
                <a:cs typeface="Times New Roman"/>
                <a:sym typeface="Times New Roman"/>
              </a:rPr>
              <a:t>     - Ngày 06/11/2009, Duân đến nhà chị Thanh (Đông Anh, Hà Nội). Tại đây, Duân xin được bế đứa trẻ, chị Thanh đồng ý. Lấy cớ nghe điện thoại, Duân bế cháu xuống bếp và dùng chiếc kim khâu lốp dài 7cm mang theo đâm vào đỉnh thóp đầu cháu. Sợ bị phát hiện, Duân lấy mũ đậy vết đâm lại, nhưng máu chảy quá nhiều, cháu khóc thét lên nên bị mọi người phát hiện. Sau khi đưa đi cấp cứu, cháu Minh (40 ngày tuổi) qua đời.</a:t>
            </a:r>
            <a:endParaRPr/>
          </a:p>
          <a:p>
            <a:pPr indent="-274320" lvl="0" marL="274320" rtl="0" algn="just">
              <a:spcBef>
                <a:spcPts val="600"/>
              </a:spcBef>
              <a:spcAft>
                <a:spcPts val="0"/>
              </a:spcAft>
              <a:buSzPct val="70000"/>
              <a:buNone/>
            </a:pPr>
            <a:r>
              <a:rPr lang="en-US">
                <a:latin typeface="Times New Roman"/>
                <a:ea typeface="Times New Roman"/>
                <a:cs typeface="Times New Roman"/>
                <a:sym typeface="Times New Roman"/>
              </a:rPr>
              <a:t>     - Duân (sinh năm 1974, Đông Anh, Hà Nội) không có bệnh về thần kinh, chưa có tiền án, là một người làm ruộng.</a:t>
            </a:r>
            <a:endParaRPr/>
          </a:p>
          <a:p>
            <a:pPr indent="-274320" lvl="0" marL="274320" rtl="0" algn="just">
              <a:spcBef>
                <a:spcPts val="600"/>
              </a:spcBef>
              <a:spcAft>
                <a:spcPts val="0"/>
              </a:spcAft>
              <a:buSzPct val="70000"/>
              <a:buChar char="🞆"/>
            </a:pPr>
            <a:r>
              <a:rPr i="1" lang="en-US">
                <a:latin typeface="Times New Roman"/>
                <a:ea typeface="Times New Roman"/>
                <a:cs typeface="Times New Roman"/>
                <a:sym typeface="Times New Roman"/>
              </a:rPr>
              <a:t>Câu hỏi:</a:t>
            </a:r>
            <a:endParaRPr/>
          </a:p>
          <a:p>
            <a:pPr indent="-514350" lvl="0" marL="596646" rtl="0" algn="just">
              <a:spcBef>
                <a:spcPts val="600"/>
              </a:spcBef>
              <a:spcAft>
                <a:spcPts val="0"/>
              </a:spcAft>
              <a:buSzPct val="70000"/>
              <a:buNone/>
            </a:pPr>
            <a:r>
              <a:rPr lang="en-US">
                <a:latin typeface="Times New Roman"/>
                <a:ea typeface="Times New Roman"/>
                <a:cs typeface="Times New Roman"/>
                <a:sym typeface="Times New Roman"/>
              </a:rPr>
              <a:t>Phân tích cấu thành của VPPL trên?</a:t>
            </a:r>
            <a:endParaRPr>
              <a:latin typeface="Times New Roman"/>
              <a:ea typeface="Times New Roman"/>
              <a:cs typeface="Times New Roman"/>
              <a:sym typeface="Times New Roman"/>
            </a:endParaRPr>
          </a:p>
        </p:txBody>
      </p:sp>
      <p:sp>
        <p:nvSpPr>
          <p:cNvPr id="2308" name="Google Shape;2308;p149"/>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09" name="Google Shape;2309;p14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150"/>
          <p:cNvSpPr txBox="1"/>
          <p:nvPr>
            <p:ph type="title"/>
          </p:nvPr>
        </p:nvSpPr>
        <p:spPr>
          <a:xfrm>
            <a:off x="1447800" y="0"/>
            <a:ext cx="7498080" cy="7921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2800"/>
              <a:buFont typeface="Times New Roman"/>
              <a:buNone/>
            </a:pPr>
            <a:r>
              <a:rPr lang="en-US" sz="2800">
                <a:latin typeface="Times New Roman"/>
                <a:ea typeface="Times New Roman"/>
                <a:cs typeface="Times New Roman"/>
                <a:sym typeface="Times New Roman"/>
              </a:rPr>
              <a:t>Dạng bài tập xác định cấu thành tội phạm</a:t>
            </a:r>
            <a:endParaRPr sz="2800">
              <a:latin typeface="Times New Roman"/>
              <a:ea typeface="Times New Roman"/>
              <a:cs typeface="Times New Roman"/>
              <a:sym typeface="Times New Roman"/>
            </a:endParaRPr>
          </a:p>
        </p:txBody>
      </p:sp>
      <p:sp>
        <p:nvSpPr>
          <p:cNvPr id="2315" name="Google Shape;2315;p150"/>
          <p:cNvSpPr txBox="1"/>
          <p:nvPr>
            <p:ph idx="1" type="body"/>
          </p:nvPr>
        </p:nvSpPr>
        <p:spPr>
          <a:xfrm>
            <a:off x="990600" y="762000"/>
            <a:ext cx="7943088" cy="5867400"/>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SzPts val="1260"/>
              <a:buNone/>
            </a:pPr>
            <a:r>
              <a:rPr b="1" lang="en-US" sz="1800">
                <a:latin typeface="Times New Roman"/>
                <a:ea typeface="Times New Roman"/>
                <a:cs typeface="Times New Roman"/>
                <a:sym typeface="Times New Roman"/>
              </a:rPr>
              <a:t>a. Mặt khách quan:</a:t>
            </a:r>
            <a:r>
              <a:rPr lang="en-US" sz="1800">
                <a:latin typeface="Times New Roman"/>
                <a:ea typeface="Times New Roman"/>
                <a:cs typeface="Times New Roman"/>
                <a:sym typeface="Times New Roman"/>
              </a:rPr>
              <a:t> sinh viên phải chỉ ra được các yếu tố sau:</a:t>
            </a:r>
            <a:endParaRPr/>
          </a:p>
          <a:p>
            <a:pPr indent="-274320" lvl="0" marL="274320" rtl="0" algn="just">
              <a:spcBef>
                <a:spcPts val="600"/>
              </a:spcBef>
              <a:spcAft>
                <a:spcPts val="0"/>
              </a:spcAft>
              <a:buSzPts val="1260"/>
              <a:buNone/>
            </a:pPr>
            <a:r>
              <a:rPr lang="en-US" sz="1800">
                <a:latin typeface="Times New Roman"/>
                <a:ea typeface="Times New Roman"/>
                <a:cs typeface="Times New Roman"/>
                <a:sym typeface="Times New Roman"/>
              </a:rPr>
              <a:t>- Hành vi phạm tội (hành vi khách quan): miêu tả cụ thể hành vi</a:t>
            </a:r>
            <a:endParaRPr sz="1800">
              <a:latin typeface="Times New Roman"/>
              <a:ea typeface="Times New Roman"/>
              <a:cs typeface="Times New Roman"/>
              <a:sym typeface="Times New Roman"/>
            </a:endParaRPr>
          </a:p>
          <a:p>
            <a:pPr indent="-274320" lvl="0" marL="274320" rtl="0" algn="just">
              <a:spcBef>
                <a:spcPts val="600"/>
              </a:spcBef>
              <a:spcAft>
                <a:spcPts val="0"/>
              </a:spcAft>
              <a:buSzPts val="1260"/>
              <a:buNone/>
            </a:pPr>
            <a:r>
              <a:rPr lang="en-US" sz="1800">
                <a:latin typeface="Times New Roman"/>
                <a:ea typeface="Times New Roman"/>
                <a:cs typeface="Times New Roman"/>
                <a:sym typeface="Times New Roman"/>
              </a:rPr>
              <a:t>- Hậu quả của hành vi đó</a:t>
            </a:r>
            <a:endParaRPr sz="1800">
              <a:latin typeface="Times New Roman"/>
              <a:ea typeface="Times New Roman"/>
              <a:cs typeface="Times New Roman"/>
              <a:sym typeface="Times New Roman"/>
            </a:endParaRPr>
          </a:p>
          <a:p>
            <a:pPr indent="-274320" lvl="0" marL="274320" rtl="0" algn="just">
              <a:spcBef>
                <a:spcPts val="600"/>
              </a:spcBef>
              <a:spcAft>
                <a:spcPts val="0"/>
              </a:spcAft>
              <a:buSzPts val="1260"/>
              <a:buNone/>
            </a:pPr>
            <a:r>
              <a:rPr lang="en-US" sz="1800">
                <a:latin typeface="Times New Roman"/>
                <a:ea typeface="Times New Roman"/>
                <a:cs typeface="Times New Roman"/>
                <a:sym typeface="Times New Roman"/>
              </a:rPr>
              <a:t>- Mối quan hệ nhân quả giữa hành vi với hậu quả xảy ra:  nếu tình huống đã rõ ràng sinh viên chỉ cần nhấn mạnh lại là việc hậu quả xảy ra nêu trên là do hành vi khách quan gây ra…</a:t>
            </a:r>
            <a:endParaRPr/>
          </a:p>
          <a:p>
            <a:pPr indent="-274320" lvl="0" marL="274320" rtl="0" algn="just">
              <a:spcBef>
                <a:spcPts val="600"/>
              </a:spcBef>
              <a:spcAft>
                <a:spcPts val="0"/>
              </a:spcAft>
              <a:buSzPts val="1260"/>
              <a:buNone/>
            </a:pPr>
            <a:r>
              <a:rPr b="1" lang="en-US" sz="1800">
                <a:latin typeface="Times New Roman"/>
                <a:ea typeface="Times New Roman"/>
                <a:cs typeface="Times New Roman"/>
                <a:sym typeface="Times New Roman"/>
              </a:rPr>
              <a:t>b. Mặt chủ quan</a:t>
            </a:r>
            <a:r>
              <a:rPr lang="en-US" sz="1800">
                <a:latin typeface="Times New Roman"/>
                <a:ea typeface="Times New Roman"/>
                <a:cs typeface="Times New Roman"/>
                <a:sym typeface="Times New Roman"/>
              </a:rPr>
              <a:t>:  sinh viên phải chỉ ra được các yếu tố sau:</a:t>
            </a:r>
            <a:endParaRPr/>
          </a:p>
          <a:p>
            <a:pPr indent="-274320" lvl="0" marL="274320" rtl="0" algn="just">
              <a:spcBef>
                <a:spcPts val="600"/>
              </a:spcBef>
              <a:spcAft>
                <a:spcPts val="0"/>
              </a:spcAft>
              <a:buSzPts val="1260"/>
              <a:buNone/>
            </a:pPr>
            <a:r>
              <a:rPr lang="en-US" sz="1800">
                <a:latin typeface="Times New Roman"/>
                <a:ea typeface="Times New Roman"/>
                <a:cs typeface="Times New Roman"/>
                <a:sym typeface="Times New Roman"/>
              </a:rPr>
              <a:t>- Lỗi của chủ thể khi thực hiện hành vi: xác định là lỗi (là cố trực tiếp hay cố ý gián tiếp; vô ý vì quá tự tin hay vô ý do cẩu thả). Trường hợp tình tiết đưa ra không đủ để phân tích sâu hơn thì chỉ cần xác định là lỗi cố ý hay vô ý.</a:t>
            </a:r>
            <a:endParaRPr/>
          </a:p>
          <a:p>
            <a:pPr indent="-274320" lvl="0" marL="274320" rtl="0" algn="just">
              <a:spcBef>
                <a:spcPts val="600"/>
              </a:spcBef>
              <a:spcAft>
                <a:spcPts val="0"/>
              </a:spcAft>
              <a:buSzPts val="1260"/>
              <a:buNone/>
            </a:pPr>
            <a:r>
              <a:rPr lang="en-US" sz="1800">
                <a:latin typeface="Times New Roman"/>
                <a:ea typeface="Times New Roman"/>
                <a:cs typeface="Times New Roman"/>
                <a:sym typeface="Times New Roman"/>
              </a:rPr>
              <a:t>- Mục đích,  động cơ vi phạm</a:t>
            </a:r>
            <a:endParaRPr sz="1800">
              <a:latin typeface="Times New Roman"/>
              <a:ea typeface="Times New Roman"/>
              <a:cs typeface="Times New Roman"/>
              <a:sym typeface="Times New Roman"/>
            </a:endParaRPr>
          </a:p>
          <a:p>
            <a:pPr indent="-274320" lvl="0" marL="274320" rtl="0" algn="just">
              <a:spcBef>
                <a:spcPts val="600"/>
              </a:spcBef>
              <a:spcAft>
                <a:spcPts val="0"/>
              </a:spcAft>
              <a:buSzPts val="1260"/>
              <a:buNone/>
            </a:pPr>
            <a:r>
              <a:rPr b="1" lang="en-US" sz="1800">
                <a:latin typeface="Times New Roman"/>
                <a:ea typeface="Times New Roman"/>
                <a:cs typeface="Times New Roman"/>
                <a:sym typeface="Times New Roman"/>
              </a:rPr>
              <a:t>c. Chủ thể</a:t>
            </a:r>
            <a:r>
              <a:rPr lang="en-US" sz="1800">
                <a:latin typeface="Times New Roman"/>
                <a:ea typeface="Times New Roman"/>
                <a:cs typeface="Times New Roman"/>
                <a:sym typeface="Times New Roman"/>
              </a:rPr>
              <a:t>: sinh viên phải chỉ ra được các yếu tố sau:</a:t>
            </a:r>
            <a:endParaRPr/>
          </a:p>
          <a:p>
            <a:pPr indent="-274320" lvl="0" marL="274320" rtl="0" algn="just">
              <a:spcBef>
                <a:spcPts val="600"/>
              </a:spcBef>
              <a:spcAft>
                <a:spcPts val="0"/>
              </a:spcAft>
              <a:buSzPts val="1260"/>
              <a:buNone/>
            </a:pPr>
            <a:r>
              <a:rPr lang="en-US" sz="1800">
                <a:latin typeface="Times New Roman"/>
                <a:ea typeface="Times New Roman"/>
                <a:cs typeface="Times New Roman"/>
                <a:sym typeface="Times New Roman"/>
              </a:rPr>
              <a:t>Chủ thể là cá nhân thực hiện hành vi phạm tội ( phải đủ tuổi và có năng lực chịu trách nhiệm pháp lý theo quy định và là người thực hiện hành vi phạm tội)</a:t>
            </a:r>
            <a:endParaRPr/>
          </a:p>
          <a:p>
            <a:pPr indent="-274320" lvl="0" marL="274320" rtl="0" algn="just">
              <a:spcBef>
                <a:spcPts val="600"/>
              </a:spcBef>
              <a:spcAft>
                <a:spcPts val="0"/>
              </a:spcAft>
              <a:buSzPts val="1260"/>
              <a:buNone/>
            </a:pPr>
            <a:r>
              <a:rPr b="1" lang="en-US" sz="1800">
                <a:latin typeface="Times New Roman"/>
                <a:ea typeface="Times New Roman"/>
                <a:cs typeface="Times New Roman"/>
                <a:sym typeface="Times New Roman"/>
              </a:rPr>
              <a:t>d. Khách thể</a:t>
            </a:r>
            <a:r>
              <a:rPr lang="en-US" sz="1800">
                <a:latin typeface="Times New Roman"/>
                <a:ea typeface="Times New Roman"/>
                <a:cs typeface="Times New Roman"/>
                <a:sym typeface="Times New Roman"/>
              </a:rPr>
              <a:t>: sinh viên phải chỉ ra mối quan hệ xã hội mà bị hành vi trái pháp luật xâm hại tới mà được pháp luật hình sự bảo vệ.</a:t>
            </a:r>
            <a:endParaRPr/>
          </a:p>
          <a:p>
            <a:pPr indent="-194310" lvl="0" marL="274320" rtl="0" algn="just">
              <a:spcBef>
                <a:spcPts val="600"/>
              </a:spcBef>
              <a:spcAft>
                <a:spcPts val="0"/>
              </a:spcAft>
              <a:buSzPts val="1260"/>
              <a:buNone/>
            </a:pPr>
            <a:r>
              <a:t/>
            </a:r>
            <a:endParaRPr sz="1800">
              <a:latin typeface="Times New Roman"/>
              <a:ea typeface="Times New Roman"/>
              <a:cs typeface="Times New Roman"/>
              <a:sym typeface="Times New Roman"/>
            </a:endParaRPr>
          </a:p>
        </p:txBody>
      </p:sp>
      <p:sp>
        <p:nvSpPr>
          <p:cNvPr id="2316" name="Google Shape;2316;p15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17" name="Google Shape;2317;p15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1" name="Shape 2321"/>
        <p:cNvGrpSpPr/>
        <p:nvPr/>
      </p:nvGrpSpPr>
      <p:grpSpPr>
        <a:xfrm>
          <a:off x="0" y="0"/>
          <a:ext cx="0" cy="0"/>
          <a:chOff x="0" y="0"/>
          <a:chExt cx="0" cy="0"/>
        </a:xfrm>
      </p:grpSpPr>
      <p:sp>
        <p:nvSpPr>
          <p:cNvPr id="2322" name="Google Shape;2322;p151"/>
          <p:cNvSpPr txBox="1"/>
          <p:nvPr>
            <p:ph type="title"/>
          </p:nvPr>
        </p:nvSpPr>
        <p:spPr>
          <a:xfrm>
            <a:off x="1219200" y="0"/>
            <a:ext cx="7498080" cy="1020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4.10	Ý THỨC PHÁP LUẬT &amp; </a:t>
            </a:r>
            <a:r>
              <a:rPr lang="en-US" sz="3200">
                <a:solidFill>
                  <a:srgbClr val="FF0000"/>
                </a:solidFill>
                <a:latin typeface="Times New Roman"/>
                <a:ea typeface="Times New Roman"/>
                <a:cs typeface="Times New Roman"/>
                <a:sym typeface="Times New Roman"/>
              </a:rPr>
              <a:t>Pháp chế</a:t>
            </a:r>
            <a:r>
              <a:rPr lang="en-US" sz="3200">
                <a:latin typeface="Times New Roman"/>
                <a:ea typeface="Times New Roman"/>
                <a:cs typeface="Times New Roman"/>
                <a:sym typeface="Times New Roman"/>
              </a:rPr>
              <a:t> </a:t>
            </a:r>
            <a:endParaRPr sz="3200">
              <a:latin typeface="Times New Roman"/>
              <a:ea typeface="Times New Roman"/>
              <a:cs typeface="Times New Roman"/>
              <a:sym typeface="Times New Roman"/>
            </a:endParaRPr>
          </a:p>
        </p:txBody>
      </p:sp>
      <p:sp>
        <p:nvSpPr>
          <p:cNvPr id="2323" name="Google Shape;2323;p151"/>
          <p:cNvSpPr txBox="1"/>
          <p:nvPr>
            <p:ph idx="1" type="body"/>
          </p:nvPr>
        </p:nvSpPr>
        <p:spPr>
          <a:xfrm>
            <a:off x="457200" y="1143000"/>
            <a:ext cx="7924800" cy="53309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latin typeface="Times New Roman"/>
                <a:ea typeface="Times New Roman"/>
                <a:cs typeface="Times New Roman"/>
                <a:sym typeface="Times New Roman"/>
              </a:rPr>
              <a:t>4.10.1	Ý THỨC PHÁP LUẬT</a:t>
            </a:r>
            <a:endParaRPr sz="2400">
              <a:latin typeface="Times New Roman"/>
              <a:ea typeface="Times New Roman"/>
              <a:cs typeface="Times New Roman"/>
              <a:sym typeface="Times New Roman"/>
            </a:endParaRPr>
          </a:p>
          <a:p>
            <a:pPr indent="-274320" lvl="0" marL="274320" rtl="0" algn="l">
              <a:spcBef>
                <a:spcPts val="600"/>
              </a:spcBef>
              <a:spcAft>
                <a:spcPts val="0"/>
              </a:spcAft>
              <a:buSzPts val="1680"/>
              <a:buNone/>
            </a:pPr>
            <a:r>
              <a:rPr lang="en-US" sz="2400">
                <a:latin typeface="Times New Roman"/>
                <a:ea typeface="Times New Roman"/>
                <a:cs typeface="Times New Roman"/>
                <a:sym typeface="Times New Roman"/>
              </a:rPr>
              <a:t>Định nghĩa</a:t>
            </a:r>
            <a:endParaRPr sz="2400">
              <a:latin typeface="Times New Roman"/>
              <a:ea typeface="Times New Roman"/>
              <a:cs typeface="Times New Roman"/>
              <a:sym typeface="Times New Roman"/>
            </a:endParaRPr>
          </a:p>
        </p:txBody>
      </p:sp>
      <p:sp>
        <p:nvSpPr>
          <p:cNvPr id="2324" name="Google Shape;2324;p151"/>
          <p:cNvSpPr/>
          <p:nvPr/>
        </p:nvSpPr>
        <p:spPr>
          <a:xfrm>
            <a:off x="609600" y="1828800"/>
            <a:ext cx="7620000" cy="3810000"/>
          </a:xfrm>
          <a:prstGeom prst="horizontalScroll">
            <a:avLst>
              <a:gd fmla="val 12500" name="adj"/>
            </a:avLst>
          </a:prstGeom>
          <a:solidFill>
            <a:srgbClr val="F8CCC6"/>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Times New Roman"/>
                <a:ea typeface="Times New Roman"/>
                <a:cs typeface="Times New Roman"/>
                <a:sym typeface="Times New Roman"/>
              </a:rPr>
              <a:t>YTPL là tổng thể những tư tưởng, tình cảm, thái độ, học thuyết của con người về vấn đề pháp luật trong quá khứ, hiện tại, tương lai cũng như hành vi xử sự của cơ quan nhà nước, người có thẩm quyền và mọi công dân</a:t>
            </a:r>
            <a:endParaRPr sz="2800">
              <a:solidFill>
                <a:schemeClr val="dk1"/>
              </a:solidFill>
              <a:latin typeface="Times New Roman"/>
              <a:ea typeface="Times New Roman"/>
              <a:cs typeface="Times New Roman"/>
              <a:sym typeface="Times New Roman"/>
            </a:endParaRPr>
          </a:p>
        </p:txBody>
      </p:sp>
      <p:sp>
        <p:nvSpPr>
          <p:cNvPr id="2325" name="Google Shape;2325;p151"/>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26" name="Google Shape;2326;p15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2"/>
                                        </p:tgtEl>
                                        <p:attrNameLst>
                                          <p:attrName>style.visibility</p:attrName>
                                        </p:attrNameLst>
                                      </p:cBhvr>
                                      <p:to>
                                        <p:strVal val="visible"/>
                                      </p:to>
                                    </p:set>
                                    <p:animEffect filter="fade" transition="in">
                                      <p:cBhvr>
                                        <p:cTn dur="500"/>
                                        <p:tgtEl>
                                          <p:spTgt spid="2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3">
                                            <p:txEl>
                                              <p:pRg end="0" st="0"/>
                                            </p:txEl>
                                          </p:spTgt>
                                        </p:tgtEl>
                                        <p:attrNameLst>
                                          <p:attrName>style.visibility</p:attrName>
                                        </p:attrNameLst>
                                      </p:cBhvr>
                                      <p:to>
                                        <p:strVal val="visible"/>
                                      </p:to>
                                    </p:set>
                                    <p:animEffect filter="fade" transition="in">
                                      <p:cBhvr>
                                        <p:cTn dur="500"/>
                                        <p:tgtEl>
                                          <p:spTgt spid="23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3">
                                            <p:txEl>
                                              <p:pRg end="1" st="1"/>
                                            </p:txEl>
                                          </p:spTgt>
                                        </p:tgtEl>
                                        <p:attrNameLst>
                                          <p:attrName>style.visibility</p:attrName>
                                        </p:attrNameLst>
                                      </p:cBhvr>
                                      <p:to>
                                        <p:strVal val="visible"/>
                                      </p:to>
                                    </p:set>
                                    <p:animEffect filter="fade" transition="in">
                                      <p:cBhvr>
                                        <p:cTn dur="500"/>
                                        <p:tgtEl>
                                          <p:spTgt spid="23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24"/>
                                        </p:tgtEl>
                                        <p:attrNameLst>
                                          <p:attrName>style.visibility</p:attrName>
                                        </p:attrNameLst>
                                      </p:cBhvr>
                                      <p:to>
                                        <p:strVal val="visible"/>
                                      </p:to>
                                    </p:set>
                                    <p:anim calcmode="lin" valueType="num">
                                      <p:cBhvr additive="base">
                                        <p:cTn dur="500"/>
                                        <p:tgtEl>
                                          <p:spTgt spid="232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0" name="Shape 2330"/>
        <p:cNvGrpSpPr/>
        <p:nvPr/>
      </p:nvGrpSpPr>
      <p:grpSpPr>
        <a:xfrm>
          <a:off x="0" y="0"/>
          <a:ext cx="0" cy="0"/>
          <a:chOff x="0" y="0"/>
          <a:chExt cx="0" cy="0"/>
        </a:xfrm>
      </p:grpSpPr>
      <p:sp>
        <p:nvSpPr>
          <p:cNvPr id="2331" name="Google Shape;2331;p152"/>
          <p:cNvSpPr txBox="1"/>
          <p:nvPr>
            <p:ph type="title"/>
          </p:nvPr>
        </p:nvSpPr>
        <p:spPr>
          <a:xfrm>
            <a:off x="1447800" y="0"/>
            <a:ext cx="7498080" cy="9144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Times New Roman"/>
              <a:buNone/>
            </a:pPr>
            <a:r>
              <a:rPr lang="en-US" sz="2800">
                <a:latin typeface="Times New Roman"/>
                <a:ea typeface="Times New Roman"/>
                <a:cs typeface="Times New Roman"/>
                <a:sym typeface="Times New Roman"/>
              </a:rPr>
              <a:t>4.10.1 Ý THỨC PHÁP LUẬT</a:t>
            </a:r>
            <a:br>
              <a:rPr lang="en-US" sz="2800">
                <a:latin typeface="Times New Roman"/>
                <a:ea typeface="Times New Roman"/>
                <a:cs typeface="Times New Roman"/>
                <a:sym typeface="Times New Roman"/>
              </a:rPr>
            </a:br>
            <a:r>
              <a:rPr lang="en-US" sz="2800">
                <a:latin typeface="Times New Roman"/>
                <a:ea typeface="Times New Roman"/>
                <a:cs typeface="Times New Roman"/>
                <a:sym typeface="Times New Roman"/>
              </a:rPr>
              <a:t>Đặc điểm</a:t>
            </a:r>
            <a:endParaRPr sz="2800">
              <a:latin typeface="Times New Roman"/>
              <a:ea typeface="Times New Roman"/>
              <a:cs typeface="Times New Roman"/>
              <a:sym typeface="Times New Roman"/>
            </a:endParaRPr>
          </a:p>
        </p:txBody>
      </p:sp>
      <p:sp>
        <p:nvSpPr>
          <p:cNvPr id="2332" name="Google Shape;2332;p152"/>
          <p:cNvSpPr/>
          <p:nvPr/>
        </p:nvSpPr>
        <p:spPr>
          <a:xfrm>
            <a:off x="228600" y="990600"/>
            <a:ext cx="8020050" cy="962406"/>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lt1"/>
                </a:solidFill>
                <a:latin typeface="Times New Roman"/>
                <a:ea typeface="Times New Roman"/>
                <a:cs typeface="Times New Roman"/>
                <a:sym typeface="Times New Roman"/>
              </a:rPr>
              <a:t>YTPL có mối quan hệ biện chứng với tồn tại xã hội</a:t>
            </a:r>
            <a:endParaRPr sz="1800">
              <a:solidFill>
                <a:schemeClr val="lt1"/>
              </a:solidFill>
              <a:latin typeface="Times New Roman"/>
              <a:ea typeface="Times New Roman"/>
              <a:cs typeface="Times New Roman"/>
              <a:sym typeface="Times New Roman"/>
            </a:endParaRPr>
          </a:p>
        </p:txBody>
      </p:sp>
      <p:sp>
        <p:nvSpPr>
          <p:cNvPr id="2333" name="Google Shape;2333;p152"/>
          <p:cNvSpPr/>
          <p:nvPr/>
        </p:nvSpPr>
        <p:spPr>
          <a:xfrm>
            <a:off x="228600" y="2097366"/>
            <a:ext cx="8020050" cy="962406"/>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Với tính cách là một hình thái ý thức xã hội, ý thức pháp luật chịu sự quyết định của tồn tại xã hội</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YTPL có tính độc lập tương đối với tồn tại xã hội, cụ thể:</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 YTPL thường lạc hậu hơn so với tồn tại xã hội</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 Trong những trường hợp nhất định, YTPL thể hiện tính tiên phong của mình hay tính vượt trước so với tồn tại xã hội</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 Ý thức pháp luật phản ánh tồn tại xã hội có tính kế thừa </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Ý thức pháp luật tác động trở lại đối với tồn tại xã hội., là động lực thúc đẩy hoặc kìm hãm sự phát triển của các sự vật hiện tượng</a:t>
            </a:r>
            <a:endParaRPr b="0" i="0" sz="1800" u="none" cap="none" strike="noStrike">
              <a:solidFill>
                <a:schemeClr val="dk1"/>
              </a:solidFill>
              <a:latin typeface="Times New Roman"/>
              <a:ea typeface="Times New Roman"/>
              <a:cs typeface="Times New Roman"/>
              <a:sym typeface="Times New Roman"/>
            </a:endParaRPr>
          </a:p>
        </p:txBody>
      </p:sp>
      <p:sp>
        <p:nvSpPr>
          <p:cNvPr id="2334" name="Google Shape;2334;p152"/>
          <p:cNvSpPr/>
          <p:nvPr/>
        </p:nvSpPr>
        <p:spPr>
          <a:xfrm>
            <a:off x="228600" y="3204132"/>
            <a:ext cx="8020050" cy="962406"/>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lt1"/>
                </a:solidFill>
                <a:latin typeface="Times New Roman"/>
                <a:ea typeface="Times New Roman"/>
                <a:cs typeface="Times New Roman"/>
                <a:sym typeface="Times New Roman"/>
              </a:rPr>
              <a:t>YTPL là hiện tượng mang tính giai cấp</a:t>
            </a:r>
            <a:endParaRPr sz="1800">
              <a:solidFill>
                <a:schemeClr val="lt1"/>
              </a:solidFill>
              <a:latin typeface="Times New Roman"/>
              <a:ea typeface="Times New Roman"/>
              <a:cs typeface="Times New Roman"/>
              <a:sym typeface="Times New Roman"/>
            </a:endParaRPr>
          </a:p>
        </p:txBody>
      </p:sp>
      <p:sp>
        <p:nvSpPr>
          <p:cNvPr id="2335" name="Google Shape;2335;p152"/>
          <p:cNvSpPr/>
          <p:nvPr/>
        </p:nvSpPr>
        <p:spPr>
          <a:xfrm>
            <a:off x="228600" y="4310898"/>
            <a:ext cx="8020050" cy="962406"/>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Mỗi quốc gia chỉ có một hệ thống pháp luật, nhưng tồn tại một số hình thái ý thức pháp luật: Có ý thức pháp luật của giai cấp thống trị, ý thức pháp luật của các giai cấp bị trị, của các tầng lớp trung gian</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hiểu biết, thái độ của các giai cấp đối với pháp luật là khác nhau và thông thường chỉ có ý thức pháp luật của giai cấp cầm quyền mới được phản ánh trong pháp luật</a:t>
            </a:r>
            <a:endParaRPr b="0" i="0" sz="1800" u="none" cap="none" strike="noStrike">
              <a:solidFill>
                <a:schemeClr val="dk1"/>
              </a:solidFill>
              <a:latin typeface="Times New Roman"/>
              <a:ea typeface="Times New Roman"/>
              <a:cs typeface="Times New Roman"/>
              <a:sym typeface="Times New Roman"/>
            </a:endParaRPr>
          </a:p>
        </p:txBody>
      </p:sp>
      <p:sp>
        <p:nvSpPr>
          <p:cNvPr id="2336" name="Google Shape;2336;p152"/>
          <p:cNvSpPr/>
          <p:nvPr/>
        </p:nvSpPr>
        <p:spPr>
          <a:xfrm>
            <a:off x="228600" y="5417664"/>
            <a:ext cx="8020050" cy="962406"/>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lt1"/>
                </a:solidFill>
                <a:latin typeface="Times New Roman"/>
                <a:ea typeface="Times New Roman"/>
                <a:cs typeface="Times New Roman"/>
                <a:sym typeface="Times New Roman"/>
              </a:rPr>
              <a:t>YTPL thể hiện tính dân tộc sâu sắc</a:t>
            </a:r>
            <a:endParaRPr sz="1800">
              <a:solidFill>
                <a:schemeClr val="lt1"/>
              </a:solidFill>
              <a:latin typeface="Times New Roman"/>
              <a:ea typeface="Times New Roman"/>
              <a:cs typeface="Times New Roman"/>
              <a:sym typeface="Times New Roman"/>
            </a:endParaRPr>
          </a:p>
        </p:txBody>
      </p:sp>
      <p:sp>
        <p:nvSpPr>
          <p:cNvPr id="2337" name="Google Shape;2337;p152"/>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38" name="Google Shape;2338;p15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1"/>
                                        </p:tgtEl>
                                        <p:attrNameLst>
                                          <p:attrName>style.visibility</p:attrName>
                                        </p:attrNameLst>
                                      </p:cBhvr>
                                      <p:to>
                                        <p:strVal val="visible"/>
                                      </p:to>
                                    </p:set>
                                    <p:animEffect filter="fade" transition="in">
                                      <p:cBhvr>
                                        <p:cTn dur="500"/>
                                        <p:tgtEl>
                                          <p:spTgt spid="23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2" name="Shape 2342"/>
        <p:cNvGrpSpPr/>
        <p:nvPr/>
      </p:nvGrpSpPr>
      <p:grpSpPr>
        <a:xfrm>
          <a:off x="0" y="0"/>
          <a:ext cx="0" cy="0"/>
          <a:chOff x="0" y="0"/>
          <a:chExt cx="0" cy="0"/>
        </a:xfrm>
      </p:grpSpPr>
      <p:sp>
        <p:nvSpPr>
          <p:cNvPr id="2343" name="Google Shape;2343;p153"/>
          <p:cNvSpPr txBox="1"/>
          <p:nvPr>
            <p:ph type="title"/>
          </p:nvPr>
        </p:nvSpPr>
        <p:spPr>
          <a:xfrm>
            <a:off x="1371600" y="0"/>
            <a:ext cx="7498080" cy="8683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Cấu trúc của YTPL</a:t>
            </a:r>
            <a:endParaRPr sz="2800">
              <a:solidFill>
                <a:srgbClr val="FF0000"/>
              </a:solidFill>
              <a:latin typeface="Times New Roman"/>
              <a:ea typeface="Times New Roman"/>
              <a:cs typeface="Times New Roman"/>
              <a:sym typeface="Times New Roman"/>
            </a:endParaRPr>
          </a:p>
        </p:txBody>
      </p:sp>
      <p:sp>
        <p:nvSpPr>
          <p:cNvPr id="2344" name="Google Shape;2344;p153"/>
          <p:cNvSpPr/>
          <p:nvPr/>
        </p:nvSpPr>
        <p:spPr>
          <a:xfrm>
            <a:off x="304800" y="914400"/>
            <a:ext cx="8629650" cy="5715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Căn cứ vào nội dung, tính chất của các bộ phận hợp thành</a:t>
            </a:r>
            <a:endParaRPr b="0" i="0" sz="16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60"/>
              </a:spcBef>
              <a:spcAft>
                <a:spcPts val="0"/>
              </a:spcAft>
              <a:buClr>
                <a:schemeClr val="dk1"/>
              </a:buClr>
              <a:buSzPts val="1600"/>
              <a:buFont typeface="Times New Roman"/>
              <a:buChar char="•"/>
            </a:pPr>
            <a:r>
              <a:rPr b="1" i="0" lang="en-US" sz="1600" u="none" cap="none" strike="noStrike">
                <a:solidFill>
                  <a:schemeClr val="dk1"/>
                </a:solidFill>
                <a:latin typeface="Times New Roman"/>
                <a:ea typeface="Times New Roman"/>
                <a:cs typeface="Times New Roman"/>
                <a:sym typeface="Times New Roman"/>
              </a:rPr>
              <a:t>Tư tưởng pháp luật</a:t>
            </a:r>
            <a:endParaRPr b="1" i="0" sz="16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6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là tổng thể những tư tưởng, quan điểm, phạm trù, khái niệm, học thuyết về pháp luật, tức là mọi vấn đề lý luận về pháp luật, về thượng tầng kiến trúc pháp lý của xã hội</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400"/>
              <a:buFont typeface="Times New Roman"/>
              <a:buChar char="•"/>
            </a:pPr>
            <a:r>
              <a:rPr b="1" i="0" lang="en-US" sz="1400" u="none" cap="none" strike="noStrike">
                <a:solidFill>
                  <a:schemeClr val="dk1"/>
                </a:solidFill>
                <a:latin typeface="Times New Roman"/>
                <a:ea typeface="Times New Roman"/>
                <a:cs typeface="Times New Roman"/>
                <a:sym typeface="Times New Roman"/>
              </a:rPr>
              <a:t>Tâm lý pháp luật</a:t>
            </a:r>
            <a:r>
              <a:rPr b="0" i="0" lang="en-US" sz="1400" u="none" cap="none" strike="noStrike">
                <a:solidFill>
                  <a:schemeClr val="dk1"/>
                </a:solidFill>
                <a:latin typeface="Times New Roman"/>
                <a:ea typeface="Times New Roman"/>
                <a:cs typeface="Times New Roman"/>
                <a:sym typeface="Times New Roman"/>
              </a:rPr>
              <a:t> </a:t>
            </a:r>
            <a:endParaRPr/>
          </a:p>
          <a:p>
            <a:pPr indent="-114300" lvl="2" marL="228600" marR="0" rtl="0" algn="l">
              <a:lnSpc>
                <a:spcPct val="75000"/>
              </a:lnSpc>
              <a:spcBef>
                <a:spcPts val="14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được thể hiện qua thái độ, tình cảm, tâm trạng, xúc cảm đối với pháp luật và các hiện tượng pháp lý khác, được hình thành một cách tự phát thông qua giao tiếp và dưới tác động của các hiện tượng pháp lý, phản ứng một cách tự nhiên của con người đối với các hiện tượng đó</a:t>
            </a:r>
            <a:endParaRPr b="0" i="0" sz="14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Căn cứ vào cấp độ giới hạn của sự nhận thức</a:t>
            </a:r>
            <a:endParaRPr b="0" i="0" sz="16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60"/>
              </a:spcBef>
              <a:spcAft>
                <a:spcPts val="0"/>
              </a:spcAft>
              <a:buClr>
                <a:schemeClr val="dk1"/>
              </a:buClr>
              <a:buSzPts val="1600"/>
              <a:buFont typeface="Times New Roman"/>
              <a:buChar char="•"/>
            </a:pPr>
            <a:r>
              <a:rPr b="1" i="0" lang="en-US" sz="1600" u="none" cap="none" strike="noStrike">
                <a:solidFill>
                  <a:schemeClr val="dk1"/>
                </a:solidFill>
                <a:latin typeface="Times New Roman"/>
                <a:ea typeface="Times New Roman"/>
                <a:cs typeface="Times New Roman"/>
                <a:sym typeface="Times New Roman"/>
              </a:rPr>
              <a:t>YTPL thông thường</a:t>
            </a:r>
            <a:endParaRPr b="0" i="0" sz="16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6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là kinh nghiệm của chủ thể về Pl, chỉ phản ánh đc các mối lien hệ bên ngoài của PL mà chưa phản ánh đc bản chất của PL</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600"/>
              <a:buFont typeface="Times New Roman"/>
              <a:buChar char="•"/>
            </a:pPr>
            <a:r>
              <a:rPr b="1" i="0" lang="en-US" sz="1600" u="none" cap="none" strike="noStrike">
                <a:solidFill>
                  <a:schemeClr val="dk1"/>
                </a:solidFill>
                <a:latin typeface="Times New Roman"/>
                <a:ea typeface="Times New Roman"/>
                <a:cs typeface="Times New Roman"/>
                <a:sym typeface="Times New Roman"/>
              </a:rPr>
              <a:t>YTPL mang tính lý luận</a:t>
            </a:r>
            <a:r>
              <a:rPr b="0" i="0" lang="en-US" sz="1600" u="none" cap="none" strike="noStrike">
                <a:solidFill>
                  <a:schemeClr val="dk1"/>
                </a:solidFill>
                <a:latin typeface="Times New Roman"/>
                <a:ea typeface="Times New Roman"/>
                <a:cs typeface="Times New Roman"/>
                <a:sym typeface="Times New Roman"/>
              </a:rPr>
              <a:t> </a:t>
            </a:r>
            <a:endParaRPr/>
          </a:p>
          <a:p>
            <a:pPr indent="-114300" lvl="2" marL="228600" marR="0" rtl="0" algn="l">
              <a:lnSpc>
                <a:spcPct val="75000"/>
              </a:lnSpc>
              <a:spcBef>
                <a:spcPts val="16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là hệ thống các học thuyết, tư tưởng, quan điểm, quan niệm về Pl, phản ánh được mối lien hệ bên trong, bản chất của pháp luật</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Căn cứ vào chủ thể</a:t>
            </a:r>
            <a:endParaRPr b="0" i="0" sz="16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60"/>
              </a:spcBef>
              <a:spcAft>
                <a:spcPts val="0"/>
              </a:spcAft>
              <a:buClr>
                <a:schemeClr val="dk1"/>
              </a:buClr>
              <a:buSzPts val="1600"/>
              <a:buFont typeface="Times New Roman"/>
              <a:buChar char="•"/>
            </a:pPr>
            <a:r>
              <a:rPr b="1" i="0" lang="en-US" sz="1600" u="none" cap="none" strike="noStrike">
                <a:solidFill>
                  <a:schemeClr val="dk1"/>
                </a:solidFill>
                <a:latin typeface="Times New Roman"/>
                <a:ea typeface="Times New Roman"/>
                <a:cs typeface="Times New Roman"/>
                <a:sym typeface="Times New Roman"/>
              </a:rPr>
              <a:t>YTPL xã hội</a:t>
            </a:r>
            <a:r>
              <a:rPr b="0" i="0" lang="en-US" sz="1600" u="none" cap="none" strike="noStrike">
                <a:solidFill>
                  <a:schemeClr val="dk1"/>
                </a:solidFill>
                <a:latin typeface="Times New Roman"/>
                <a:ea typeface="Times New Roman"/>
                <a:cs typeface="Times New Roman"/>
                <a:sym typeface="Times New Roman"/>
              </a:rPr>
              <a:t>: là ý thức của bộ phân tiên tiến trong XH, phản ánh xu thế phát triển của XH</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600"/>
              <a:buFont typeface="Times New Roman"/>
              <a:buChar char="•"/>
            </a:pPr>
            <a:r>
              <a:rPr b="1" i="0" lang="en-US" sz="1600" u="none" cap="none" strike="noStrike">
                <a:solidFill>
                  <a:schemeClr val="dk1"/>
                </a:solidFill>
                <a:latin typeface="Times New Roman"/>
                <a:ea typeface="Times New Roman"/>
                <a:cs typeface="Times New Roman"/>
                <a:sym typeface="Times New Roman"/>
              </a:rPr>
              <a:t>YTPL nhóm</a:t>
            </a:r>
            <a:r>
              <a:rPr b="0" i="0" lang="en-US" sz="1600" u="none" cap="none" strike="noStrike">
                <a:solidFill>
                  <a:schemeClr val="dk1"/>
                </a:solidFill>
                <a:latin typeface="Times New Roman"/>
                <a:ea typeface="Times New Roman"/>
                <a:cs typeface="Times New Roman"/>
                <a:sym typeface="Times New Roman"/>
              </a:rPr>
              <a:t>: là YTPL của 1 nhóm người (cùng nghề nghiệp, cùng lợi ích…)</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600"/>
              <a:buFont typeface="Times New Roman"/>
              <a:buChar char="•"/>
            </a:pPr>
            <a:r>
              <a:rPr b="1" i="0" lang="en-US" sz="1600" u="none" cap="none" strike="noStrike">
                <a:solidFill>
                  <a:schemeClr val="dk1"/>
                </a:solidFill>
                <a:latin typeface="Times New Roman"/>
                <a:ea typeface="Times New Roman"/>
                <a:cs typeface="Times New Roman"/>
                <a:sym typeface="Times New Roman"/>
              </a:rPr>
              <a:t>YTPL cá nhân</a:t>
            </a:r>
            <a:r>
              <a:rPr b="0" i="0" lang="en-US" sz="1600" u="none" cap="none" strike="noStrike">
                <a:solidFill>
                  <a:schemeClr val="dk1"/>
                </a:solidFill>
                <a:latin typeface="Times New Roman"/>
                <a:ea typeface="Times New Roman"/>
                <a:cs typeface="Times New Roman"/>
                <a:sym typeface="Times New Roman"/>
              </a:rPr>
              <a:t>: là ý thức pháp luật của mỗi người</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45" name="Google Shape;2345;p153"/>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46" name="Google Shape;2346;p15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0" name="Shape 2350"/>
        <p:cNvGrpSpPr/>
        <p:nvPr/>
      </p:nvGrpSpPr>
      <p:grpSpPr>
        <a:xfrm>
          <a:off x="0" y="0"/>
          <a:ext cx="0" cy="0"/>
          <a:chOff x="0" y="0"/>
          <a:chExt cx="0" cy="0"/>
        </a:xfrm>
      </p:grpSpPr>
      <p:sp>
        <p:nvSpPr>
          <p:cNvPr id="2351" name="Google Shape;2351;p154"/>
          <p:cNvSpPr txBox="1"/>
          <p:nvPr>
            <p:ph type="title"/>
          </p:nvPr>
        </p:nvSpPr>
        <p:spPr>
          <a:xfrm>
            <a:off x="1435608" y="0"/>
            <a:ext cx="7498080" cy="762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Tự nghiên cứu</a:t>
            </a:r>
            <a:endParaRPr sz="3200">
              <a:latin typeface="Times New Roman"/>
              <a:ea typeface="Times New Roman"/>
              <a:cs typeface="Times New Roman"/>
              <a:sym typeface="Times New Roman"/>
            </a:endParaRPr>
          </a:p>
        </p:txBody>
      </p:sp>
      <p:sp>
        <p:nvSpPr>
          <p:cNvPr id="2352" name="Google Shape;2352;p154"/>
          <p:cNvSpPr txBox="1"/>
          <p:nvPr>
            <p:ph idx="1" type="body"/>
          </p:nvPr>
        </p:nvSpPr>
        <p:spPr>
          <a:xfrm>
            <a:off x="990600" y="914400"/>
            <a:ext cx="7943088" cy="5715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None/>
            </a:pPr>
            <a:r>
              <a:rPr lang="en-US" sz="2000">
                <a:latin typeface="Times New Roman"/>
                <a:ea typeface="Times New Roman"/>
                <a:cs typeface="Times New Roman"/>
                <a:sym typeface="Times New Roman"/>
              </a:rPr>
              <a:t>1. </a:t>
            </a:r>
            <a:r>
              <a:rPr b="1" lang="en-US" sz="2000">
                <a:latin typeface="Times New Roman"/>
                <a:ea typeface="Times New Roman"/>
                <a:cs typeface="Times New Roman"/>
                <a:sym typeface="Times New Roman"/>
              </a:rPr>
              <a:t>Mối quan hệ giữa YTPL và pháp luật</a:t>
            </a:r>
            <a:r>
              <a:rPr lang="en-US" sz="2000">
                <a:latin typeface="Times New Roman"/>
                <a:ea typeface="Times New Roman"/>
                <a:cs typeface="Times New Roman"/>
                <a:sym typeface="Times New Roman"/>
              </a:rPr>
              <a:t>:</a:t>
            </a:r>
            <a:endParaRPr/>
          </a:p>
          <a:p>
            <a:pPr indent="-274320" lvl="0" marL="274320" rtl="0" algn="l">
              <a:spcBef>
                <a:spcPts val="600"/>
              </a:spcBef>
              <a:spcAft>
                <a:spcPts val="0"/>
              </a:spcAft>
              <a:buSzPts val="1400"/>
              <a:buChar char="🞆"/>
            </a:pPr>
            <a:r>
              <a:rPr lang="en-US" sz="2000">
                <a:latin typeface="Times New Roman"/>
                <a:ea typeface="Times New Roman"/>
                <a:cs typeface="Times New Roman"/>
                <a:sym typeface="Times New Roman"/>
              </a:rPr>
              <a:t>Sự tác động của YTPL đối với PL:</a:t>
            </a:r>
            <a:endParaRPr/>
          </a:p>
          <a:p>
            <a:pPr indent="-274320" lvl="0" marL="274320" rtl="0" algn="l">
              <a:spcBef>
                <a:spcPts val="600"/>
              </a:spcBef>
              <a:spcAft>
                <a:spcPts val="0"/>
              </a:spcAft>
              <a:buSzPts val="1400"/>
              <a:buFont typeface="Noto Sans Symbols"/>
              <a:buChar char="✔"/>
            </a:pPr>
            <a:r>
              <a:rPr lang="en-US" sz="2000">
                <a:latin typeface="Times New Roman"/>
                <a:ea typeface="Times New Roman"/>
                <a:cs typeface="Times New Roman"/>
                <a:sym typeface="Times New Roman"/>
              </a:rPr>
              <a:t>YTPL là tiền đề tư tưởng trực tiếp để xây dựng và hoàn thiện pháp luật</a:t>
            </a:r>
            <a:endParaRPr sz="2000">
              <a:latin typeface="Times New Roman"/>
              <a:ea typeface="Times New Roman"/>
              <a:cs typeface="Times New Roman"/>
              <a:sym typeface="Times New Roman"/>
            </a:endParaRPr>
          </a:p>
          <a:p>
            <a:pPr indent="-274320" lvl="0" marL="274320" rtl="0" algn="l">
              <a:spcBef>
                <a:spcPts val="600"/>
              </a:spcBef>
              <a:spcAft>
                <a:spcPts val="0"/>
              </a:spcAft>
              <a:buSzPts val="1400"/>
              <a:buFont typeface="Noto Sans Symbols"/>
              <a:buChar char="✔"/>
            </a:pPr>
            <a:r>
              <a:rPr lang="en-US" sz="2000">
                <a:latin typeface="Times New Roman"/>
                <a:ea typeface="Times New Roman"/>
                <a:cs typeface="Times New Roman"/>
                <a:sym typeface="Times New Roman"/>
              </a:rPr>
              <a:t>YTPL góp phần nâng cao việc thực hiện pháp luật</a:t>
            </a:r>
            <a:endParaRPr sz="2000">
              <a:latin typeface="Times New Roman"/>
              <a:ea typeface="Times New Roman"/>
              <a:cs typeface="Times New Roman"/>
              <a:sym typeface="Times New Roman"/>
            </a:endParaRPr>
          </a:p>
          <a:p>
            <a:pPr indent="-274320" lvl="0" marL="274320" rtl="0" algn="l">
              <a:spcBef>
                <a:spcPts val="600"/>
              </a:spcBef>
              <a:spcAft>
                <a:spcPts val="0"/>
              </a:spcAft>
              <a:buSzPts val="1400"/>
              <a:buFont typeface="Noto Sans Symbols"/>
              <a:buChar char="✔"/>
            </a:pPr>
            <a:r>
              <a:rPr lang="en-US" sz="2000">
                <a:latin typeface="Times New Roman"/>
                <a:ea typeface="Times New Roman"/>
                <a:cs typeface="Times New Roman"/>
                <a:sym typeface="Times New Roman"/>
              </a:rPr>
              <a:t>YTPL là đảm bảo cho hoạt động áp dụng pl đúng đắn, khách quan</a:t>
            </a:r>
            <a:endParaRPr sz="2000">
              <a:latin typeface="Times New Roman"/>
              <a:ea typeface="Times New Roman"/>
              <a:cs typeface="Times New Roman"/>
              <a:sym typeface="Times New Roman"/>
            </a:endParaRPr>
          </a:p>
          <a:p>
            <a:pPr indent="-274320" lvl="0" marL="274320" rtl="0" algn="l">
              <a:spcBef>
                <a:spcPts val="600"/>
              </a:spcBef>
              <a:spcAft>
                <a:spcPts val="0"/>
              </a:spcAft>
              <a:buSzPts val="1400"/>
              <a:buChar char="🞆"/>
            </a:pPr>
            <a:r>
              <a:rPr lang="en-US" sz="2000">
                <a:latin typeface="Times New Roman"/>
                <a:ea typeface="Times New Roman"/>
                <a:cs typeface="Times New Roman"/>
                <a:sym typeface="Times New Roman"/>
              </a:rPr>
              <a:t>Ngược lại, PL là cơ sở để hình thành, cũng cố và nâng cao YTPL.</a:t>
            </a:r>
            <a:endParaRPr/>
          </a:p>
          <a:p>
            <a:pPr indent="-274320" lvl="0" marL="274320" rtl="0" algn="l">
              <a:spcBef>
                <a:spcPts val="600"/>
              </a:spcBef>
              <a:spcAft>
                <a:spcPts val="0"/>
              </a:spcAft>
              <a:buSzPts val="1400"/>
              <a:buNone/>
            </a:pPr>
            <a:r>
              <a:rPr lang="en-US" sz="2000">
                <a:latin typeface="Times New Roman"/>
                <a:ea typeface="Times New Roman"/>
                <a:cs typeface="Times New Roman"/>
                <a:sym typeface="Times New Roman"/>
              </a:rPr>
              <a:t>2. </a:t>
            </a:r>
            <a:r>
              <a:rPr b="1" lang="en-US" sz="2000">
                <a:latin typeface="Times New Roman"/>
                <a:ea typeface="Times New Roman"/>
                <a:cs typeface="Times New Roman"/>
                <a:sym typeface="Times New Roman"/>
              </a:rPr>
              <a:t>Các biện pháp giáo dục nâng cao ý thức pháp luật</a:t>
            </a:r>
            <a:endParaRPr sz="2000">
              <a:latin typeface="Times New Roman"/>
              <a:ea typeface="Times New Roman"/>
              <a:cs typeface="Times New Roman"/>
              <a:sym typeface="Times New Roman"/>
            </a:endParaRPr>
          </a:p>
          <a:p>
            <a:pPr indent="-274320" lvl="0" marL="274320" rtl="0" algn="l">
              <a:spcBef>
                <a:spcPts val="600"/>
              </a:spcBef>
              <a:spcAft>
                <a:spcPts val="0"/>
              </a:spcAft>
              <a:buSzPts val="1400"/>
              <a:buNone/>
            </a:pPr>
            <a:r>
              <a:t/>
            </a:r>
            <a:endParaRPr sz="2000">
              <a:latin typeface="Times New Roman"/>
              <a:ea typeface="Times New Roman"/>
              <a:cs typeface="Times New Roman"/>
              <a:sym typeface="Times New Roman"/>
            </a:endParaRPr>
          </a:p>
        </p:txBody>
      </p:sp>
      <p:sp>
        <p:nvSpPr>
          <p:cNvPr id="2353" name="Google Shape;2353;p154"/>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54" name="Google Shape;2354;p15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8" name="Shape 2358"/>
        <p:cNvGrpSpPr/>
        <p:nvPr/>
      </p:nvGrpSpPr>
      <p:grpSpPr>
        <a:xfrm>
          <a:off x="0" y="0"/>
          <a:ext cx="0" cy="0"/>
          <a:chOff x="0" y="0"/>
          <a:chExt cx="0" cy="0"/>
        </a:xfrm>
      </p:grpSpPr>
      <p:sp>
        <p:nvSpPr>
          <p:cNvPr id="2359" name="Google Shape;2359;p155"/>
          <p:cNvSpPr txBox="1"/>
          <p:nvPr>
            <p:ph type="title"/>
          </p:nvPr>
        </p:nvSpPr>
        <p:spPr>
          <a:xfrm>
            <a:off x="1435608" y="0"/>
            <a:ext cx="7498080" cy="8382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4.10.2	Pháp chế</a:t>
            </a:r>
            <a:endParaRPr sz="3200">
              <a:solidFill>
                <a:srgbClr val="FF0000"/>
              </a:solidFill>
              <a:latin typeface="Times New Roman"/>
              <a:ea typeface="Times New Roman"/>
              <a:cs typeface="Times New Roman"/>
              <a:sym typeface="Times New Roman"/>
            </a:endParaRPr>
          </a:p>
        </p:txBody>
      </p:sp>
      <p:sp>
        <p:nvSpPr>
          <p:cNvPr id="2360" name="Google Shape;2360;p155"/>
          <p:cNvSpPr/>
          <p:nvPr/>
        </p:nvSpPr>
        <p:spPr>
          <a:xfrm>
            <a:off x="438150" y="1642105"/>
            <a:ext cx="1612194" cy="3497590"/>
          </a:xfrm>
          <a:prstGeom prst="ellipse">
            <a:avLst/>
          </a:prstGeom>
          <a:solidFill>
            <a:schemeClr val="accent2">
              <a:alpha val="49803"/>
            </a:schemeClr>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Pháp chế là sự tôn trọng và thực hiện pháp luật một cách tự giác, đầy đủ, nghiêm chỉnh, thống nhất của mọi chủ thể pháp luật </a:t>
            </a:r>
            <a:endParaRPr sz="2000">
              <a:solidFill>
                <a:schemeClr val="dk1"/>
              </a:solidFill>
              <a:latin typeface="Times New Roman"/>
              <a:ea typeface="Times New Roman"/>
              <a:cs typeface="Times New Roman"/>
              <a:sym typeface="Times New Roman"/>
            </a:endParaRPr>
          </a:p>
        </p:txBody>
      </p:sp>
      <p:sp>
        <p:nvSpPr>
          <p:cNvPr id="2361" name="Google Shape;2361;p155"/>
          <p:cNvSpPr/>
          <p:nvPr/>
        </p:nvSpPr>
        <p:spPr>
          <a:xfrm>
            <a:off x="2211563" y="2584803"/>
            <a:ext cx="1612194" cy="1612194"/>
          </a:xfrm>
          <a:prstGeom prst="ellipse">
            <a:avLst/>
          </a:prstGeom>
          <a:solidFill>
            <a:schemeClr val="accent3">
              <a:alpha val="49803"/>
            </a:schemeClr>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Là phương pháp, chế độ quản lý xã hội</a:t>
            </a:r>
            <a:endParaRPr sz="2000">
              <a:solidFill>
                <a:schemeClr val="dk1"/>
              </a:solidFill>
              <a:latin typeface="Times New Roman"/>
              <a:ea typeface="Times New Roman"/>
              <a:cs typeface="Times New Roman"/>
              <a:sym typeface="Times New Roman"/>
            </a:endParaRPr>
          </a:p>
        </p:txBody>
      </p:sp>
      <p:sp>
        <p:nvSpPr>
          <p:cNvPr id="2362" name="Google Shape;2362;p155"/>
          <p:cNvSpPr/>
          <p:nvPr/>
        </p:nvSpPr>
        <p:spPr>
          <a:xfrm>
            <a:off x="3984976" y="1701385"/>
            <a:ext cx="1612194" cy="3379029"/>
          </a:xfrm>
          <a:prstGeom prst="ellipse">
            <a:avLst/>
          </a:prstGeom>
          <a:solidFill>
            <a:schemeClr val="accent2">
              <a:alpha val="49803"/>
            </a:schemeClr>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Là một trong những nguyên tắc cơ bản trong tổ chức và hoạt động của bộ máy nhà nước và cả hệ thống chính trị</a:t>
            </a:r>
            <a:endParaRPr sz="2000">
              <a:solidFill>
                <a:schemeClr val="dk1"/>
              </a:solidFill>
              <a:latin typeface="Times New Roman"/>
              <a:ea typeface="Times New Roman"/>
              <a:cs typeface="Times New Roman"/>
              <a:sym typeface="Times New Roman"/>
            </a:endParaRPr>
          </a:p>
        </p:txBody>
      </p:sp>
      <p:sp>
        <p:nvSpPr>
          <p:cNvPr id="2363" name="Google Shape;2363;p155"/>
          <p:cNvSpPr/>
          <p:nvPr/>
        </p:nvSpPr>
        <p:spPr>
          <a:xfrm>
            <a:off x="5758389" y="2584803"/>
            <a:ext cx="1612194" cy="1612194"/>
          </a:xfrm>
          <a:prstGeom prst="ellipse">
            <a:avLst/>
          </a:prstGeom>
          <a:solidFill>
            <a:schemeClr val="accent3">
              <a:alpha val="49803"/>
            </a:schemeClr>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Là nguyên tắc xử sự của mọi công dân</a:t>
            </a:r>
            <a:endParaRPr sz="2000">
              <a:solidFill>
                <a:schemeClr val="dk1"/>
              </a:solidFill>
              <a:latin typeface="Times New Roman"/>
              <a:ea typeface="Times New Roman"/>
              <a:cs typeface="Times New Roman"/>
              <a:sym typeface="Times New Roman"/>
            </a:endParaRPr>
          </a:p>
        </p:txBody>
      </p:sp>
      <p:sp>
        <p:nvSpPr>
          <p:cNvPr id="2364" name="Google Shape;2364;p155"/>
          <p:cNvSpPr/>
          <p:nvPr/>
        </p:nvSpPr>
        <p:spPr>
          <a:xfrm>
            <a:off x="7531802" y="1819954"/>
            <a:ext cx="1612194" cy="3141892"/>
          </a:xfrm>
          <a:prstGeom prst="ellipse">
            <a:avLst/>
          </a:prstGeom>
          <a:solidFill>
            <a:schemeClr val="accent2">
              <a:alpha val="49803"/>
            </a:schemeClr>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dk1"/>
                </a:solidFill>
                <a:latin typeface="Times New Roman"/>
                <a:ea typeface="Times New Roman"/>
                <a:cs typeface="Times New Roman"/>
                <a:sym typeface="Times New Roman"/>
              </a:rPr>
              <a:t>Là cơ sở để xây dựng, củng cố và phát triển nền dân chủ XHCN</a:t>
            </a:r>
            <a:endParaRPr sz="2000">
              <a:solidFill>
                <a:schemeClr val="dk1"/>
              </a:solidFill>
              <a:latin typeface="Times New Roman"/>
              <a:ea typeface="Times New Roman"/>
              <a:cs typeface="Times New Roman"/>
              <a:sym typeface="Times New Roman"/>
            </a:endParaRPr>
          </a:p>
        </p:txBody>
      </p:sp>
      <p:sp>
        <p:nvSpPr>
          <p:cNvPr id="2365" name="Google Shape;2365;p155"/>
          <p:cNvSpPr/>
          <p:nvPr/>
        </p:nvSpPr>
        <p:spPr>
          <a:xfrm>
            <a:off x="990600" y="6172200"/>
            <a:ext cx="7620000" cy="30777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Arial"/>
              <a:buNone/>
            </a:pPr>
            <a:r>
              <a:rPr b="1" i="0" lang="en-US" sz="1400" u="none" cap="none" strike="noStrike">
                <a:solidFill>
                  <a:srgbClr val="FF0000"/>
                </a:solidFill>
                <a:latin typeface="Arial"/>
                <a:ea typeface="Arial"/>
                <a:cs typeface="Arial"/>
                <a:sym typeface="Arial"/>
              </a:rPr>
              <a:t>có pháp luật rồi mới có pháp chế - pháp luật là tiền đề của pháp chế.</a:t>
            </a:r>
            <a:endParaRPr b="1" i="0" sz="1800" u="none" cap="none" strike="noStrike">
              <a:solidFill>
                <a:srgbClr val="FF0000"/>
              </a:solidFill>
              <a:latin typeface="Arial"/>
              <a:ea typeface="Arial"/>
              <a:cs typeface="Arial"/>
              <a:sym typeface="Arial"/>
            </a:endParaRPr>
          </a:p>
        </p:txBody>
      </p:sp>
      <p:sp>
        <p:nvSpPr>
          <p:cNvPr id="2366" name="Google Shape;2366;p155"/>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67" name="Google Shape;2367;p15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65"/>
                                        </p:tgtEl>
                                        <p:attrNameLst>
                                          <p:attrName>style.visibility</p:attrName>
                                        </p:attrNameLst>
                                      </p:cBhvr>
                                      <p:to>
                                        <p:strVal val="visible"/>
                                      </p:to>
                                    </p:set>
                                    <p:anim calcmode="lin" valueType="num">
                                      <p:cBhvr additive="base">
                                        <p:cTn dur="500"/>
                                        <p:tgtEl>
                                          <p:spTgt spid="236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1" name="Shape 2371"/>
        <p:cNvGrpSpPr/>
        <p:nvPr/>
      </p:nvGrpSpPr>
      <p:grpSpPr>
        <a:xfrm>
          <a:off x="0" y="0"/>
          <a:ext cx="0" cy="0"/>
          <a:chOff x="0" y="0"/>
          <a:chExt cx="0" cy="0"/>
        </a:xfrm>
      </p:grpSpPr>
      <p:sp>
        <p:nvSpPr>
          <p:cNvPr id="2372" name="Google Shape;2372;p156"/>
          <p:cNvSpPr txBox="1"/>
          <p:nvPr>
            <p:ph type="title"/>
          </p:nvPr>
        </p:nvSpPr>
        <p:spPr>
          <a:xfrm>
            <a:off x="1447800" y="0"/>
            <a:ext cx="7498080" cy="5635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Times New Roman"/>
              <a:buNone/>
            </a:pPr>
            <a:r>
              <a:rPr lang="en-US" sz="3200">
                <a:latin typeface="Times New Roman"/>
                <a:ea typeface="Times New Roman"/>
                <a:cs typeface="Times New Roman"/>
                <a:sym typeface="Times New Roman"/>
              </a:rPr>
              <a:t>Các nguyên tắc của pháp chế</a:t>
            </a:r>
            <a:endParaRPr sz="3200">
              <a:latin typeface="Times New Roman"/>
              <a:ea typeface="Times New Roman"/>
              <a:cs typeface="Times New Roman"/>
              <a:sym typeface="Times New Roman"/>
            </a:endParaRPr>
          </a:p>
        </p:txBody>
      </p:sp>
      <p:sp>
        <p:nvSpPr>
          <p:cNvPr id="2373" name="Google Shape;2373;p156"/>
          <p:cNvSpPr/>
          <p:nvPr/>
        </p:nvSpPr>
        <p:spPr>
          <a:xfrm>
            <a:off x="381000" y="685800"/>
            <a:ext cx="7499350" cy="5562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1</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Bảo đảm tính thống nhất của pháp chế, tính tối cao của hiến pháp và các đạo luật</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2</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Mọi chủ thể đều có nghĩa vụ phải chấp hành pháp luật, bình đẳng trước pháp luật</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3</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Phát hiện, ngăn chặn kịp thời và xử lý nhanh chóng, công minh mọi vi phạm pháp luật... tức là pháp chế phải nghiêm minh</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4</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Thiết lập cơ chế để công dân thực hiện các quyền tự do đã được pháp luật ghi nhận và bảo vệ các quyền tự do đó trước các vi phạm</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5</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Tính thống nhất của pháp chế phù hợp hài hoà với tính hợp lý</a:t>
            </a:r>
            <a:endParaRPr b="0" i="0" sz="2000" u="none" cap="none" strike="noStrike">
              <a:solidFill>
                <a:schemeClr val="dk1"/>
              </a:solidFill>
              <a:latin typeface="Times New Roman"/>
              <a:ea typeface="Times New Roman"/>
              <a:cs typeface="Times New Roman"/>
              <a:sym typeface="Times New Roman"/>
            </a:endParaRPr>
          </a:p>
        </p:txBody>
      </p:sp>
      <p:sp>
        <p:nvSpPr>
          <p:cNvPr id="2374" name="Google Shape;2374;p156"/>
          <p:cNvSpPr txBox="1"/>
          <p:nvPr>
            <p:ph idx="11" type="ftr"/>
          </p:nvPr>
        </p:nvSpPr>
        <p:spPr>
          <a:xfrm rot="5400000">
            <a:off x="6782726" y="3529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75" name="Google Shape;2375;p15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9" name="Shape 2379"/>
        <p:cNvGrpSpPr/>
        <p:nvPr/>
      </p:nvGrpSpPr>
      <p:grpSpPr>
        <a:xfrm>
          <a:off x="0" y="0"/>
          <a:ext cx="0" cy="0"/>
          <a:chOff x="0" y="0"/>
          <a:chExt cx="0" cy="0"/>
        </a:xfrm>
      </p:grpSpPr>
      <p:sp>
        <p:nvSpPr>
          <p:cNvPr id="2380" name="Google Shape;2380;p157"/>
          <p:cNvSpPr txBox="1"/>
          <p:nvPr>
            <p:ph type="title"/>
          </p:nvPr>
        </p:nvSpPr>
        <p:spPr>
          <a:xfrm>
            <a:off x="1435608" y="274638"/>
            <a:ext cx="7498080" cy="7921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4.10.3	Trật tự pháp luật</a:t>
            </a:r>
            <a:endParaRPr sz="3200">
              <a:latin typeface="Times New Roman"/>
              <a:ea typeface="Times New Roman"/>
              <a:cs typeface="Times New Roman"/>
              <a:sym typeface="Times New Roman"/>
            </a:endParaRPr>
          </a:p>
        </p:txBody>
      </p:sp>
      <p:sp>
        <p:nvSpPr>
          <p:cNvPr id="2381" name="Google Shape;2381;p157"/>
          <p:cNvSpPr/>
          <p:nvPr/>
        </p:nvSpPr>
        <p:spPr>
          <a:xfrm>
            <a:off x="1066800" y="990600"/>
            <a:ext cx="7866888" cy="5562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Trong mối quan hệ với pháp luật</a:t>
            </a:r>
            <a:r>
              <a:rPr b="0" i="0" lang="en-US" sz="2000" u="none" cap="none" strike="noStrike">
                <a:solidFill>
                  <a:schemeClr val="dk1"/>
                </a:solidFill>
                <a:latin typeface="Times New Roman"/>
                <a:ea typeface="Times New Roman"/>
                <a:cs typeface="Times New Roman"/>
                <a:sym typeface="Times New Roman"/>
              </a:rPr>
              <a:t>:</a:t>
            </a:r>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 tạo ra một xã hội ổn định, có kỷ cương</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Trong mối quan hệ với pháp chế</a:t>
            </a:r>
            <a:r>
              <a:rPr b="0" i="0" lang="en-US" sz="2000" u="none" cap="none" strike="noStrike">
                <a:solidFill>
                  <a:schemeClr val="dk1"/>
                </a:solidFill>
                <a:latin typeface="Times New Roman"/>
                <a:ea typeface="Times New Roman"/>
                <a:cs typeface="Times New Roman"/>
                <a:sym typeface="Times New Roman"/>
              </a:rPr>
              <a:t>: kết quả của sự tôn trọng và thực hiện pháp luật trên cơ sở pháp chế</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Trong mối quan hệ với trật tự xã hội</a:t>
            </a:r>
            <a:r>
              <a:rPr b="0" i="0" lang="en-US" sz="2000" u="none" cap="none" strike="noStrike">
                <a:solidFill>
                  <a:schemeClr val="dk1"/>
                </a:solidFill>
                <a:latin typeface="Times New Roman"/>
                <a:ea typeface="Times New Roman"/>
                <a:cs typeface="Times New Roman"/>
                <a:sym typeface="Times New Roman"/>
              </a:rPr>
              <a:t>:</a:t>
            </a:r>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hạt nhân của trật tự xã hội, giữ vai trò chủ đạo trong việc giữ gìn sự ổn định và thúc đẩy sự phát triển của xã hội.</a:t>
            </a:r>
            <a:endParaRPr b="0" i="0" sz="2000" u="none" cap="none" strike="noStrike">
              <a:solidFill>
                <a:schemeClr val="dk1"/>
              </a:solidFill>
              <a:latin typeface="Times New Roman"/>
              <a:ea typeface="Times New Roman"/>
              <a:cs typeface="Times New Roman"/>
              <a:sym typeface="Times New Roman"/>
            </a:endParaRPr>
          </a:p>
        </p:txBody>
      </p:sp>
      <p:sp>
        <p:nvSpPr>
          <p:cNvPr id="2382" name="Google Shape;2382;p157"/>
          <p:cNvSpPr txBox="1"/>
          <p:nvPr>
            <p:ph idx="11" type="ftr"/>
          </p:nvPr>
        </p:nvSpPr>
        <p:spPr>
          <a:xfrm rot="5400000">
            <a:off x="6782726" y="3529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83" name="Google Shape;2383;p15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7" name="Shape 2387"/>
        <p:cNvGrpSpPr/>
        <p:nvPr/>
      </p:nvGrpSpPr>
      <p:grpSpPr>
        <a:xfrm>
          <a:off x="0" y="0"/>
          <a:ext cx="0" cy="0"/>
          <a:chOff x="0" y="0"/>
          <a:chExt cx="0" cy="0"/>
        </a:xfrm>
      </p:grpSpPr>
      <p:sp>
        <p:nvSpPr>
          <p:cNvPr id="2388" name="Google Shape;2388;p15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Arial"/>
              <a:buNone/>
            </a:pPr>
            <a:r>
              <a:rPr lang="en-US"/>
              <a:t>Chương 5: hệ thống pháp luật</a:t>
            </a:r>
            <a:endParaRPr/>
          </a:p>
        </p:txBody>
      </p:sp>
      <p:sp>
        <p:nvSpPr>
          <p:cNvPr id="2389" name="Google Shape;2389;p15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Các hệ thống pháp luật trên thế giới</a:t>
            </a:r>
            <a:endParaRPr/>
          </a:p>
          <a:p>
            <a:pPr indent="-274320" lvl="0" marL="274320" rtl="0" algn="l">
              <a:spcBef>
                <a:spcPts val="600"/>
              </a:spcBef>
              <a:spcAft>
                <a:spcPts val="0"/>
              </a:spcAft>
              <a:buSzPts val="1680"/>
              <a:buChar char="🞆"/>
            </a:pPr>
            <a:r>
              <a:rPr lang="en-US"/>
              <a:t>Hệ thống pháp luật Việt Nam</a:t>
            </a:r>
            <a:endParaRPr/>
          </a:p>
        </p:txBody>
      </p:sp>
      <p:sp>
        <p:nvSpPr>
          <p:cNvPr id="2390" name="Google Shape;2390;p158"/>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391" name="Google Shape;2391;p15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5" name="Shape 2395"/>
        <p:cNvGrpSpPr/>
        <p:nvPr/>
      </p:nvGrpSpPr>
      <p:grpSpPr>
        <a:xfrm>
          <a:off x="0" y="0"/>
          <a:ext cx="0" cy="0"/>
          <a:chOff x="0" y="0"/>
          <a:chExt cx="0" cy="0"/>
        </a:xfrm>
      </p:grpSpPr>
      <p:sp>
        <p:nvSpPr>
          <p:cNvPr id="2396" name="Google Shape;2396;p159"/>
          <p:cNvSpPr txBox="1"/>
          <p:nvPr>
            <p:ph type="title"/>
          </p:nvPr>
        </p:nvSpPr>
        <p:spPr>
          <a:xfrm>
            <a:off x="381000" y="0"/>
            <a:ext cx="8763000"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5.1	CÁC HỆ THỐNG PHÁP LUẬT TRÊN THẾ GIỚI</a:t>
            </a:r>
            <a:endParaRPr sz="2800">
              <a:solidFill>
                <a:srgbClr val="FF0000"/>
              </a:solidFill>
              <a:latin typeface="Times New Roman"/>
              <a:ea typeface="Times New Roman"/>
              <a:cs typeface="Times New Roman"/>
              <a:sym typeface="Times New Roman"/>
            </a:endParaRPr>
          </a:p>
        </p:txBody>
      </p:sp>
      <p:sp>
        <p:nvSpPr>
          <p:cNvPr id="2397" name="Google Shape;2397;p159"/>
          <p:cNvSpPr/>
          <p:nvPr/>
        </p:nvSpPr>
        <p:spPr>
          <a:xfrm>
            <a:off x="1219200" y="1219200"/>
            <a:ext cx="7239000" cy="5181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Hệ thống pháp luật</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Civil law</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Islamic law</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Khác</a:t>
            </a:r>
            <a:endParaRPr b="0" i="0" sz="2400" u="none" cap="none" strike="noStrike">
              <a:solidFill>
                <a:schemeClr val="dk1"/>
              </a:solidFill>
              <a:latin typeface="Times New Roman"/>
              <a:ea typeface="Times New Roman"/>
              <a:cs typeface="Times New Roman"/>
              <a:sym typeface="Times New Roman"/>
            </a:endParaRPr>
          </a:p>
          <a:p>
            <a:pPr indent="-152400" lvl="2" marL="2286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Common law</a:t>
            </a:r>
            <a:endParaRPr b="0" i="0" sz="2400" u="none" cap="none" strike="noStrike">
              <a:solidFill>
                <a:schemeClr val="dk1"/>
              </a:solidFill>
              <a:latin typeface="Times New Roman"/>
              <a:ea typeface="Times New Roman"/>
              <a:cs typeface="Times New Roman"/>
              <a:sym typeface="Times New Roman"/>
            </a:endParaRPr>
          </a:p>
        </p:txBody>
      </p:sp>
      <p:pic>
        <p:nvPicPr>
          <p:cNvPr descr="E:\Bai giang\PL DC\Pics\vbpl.jpg" id="2398" name="Google Shape;2398;p159"/>
          <p:cNvPicPr preferRelativeResize="0"/>
          <p:nvPr/>
        </p:nvPicPr>
        <p:blipFill rotWithShape="1">
          <a:blip r:embed="rId3">
            <a:alphaModFix/>
          </a:blip>
          <a:srcRect b="0" l="0" r="0" t="0"/>
          <a:stretch/>
        </p:blipFill>
        <p:spPr>
          <a:xfrm>
            <a:off x="6677024" y="5010150"/>
            <a:ext cx="2466976" cy="1847850"/>
          </a:xfrm>
          <a:prstGeom prst="rect">
            <a:avLst/>
          </a:prstGeom>
          <a:noFill/>
          <a:ln>
            <a:noFill/>
          </a:ln>
        </p:spPr>
      </p:pic>
      <p:pic>
        <p:nvPicPr>
          <p:cNvPr descr="E:\Bai giang\PL DC\Pics\tải xuống (4).jpg" id="2399" name="Google Shape;2399;p159"/>
          <p:cNvPicPr preferRelativeResize="0"/>
          <p:nvPr/>
        </p:nvPicPr>
        <p:blipFill rotWithShape="1">
          <a:blip r:embed="rId4">
            <a:alphaModFix/>
          </a:blip>
          <a:srcRect b="0" l="0" r="0" t="0"/>
          <a:stretch/>
        </p:blipFill>
        <p:spPr>
          <a:xfrm>
            <a:off x="304800" y="990600"/>
            <a:ext cx="2286000" cy="1524000"/>
          </a:xfrm>
          <a:prstGeom prst="rect">
            <a:avLst/>
          </a:prstGeom>
          <a:noFill/>
          <a:ln>
            <a:noFill/>
          </a:ln>
        </p:spPr>
      </p:pic>
      <p:sp>
        <p:nvSpPr>
          <p:cNvPr id="2400" name="Google Shape;2400;p159"/>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01" name="Google Shape;2401;p15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6"/>
                                        </p:tgtEl>
                                        <p:attrNameLst>
                                          <p:attrName>style.visibility</p:attrName>
                                        </p:attrNameLst>
                                      </p:cBhvr>
                                      <p:to>
                                        <p:strVal val="visible"/>
                                      </p:to>
                                    </p:set>
                                    <p:anim calcmode="lin" valueType="num">
                                      <p:cBhvr additive="base">
                                        <p:cTn dur="500"/>
                                        <p:tgtEl>
                                          <p:spTgt spid="23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160"/>
          <p:cNvSpPr txBox="1"/>
          <p:nvPr>
            <p:ph type="title"/>
          </p:nvPr>
        </p:nvSpPr>
        <p:spPr>
          <a:xfrm>
            <a:off x="457200" y="0"/>
            <a:ext cx="8229600" cy="71596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Các hệ thống pháp luật trên thế giới</a:t>
            </a:r>
            <a:endParaRPr sz="3200">
              <a:latin typeface="Times New Roman"/>
              <a:ea typeface="Times New Roman"/>
              <a:cs typeface="Times New Roman"/>
              <a:sym typeface="Times New Roman"/>
            </a:endParaRPr>
          </a:p>
        </p:txBody>
      </p:sp>
      <p:sp>
        <p:nvSpPr>
          <p:cNvPr id="2407" name="Google Shape;2407;p160"/>
          <p:cNvSpPr txBox="1"/>
          <p:nvPr>
            <p:ph idx="1" type="body"/>
          </p:nvPr>
        </p:nvSpPr>
        <p:spPr>
          <a:xfrm>
            <a:off x="1219200" y="4800600"/>
            <a:ext cx="7543800" cy="18288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400"/>
              <a:buNone/>
            </a:pPr>
            <a:r>
              <a:rPr lang="en-US" sz="2000">
                <a:latin typeface="Times New Roman"/>
                <a:ea typeface="Times New Roman"/>
                <a:cs typeface="Times New Roman"/>
                <a:sym typeface="Times New Roman"/>
              </a:rPr>
              <a:t>   </a:t>
            </a:r>
            <a:endParaRPr/>
          </a:p>
          <a:p>
            <a:pPr indent="-274320" lvl="0" marL="274320" rtl="0" algn="l">
              <a:spcBef>
                <a:spcPts val="600"/>
              </a:spcBef>
              <a:spcAft>
                <a:spcPts val="0"/>
              </a:spcAft>
              <a:buSzPts val="1400"/>
              <a:buNone/>
            </a:pPr>
            <a:r>
              <a:t/>
            </a:r>
            <a:endParaRPr sz="2000" u="sng">
              <a:solidFill>
                <a:schemeClr val="hlink"/>
              </a:solidFill>
              <a:latin typeface="Times New Roman"/>
              <a:ea typeface="Times New Roman"/>
              <a:cs typeface="Times New Roman"/>
              <a:sym typeface="Times New Roman"/>
              <a:hlinkClick r:id="rId3"/>
            </a:endParaRPr>
          </a:p>
          <a:p>
            <a:pPr indent="-274320" lvl="0" marL="274320" rtl="0" algn="l">
              <a:spcBef>
                <a:spcPts val="600"/>
              </a:spcBef>
              <a:spcAft>
                <a:spcPts val="0"/>
              </a:spcAft>
              <a:buSzPts val="1400"/>
              <a:buNone/>
            </a:pPr>
            <a:r>
              <a:t/>
            </a:r>
            <a:endParaRPr sz="2000" u="sng">
              <a:solidFill>
                <a:schemeClr val="hlink"/>
              </a:solidFill>
              <a:latin typeface="Times New Roman"/>
              <a:ea typeface="Times New Roman"/>
              <a:cs typeface="Times New Roman"/>
              <a:sym typeface="Times New Roman"/>
              <a:hlinkClick r:id="rId4"/>
            </a:endParaRPr>
          </a:p>
          <a:p>
            <a:pPr indent="-274320" lvl="0" marL="274320" rtl="0" algn="l">
              <a:spcBef>
                <a:spcPts val="600"/>
              </a:spcBef>
              <a:spcAft>
                <a:spcPts val="0"/>
              </a:spcAft>
              <a:buSzPts val="1400"/>
              <a:buNone/>
            </a:pPr>
            <a:r>
              <a:rPr lang="en-US" sz="2000">
                <a:latin typeface="Times New Roman"/>
                <a:ea typeface="Times New Roman"/>
                <a:cs typeface="Times New Roman"/>
                <a:sym typeface="Times New Roman"/>
              </a:rPr>
              <a:t>        Dân luật		             Luật Hồi giáo</a:t>
            </a:r>
            <a:endParaRPr sz="2000">
              <a:latin typeface="Times New Roman"/>
              <a:ea typeface="Times New Roman"/>
              <a:cs typeface="Times New Roman"/>
              <a:sym typeface="Times New Roman"/>
            </a:endParaRPr>
          </a:p>
          <a:p>
            <a:pPr indent="-274320" lvl="0" marL="274320" rtl="0" algn="l">
              <a:spcBef>
                <a:spcPts val="600"/>
              </a:spcBef>
              <a:spcAft>
                <a:spcPts val="0"/>
              </a:spcAft>
              <a:buSzPts val="1400"/>
              <a:buNone/>
            </a:pPr>
            <a:r>
              <a:rPr lang="en-US" sz="2000">
                <a:latin typeface="Times New Roman"/>
                <a:ea typeface="Times New Roman"/>
                <a:cs typeface="Times New Roman"/>
                <a:sym typeface="Times New Roman"/>
              </a:rPr>
              <a:t>     Thông lật		             Hỗn hợp giữa dân luật và thông luật </a:t>
            </a:r>
            <a:endParaRPr/>
          </a:p>
          <a:p>
            <a:pPr indent="-274320" lvl="0" marL="274320" rtl="0" algn="l">
              <a:spcBef>
                <a:spcPts val="600"/>
              </a:spcBef>
              <a:spcAft>
                <a:spcPts val="0"/>
              </a:spcAft>
              <a:buSzPts val="1400"/>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pic>
        <p:nvPicPr>
          <p:cNvPr descr="E:\Bai giang\PL DC\Pics\300px-LegalSystemsOfTheWorldMap (1).png" id="2408" name="Google Shape;2408;p160"/>
          <p:cNvPicPr preferRelativeResize="0"/>
          <p:nvPr/>
        </p:nvPicPr>
        <p:blipFill rotWithShape="1">
          <a:blip r:embed="rId5">
            <a:alphaModFix/>
          </a:blip>
          <a:srcRect b="0" l="0" r="0" t="0"/>
          <a:stretch/>
        </p:blipFill>
        <p:spPr>
          <a:xfrm>
            <a:off x="457200" y="762000"/>
            <a:ext cx="8500188" cy="5051379"/>
          </a:xfrm>
          <a:prstGeom prst="rect">
            <a:avLst/>
          </a:prstGeom>
          <a:noFill/>
          <a:ln>
            <a:noFill/>
          </a:ln>
        </p:spPr>
      </p:pic>
      <p:sp>
        <p:nvSpPr>
          <p:cNvPr id="2409" name="Google Shape;2409;p160"/>
          <p:cNvSpPr/>
          <p:nvPr/>
        </p:nvSpPr>
        <p:spPr>
          <a:xfrm>
            <a:off x="1447800" y="5867400"/>
            <a:ext cx="304800" cy="304800"/>
          </a:xfrm>
          <a:prstGeom prst="rect">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0" name="Google Shape;2410;p160"/>
          <p:cNvSpPr/>
          <p:nvPr/>
        </p:nvSpPr>
        <p:spPr>
          <a:xfrm>
            <a:off x="1447800" y="6324600"/>
            <a:ext cx="304800" cy="304800"/>
          </a:xfrm>
          <a:prstGeom prst="rect">
            <a:avLst/>
          </a:prstGeom>
          <a:solidFill>
            <a:srgbClr val="A5002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1" name="Google Shape;2411;p160"/>
          <p:cNvSpPr/>
          <p:nvPr/>
        </p:nvSpPr>
        <p:spPr>
          <a:xfrm>
            <a:off x="4419600" y="6324600"/>
            <a:ext cx="304800" cy="304800"/>
          </a:xfrm>
          <a:prstGeom prst="rect">
            <a:avLst/>
          </a:prstGeom>
          <a:solidFill>
            <a:srgbClr val="663300"/>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2" name="Google Shape;2412;p160"/>
          <p:cNvSpPr/>
          <p:nvPr/>
        </p:nvSpPr>
        <p:spPr>
          <a:xfrm>
            <a:off x="4419600" y="5943600"/>
            <a:ext cx="304800" cy="304800"/>
          </a:xfrm>
          <a:prstGeom prst="rect">
            <a:avLst/>
          </a:prstGeom>
          <a:solidFill>
            <a:srgbClr val="FF9900"/>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3" name="Google Shape;2413;p160"/>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14" name="Google Shape;2414;p16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6"/>
                                        </p:tgtEl>
                                        <p:attrNameLst>
                                          <p:attrName>style.visibility</p:attrName>
                                        </p:attrNameLst>
                                      </p:cBhvr>
                                      <p:to>
                                        <p:strVal val="visible"/>
                                      </p:to>
                                    </p:set>
                                    <p:animEffect filter="fade" transition="in">
                                      <p:cBhvr>
                                        <p:cTn dur="500"/>
                                        <p:tgtEl>
                                          <p:spTgt spid="2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8"/>
                                        </p:tgtEl>
                                        <p:attrNameLst>
                                          <p:attrName>style.visibility</p:attrName>
                                        </p:attrNameLst>
                                      </p:cBhvr>
                                      <p:to>
                                        <p:strVal val="visible"/>
                                      </p:to>
                                    </p:set>
                                    <p:animEffect filter="fade" transition="in">
                                      <p:cBhvr>
                                        <p:cTn dur="500"/>
                                        <p:tgtEl>
                                          <p:spTgt spid="2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7">
                                            <p:txEl>
                                              <p:pRg end="0" st="0"/>
                                            </p:txEl>
                                          </p:spTgt>
                                        </p:tgtEl>
                                        <p:attrNameLst>
                                          <p:attrName>style.visibility</p:attrName>
                                        </p:attrNameLst>
                                      </p:cBhvr>
                                      <p:to>
                                        <p:strVal val="visible"/>
                                      </p:to>
                                    </p:set>
                                    <p:animEffect filter="fade" transition="in">
                                      <p:cBhvr>
                                        <p:cTn dur="2000"/>
                                        <p:tgtEl>
                                          <p:spTgt spid="24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7">
                                            <p:txEl>
                                              <p:pRg end="1" st="1"/>
                                            </p:txEl>
                                          </p:spTgt>
                                        </p:tgtEl>
                                        <p:attrNameLst>
                                          <p:attrName>style.visibility</p:attrName>
                                        </p:attrNameLst>
                                      </p:cBhvr>
                                      <p:to>
                                        <p:strVal val="visible"/>
                                      </p:to>
                                    </p:set>
                                    <p:animEffect filter="fade" transition="in">
                                      <p:cBhvr>
                                        <p:cTn dur="2000"/>
                                        <p:tgtEl>
                                          <p:spTgt spid="24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7">
                                            <p:txEl>
                                              <p:pRg end="2" st="2"/>
                                            </p:txEl>
                                          </p:spTgt>
                                        </p:tgtEl>
                                        <p:attrNameLst>
                                          <p:attrName>style.visibility</p:attrName>
                                        </p:attrNameLst>
                                      </p:cBhvr>
                                      <p:to>
                                        <p:strVal val="visible"/>
                                      </p:to>
                                    </p:set>
                                    <p:animEffect filter="fade" transition="in">
                                      <p:cBhvr>
                                        <p:cTn dur="2000"/>
                                        <p:tgtEl>
                                          <p:spTgt spid="24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7">
                                            <p:txEl>
                                              <p:pRg end="3" st="3"/>
                                            </p:txEl>
                                          </p:spTgt>
                                        </p:tgtEl>
                                        <p:attrNameLst>
                                          <p:attrName>style.visibility</p:attrName>
                                        </p:attrNameLst>
                                      </p:cBhvr>
                                      <p:to>
                                        <p:strVal val="visible"/>
                                      </p:to>
                                    </p:set>
                                    <p:animEffect filter="fade" transition="in">
                                      <p:cBhvr>
                                        <p:cTn dur="2000"/>
                                        <p:tgtEl>
                                          <p:spTgt spid="24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7">
                                            <p:txEl>
                                              <p:pRg end="4" st="4"/>
                                            </p:txEl>
                                          </p:spTgt>
                                        </p:tgtEl>
                                        <p:attrNameLst>
                                          <p:attrName>style.visibility</p:attrName>
                                        </p:attrNameLst>
                                      </p:cBhvr>
                                      <p:to>
                                        <p:strVal val="visible"/>
                                      </p:to>
                                    </p:set>
                                    <p:animEffect filter="fade" transition="in">
                                      <p:cBhvr>
                                        <p:cTn dur="2000"/>
                                        <p:tgtEl>
                                          <p:spTgt spid="24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7">
                                            <p:txEl>
                                              <p:pRg end="5" st="5"/>
                                            </p:txEl>
                                          </p:spTgt>
                                        </p:tgtEl>
                                        <p:attrNameLst>
                                          <p:attrName>style.visibility</p:attrName>
                                        </p:attrNameLst>
                                      </p:cBhvr>
                                      <p:to>
                                        <p:strVal val="visible"/>
                                      </p:to>
                                    </p:set>
                                    <p:animEffect filter="fade" transition="in">
                                      <p:cBhvr>
                                        <p:cTn dur="2000"/>
                                        <p:tgtEl>
                                          <p:spTgt spid="24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7">
                                            <p:txEl>
                                              <p:pRg end="0" st="0"/>
                                            </p:txEl>
                                          </p:spTgt>
                                        </p:tgtEl>
                                        <p:attrNameLst>
                                          <p:attrName>style.visibility</p:attrName>
                                        </p:attrNameLst>
                                      </p:cBhvr>
                                      <p:to>
                                        <p:strVal val="visible"/>
                                      </p:to>
                                    </p:set>
                                    <p:anim calcmode="lin" valueType="num">
                                      <p:cBhvr additive="base">
                                        <p:cTn dur="500"/>
                                        <p:tgtEl>
                                          <p:spTgt spid="24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7">
                                            <p:txEl>
                                              <p:pRg end="1" st="1"/>
                                            </p:txEl>
                                          </p:spTgt>
                                        </p:tgtEl>
                                        <p:attrNameLst>
                                          <p:attrName>style.visibility</p:attrName>
                                        </p:attrNameLst>
                                      </p:cBhvr>
                                      <p:to>
                                        <p:strVal val="visible"/>
                                      </p:to>
                                    </p:set>
                                    <p:anim calcmode="lin" valueType="num">
                                      <p:cBhvr additive="base">
                                        <p:cTn dur="500"/>
                                        <p:tgtEl>
                                          <p:spTgt spid="24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7">
                                            <p:txEl>
                                              <p:pRg end="2" st="2"/>
                                            </p:txEl>
                                          </p:spTgt>
                                        </p:tgtEl>
                                        <p:attrNameLst>
                                          <p:attrName>style.visibility</p:attrName>
                                        </p:attrNameLst>
                                      </p:cBhvr>
                                      <p:to>
                                        <p:strVal val="visible"/>
                                      </p:to>
                                    </p:set>
                                    <p:anim calcmode="lin" valueType="num">
                                      <p:cBhvr additive="base">
                                        <p:cTn dur="500"/>
                                        <p:tgtEl>
                                          <p:spTgt spid="24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7">
                                            <p:txEl>
                                              <p:pRg end="3" st="3"/>
                                            </p:txEl>
                                          </p:spTgt>
                                        </p:tgtEl>
                                        <p:attrNameLst>
                                          <p:attrName>style.visibility</p:attrName>
                                        </p:attrNameLst>
                                      </p:cBhvr>
                                      <p:to>
                                        <p:strVal val="visible"/>
                                      </p:to>
                                    </p:set>
                                    <p:anim calcmode="lin" valueType="num">
                                      <p:cBhvr additive="base">
                                        <p:cTn dur="500"/>
                                        <p:tgtEl>
                                          <p:spTgt spid="24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7">
                                            <p:txEl>
                                              <p:pRg end="4" st="4"/>
                                            </p:txEl>
                                          </p:spTgt>
                                        </p:tgtEl>
                                        <p:attrNameLst>
                                          <p:attrName>style.visibility</p:attrName>
                                        </p:attrNameLst>
                                      </p:cBhvr>
                                      <p:to>
                                        <p:strVal val="visible"/>
                                      </p:to>
                                    </p:set>
                                    <p:anim calcmode="lin" valueType="num">
                                      <p:cBhvr additive="base">
                                        <p:cTn dur="500"/>
                                        <p:tgtEl>
                                          <p:spTgt spid="240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7">
                                            <p:txEl>
                                              <p:pRg end="5" st="5"/>
                                            </p:txEl>
                                          </p:spTgt>
                                        </p:tgtEl>
                                        <p:attrNameLst>
                                          <p:attrName>style.visibility</p:attrName>
                                        </p:attrNameLst>
                                      </p:cBhvr>
                                      <p:to>
                                        <p:strVal val="visible"/>
                                      </p:to>
                                    </p:set>
                                    <p:anim calcmode="lin" valueType="num">
                                      <p:cBhvr additive="base">
                                        <p:cTn dur="500"/>
                                        <p:tgtEl>
                                          <p:spTgt spid="240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8" name="Shape 2418"/>
        <p:cNvGrpSpPr/>
        <p:nvPr/>
      </p:nvGrpSpPr>
      <p:grpSpPr>
        <a:xfrm>
          <a:off x="0" y="0"/>
          <a:ext cx="0" cy="0"/>
          <a:chOff x="0" y="0"/>
          <a:chExt cx="0" cy="0"/>
        </a:xfrm>
      </p:grpSpPr>
      <p:sp>
        <p:nvSpPr>
          <p:cNvPr id="2419" name="Google Shape;2419;p161"/>
          <p:cNvSpPr txBox="1"/>
          <p:nvPr>
            <p:ph type="title"/>
          </p:nvPr>
        </p:nvSpPr>
        <p:spPr>
          <a:xfrm>
            <a:off x="457200" y="228600"/>
            <a:ext cx="8686800" cy="838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FF0000"/>
              </a:buClr>
              <a:buSzPts val="2400"/>
              <a:buFont typeface="Times New Roman"/>
              <a:buNone/>
            </a:pPr>
            <a:r>
              <a:rPr lang="en-US" sz="2400">
                <a:solidFill>
                  <a:srgbClr val="FF0000"/>
                </a:solidFill>
                <a:latin typeface="Times New Roman"/>
                <a:ea typeface="Times New Roman"/>
                <a:cs typeface="Times New Roman"/>
                <a:sym typeface="Times New Roman"/>
              </a:rPr>
              <a:t>5.1.1. Hệ thống pháp luật Anh – Mỹ </a:t>
            </a:r>
            <a:br>
              <a:rPr lang="en-US" sz="2400">
                <a:solidFill>
                  <a:srgbClr val="FF0000"/>
                </a:solidFill>
                <a:latin typeface="Times New Roman"/>
                <a:ea typeface="Times New Roman"/>
                <a:cs typeface="Times New Roman"/>
                <a:sym typeface="Times New Roman"/>
              </a:rPr>
            </a:br>
            <a:r>
              <a:rPr lang="en-US" sz="2400">
                <a:solidFill>
                  <a:srgbClr val="FF0000"/>
                </a:solidFill>
                <a:latin typeface="Times New Roman"/>
                <a:ea typeface="Times New Roman"/>
                <a:cs typeface="Times New Roman"/>
                <a:sym typeface="Times New Roman"/>
              </a:rPr>
              <a:t>(Thông luật/ luật chung - Common Law)</a:t>
            </a:r>
            <a:endParaRPr sz="2400"/>
          </a:p>
        </p:txBody>
      </p:sp>
      <p:sp>
        <p:nvSpPr>
          <p:cNvPr id="2420" name="Google Shape;2420;p161"/>
          <p:cNvSpPr txBox="1"/>
          <p:nvPr>
            <p:ph idx="1" type="body"/>
          </p:nvPr>
        </p:nvSpPr>
        <p:spPr>
          <a:xfrm>
            <a:off x="457200" y="1447800"/>
            <a:ext cx="8229600" cy="5105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60"/>
              <a:buChar char="🞆"/>
            </a:pPr>
            <a:r>
              <a:rPr lang="en-US" sz="2800">
                <a:latin typeface="Times New Roman"/>
                <a:ea typeface="Times New Roman"/>
                <a:cs typeface="Times New Roman"/>
                <a:sym typeface="Times New Roman"/>
              </a:rPr>
              <a:t>Ra đời ở Anh, sau phát triển ở Mỹ và những nước là thuộc địa của Anh, Mỹ trước đây</a:t>
            </a:r>
            <a:endParaRPr sz="2800">
              <a:latin typeface="Times New Roman"/>
              <a:ea typeface="Times New Roman"/>
              <a:cs typeface="Times New Roman"/>
              <a:sym typeface="Times New Roman"/>
            </a:endParaRPr>
          </a:p>
          <a:p>
            <a:pPr indent="-274320" lvl="0" marL="274320" rtl="0" algn="l">
              <a:spcBef>
                <a:spcPts val="600"/>
              </a:spcBef>
              <a:spcAft>
                <a:spcPts val="0"/>
              </a:spcAft>
              <a:buSzPts val="1960"/>
              <a:buChar char="🞆"/>
            </a:pPr>
            <a:r>
              <a:rPr lang="en-US" sz="2800">
                <a:latin typeface="Times New Roman"/>
                <a:ea typeface="Times New Roman"/>
                <a:cs typeface="Times New Roman"/>
                <a:sym typeface="Times New Roman"/>
              </a:rPr>
              <a:t>Hệ thống pháp luật phát triển từ tập quán, coi trọng tiền lệ.</a:t>
            </a:r>
            <a:endParaRPr/>
          </a:p>
          <a:p>
            <a:pPr indent="-274320" lvl="0" marL="274320" rtl="0" algn="l">
              <a:spcBef>
                <a:spcPts val="600"/>
              </a:spcBef>
              <a:spcAft>
                <a:spcPts val="0"/>
              </a:spcAft>
              <a:buSzPts val="1960"/>
              <a:buNone/>
            </a:pPr>
            <a:r>
              <a:t/>
            </a:r>
            <a:endParaRPr sz="2800"/>
          </a:p>
        </p:txBody>
      </p:sp>
      <p:pic>
        <p:nvPicPr>
          <p:cNvPr descr="E:\Bai giang\PL DC\Pics\images (49).jpg" id="2421" name="Google Shape;2421;p161"/>
          <p:cNvPicPr preferRelativeResize="0"/>
          <p:nvPr/>
        </p:nvPicPr>
        <p:blipFill rotWithShape="1">
          <a:blip r:embed="rId3">
            <a:alphaModFix/>
          </a:blip>
          <a:srcRect b="0" l="0" r="0" t="0"/>
          <a:stretch/>
        </p:blipFill>
        <p:spPr>
          <a:xfrm>
            <a:off x="5029200" y="3571875"/>
            <a:ext cx="3286125" cy="3286125"/>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pic>
        <p:nvPicPr>
          <p:cNvPr descr="E:\Bai giang\PL DC\Pics\images (51).jpg" id="2422" name="Google Shape;2422;p161"/>
          <p:cNvPicPr preferRelativeResize="0"/>
          <p:nvPr/>
        </p:nvPicPr>
        <p:blipFill rotWithShape="1">
          <a:blip r:embed="rId4">
            <a:alphaModFix/>
          </a:blip>
          <a:srcRect b="0" l="0" r="0" t="0"/>
          <a:stretch/>
        </p:blipFill>
        <p:spPr>
          <a:xfrm>
            <a:off x="1219200" y="4191000"/>
            <a:ext cx="3207774" cy="2209800"/>
          </a:xfrm>
          <a:prstGeom prst="roundRect">
            <a:avLst>
              <a:gd fmla="val 11111" name="adj"/>
            </a:avLst>
          </a:prstGeom>
          <a:noFill/>
          <a:ln cap="rnd" cmpd="sng" w="190500">
            <a:solidFill>
              <a:srgbClr val="C8C6BD"/>
            </a:solidFill>
            <a:prstDash val="solid"/>
            <a:round/>
            <a:headEnd len="sm" w="sm" type="none"/>
            <a:tailEnd len="sm" w="sm" type="none"/>
          </a:ln>
          <a:effectLst>
            <a:outerShdw blurRad="101600" rotWithShape="0" algn="tl" dir="7200000" dist="50800">
              <a:srgbClr val="000000">
                <a:alpha val="44705"/>
              </a:srgbClr>
            </a:outerShdw>
          </a:effectLst>
        </p:spPr>
      </p:pic>
      <p:sp>
        <p:nvSpPr>
          <p:cNvPr id="2423" name="Google Shape;2423;p161"/>
          <p:cNvSpPr txBox="1"/>
          <p:nvPr>
            <p:ph idx="11" type="ftr"/>
          </p:nvPr>
        </p:nvSpPr>
        <p:spPr>
          <a:xfrm rot="5400000">
            <a:off x="7229660" y="1548580"/>
            <a:ext cx="34629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24" name="Google Shape;2424;p16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9"/>
                                        </p:tgtEl>
                                        <p:attrNameLst>
                                          <p:attrName>style.visibility</p:attrName>
                                        </p:attrNameLst>
                                      </p:cBhvr>
                                      <p:to>
                                        <p:strVal val="visible"/>
                                      </p:to>
                                    </p:set>
                                    <p:animEffect filter="fade" transition="in">
                                      <p:cBhvr>
                                        <p:cTn dur="500"/>
                                        <p:tgtEl>
                                          <p:spTgt spid="2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xEl>
                                              <p:pRg end="0" st="0"/>
                                            </p:txEl>
                                          </p:spTgt>
                                        </p:tgtEl>
                                        <p:attrNameLst>
                                          <p:attrName>style.visibility</p:attrName>
                                        </p:attrNameLst>
                                      </p:cBhvr>
                                      <p:to>
                                        <p:strVal val="visible"/>
                                      </p:to>
                                    </p:set>
                                    <p:animEffect filter="fade" transition="in">
                                      <p:cBhvr>
                                        <p:cTn dur="500"/>
                                        <p:tgtEl>
                                          <p:spTgt spid="24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xEl>
                                              <p:pRg end="1" st="1"/>
                                            </p:txEl>
                                          </p:spTgt>
                                        </p:tgtEl>
                                        <p:attrNameLst>
                                          <p:attrName>style.visibility</p:attrName>
                                        </p:attrNameLst>
                                      </p:cBhvr>
                                      <p:to>
                                        <p:strVal val="visible"/>
                                      </p:to>
                                    </p:set>
                                    <p:animEffect filter="fade" transition="in">
                                      <p:cBhvr>
                                        <p:cTn dur="500"/>
                                        <p:tgtEl>
                                          <p:spTgt spid="24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0">
                                            <p:txEl>
                                              <p:pRg end="2" st="2"/>
                                            </p:txEl>
                                          </p:spTgt>
                                        </p:tgtEl>
                                        <p:attrNameLst>
                                          <p:attrName>style.visibility</p:attrName>
                                        </p:attrNameLst>
                                      </p:cBhvr>
                                      <p:to>
                                        <p:strVal val="visible"/>
                                      </p:to>
                                    </p:set>
                                    <p:animEffect filter="fade" transition="in">
                                      <p:cBhvr>
                                        <p:cTn dur="500"/>
                                        <p:tgtEl>
                                          <p:spTgt spid="242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8" name="Shape 2428"/>
        <p:cNvGrpSpPr/>
        <p:nvPr/>
      </p:nvGrpSpPr>
      <p:grpSpPr>
        <a:xfrm>
          <a:off x="0" y="0"/>
          <a:ext cx="0" cy="0"/>
          <a:chOff x="0" y="0"/>
          <a:chExt cx="0" cy="0"/>
        </a:xfrm>
      </p:grpSpPr>
      <p:sp>
        <p:nvSpPr>
          <p:cNvPr id="2429" name="Google Shape;2429;p162"/>
          <p:cNvSpPr txBox="1"/>
          <p:nvPr>
            <p:ph type="title"/>
          </p:nvPr>
        </p:nvSpPr>
        <p:spPr>
          <a:xfrm>
            <a:off x="0" y="0"/>
            <a:ext cx="7498080" cy="685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FF0000"/>
              </a:buClr>
              <a:buSzPts val="2800"/>
              <a:buFont typeface="Times New Roman"/>
              <a:buNone/>
            </a:pPr>
            <a:r>
              <a:rPr b="1" lang="en-US" sz="2800">
                <a:solidFill>
                  <a:srgbClr val="FF0000"/>
                </a:solidFill>
                <a:latin typeface="Times New Roman"/>
                <a:ea typeface="Times New Roman"/>
                <a:cs typeface="Times New Roman"/>
                <a:sym typeface="Times New Roman"/>
              </a:rPr>
              <a:t>Nguồn gốc hình thành</a:t>
            </a:r>
            <a:endParaRPr b="1" sz="2800">
              <a:solidFill>
                <a:srgbClr val="FF0000"/>
              </a:solidFill>
              <a:latin typeface="Times New Roman"/>
              <a:ea typeface="Times New Roman"/>
              <a:cs typeface="Times New Roman"/>
              <a:sym typeface="Times New Roman"/>
            </a:endParaRPr>
          </a:p>
        </p:txBody>
      </p:sp>
      <p:sp>
        <p:nvSpPr>
          <p:cNvPr id="2430" name="Google Shape;2430;p162"/>
          <p:cNvSpPr/>
          <p:nvPr/>
        </p:nvSpPr>
        <p:spPr>
          <a:xfrm>
            <a:off x="0" y="685800"/>
            <a:ext cx="9144000" cy="5867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39700" lvl="1" marL="114300" marR="0" rtl="0" algn="l">
              <a:lnSpc>
                <a:spcPct val="75000"/>
              </a:lnSpc>
              <a:spcBef>
                <a:spcPts val="0"/>
              </a:spcBef>
              <a:spcAft>
                <a:spcPts val="0"/>
              </a:spcAft>
              <a:buClr>
                <a:schemeClr val="lt1"/>
              </a:buClr>
              <a:buSzPts val="2200"/>
              <a:buFont typeface="Times New Roman"/>
              <a:buChar char="•"/>
            </a:pPr>
            <a:r>
              <a:rPr b="0" i="0" lang="en-US" sz="2200" u="none" cap="none" strike="noStrike">
                <a:solidFill>
                  <a:schemeClr val="lt1"/>
                </a:solidFill>
                <a:latin typeface="Times New Roman"/>
                <a:ea typeface="Times New Roman"/>
                <a:cs typeface="Times New Roman"/>
                <a:sym typeface="Times New Roman"/>
              </a:rPr>
              <a:t>1066</a:t>
            </a:r>
            <a:endParaRPr/>
          </a:p>
          <a:p>
            <a:pPr indent="-139700" lvl="1" marL="114300" marR="0" rtl="0" algn="l">
              <a:lnSpc>
                <a:spcPct val="75000"/>
              </a:lnSpc>
              <a:spcBef>
                <a:spcPts val="220"/>
              </a:spcBef>
              <a:spcAft>
                <a:spcPts val="0"/>
              </a:spcAft>
              <a:buClr>
                <a:schemeClr val="lt1"/>
              </a:buClr>
              <a:buSzPts val="2200"/>
              <a:buFont typeface="Times New Roman"/>
              <a:buChar char="•"/>
            </a:pPr>
            <a:r>
              <a:rPr b="0" i="0" lang="en-US" sz="2200" u="none" cap="none" strike="noStrike">
                <a:solidFill>
                  <a:schemeClr val="lt1"/>
                </a:solidFill>
                <a:latin typeface="Times New Roman"/>
                <a:ea typeface="Times New Roman"/>
                <a:cs typeface="Times New Roman"/>
                <a:sym typeface="Times New Roman"/>
              </a:rPr>
              <a:t>khi người Normans xâm chiếm Anh quốc</a:t>
            </a:r>
            <a:endParaRPr b="0" i="0" sz="2200" u="none" cap="none" strike="noStrike">
              <a:solidFill>
                <a:schemeClr val="lt1"/>
              </a:solidFill>
              <a:latin typeface="Times New Roman"/>
              <a:ea typeface="Times New Roman"/>
              <a:cs typeface="Times New Roman"/>
              <a:sym typeface="Times New Roman"/>
            </a:endParaRPr>
          </a:p>
          <a:p>
            <a:pPr indent="0" lvl="1" marL="114300" marR="0" rtl="0" algn="l">
              <a:lnSpc>
                <a:spcPct val="75000"/>
              </a:lnSpc>
              <a:spcBef>
                <a:spcPts val="22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52400" lvl="1" marL="114300" marR="0" rtl="0" algn="l">
              <a:lnSpc>
                <a:spcPct val="75000"/>
              </a:lnSpc>
              <a:spcBef>
                <a:spcPts val="180"/>
              </a:spcBef>
              <a:spcAft>
                <a:spcPts val="0"/>
              </a:spcAft>
              <a:buClr>
                <a:schemeClr val="lt1"/>
              </a:buClr>
              <a:buSzPts val="2400"/>
              <a:buFont typeface="Times New Roman"/>
              <a:buChar char="•"/>
            </a:pPr>
            <a:r>
              <a:rPr b="0" i="0" lang="en-US" sz="2400" u="none" cap="none" strike="noStrike">
                <a:solidFill>
                  <a:schemeClr val="lt1"/>
                </a:solidFill>
                <a:latin typeface="Times New Roman"/>
                <a:ea typeface="Times New Roman"/>
                <a:cs typeface="Times New Roman"/>
                <a:sym typeface="Times New Roman"/>
              </a:rPr>
              <a:t>Hoàng đế William bắt đầu tập trung quyền lực vào tay triều đình mới</a:t>
            </a:r>
            <a:endParaRPr b="0" i="0" sz="2400" u="none" cap="none" strike="noStrike">
              <a:solidFill>
                <a:schemeClr val="lt1"/>
              </a:solidFill>
              <a:latin typeface="Times New Roman"/>
              <a:ea typeface="Times New Roman"/>
              <a:cs typeface="Times New Roman"/>
              <a:sym typeface="Times New Roman"/>
            </a:endParaRPr>
          </a:p>
          <a:p>
            <a:pPr indent="0" lvl="1" marL="114300" marR="0" rtl="0" algn="l">
              <a:lnSpc>
                <a:spcPct val="75000"/>
              </a:lnSpc>
              <a:spcBef>
                <a:spcPts val="24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39700" lvl="1" marL="114300" marR="0" rtl="0" algn="l">
              <a:lnSpc>
                <a:spcPct val="75000"/>
              </a:lnSpc>
              <a:spcBef>
                <a:spcPts val="18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Sưu tầm, chọn lọc án lệ dưới thời vua Henry II</a:t>
            </a:r>
            <a:endParaRPr b="0" i="0" sz="2200" u="none" cap="none" strike="noStrike">
              <a:solidFill>
                <a:schemeClr val="dk1"/>
              </a:solidFill>
              <a:latin typeface="Times New Roman"/>
              <a:ea typeface="Times New Roman"/>
              <a:cs typeface="Times New Roman"/>
              <a:sym typeface="Times New Roman"/>
            </a:endParaRPr>
          </a:p>
        </p:txBody>
      </p:sp>
      <p:pic>
        <p:nvPicPr>
          <p:cNvPr descr="E:\Bai giang\PL DC\Pics\tải xuống (15).jpg" id="2431" name="Google Shape;2431;p162"/>
          <p:cNvPicPr preferRelativeResize="0"/>
          <p:nvPr/>
        </p:nvPicPr>
        <p:blipFill rotWithShape="1">
          <a:blip r:embed="rId3">
            <a:alphaModFix/>
          </a:blip>
          <a:srcRect b="0" l="0" r="0" t="0"/>
          <a:stretch/>
        </p:blipFill>
        <p:spPr>
          <a:xfrm>
            <a:off x="2895600" y="762000"/>
            <a:ext cx="2057400" cy="2133600"/>
          </a:xfrm>
          <a:prstGeom prst="rect">
            <a:avLst/>
          </a:prstGeom>
          <a:noFill/>
          <a:ln>
            <a:noFill/>
          </a:ln>
        </p:spPr>
      </p:pic>
      <p:pic>
        <p:nvPicPr>
          <p:cNvPr descr="E:\Bai giang\PL DC\Pics\tải xuống (16).jpg" id="2432" name="Google Shape;2432;p162"/>
          <p:cNvPicPr preferRelativeResize="0"/>
          <p:nvPr/>
        </p:nvPicPr>
        <p:blipFill rotWithShape="1">
          <a:blip r:embed="rId4">
            <a:alphaModFix/>
          </a:blip>
          <a:srcRect b="0" l="0" r="0" t="0"/>
          <a:stretch/>
        </p:blipFill>
        <p:spPr>
          <a:xfrm>
            <a:off x="6705600" y="4419600"/>
            <a:ext cx="2247900" cy="2038350"/>
          </a:xfrm>
          <a:prstGeom prst="rect">
            <a:avLst/>
          </a:prstGeom>
          <a:noFill/>
          <a:ln>
            <a:noFill/>
          </a:ln>
        </p:spPr>
      </p:pic>
      <p:cxnSp>
        <p:nvCxnSpPr>
          <p:cNvPr id="2433" name="Google Shape;2433;p162"/>
          <p:cNvCxnSpPr/>
          <p:nvPr/>
        </p:nvCxnSpPr>
        <p:spPr>
          <a:xfrm flipH="1">
            <a:off x="1752600" y="4572000"/>
            <a:ext cx="1752600" cy="609600"/>
          </a:xfrm>
          <a:prstGeom prst="straightConnector1">
            <a:avLst/>
          </a:prstGeom>
          <a:noFill/>
          <a:ln cap="flat" cmpd="sng" w="12700">
            <a:solidFill>
              <a:srgbClr val="FF6803"/>
            </a:solidFill>
            <a:prstDash val="solid"/>
            <a:round/>
            <a:headEnd len="sm" w="sm" type="none"/>
            <a:tailEnd len="med" w="med" type="stealth"/>
          </a:ln>
        </p:spPr>
      </p:cxnSp>
      <p:sp>
        <p:nvSpPr>
          <p:cNvPr id="2434" name="Google Shape;2434;p162"/>
          <p:cNvSpPr/>
          <p:nvPr/>
        </p:nvSpPr>
        <p:spPr>
          <a:xfrm>
            <a:off x="0" y="5105400"/>
            <a:ext cx="2209800" cy="1524000"/>
          </a:xfrm>
          <a:prstGeom prst="ellipse">
            <a:avLst/>
          </a:prstGeom>
          <a:gradFill>
            <a:gsLst>
              <a:gs pos="0">
                <a:srgbClr val="DFE6F8"/>
              </a:gs>
              <a:gs pos="30000">
                <a:srgbClr val="DAE4F9"/>
              </a:gs>
              <a:gs pos="75000">
                <a:srgbClr val="C9D5F6"/>
              </a:gs>
              <a:gs pos="100000">
                <a:srgbClr val="B6CBF6"/>
              </a:gs>
            </a:gsLst>
            <a:path path="circle">
              <a:fillToRect r="100%" t="100%"/>
            </a:path>
            <a:tileRect b="-100%" l="-100%"/>
          </a:gradFill>
          <a:ln cap="flat" cmpd="sng" w="12700">
            <a:solidFill>
              <a:srgbClr val="8A9BBD"/>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Duy trì tập quán pháp của Anh</a:t>
            </a:r>
            <a:endParaRPr sz="2400">
              <a:solidFill>
                <a:schemeClr val="dk1"/>
              </a:solidFill>
              <a:latin typeface="Times New Roman"/>
              <a:ea typeface="Times New Roman"/>
              <a:cs typeface="Times New Roman"/>
              <a:sym typeface="Times New Roman"/>
            </a:endParaRPr>
          </a:p>
        </p:txBody>
      </p:sp>
      <p:cxnSp>
        <p:nvCxnSpPr>
          <p:cNvPr id="2435" name="Google Shape;2435;p162"/>
          <p:cNvCxnSpPr/>
          <p:nvPr/>
        </p:nvCxnSpPr>
        <p:spPr>
          <a:xfrm rot="5400000">
            <a:off x="3429000" y="4724400"/>
            <a:ext cx="533400" cy="228600"/>
          </a:xfrm>
          <a:prstGeom prst="straightConnector1">
            <a:avLst/>
          </a:prstGeom>
          <a:noFill/>
          <a:ln cap="flat" cmpd="sng" w="12700">
            <a:solidFill>
              <a:srgbClr val="FF6803"/>
            </a:solidFill>
            <a:prstDash val="solid"/>
            <a:round/>
            <a:headEnd len="sm" w="sm" type="none"/>
            <a:tailEnd len="med" w="med" type="stealth"/>
          </a:ln>
        </p:spPr>
      </p:cxnSp>
      <p:sp>
        <p:nvSpPr>
          <p:cNvPr id="2436" name="Google Shape;2436;p162"/>
          <p:cNvSpPr/>
          <p:nvPr/>
        </p:nvSpPr>
        <p:spPr>
          <a:xfrm>
            <a:off x="2209800" y="5181600"/>
            <a:ext cx="2133600" cy="1676400"/>
          </a:xfrm>
          <a:prstGeom prst="ellipse">
            <a:avLst/>
          </a:prstGeom>
          <a:gradFill>
            <a:gsLst>
              <a:gs pos="0">
                <a:srgbClr val="FFCCAF"/>
              </a:gs>
              <a:gs pos="30000">
                <a:srgbClr val="FFC7A8"/>
              </a:gs>
              <a:gs pos="75000">
                <a:srgbClr val="FFAC7C"/>
              </a:gs>
              <a:gs pos="100000">
                <a:srgbClr val="FF924A"/>
              </a:gs>
            </a:gsLst>
            <a:path path="circle">
              <a:fillToRect r="100%" t="100%"/>
            </a:path>
            <a:tileRect b="-100%" l="-100%"/>
          </a:gradFill>
          <a:ln cap="flat" cmpd="sng" w="12700">
            <a:solidFill>
              <a:srgbClr val="FF6803"/>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Tòa án là những người dân được triệu tập</a:t>
            </a:r>
            <a:endParaRPr sz="2000">
              <a:solidFill>
                <a:schemeClr val="dk1"/>
              </a:solidFill>
              <a:latin typeface="Times New Roman"/>
              <a:ea typeface="Times New Roman"/>
              <a:cs typeface="Times New Roman"/>
              <a:sym typeface="Times New Roman"/>
            </a:endParaRPr>
          </a:p>
        </p:txBody>
      </p:sp>
      <p:cxnSp>
        <p:nvCxnSpPr>
          <p:cNvPr id="2437" name="Google Shape;2437;p162"/>
          <p:cNvCxnSpPr/>
          <p:nvPr/>
        </p:nvCxnSpPr>
        <p:spPr>
          <a:xfrm>
            <a:off x="4114800" y="4648200"/>
            <a:ext cx="533400" cy="457200"/>
          </a:xfrm>
          <a:prstGeom prst="straightConnector1">
            <a:avLst/>
          </a:prstGeom>
          <a:noFill/>
          <a:ln cap="flat" cmpd="sng" w="12700">
            <a:solidFill>
              <a:srgbClr val="FF6803"/>
            </a:solidFill>
            <a:prstDash val="solid"/>
            <a:round/>
            <a:headEnd len="sm" w="sm" type="none"/>
            <a:tailEnd len="med" w="med" type="stealth"/>
          </a:ln>
        </p:spPr>
      </p:cxnSp>
      <p:sp>
        <p:nvSpPr>
          <p:cNvPr id="2438" name="Google Shape;2438;p162"/>
          <p:cNvSpPr/>
          <p:nvPr/>
        </p:nvSpPr>
        <p:spPr>
          <a:xfrm>
            <a:off x="4343400" y="5105400"/>
            <a:ext cx="1752600" cy="1524000"/>
          </a:xfrm>
          <a:prstGeom prst="ellipse">
            <a:avLst/>
          </a:prstGeom>
          <a:gradFill>
            <a:gsLst>
              <a:gs pos="0">
                <a:srgbClr val="D9DCDE"/>
              </a:gs>
              <a:gs pos="30000">
                <a:srgbClr val="D6D9DB"/>
              </a:gs>
              <a:gs pos="75000">
                <a:srgbClr val="BFC2CA"/>
              </a:gs>
              <a:gs pos="100000">
                <a:srgbClr val="A9AEB8"/>
              </a:gs>
            </a:gsLst>
            <a:path path="circle">
              <a:fillToRect r="100%" t="100%"/>
            </a:path>
            <a:tileRect b="-100%" l="-100%"/>
          </a:gradFill>
          <a:ln cap="flat" cmpd="sng" w="12700">
            <a:solidFill>
              <a:srgbClr val="626872"/>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Phương pháp thử tội</a:t>
            </a:r>
            <a:endParaRPr sz="2400">
              <a:solidFill>
                <a:schemeClr val="dk1"/>
              </a:solidFill>
              <a:latin typeface="Times New Roman"/>
              <a:ea typeface="Times New Roman"/>
              <a:cs typeface="Times New Roman"/>
              <a:sym typeface="Times New Roman"/>
            </a:endParaRPr>
          </a:p>
        </p:txBody>
      </p:sp>
      <p:sp>
        <p:nvSpPr>
          <p:cNvPr id="2439" name="Google Shape;2439;p162"/>
          <p:cNvSpPr/>
          <p:nvPr/>
        </p:nvSpPr>
        <p:spPr>
          <a:xfrm>
            <a:off x="6172200" y="0"/>
            <a:ext cx="2971800" cy="2971800"/>
          </a:xfrm>
          <a:prstGeom prst="downArrow">
            <a:avLst>
              <a:gd fmla="val 50000" name="adj1"/>
              <a:gd fmla="val 50000" name="adj2"/>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Thuật ngữ “Common Law” xuất hiện</a:t>
            </a:r>
            <a:endParaRPr sz="2400">
              <a:solidFill>
                <a:schemeClr val="lt1"/>
              </a:solidFill>
              <a:latin typeface="Times New Roman"/>
              <a:ea typeface="Times New Roman"/>
              <a:cs typeface="Times New Roman"/>
              <a:sym typeface="Times New Roman"/>
            </a:endParaRPr>
          </a:p>
        </p:txBody>
      </p:sp>
      <p:sp>
        <p:nvSpPr>
          <p:cNvPr id="2440" name="Google Shape;2440;p162"/>
          <p:cNvSpPr txBox="1"/>
          <p:nvPr>
            <p:ph idx="11" type="ftr"/>
          </p:nvPr>
        </p:nvSpPr>
        <p:spPr>
          <a:xfrm rot="5400000">
            <a:off x="7001060" y="1777180"/>
            <a:ext cx="3920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41" name="Google Shape;2441;p16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9"/>
                                        </p:tgtEl>
                                        <p:attrNameLst>
                                          <p:attrName>style.visibility</p:attrName>
                                        </p:attrNameLst>
                                      </p:cBhvr>
                                      <p:to>
                                        <p:strVal val="visible"/>
                                      </p:to>
                                    </p:set>
                                    <p:animEffect filter="fade" transition="in">
                                      <p:cBhvr>
                                        <p:cTn dur="500"/>
                                        <p:tgtEl>
                                          <p:spTgt spid="2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gtEl>
                                        <p:attrNameLst>
                                          <p:attrName>style.visibility</p:attrName>
                                        </p:attrNameLst>
                                      </p:cBhvr>
                                      <p:to>
                                        <p:strVal val="visible"/>
                                      </p:to>
                                    </p:set>
                                    <p:animEffect filter="fade" transition="in">
                                      <p:cBhvr>
                                        <p:cTn dur="500"/>
                                        <p:tgtEl>
                                          <p:spTgt spid="2431"/>
                                        </p:tgtEl>
                                      </p:cBhvr>
                                    </p:animEffect>
                                  </p:childTnLst>
                                </p:cTn>
                              </p:par>
                              <p:par>
                                <p:cTn fill="hold" nodeType="withEffect" presetClass="entr" presetID="10" presetSubtype="0">
                                  <p:stCondLst>
                                    <p:cond delay="0"/>
                                  </p:stCondLst>
                                  <p:childTnLst>
                                    <p:set>
                                      <p:cBhvr>
                                        <p:cTn dur="1" fill="hold">
                                          <p:stCondLst>
                                            <p:cond delay="0"/>
                                          </p:stCondLst>
                                        </p:cTn>
                                        <p:tgtEl>
                                          <p:spTgt spid="2432"/>
                                        </p:tgtEl>
                                        <p:attrNameLst>
                                          <p:attrName>style.visibility</p:attrName>
                                        </p:attrNameLst>
                                      </p:cBhvr>
                                      <p:to>
                                        <p:strVal val="visible"/>
                                      </p:to>
                                    </p:set>
                                    <p:animEffect filter="fade" transition="in">
                                      <p:cBhvr>
                                        <p:cTn dur="500"/>
                                        <p:tgtEl>
                                          <p:spTgt spid="2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3"/>
                                        </p:tgtEl>
                                        <p:attrNameLst>
                                          <p:attrName>style.visibility</p:attrName>
                                        </p:attrNameLst>
                                      </p:cBhvr>
                                      <p:to>
                                        <p:strVal val="visible"/>
                                      </p:to>
                                    </p:set>
                                    <p:animEffect filter="fade" transition="in">
                                      <p:cBhvr>
                                        <p:cTn dur="500"/>
                                        <p:tgtEl>
                                          <p:spTgt spid="2433"/>
                                        </p:tgtEl>
                                      </p:cBhvr>
                                    </p:animEffect>
                                  </p:childTnLst>
                                </p:cTn>
                              </p:par>
                              <p:par>
                                <p:cTn fill="hold" nodeType="withEffect" presetClass="entr" presetID="10" presetSubtype="0">
                                  <p:stCondLst>
                                    <p:cond delay="0"/>
                                  </p:stCondLst>
                                  <p:childTnLst>
                                    <p:set>
                                      <p:cBhvr>
                                        <p:cTn dur="1" fill="hold">
                                          <p:stCondLst>
                                            <p:cond delay="0"/>
                                          </p:stCondLst>
                                        </p:cTn>
                                        <p:tgtEl>
                                          <p:spTgt spid="2434"/>
                                        </p:tgtEl>
                                        <p:attrNameLst>
                                          <p:attrName>style.visibility</p:attrName>
                                        </p:attrNameLst>
                                      </p:cBhvr>
                                      <p:to>
                                        <p:strVal val="visible"/>
                                      </p:to>
                                    </p:set>
                                    <p:animEffect filter="fade" transition="in">
                                      <p:cBhvr>
                                        <p:cTn dur="500"/>
                                        <p:tgtEl>
                                          <p:spTgt spid="2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5"/>
                                        </p:tgtEl>
                                        <p:attrNameLst>
                                          <p:attrName>style.visibility</p:attrName>
                                        </p:attrNameLst>
                                      </p:cBhvr>
                                      <p:to>
                                        <p:strVal val="visible"/>
                                      </p:to>
                                    </p:set>
                                    <p:anim calcmode="lin" valueType="num">
                                      <p:cBhvr additive="base">
                                        <p:cTn dur="500"/>
                                        <p:tgtEl>
                                          <p:spTgt spid="24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436"/>
                                        </p:tgtEl>
                                        <p:attrNameLst>
                                          <p:attrName>style.visibility</p:attrName>
                                        </p:attrNameLst>
                                      </p:cBhvr>
                                      <p:to>
                                        <p:strVal val="visible"/>
                                      </p:to>
                                    </p:set>
                                    <p:anim calcmode="lin" valueType="num">
                                      <p:cBhvr additive="base">
                                        <p:cTn dur="500"/>
                                        <p:tgtEl>
                                          <p:spTgt spid="243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7"/>
                                        </p:tgtEl>
                                        <p:attrNameLst>
                                          <p:attrName>style.visibility</p:attrName>
                                        </p:attrNameLst>
                                      </p:cBhvr>
                                      <p:to>
                                        <p:strVal val="visible"/>
                                      </p:to>
                                    </p:set>
                                    <p:animEffect filter="fade" transition="in">
                                      <p:cBhvr>
                                        <p:cTn dur="500"/>
                                        <p:tgtEl>
                                          <p:spTgt spid="2437"/>
                                        </p:tgtEl>
                                      </p:cBhvr>
                                    </p:animEffect>
                                  </p:childTnLst>
                                </p:cTn>
                              </p:par>
                              <p:par>
                                <p:cTn fill="hold" nodeType="withEffect" presetClass="entr" presetID="10" presetSubtype="0">
                                  <p:stCondLst>
                                    <p:cond delay="0"/>
                                  </p:stCondLst>
                                  <p:childTnLst>
                                    <p:set>
                                      <p:cBhvr>
                                        <p:cTn dur="1" fill="hold">
                                          <p:stCondLst>
                                            <p:cond delay="0"/>
                                          </p:stCondLst>
                                        </p:cTn>
                                        <p:tgtEl>
                                          <p:spTgt spid="2438"/>
                                        </p:tgtEl>
                                        <p:attrNameLst>
                                          <p:attrName>style.visibility</p:attrName>
                                        </p:attrNameLst>
                                      </p:cBhvr>
                                      <p:to>
                                        <p:strVal val="visible"/>
                                      </p:to>
                                    </p:set>
                                    <p:animEffect filter="fade" transition="in">
                                      <p:cBhvr>
                                        <p:cTn dur="500"/>
                                        <p:tgtEl>
                                          <p:spTgt spid="2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9"/>
                                        </p:tgtEl>
                                        <p:attrNameLst>
                                          <p:attrName>style.visibility</p:attrName>
                                        </p:attrNameLst>
                                      </p:cBhvr>
                                      <p:to>
                                        <p:strVal val="visible"/>
                                      </p:to>
                                    </p:set>
                                    <p:anim calcmode="lin" valueType="num">
                                      <p:cBhvr additive="base">
                                        <p:cTn dur="500"/>
                                        <p:tgtEl>
                                          <p:spTgt spid="24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5" name="Shape 2445"/>
        <p:cNvGrpSpPr/>
        <p:nvPr/>
      </p:nvGrpSpPr>
      <p:grpSpPr>
        <a:xfrm>
          <a:off x="0" y="0"/>
          <a:ext cx="0" cy="0"/>
          <a:chOff x="0" y="0"/>
          <a:chExt cx="0" cy="0"/>
        </a:xfrm>
      </p:grpSpPr>
      <p:sp>
        <p:nvSpPr>
          <p:cNvPr id="2446" name="Google Shape;2446;p163"/>
          <p:cNvSpPr txBox="1"/>
          <p:nvPr>
            <p:ph type="title"/>
          </p:nvPr>
        </p:nvSpPr>
        <p:spPr>
          <a:xfrm>
            <a:off x="0" y="0"/>
            <a:ext cx="8933688" cy="1417638"/>
          </a:xfrm>
          <a:prstGeom prst="rect">
            <a:avLst/>
          </a:prstGeom>
          <a:noFill/>
          <a:ln>
            <a:noFill/>
          </a:ln>
        </p:spPr>
        <p:txBody>
          <a:bodyPr anchorCtr="0" anchor="b" bIns="45700" lIns="91425" spcFirstLastPara="1" rIns="91425" wrap="square" tIns="45700">
            <a:normAutofit/>
          </a:bodyPr>
          <a:lstStyle/>
          <a:p>
            <a:pPr indent="0" lvl="0" marL="0" rtl="0" algn="just">
              <a:spcBef>
                <a:spcPts val="0"/>
              </a:spcBef>
              <a:spcAft>
                <a:spcPts val="0"/>
              </a:spcAft>
              <a:buClr>
                <a:schemeClr val="dk2"/>
              </a:buClr>
              <a:buSzPts val="2400"/>
              <a:buFont typeface="Times New Roman"/>
              <a:buNone/>
            </a:pPr>
            <a:r>
              <a:rPr lang="en-US" sz="2400">
                <a:latin typeface="Times New Roman"/>
                <a:ea typeface="Times New Roman"/>
                <a:cs typeface="Times New Roman"/>
                <a:sym typeface="Times New Roman"/>
              </a:rPr>
              <a:t>Các nguyên tắc bền vững của luật chung đã được tạo ra bởi ba tòa án được vua Henry II thành lập</a:t>
            </a:r>
            <a:endParaRPr sz="2200">
              <a:solidFill>
                <a:srgbClr val="FF0000"/>
              </a:solidFill>
              <a:latin typeface="Times New Roman"/>
              <a:ea typeface="Times New Roman"/>
              <a:cs typeface="Times New Roman"/>
              <a:sym typeface="Times New Roman"/>
            </a:endParaRPr>
          </a:p>
        </p:txBody>
      </p:sp>
      <p:sp>
        <p:nvSpPr>
          <p:cNvPr id="2447" name="Google Shape;2447;p163"/>
          <p:cNvSpPr/>
          <p:nvPr/>
        </p:nvSpPr>
        <p:spPr>
          <a:xfrm>
            <a:off x="-685800" y="1295400"/>
            <a:ext cx="7772400" cy="5562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77800" lvl="1" marL="114300" marR="0" rtl="0" algn="l">
              <a:lnSpc>
                <a:spcPct val="75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Tòa án thỉnh cầu phổ thông</a:t>
            </a:r>
            <a:endParaRPr b="0" i="0" sz="2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77800" lvl="1" marL="114300" marR="0" rtl="0" algn="l">
              <a:lnSpc>
                <a:spcPct val="75000"/>
              </a:lnSpc>
              <a:spcBef>
                <a:spcPts val="18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Tòa án Hoàng Đế</a:t>
            </a:r>
            <a:endParaRPr b="0" i="0" sz="2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77800" lvl="1" marL="114300" marR="0" rtl="0" algn="l">
              <a:lnSpc>
                <a:spcPct val="75000"/>
              </a:lnSpc>
              <a:spcBef>
                <a:spcPts val="18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Tòa án Tài chính</a:t>
            </a:r>
            <a:endParaRPr b="0" i="0" sz="2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48" name="Google Shape;2448;p163"/>
          <p:cNvSpPr/>
          <p:nvPr/>
        </p:nvSpPr>
        <p:spPr>
          <a:xfrm>
            <a:off x="5486400" y="1143000"/>
            <a:ext cx="2819400" cy="4267200"/>
          </a:xfrm>
          <a:prstGeom prst="verticalScroll">
            <a:avLst>
              <a:gd fmla="val 12500" name="adj"/>
            </a:avLst>
          </a:prstGeom>
          <a:solidFill>
            <a:srgbClr val="D889FF"/>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600">
                <a:solidFill>
                  <a:schemeClr val="dk1"/>
                </a:solidFill>
                <a:latin typeface="Times New Roman"/>
                <a:ea typeface="Times New Roman"/>
                <a:cs typeface="Times New Roman"/>
                <a:sym typeface="Times New Roman"/>
              </a:rPr>
              <a:t>Lưu ý: Nguyên tắc căn bản của luật chung: sự tối thượng của pháp luật!</a:t>
            </a:r>
            <a:endParaRPr sz="2600">
              <a:solidFill>
                <a:schemeClr val="dk1"/>
              </a:solidFill>
              <a:latin typeface="Times New Roman"/>
              <a:ea typeface="Times New Roman"/>
              <a:cs typeface="Times New Roman"/>
              <a:sym typeface="Times New Roman"/>
            </a:endParaRPr>
          </a:p>
        </p:txBody>
      </p:sp>
      <p:pic>
        <p:nvPicPr>
          <p:cNvPr descr="E:\Bai giang\PL DC\Pics\2.jpg" id="2449" name="Google Shape;2449;p163"/>
          <p:cNvPicPr preferRelativeResize="0"/>
          <p:nvPr/>
        </p:nvPicPr>
        <p:blipFill rotWithShape="1">
          <a:blip r:embed="rId3">
            <a:alphaModFix/>
          </a:blip>
          <a:srcRect b="0" l="0" r="0" t="0"/>
          <a:stretch/>
        </p:blipFill>
        <p:spPr>
          <a:xfrm>
            <a:off x="6372225" y="5229225"/>
            <a:ext cx="2686050" cy="1695450"/>
          </a:xfrm>
          <a:prstGeom prst="rect">
            <a:avLst/>
          </a:prstGeom>
          <a:noFill/>
          <a:ln>
            <a:noFill/>
          </a:ln>
        </p:spPr>
      </p:pic>
      <p:sp>
        <p:nvSpPr>
          <p:cNvPr id="2450" name="Google Shape;2450;p163"/>
          <p:cNvSpPr txBox="1"/>
          <p:nvPr>
            <p:ph idx="11" type="ftr"/>
          </p:nvPr>
        </p:nvSpPr>
        <p:spPr>
          <a:xfrm rot="5400000">
            <a:off x="7039160" y="3110680"/>
            <a:ext cx="38439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51" name="Google Shape;2451;p16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6"/>
                                        </p:tgtEl>
                                        <p:attrNameLst>
                                          <p:attrName>style.visibility</p:attrName>
                                        </p:attrNameLst>
                                      </p:cBhvr>
                                      <p:to>
                                        <p:strVal val="visible"/>
                                      </p:to>
                                    </p:set>
                                    <p:animEffect filter="fade" transition="in">
                                      <p:cBhvr>
                                        <p:cTn dur="2000"/>
                                        <p:tgtEl>
                                          <p:spTgt spid="2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8"/>
                                        </p:tgtEl>
                                        <p:attrNameLst>
                                          <p:attrName>style.visibility</p:attrName>
                                        </p:attrNameLst>
                                      </p:cBhvr>
                                      <p:to>
                                        <p:strVal val="visible"/>
                                      </p:to>
                                    </p:set>
                                    <p:animEffect filter="fade" transition="in">
                                      <p:cBhvr>
                                        <p:cTn dur="500"/>
                                        <p:tgtEl>
                                          <p:spTgt spid="2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5" name="Shape 2455"/>
        <p:cNvGrpSpPr/>
        <p:nvPr/>
      </p:nvGrpSpPr>
      <p:grpSpPr>
        <a:xfrm>
          <a:off x="0" y="0"/>
          <a:ext cx="0" cy="0"/>
          <a:chOff x="0" y="0"/>
          <a:chExt cx="0" cy="0"/>
        </a:xfrm>
      </p:grpSpPr>
      <p:sp>
        <p:nvSpPr>
          <p:cNvPr id="2456" name="Google Shape;2456;p164"/>
          <p:cNvSpPr txBox="1"/>
          <p:nvPr>
            <p:ph type="title"/>
          </p:nvPr>
        </p:nvSpPr>
        <p:spPr>
          <a:xfrm>
            <a:off x="533400" y="0"/>
            <a:ext cx="8229600" cy="86836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Equity law</a:t>
            </a:r>
            <a:endParaRPr sz="3200">
              <a:latin typeface="Times New Roman"/>
              <a:ea typeface="Times New Roman"/>
              <a:cs typeface="Times New Roman"/>
              <a:sym typeface="Times New Roman"/>
            </a:endParaRPr>
          </a:p>
        </p:txBody>
      </p:sp>
      <p:sp>
        <p:nvSpPr>
          <p:cNvPr id="2457" name="Google Shape;2457;p164"/>
          <p:cNvSpPr txBox="1"/>
          <p:nvPr>
            <p:ph idx="11" type="ftr"/>
          </p:nvPr>
        </p:nvSpPr>
        <p:spPr>
          <a:xfrm rot="5400000">
            <a:off x="7153460" y="3529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58" name="Google Shape;2458;p16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6"/>
                                        </p:tgtEl>
                                        <p:attrNameLst>
                                          <p:attrName>style.visibility</p:attrName>
                                        </p:attrNameLst>
                                      </p:cBhvr>
                                      <p:to>
                                        <p:strVal val="visible"/>
                                      </p:to>
                                    </p:set>
                                    <p:anim calcmode="lin" valueType="num">
                                      <p:cBhvr additive="base">
                                        <p:cTn dur="500"/>
                                        <p:tgtEl>
                                          <p:spTgt spid="24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2" name="Shape 2462"/>
        <p:cNvGrpSpPr/>
        <p:nvPr/>
      </p:nvGrpSpPr>
      <p:grpSpPr>
        <a:xfrm>
          <a:off x="0" y="0"/>
          <a:ext cx="0" cy="0"/>
          <a:chOff x="0" y="0"/>
          <a:chExt cx="0" cy="0"/>
        </a:xfrm>
      </p:grpSpPr>
      <p:sp>
        <p:nvSpPr>
          <p:cNvPr id="2463" name="Google Shape;2463;p165"/>
          <p:cNvSpPr txBox="1"/>
          <p:nvPr>
            <p:ph type="title"/>
          </p:nvPr>
        </p:nvSpPr>
        <p:spPr>
          <a:xfrm>
            <a:off x="457200" y="0"/>
            <a:ext cx="8229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accent1"/>
              </a:buClr>
              <a:buSzPts val="4000"/>
              <a:buFont typeface="Times New Roman"/>
              <a:buNone/>
            </a:pPr>
            <a:r>
              <a:rPr b="1" lang="en-US" sz="4000">
                <a:solidFill>
                  <a:schemeClr val="accent1"/>
                </a:solidFill>
                <a:latin typeface="Times New Roman"/>
                <a:ea typeface="Times New Roman"/>
                <a:cs typeface="Times New Roman"/>
                <a:sym typeface="Times New Roman"/>
              </a:rPr>
              <a:t>Nguồn luật</a:t>
            </a:r>
            <a:endParaRPr b="1" sz="4000">
              <a:solidFill>
                <a:schemeClr val="accent1"/>
              </a:solidFill>
              <a:latin typeface="Times New Roman"/>
              <a:ea typeface="Times New Roman"/>
              <a:cs typeface="Times New Roman"/>
              <a:sym typeface="Times New Roman"/>
            </a:endParaRPr>
          </a:p>
        </p:txBody>
      </p:sp>
      <p:sp>
        <p:nvSpPr>
          <p:cNvPr id="2464" name="Google Shape;2464;p165"/>
          <p:cNvSpPr/>
          <p:nvPr/>
        </p:nvSpPr>
        <p:spPr>
          <a:xfrm>
            <a:off x="533400" y="1219200"/>
            <a:ext cx="8401050" cy="5410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Án lệ - nguồn chính</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Lẽ phải – nguồn đặc thù</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Luật thành văn</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Các loại nguồn khác: tập quán pháp, học thuyết pháp lý….</a:t>
            </a:r>
            <a:endParaRPr b="0" i="0" sz="1800" u="none" cap="none" strike="noStrike">
              <a:solidFill>
                <a:schemeClr val="dk1"/>
              </a:solidFill>
              <a:latin typeface="Times New Roman"/>
              <a:ea typeface="Times New Roman"/>
              <a:cs typeface="Times New Roman"/>
              <a:sym typeface="Times New Roman"/>
            </a:endParaRPr>
          </a:p>
        </p:txBody>
      </p:sp>
      <p:pic>
        <p:nvPicPr>
          <p:cNvPr descr="E:\Bai giang\PL DC\Pics\anle.jpg" id="2465" name="Google Shape;2465;p165"/>
          <p:cNvPicPr preferRelativeResize="0"/>
          <p:nvPr/>
        </p:nvPicPr>
        <p:blipFill rotWithShape="1">
          <a:blip r:embed="rId3">
            <a:alphaModFix/>
          </a:blip>
          <a:srcRect b="0" l="0" r="0" t="0"/>
          <a:stretch/>
        </p:blipFill>
        <p:spPr>
          <a:xfrm>
            <a:off x="0" y="3962400"/>
            <a:ext cx="3733800" cy="2586002"/>
          </a:xfrm>
          <a:prstGeom prst="rect">
            <a:avLst/>
          </a:prstGeom>
          <a:noFill/>
          <a:ln>
            <a:noFill/>
          </a:ln>
        </p:spPr>
      </p:pic>
      <p:sp>
        <p:nvSpPr>
          <p:cNvPr id="2466" name="Google Shape;2466;p165"/>
          <p:cNvSpPr txBox="1"/>
          <p:nvPr>
            <p:ph idx="11" type="ftr"/>
          </p:nvPr>
        </p:nvSpPr>
        <p:spPr>
          <a:xfrm rot="5400000">
            <a:off x="6782726" y="3529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67" name="Google Shape;2467;p16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3"/>
                                        </p:tgtEl>
                                        <p:attrNameLst>
                                          <p:attrName>style.visibility</p:attrName>
                                        </p:attrNameLst>
                                      </p:cBhvr>
                                      <p:to>
                                        <p:strVal val="visible"/>
                                      </p:to>
                                    </p:set>
                                    <p:animEffect filter="fade" transition="in">
                                      <p:cBhvr>
                                        <p:cTn dur="500"/>
                                        <p:tgtEl>
                                          <p:spTgt spid="24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5"/>
                                        </p:tgtEl>
                                        <p:attrNameLst>
                                          <p:attrName>style.visibility</p:attrName>
                                        </p:attrNameLst>
                                      </p:cBhvr>
                                      <p:to>
                                        <p:strVal val="visible"/>
                                      </p:to>
                                    </p:set>
                                    <p:animEffect filter="fade" transition="in">
                                      <p:cBhvr>
                                        <p:cTn dur="500"/>
                                        <p:tgtEl>
                                          <p:spTgt spid="2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1" name="Shape 2471"/>
        <p:cNvGrpSpPr/>
        <p:nvPr/>
      </p:nvGrpSpPr>
      <p:grpSpPr>
        <a:xfrm>
          <a:off x="0" y="0"/>
          <a:ext cx="0" cy="0"/>
          <a:chOff x="0" y="0"/>
          <a:chExt cx="0" cy="0"/>
        </a:xfrm>
      </p:grpSpPr>
      <p:sp>
        <p:nvSpPr>
          <p:cNvPr id="2472" name="Google Shape;2472;p166"/>
          <p:cNvSpPr txBox="1"/>
          <p:nvPr>
            <p:ph type="title"/>
          </p:nvPr>
        </p:nvSpPr>
        <p:spPr>
          <a:xfrm>
            <a:off x="0" y="152400"/>
            <a:ext cx="8705088" cy="9144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0000"/>
              </a:buClr>
              <a:buSzPts val="3200"/>
              <a:buFont typeface="Times New Roman"/>
              <a:buNone/>
            </a:pPr>
            <a:r>
              <a:rPr b="0" lang="en-US" sz="3200">
                <a:solidFill>
                  <a:srgbClr val="FF0000"/>
                </a:solidFill>
                <a:latin typeface="Times New Roman"/>
                <a:ea typeface="Times New Roman"/>
                <a:cs typeface="Times New Roman"/>
                <a:sym typeface="Times New Roman"/>
              </a:rPr>
              <a:t>Common Law</a:t>
            </a:r>
            <a:endParaRPr b="0" sz="3200">
              <a:solidFill>
                <a:srgbClr val="FF0000"/>
              </a:solidFill>
              <a:latin typeface="Times New Roman"/>
              <a:ea typeface="Times New Roman"/>
              <a:cs typeface="Times New Roman"/>
              <a:sym typeface="Times New Roman"/>
            </a:endParaRPr>
          </a:p>
        </p:txBody>
      </p:sp>
      <p:sp>
        <p:nvSpPr>
          <p:cNvPr id="2473" name="Google Shape;2473;p166"/>
          <p:cNvSpPr txBox="1"/>
          <p:nvPr>
            <p:ph idx="1" type="body"/>
          </p:nvPr>
        </p:nvSpPr>
        <p:spPr>
          <a:xfrm>
            <a:off x="457200" y="1066800"/>
            <a:ext cx="84582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sz="2400">
                <a:latin typeface="Times New Roman"/>
                <a:ea typeface="Times New Roman"/>
                <a:cs typeface="Times New Roman"/>
                <a:sym typeface="Times New Roman"/>
              </a:rPr>
              <a:t>Hiểu theo 3 nghĩa:</a:t>
            </a:r>
            <a:endParaRPr sz="2400">
              <a:latin typeface="Times New Roman"/>
              <a:ea typeface="Times New Roman"/>
              <a:cs typeface="Times New Roman"/>
              <a:sym typeface="Times New Roman"/>
            </a:endParaRPr>
          </a:p>
        </p:txBody>
      </p:sp>
      <p:sp>
        <p:nvSpPr>
          <p:cNvPr id="2474" name="Google Shape;2474;p166"/>
          <p:cNvSpPr/>
          <p:nvPr/>
        </p:nvSpPr>
        <p:spPr>
          <a:xfrm>
            <a:off x="685800" y="1905000"/>
            <a:ext cx="4953000" cy="1371600"/>
          </a:xfrm>
          <a:prstGeom prst="roundRect">
            <a:avLst>
              <a:gd fmla="val 16667" name="adj"/>
            </a:avLst>
          </a:prstGeom>
          <a:solidFill>
            <a:srgbClr val="963A84"/>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400">
                <a:solidFill>
                  <a:schemeClr val="lt1"/>
                </a:solidFill>
                <a:latin typeface="Times New Roman"/>
                <a:ea typeface="Times New Roman"/>
                <a:cs typeface="Times New Roman"/>
                <a:sym typeface="Times New Roman"/>
              </a:rPr>
              <a:t>Một hệ thống pháp luật lớn trên thế giới dựa trên truyền thống hệ thống pháp luật của Anh</a:t>
            </a:r>
            <a:endParaRPr sz="2400">
              <a:solidFill>
                <a:schemeClr val="lt1"/>
              </a:solidFill>
              <a:latin typeface="Times New Roman"/>
              <a:ea typeface="Times New Roman"/>
              <a:cs typeface="Times New Roman"/>
              <a:sym typeface="Times New Roman"/>
            </a:endParaRPr>
          </a:p>
        </p:txBody>
      </p:sp>
      <p:sp>
        <p:nvSpPr>
          <p:cNvPr id="2475" name="Google Shape;2475;p166"/>
          <p:cNvSpPr/>
          <p:nvPr/>
        </p:nvSpPr>
        <p:spPr>
          <a:xfrm>
            <a:off x="1752600" y="3505200"/>
            <a:ext cx="5791200" cy="1447800"/>
          </a:xfrm>
          <a:prstGeom prst="roundRect">
            <a:avLst>
              <a:gd fmla="val 16667" name="adj"/>
            </a:avLst>
          </a:prstGeom>
          <a:solidFill>
            <a:srgbClr val="ABC0E8"/>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Trên phương diện nguồn luật, án lệ (Case law) của Common Law được tạo ra bởi tòa án, phân biệt với đạo luật của Nghị viên</a:t>
            </a:r>
            <a:endParaRPr sz="2400">
              <a:solidFill>
                <a:schemeClr val="dk1"/>
              </a:solidFill>
              <a:latin typeface="Times New Roman"/>
              <a:ea typeface="Times New Roman"/>
              <a:cs typeface="Times New Roman"/>
              <a:sym typeface="Times New Roman"/>
            </a:endParaRPr>
          </a:p>
        </p:txBody>
      </p:sp>
      <p:sp>
        <p:nvSpPr>
          <p:cNvPr id="2476" name="Google Shape;2476;p166"/>
          <p:cNvSpPr/>
          <p:nvPr/>
        </p:nvSpPr>
        <p:spPr>
          <a:xfrm>
            <a:off x="3124200" y="5257800"/>
            <a:ext cx="5715000" cy="1295400"/>
          </a:xfrm>
          <a:prstGeom prst="roundRect">
            <a:avLst>
              <a:gd fmla="val 16667" name="adj"/>
            </a:avLst>
          </a:prstGeom>
          <a:solidFill>
            <a:srgbClr val="0070C0"/>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400">
                <a:solidFill>
                  <a:schemeClr val="lt1"/>
                </a:solidFill>
                <a:latin typeface="Times New Roman"/>
                <a:ea typeface="Times New Roman"/>
                <a:cs typeface="Times New Roman"/>
                <a:sym typeface="Times New Roman"/>
              </a:rPr>
              <a:t>Trên phương diện hệ thống Tòa án, Tòa án và các án lệ của Common Law cũng khác biệt với Tòa án và các án lệ của Equity Law</a:t>
            </a:r>
            <a:endParaRPr/>
          </a:p>
        </p:txBody>
      </p:sp>
      <p:sp>
        <p:nvSpPr>
          <p:cNvPr id="2477" name="Google Shape;2477;p166"/>
          <p:cNvSpPr txBox="1"/>
          <p:nvPr>
            <p:ph idx="11" type="ftr"/>
          </p:nvPr>
        </p:nvSpPr>
        <p:spPr>
          <a:xfrm rot="5400000">
            <a:off x="6782726" y="3529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78" name="Google Shape;2478;p16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2"/>
                                        </p:tgtEl>
                                        <p:attrNameLst>
                                          <p:attrName>style.visibility</p:attrName>
                                        </p:attrNameLst>
                                      </p:cBhvr>
                                      <p:to>
                                        <p:strVal val="visible"/>
                                      </p:to>
                                    </p:set>
                                    <p:animEffect filter="fade" transition="in">
                                      <p:cBhvr>
                                        <p:cTn dur="500"/>
                                        <p:tgtEl>
                                          <p:spTgt spid="2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3">
                                            <p:txEl>
                                              <p:pRg end="0" st="0"/>
                                            </p:txEl>
                                          </p:spTgt>
                                        </p:tgtEl>
                                        <p:attrNameLst>
                                          <p:attrName>style.visibility</p:attrName>
                                        </p:attrNameLst>
                                      </p:cBhvr>
                                      <p:to>
                                        <p:strVal val="visible"/>
                                      </p:to>
                                    </p:set>
                                    <p:animEffect filter="fade" transition="in">
                                      <p:cBhvr>
                                        <p:cTn dur="2000"/>
                                        <p:tgtEl>
                                          <p:spTgt spid="24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74"/>
                                        </p:tgtEl>
                                        <p:attrNameLst>
                                          <p:attrName>style.visibility</p:attrName>
                                        </p:attrNameLst>
                                      </p:cBhvr>
                                      <p:to>
                                        <p:strVal val="visible"/>
                                      </p:to>
                                    </p:set>
                                    <p:anim calcmode="lin" valueType="num">
                                      <p:cBhvr additive="base">
                                        <p:cTn dur="500"/>
                                        <p:tgtEl>
                                          <p:spTgt spid="247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5"/>
                                        </p:tgtEl>
                                        <p:attrNameLst>
                                          <p:attrName>style.visibility</p:attrName>
                                        </p:attrNameLst>
                                      </p:cBhvr>
                                      <p:to>
                                        <p:strVal val="visible"/>
                                      </p:to>
                                    </p:set>
                                    <p:animEffect filter="fade" transition="in">
                                      <p:cBhvr>
                                        <p:cTn dur="500"/>
                                        <p:tgtEl>
                                          <p:spTgt spid="2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6"/>
                                        </p:tgtEl>
                                        <p:attrNameLst>
                                          <p:attrName>style.visibility</p:attrName>
                                        </p:attrNameLst>
                                      </p:cBhvr>
                                      <p:to>
                                        <p:strVal val="visible"/>
                                      </p:to>
                                    </p:set>
                                    <p:animEffect filter="fade" transition="in">
                                      <p:cBhvr>
                                        <p:cTn dur="2000"/>
                                        <p:tgtEl>
                                          <p:spTgt spid="24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2" name="Shape 2482"/>
        <p:cNvGrpSpPr/>
        <p:nvPr/>
      </p:nvGrpSpPr>
      <p:grpSpPr>
        <a:xfrm>
          <a:off x="0" y="0"/>
          <a:ext cx="0" cy="0"/>
          <a:chOff x="0" y="0"/>
          <a:chExt cx="0" cy="0"/>
        </a:xfrm>
      </p:grpSpPr>
      <p:sp>
        <p:nvSpPr>
          <p:cNvPr id="2483" name="Google Shape;2483;p167"/>
          <p:cNvSpPr txBox="1"/>
          <p:nvPr>
            <p:ph type="title"/>
          </p:nvPr>
        </p:nvSpPr>
        <p:spPr>
          <a:xfrm>
            <a:off x="457200" y="0"/>
            <a:ext cx="8229600" cy="9445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FF0000"/>
              </a:buClr>
              <a:buSzPts val="2800"/>
              <a:buFont typeface="Times New Roman"/>
              <a:buNone/>
            </a:pPr>
            <a:r>
              <a:rPr b="1" lang="en-US" sz="2800">
                <a:solidFill>
                  <a:srgbClr val="FF0000"/>
                </a:solidFill>
                <a:latin typeface="Times New Roman"/>
                <a:ea typeface="Times New Roman"/>
                <a:cs typeface="Times New Roman"/>
                <a:sym typeface="Times New Roman"/>
              </a:rPr>
              <a:t>5.1.2. Hệ thống pháp luật châu Âu lục địa </a:t>
            </a:r>
            <a:br>
              <a:rPr b="1" lang="en-US" sz="2800">
                <a:solidFill>
                  <a:srgbClr val="FF0000"/>
                </a:solidFill>
                <a:latin typeface="Times New Roman"/>
                <a:ea typeface="Times New Roman"/>
                <a:cs typeface="Times New Roman"/>
                <a:sym typeface="Times New Roman"/>
              </a:rPr>
            </a:br>
            <a:r>
              <a:rPr b="1" lang="en-US" sz="2800">
                <a:solidFill>
                  <a:srgbClr val="FF0000"/>
                </a:solidFill>
                <a:latin typeface="Times New Roman"/>
                <a:ea typeface="Times New Roman"/>
                <a:cs typeface="Times New Roman"/>
                <a:sym typeface="Times New Roman"/>
              </a:rPr>
              <a:t>(Dân luật – Civil law)</a:t>
            </a:r>
            <a:endParaRPr b="1" sz="2800">
              <a:solidFill>
                <a:srgbClr val="FF0000"/>
              </a:solidFill>
            </a:endParaRPr>
          </a:p>
        </p:txBody>
      </p:sp>
      <p:sp>
        <p:nvSpPr>
          <p:cNvPr id="2484" name="Google Shape;2484;p167"/>
          <p:cNvSpPr/>
          <p:nvPr/>
        </p:nvSpPr>
        <p:spPr>
          <a:xfrm>
            <a:off x="457200" y="1304653"/>
            <a:ext cx="4229099" cy="2076107"/>
          </a:xfrm>
          <a:prstGeom prst="roundRect">
            <a:avLst>
              <a:gd fmla="val 16667" name="adj"/>
            </a:avLst>
          </a:prstGeom>
          <a:solidFill>
            <a:schemeClr val="accent3"/>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lt1"/>
                </a:solidFill>
                <a:latin typeface="Times New Roman"/>
                <a:ea typeface="Times New Roman"/>
                <a:cs typeface="Times New Roman"/>
                <a:sym typeface="Times New Roman"/>
              </a:rPr>
              <a:t>Hình thành và phát triển: </a:t>
            </a:r>
            <a:endParaRPr/>
          </a:p>
          <a:p>
            <a:pPr indent="0" lvl="0" marL="0" marR="0" rtl="0" algn="ctr">
              <a:lnSpc>
                <a:spcPct val="85000"/>
              </a:lnSpc>
              <a:spcBef>
                <a:spcPts val="400"/>
              </a:spcBef>
              <a:spcAft>
                <a:spcPts val="0"/>
              </a:spcAft>
              <a:buNone/>
            </a:pPr>
            <a:r>
              <a:rPr lang="en-US" sz="2000">
                <a:solidFill>
                  <a:schemeClr val="lt1"/>
                </a:solidFill>
                <a:latin typeface="Times New Roman"/>
                <a:ea typeface="Times New Roman"/>
                <a:cs typeface="Times New Roman"/>
                <a:sym typeface="Times New Roman"/>
              </a:rPr>
              <a:t>thế kỷ XIII - XVIII</a:t>
            </a:r>
            <a:endParaRPr sz="2000">
              <a:solidFill>
                <a:schemeClr val="lt1"/>
              </a:solidFill>
              <a:latin typeface="Times New Roman"/>
              <a:ea typeface="Times New Roman"/>
              <a:cs typeface="Times New Roman"/>
              <a:sym typeface="Times New Roman"/>
            </a:endParaRPr>
          </a:p>
        </p:txBody>
      </p:sp>
      <p:sp>
        <p:nvSpPr>
          <p:cNvPr id="2485" name="Google Shape;2485;p167"/>
          <p:cNvSpPr/>
          <p:nvPr/>
        </p:nvSpPr>
        <p:spPr>
          <a:xfrm>
            <a:off x="4686299" y="1304653"/>
            <a:ext cx="4229099" cy="2076107"/>
          </a:xfrm>
          <a:prstGeom prst="rightArrow">
            <a:avLst>
              <a:gd fmla="val 50000" name="adj1"/>
              <a:gd fmla="val 50000" name="adj2"/>
            </a:avLst>
          </a:prstGeom>
          <a:solidFill>
            <a:srgbClr val="E4CBCA">
              <a:alpha val="89803"/>
            </a:srgbClr>
          </a:solidFill>
          <a:ln cap="flat" cmpd="sng" w="25400">
            <a:solidFill>
              <a:srgbClr val="E4CBCA">
                <a:alpha val="89803"/>
              </a:srgbClr>
            </a:solidFill>
            <a:prstDash val="solid"/>
            <a:round/>
            <a:headEnd len="sm" w="sm" type="none"/>
            <a:tailEnd len="sm" w="sm" type="none"/>
          </a:ln>
        </p:spPr>
        <p:txBody>
          <a:bodyPr anchorCtr="0" anchor="t"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Luật La Mã được thay thế bằng luật bộ tộc Đức. Tuy nhiên Luật La Mã vẫn được duy trì</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Giải thích, hiện đại hóa những nội dung của Bộ dân luật Corpus Juris Civilis</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Truyền bá và đào tạo luật</a:t>
            </a:r>
            <a:endParaRPr b="0" i="0" sz="2000" u="none" cap="none" strike="noStrike">
              <a:solidFill>
                <a:schemeClr val="dk1"/>
              </a:solidFill>
              <a:latin typeface="Times New Roman"/>
              <a:ea typeface="Times New Roman"/>
              <a:cs typeface="Times New Roman"/>
              <a:sym typeface="Times New Roman"/>
            </a:endParaRPr>
          </a:p>
        </p:txBody>
      </p:sp>
      <p:sp>
        <p:nvSpPr>
          <p:cNvPr id="2486" name="Google Shape;2486;p167"/>
          <p:cNvSpPr/>
          <p:nvPr/>
        </p:nvSpPr>
        <p:spPr>
          <a:xfrm>
            <a:off x="457200" y="3410690"/>
            <a:ext cx="4229099" cy="3733201"/>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2000">
                <a:solidFill>
                  <a:schemeClr val="lt1"/>
                </a:solidFill>
                <a:latin typeface="Times New Roman"/>
                <a:ea typeface="Times New Roman"/>
                <a:cs typeface="Times New Roman"/>
                <a:sym typeface="Times New Roman"/>
              </a:rPr>
              <a:t>Pháp điển hóa: </a:t>
            </a:r>
            <a:endParaRPr/>
          </a:p>
          <a:p>
            <a:pPr indent="0" lvl="0" marL="0" marR="0" rtl="0" algn="ctr">
              <a:lnSpc>
                <a:spcPct val="85000"/>
              </a:lnSpc>
              <a:spcBef>
                <a:spcPts val="400"/>
              </a:spcBef>
              <a:spcAft>
                <a:spcPts val="0"/>
              </a:spcAft>
              <a:buNone/>
            </a:pPr>
            <a:r>
              <a:rPr lang="en-US" sz="2000">
                <a:solidFill>
                  <a:schemeClr val="lt1"/>
                </a:solidFill>
                <a:latin typeface="Times New Roman"/>
                <a:ea typeface="Times New Roman"/>
                <a:cs typeface="Times New Roman"/>
                <a:sym typeface="Times New Roman"/>
              </a:rPr>
              <a:t>thế kỷ XIX</a:t>
            </a:r>
            <a:endParaRPr sz="2000">
              <a:solidFill>
                <a:schemeClr val="lt1"/>
              </a:solidFill>
              <a:latin typeface="Times New Roman"/>
              <a:ea typeface="Times New Roman"/>
              <a:cs typeface="Times New Roman"/>
              <a:sym typeface="Times New Roman"/>
            </a:endParaRPr>
          </a:p>
        </p:txBody>
      </p:sp>
      <p:sp>
        <p:nvSpPr>
          <p:cNvPr id="2487" name="Google Shape;2487;p167"/>
          <p:cNvSpPr/>
          <p:nvPr/>
        </p:nvSpPr>
        <p:spPr>
          <a:xfrm>
            <a:off x="4686299" y="3410690"/>
            <a:ext cx="4229099" cy="3733201"/>
          </a:xfrm>
          <a:prstGeom prst="rightArrow">
            <a:avLst>
              <a:gd fmla="val 50000" name="adj1"/>
              <a:gd fmla="val 50000" name="adj2"/>
            </a:avLst>
          </a:prstGeom>
          <a:solidFill>
            <a:srgbClr val="FBEDCC">
              <a:alpha val="89803"/>
            </a:srgbClr>
          </a:solidFill>
          <a:ln cap="flat" cmpd="sng" w="25400">
            <a:solidFill>
              <a:srgbClr val="FBEDCC">
                <a:alpha val="89803"/>
              </a:srgbClr>
            </a:solidFill>
            <a:prstDash val="solid"/>
            <a:round/>
            <a:headEnd len="sm" w="sm" type="none"/>
            <a:tailEnd len="sm" w="sm" type="none"/>
          </a:ln>
        </p:spPr>
        <p:txBody>
          <a:bodyPr anchorCtr="0" anchor="t"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Thời kỳ cuối cùng hình thành pháp luật chung</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Điều kiện: có 1 thể chế chính trị chung ở 1 nước lớn; người cầm đầu có tư tưởng tiến bộ và bành trướng</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Pháp:  Bộ luật Dân sự năm 1804 (BLDS Napoleon); Bộ luật tố tụng dân sự 1806, Bộ luật thương mại 1807,…</a:t>
            </a:r>
            <a:endParaRPr b="0" i="0" sz="2000" u="none" cap="none" strike="noStrike">
              <a:solidFill>
                <a:schemeClr val="dk1"/>
              </a:solidFill>
              <a:latin typeface="Times New Roman"/>
              <a:ea typeface="Times New Roman"/>
              <a:cs typeface="Times New Roman"/>
              <a:sym typeface="Times New Roman"/>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Đức:  Pháp điển hóa chậm và không trọn vẹn.: Bộ luật dân sự được thông qua năm 1896</a:t>
            </a:r>
            <a:endParaRPr b="0" i="0" sz="2000" u="none" cap="none" strike="noStrike">
              <a:solidFill>
                <a:schemeClr val="dk1"/>
              </a:solidFill>
              <a:latin typeface="Times New Roman"/>
              <a:ea typeface="Times New Roman"/>
              <a:cs typeface="Times New Roman"/>
              <a:sym typeface="Times New Roman"/>
            </a:endParaRPr>
          </a:p>
        </p:txBody>
      </p:sp>
      <p:sp>
        <p:nvSpPr>
          <p:cNvPr id="2488" name="Google Shape;2488;p167"/>
          <p:cNvSpPr txBox="1"/>
          <p:nvPr>
            <p:ph idx="11" type="ftr"/>
          </p:nvPr>
        </p:nvSpPr>
        <p:spPr>
          <a:xfrm rot="5400000">
            <a:off x="7191560" y="36440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489" name="Google Shape;2489;p16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83"/>
                                        </p:tgtEl>
                                        <p:attrNameLst>
                                          <p:attrName>style.visibility</p:attrName>
                                        </p:attrNameLst>
                                      </p:cBhvr>
                                      <p:to>
                                        <p:strVal val="visible"/>
                                      </p:to>
                                    </p:set>
                                    <p:anim calcmode="lin" valueType="num">
                                      <p:cBhvr additive="base">
                                        <p:cTn dur="500"/>
                                        <p:tgtEl>
                                          <p:spTgt spid="248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3" name="Shape 2493"/>
        <p:cNvGrpSpPr/>
        <p:nvPr/>
      </p:nvGrpSpPr>
      <p:grpSpPr>
        <a:xfrm>
          <a:off x="0" y="0"/>
          <a:ext cx="0" cy="0"/>
          <a:chOff x="0" y="0"/>
          <a:chExt cx="0" cy="0"/>
        </a:xfrm>
      </p:grpSpPr>
      <p:sp>
        <p:nvSpPr>
          <p:cNvPr id="2494" name="Google Shape;2494;p168"/>
          <p:cNvSpPr txBox="1"/>
          <p:nvPr>
            <p:ph type="title"/>
          </p:nvPr>
        </p:nvSpPr>
        <p:spPr>
          <a:xfrm>
            <a:off x="457200" y="0"/>
            <a:ext cx="8229600" cy="6096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Nguồn luật</a:t>
            </a:r>
            <a:endParaRPr sz="3200">
              <a:solidFill>
                <a:srgbClr val="FF0000"/>
              </a:solidFill>
              <a:latin typeface="Times New Roman"/>
              <a:ea typeface="Times New Roman"/>
              <a:cs typeface="Times New Roman"/>
              <a:sym typeface="Times New Roman"/>
            </a:endParaRPr>
          </a:p>
        </p:txBody>
      </p:sp>
      <p:sp>
        <p:nvSpPr>
          <p:cNvPr id="2495" name="Google Shape;2495;p168"/>
          <p:cNvSpPr/>
          <p:nvPr/>
        </p:nvSpPr>
        <p:spPr>
          <a:xfrm>
            <a:off x="1447800" y="1676400"/>
            <a:ext cx="5867400" cy="4038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Luật thành văn</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Tập quán pháp</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Án lệ</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127000" lvl="1" marL="1143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Học thuyết pháp lý</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cxnSp>
        <p:nvCxnSpPr>
          <p:cNvPr id="2496" name="Google Shape;2496;p168"/>
          <p:cNvCxnSpPr/>
          <p:nvPr/>
        </p:nvCxnSpPr>
        <p:spPr>
          <a:xfrm>
            <a:off x="4953000" y="2057400"/>
            <a:ext cx="609600" cy="1588"/>
          </a:xfrm>
          <a:prstGeom prst="straightConnector1">
            <a:avLst/>
          </a:prstGeom>
          <a:solidFill>
            <a:schemeClr val="lt1"/>
          </a:solidFill>
          <a:ln cap="flat" cmpd="sng" w="25400">
            <a:solidFill>
              <a:schemeClr val="accent2"/>
            </a:solidFill>
            <a:prstDash val="solid"/>
            <a:round/>
            <a:headEnd len="sm" w="sm" type="none"/>
            <a:tailEnd len="med" w="med" type="stealth"/>
          </a:ln>
        </p:spPr>
      </p:cxnSp>
      <p:sp>
        <p:nvSpPr>
          <p:cNvPr id="2497" name="Google Shape;2497;p168"/>
          <p:cNvSpPr/>
          <p:nvPr/>
        </p:nvSpPr>
        <p:spPr>
          <a:xfrm>
            <a:off x="5638800" y="838200"/>
            <a:ext cx="3505200" cy="1752600"/>
          </a:xfrm>
          <a:prstGeom prst="roundRect">
            <a:avLst>
              <a:gd fmla="val 16667" name="adj"/>
            </a:avLst>
          </a:prstGeom>
          <a:solidFill>
            <a:schemeClr val="lt1"/>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 Gồm: Hiến pháp, Bộ luật và Luật, các văn bản dưới luật. Là kết quả của kỹ thuật lập pháp</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Do cơ quan lập pháp ban hành</a:t>
            </a:r>
            <a:endParaRPr sz="1800">
              <a:solidFill>
                <a:schemeClr val="dk1"/>
              </a:solidFill>
              <a:latin typeface="Times New Roman"/>
              <a:ea typeface="Times New Roman"/>
              <a:cs typeface="Times New Roman"/>
              <a:sym typeface="Times New Roman"/>
            </a:endParaRPr>
          </a:p>
        </p:txBody>
      </p:sp>
      <p:cxnSp>
        <p:nvCxnSpPr>
          <p:cNvPr id="2498" name="Google Shape;2498;p168"/>
          <p:cNvCxnSpPr/>
          <p:nvPr/>
        </p:nvCxnSpPr>
        <p:spPr>
          <a:xfrm flipH="1" rot="-5400000">
            <a:off x="6324600" y="3810000"/>
            <a:ext cx="533400" cy="533400"/>
          </a:xfrm>
          <a:prstGeom prst="straightConnector1">
            <a:avLst/>
          </a:prstGeom>
          <a:noFill/>
          <a:ln cap="flat" cmpd="sng" w="12700">
            <a:solidFill>
              <a:srgbClr val="FF6803"/>
            </a:solidFill>
            <a:prstDash val="solid"/>
            <a:round/>
            <a:headEnd len="sm" w="sm" type="none"/>
            <a:tailEnd len="med" w="med" type="stealth"/>
          </a:ln>
        </p:spPr>
      </p:cxnSp>
      <p:sp>
        <p:nvSpPr>
          <p:cNvPr id="2499" name="Google Shape;2499;p168"/>
          <p:cNvSpPr/>
          <p:nvPr/>
        </p:nvSpPr>
        <p:spPr>
          <a:xfrm>
            <a:off x="6934200" y="3505200"/>
            <a:ext cx="2209800" cy="2286000"/>
          </a:xfrm>
          <a:prstGeom prst="roundRect">
            <a:avLst>
              <a:gd fmla="val 16667" name="adj"/>
            </a:avLst>
          </a:prstGeom>
          <a:solidFill>
            <a:srgbClr val="FBEAA9"/>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Cách xử sự mang ý nghĩa pháp lý</a:t>
            </a:r>
            <a:endParaRPr sz="2000">
              <a:solidFill>
                <a:schemeClr val="dk1"/>
              </a:solidFill>
              <a:latin typeface="Times New Roman"/>
              <a:ea typeface="Times New Roman"/>
              <a:cs typeface="Times New Roman"/>
              <a:sym typeface="Times New Roman"/>
            </a:endParaRPr>
          </a:p>
          <a:p>
            <a:pPr indent="-127000" lvl="0" marL="0" marR="0" rtl="0" algn="just">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 Được công nhận 1 cách tự phát</a:t>
            </a:r>
            <a:endParaRPr sz="2000">
              <a:solidFill>
                <a:schemeClr val="dk1"/>
              </a:solidFill>
              <a:latin typeface="Times New Roman"/>
              <a:ea typeface="Times New Roman"/>
              <a:cs typeface="Times New Roman"/>
              <a:sym typeface="Times New Roman"/>
            </a:endParaRPr>
          </a:p>
        </p:txBody>
      </p:sp>
      <p:cxnSp>
        <p:nvCxnSpPr>
          <p:cNvPr id="2500" name="Google Shape;2500;p168"/>
          <p:cNvCxnSpPr/>
          <p:nvPr/>
        </p:nvCxnSpPr>
        <p:spPr>
          <a:xfrm rot="5400000">
            <a:off x="4229100" y="5524500"/>
            <a:ext cx="381000" cy="1588"/>
          </a:xfrm>
          <a:prstGeom prst="straightConnector1">
            <a:avLst/>
          </a:prstGeom>
          <a:noFill/>
          <a:ln cap="flat" cmpd="sng" w="12700">
            <a:solidFill>
              <a:srgbClr val="FF6803"/>
            </a:solidFill>
            <a:prstDash val="solid"/>
            <a:round/>
            <a:headEnd len="sm" w="sm" type="none"/>
            <a:tailEnd len="med" w="med" type="stealth"/>
          </a:ln>
        </p:spPr>
      </p:cxnSp>
      <p:sp>
        <p:nvSpPr>
          <p:cNvPr id="2501" name="Google Shape;2501;p168"/>
          <p:cNvSpPr/>
          <p:nvPr/>
        </p:nvSpPr>
        <p:spPr>
          <a:xfrm>
            <a:off x="2438400" y="5715000"/>
            <a:ext cx="3962400" cy="1143000"/>
          </a:xfrm>
          <a:prstGeom prst="ellipse">
            <a:avLst/>
          </a:prstGeom>
          <a:solidFill>
            <a:schemeClr val="accent1"/>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Bản án, quyết định của tòa án, trọng tài được dùng làm khuôn mẫu</a:t>
            </a:r>
            <a:endParaRPr sz="1800">
              <a:solidFill>
                <a:schemeClr val="lt1"/>
              </a:solidFill>
              <a:latin typeface="Arial"/>
              <a:ea typeface="Arial"/>
              <a:cs typeface="Arial"/>
              <a:sym typeface="Arial"/>
            </a:endParaRPr>
          </a:p>
        </p:txBody>
      </p:sp>
      <p:cxnSp>
        <p:nvCxnSpPr>
          <p:cNvPr id="2502" name="Google Shape;2502;p168"/>
          <p:cNvCxnSpPr/>
          <p:nvPr/>
        </p:nvCxnSpPr>
        <p:spPr>
          <a:xfrm rot="10800000">
            <a:off x="1981200" y="3581400"/>
            <a:ext cx="533400" cy="1588"/>
          </a:xfrm>
          <a:prstGeom prst="straightConnector1">
            <a:avLst/>
          </a:prstGeom>
          <a:noFill/>
          <a:ln cap="flat" cmpd="sng" w="12700">
            <a:solidFill>
              <a:srgbClr val="FF6803"/>
            </a:solidFill>
            <a:prstDash val="solid"/>
            <a:round/>
            <a:headEnd len="sm" w="sm" type="none"/>
            <a:tailEnd len="med" w="med" type="stealth"/>
          </a:ln>
        </p:spPr>
      </p:cxnSp>
      <p:sp>
        <p:nvSpPr>
          <p:cNvPr id="2503" name="Google Shape;2503;p168"/>
          <p:cNvSpPr/>
          <p:nvPr/>
        </p:nvSpPr>
        <p:spPr>
          <a:xfrm>
            <a:off x="0" y="2438400"/>
            <a:ext cx="1981200" cy="3352800"/>
          </a:xfrm>
          <a:prstGeom prst="roundRect">
            <a:avLst>
              <a:gd fmla="val 16667" name="adj"/>
            </a:avLst>
          </a:prstGeom>
          <a:solidFill>
            <a:srgbClr val="E2E9F7"/>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Là toàn bộ các công trình nghiên cứu của các học giả, các ý kiến, bài viết liên quan đến luật</a:t>
            </a:r>
            <a:endParaRPr sz="1800">
              <a:solidFill>
                <a:schemeClr val="dk1"/>
              </a:solidFill>
              <a:latin typeface="Times New Roman"/>
              <a:ea typeface="Times New Roman"/>
              <a:cs typeface="Times New Roman"/>
              <a:sym typeface="Times New Roman"/>
            </a:endParaRPr>
          </a:p>
          <a:p>
            <a:pPr indent="-114300" lvl="0" marL="0" marR="0" rtl="0" algn="just">
              <a:spcBef>
                <a:spcPts val="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Nguồn quan trọng nhất trước khi có luật thành văn</a:t>
            </a:r>
            <a:endParaRPr sz="1800">
              <a:solidFill>
                <a:schemeClr val="dk1"/>
              </a:solidFill>
              <a:latin typeface="Times New Roman"/>
              <a:ea typeface="Times New Roman"/>
              <a:cs typeface="Times New Roman"/>
              <a:sym typeface="Times New Roman"/>
            </a:endParaRPr>
          </a:p>
        </p:txBody>
      </p:sp>
      <p:cxnSp>
        <p:nvCxnSpPr>
          <p:cNvPr id="2504" name="Google Shape;2504;p168"/>
          <p:cNvCxnSpPr/>
          <p:nvPr/>
        </p:nvCxnSpPr>
        <p:spPr>
          <a:xfrm rot="10800000">
            <a:off x="3352800" y="1447800"/>
            <a:ext cx="533400" cy="381000"/>
          </a:xfrm>
          <a:prstGeom prst="straightConnector1">
            <a:avLst/>
          </a:prstGeom>
          <a:noFill/>
          <a:ln cap="flat" cmpd="sng" w="12700">
            <a:solidFill>
              <a:srgbClr val="FF6803"/>
            </a:solidFill>
            <a:prstDash val="solid"/>
            <a:round/>
            <a:headEnd len="sm" w="sm" type="none"/>
            <a:tailEnd len="med" w="med" type="stealth"/>
          </a:ln>
        </p:spPr>
      </p:cxnSp>
      <p:sp>
        <p:nvSpPr>
          <p:cNvPr id="2505" name="Google Shape;2505;p168"/>
          <p:cNvSpPr/>
          <p:nvPr/>
        </p:nvSpPr>
        <p:spPr>
          <a:xfrm>
            <a:off x="457200" y="-228600"/>
            <a:ext cx="3962400" cy="2590800"/>
          </a:xfrm>
          <a:prstGeom prst="star5">
            <a:avLst>
              <a:gd fmla="val 19098" name="adj"/>
              <a:gd fmla="val 105146" name="hf"/>
              <a:gd fmla="val 110557" name="vf"/>
            </a:avLst>
          </a:prstGeom>
          <a:solidFill>
            <a:srgbClr val="FFC000"/>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Nguồn chính thức</a:t>
            </a:r>
            <a:endParaRPr sz="1800">
              <a:solidFill>
                <a:schemeClr val="dk1"/>
              </a:solidFill>
              <a:latin typeface="Arial"/>
              <a:ea typeface="Arial"/>
              <a:cs typeface="Arial"/>
              <a:sym typeface="Arial"/>
            </a:endParaRPr>
          </a:p>
        </p:txBody>
      </p:sp>
      <p:pic>
        <p:nvPicPr>
          <p:cNvPr descr="E:\Bai giang\PL DC\Pics\images (16).jpg" id="2506" name="Google Shape;2506;p168"/>
          <p:cNvPicPr preferRelativeResize="0"/>
          <p:nvPr/>
        </p:nvPicPr>
        <p:blipFill rotWithShape="1">
          <a:blip r:embed="rId3">
            <a:alphaModFix/>
          </a:blip>
          <a:srcRect b="0" l="0" r="0" t="0"/>
          <a:stretch/>
        </p:blipFill>
        <p:spPr>
          <a:xfrm>
            <a:off x="3429000" y="2819400"/>
            <a:ext cx="1856986" cy="1752600"/>
          </a:xfrm>
          <a:prstGeom prst="rect">
            <a:avLst/>
          </a:prstGeom>
          <a:noFill/>
          <a:ln>
            <a:noFill/>
          </a:ln>
        </p:spPr>
      </p:pic>
      <p:sp>
        <p:nvSpPr>
          <p:cNvPr id="2507" name="Google Shape;2507;p168"/>
          <p:cNvSpPr txBox="1"/>
          <p:nvPr>
            <p:ph idx="11" type="ftr"/>
          </p:nvPr>
        </p:nvSpPr>
        <p:spPr>
          <a:xfrm>
            <a:off x="5791200" y="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08" name="Google Shape;2508;p16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4"/>
                                        </p:tgtEl>
                                        <p:attrNameLst>
                                          <p:attrName>style.visibility</p:attrName>
                                        </p:attrNameLst>
                                      </p:cBhvr>
                                      <p:to>
                                        <p:strVal val="visible"/>
                                      </p:to>
                                    </p:set>
                                    <p:animEffect filter="fade" transition="in">
                                      <p:cBhvr>
                                        <p:cTn dur="500"/>
                                        <p:tgtEl>
                                          <p:spTgt spid="2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4"/>
                                        </p:tgtEl>
                                        <p:attrNameLst>
                                          <p:attrName>style.visibility</p:attrName>
                                        </p:attrNameLst>
                                      </p:cBhvr>
                                      <p:to>
                                        <p:strVal val="visible"/>
                                      </p:to>
                                    </p:set>
                                    <p:animEffect filter="fade" transition="in">
                                      <p:cBhvr>
                                        <p:cTn dur="500"/>
                                        <p:tgtEl>
                                          <p:spTgt spid="2504"/>
                                        </p:tgtEl>
                                      </p:cBhvr>
                                    </p:animEffect>
                                  </p:childTnLst>
                                </p:cTn>
                              </p:par>
                              <p:par>
                                <p:cTn fill="hold" nodeType="withEffect" presetClass="entr" presetID="10" presetSubtype="0">
                                  <p:stCondLst>
                                    <p:cond delay="0"/>
                                  </p:stCondLst>
                                  <p:childTnLst>
                                    <p:set>
                                      <p:cBhvr>
                                        <p:cTn dur="1" fill="hold">
                                          <p:stCondLst>
                                            <p:cond delay="0"/>
                                          </p:stCondLst>
                                        </p:cTn>
                                        <p:tgtEl>
                                          <p:spTgt spid="2505"/>
                                        </p:tgtEl>
                                        <p:attrNameLst>
                                          <p:attrName>style.visibility</p:attrName>
                                        </p:attrNameLst>
                                      </p:cBhvr>
                                      <p:to>
                                        <p:strVal val="visible"/>
                                      </p:to>
                                    </p:set>
                                    <p:animEffect filter="fade" transition="in">
                                      <p:cBhvr>
                                        <p:cTn dur="500"/>
                                        <p:tgtEl>
                                          <p:spTgt spid="2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96"/>
                                        </p:tgtEl>
                                        <p:attrNameLst>
                                          <p:attrName>style.visibility</p:attrName>
                                        </p:attrNameLst>
                                      </p:cBhvr>
                                      <p:to>
                                        <p:strVal val="visible"/>
                                      </p:to>
                                    </p:set>
                                    <p:anim calcmode="lin" valueType="num">
                                      <p:cBhvr additive="base">
                                        <p:cTn dur="500"/>
                                        <p:tgtEl>
                                          <p:spTgt spid="24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497"/>
                                        </p:tgtEl>
                                        <p:attrNameLst>
                                          <p:attrName>style.visibility</p:attrName>
                                        </p:attrNameLst>
                                      </p:cBhvr>
                                      <p:to>
                                        <p:strVal val="visible"/>
                                      </p:to>
                                    </p:set>
                                    <p:anim calcmode="lin" valueType="num">
                                      <p:cBhvr additive="base">
                                        <p:cTn dur="500"/>
                                        <p:tgtEl>
                                          <p:spTgt spid="249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8"/>
                                        </p:tgtEl>
                                        <p:attrNameLst>
                                          <p:attrName>style.visibility</p:attrName>
                                        </p:attrNameLst>
                                      </p:cBhvr>
                                      <p:to>
                                        <p:strVal val="visible"/>
                                      </p:to>
                                    </p:set>
                                    <p:animEffect filter="fade" transition="in">
                                      <p:cBhvr>
                                        <p:cTn dur="2000"/>
                                        <p:tgtEl>
                                          <p:spTgt spid="2498"/>
                                        </p:tgtEl>
                                      </p:cBhvr>
                                    </p:animEffect>
                                  </p:childTnLst>
                                </p:cTn>
                              </p:par>
                              <p:par>
                                <p:cTn fill="hold" nodeType="withEffect" presetClass="entr" presetID="10" presetSubtype="0">
                                  <p:stCondLst>
                                    <p:cond delay="0"/>
                                  </p:stCondLst>
                                  <p:childTnLst>
                                    <p:set>
                                      <p:cBhvr>
                                        <p:cTn dur="1" fill="hold">
                                          <p:stCondLst>
                                            <p:cond delay="0"/>
                                          </p:stCondLst>
                                        </p:cTn>
                                        <p:tgtEl>
                                          <p:spTgt spid="2499"/>
                                        </p:tgtEl>
                                        <p:attrNameLst>
                                          <p:attrName>style.visibility</p:attrName>
                                        </p:attrNameLst>
                                      </p:cBhvr>
                                      <p:to>
                                        <p:strVal val="visible"/>
                                      </p:to>
                                    </p:set>
                                    <p:animEffect filter="fade" transition="in">
                                      <p:cBhvr>
                                        <p:cTn dur="2000"/>
                                        <p:tgtEl>
                                          <p:spTgt spid="24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0"/>
                                        </p:tgtEl>
                                        <p:attrNameLst>
                                          <p:attrName>style.visibility</p:attrName>
                                        </p:attrNameLst>
                                      </p:cBhvr>
                                      <p:to>
                                        <p:strVal val="visible"/>
                                      </p:to>
                                    </p:set>
                                    <p:animEffect filter="fade" transition="in">
                                      <p:cBhvr>
                                        <p:cTn dur="500"/>
                                        <p:tgtEl>
                                          <p:spTgt spid="2500"/>
                                        </p:tgtEl>
                                      </p:cBhvr>
                                    </p:animEffect>
                                  </p:childTnLst>
                                </p:cTn>
                              </p:par>
                              <p:par>
                                <p:cTn fill="hold" nodeType="withEffect" presetClass="entr" presetID="10" presetSubtype="0">
                                  <p:stCondLst>
                                    <p:cond delay="0"/>
                                  </p:stCondLst>
                                  <p:childTnLst>
                                    <p:set>
                                      <p:cBhvr>
                                        <p:cTn dur="1" fill="hold">
                                          <p:stCondLst>
                                            <p:cond delay="0"/>
                                          </p:stCondLst>
                                        </p:cTn>
                                        <p:tgtEl>
                                          <p:spTgt spid="2501"/>
                                        </p:tgtEl>
                                        <p:attrNameLst>
                                          <p:attrName>style.visibility</p:attrName>
                                        </p:attrNameLst>
                                      </p:cBhvr>
                                      <p:to>
                                        <p:strVal val="visible"/>
                                      </p:to>
                                    </p:set>
                                    <p:animEffect filter="fade" transition="in">
                                      <p:cBhvr>
                                        <p:cTn dur="500"/>
                                        <p:tgtEl>
                                          <p:spTgt spid="2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2"/>
                                        </p:tgtEl>
                                        <p:attrNameLst>
                                          <p:attrName>style.visibility</p:attrName>
                                        </p:attrNameLst>
                                      </p:cBhvr>
                                      <p:to>
                                        <p:strVal val="visible"/>
                                      </p:to>
                                    </p:set>
                                    <p:animEffect filter="fade" transition="in">
                                      <p:cBhvr>
                                        <p:cTn dur="500"/>
                                        <p:tgtEl>
                                          <p:spTgt spid="2502"/>
                                        </p:tgtEl>
                                      </p:cBhvr>
                                    </p:animEffect>
                                  </p:childTnLst>
                                </p:cTn>
                              </p:par>
                              <p:par>
                                <p:cTn fill="hold" nodeType="withEffect" presetClass="entr" presetID="10" presetSubtype="0">
                                  <p:stCondLst>
                                    <p:cond delay="0"/>
                                  </p:stCondLst>
                                  <p:childTnLst>
                                    <p:set>
                                      <p:cBhvr>
                                        <p:cTn dur="1" fill="hold">
                                          <p:stCondLst>
                                            <p:cond delay="0"/>
                                          </p:stCondLst>
                                        </p:cTn>
                                        <p:tgtEl>
                                          <p:spTgt spid="2503"/>
                                        </p:tgtEl>
                                        <p:attrNameLst>
                                          <p:attrName>style.visibility</p:attrName>
                                        </p:attrNameLst>
                                      </p:cBhvr>
                                      <p:to>
                                        <p:strVal val="visible"/>
                                      </p:to>
                                    </p:set>
                                    <p:animEffect filter="fade" transition="in">
                                      <p:cBhvr>
                                        <p:cTn dur="500"/>
                                        <p:tgtEl>
                                          <p:spTgt spid="25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2" name="Shape 2512"/>
        <p:cNvGrpSpPr/>
        <p:nvPr/>
      </p:nvGrpSpPr>
      <p:grpSpPr>
        <a:xfrm>
          <a:off x="0" y="0"/>
          <a:ext cx="0" cy="0"/>
          <a:chOff x="0" y="0"/>
          <a:chExt cx="0" cy="0"/>
        </a:xfrm>
      </p:grpSpPr>
      <p:sp>
        <p:nvSpPr>
          <p:cNvPr id="2513" name="Google Shape;2513;p169"/>
          <p:cNvSpPr txBox="1"/>
          <p:nvPr>
            <p:ph type="title"/>
          </p:nvPr>
        </p:nvSpPr>
        <p:spPr>
          <a:xfrm>
            <a:off x="457200" y="274638"/>
            <a:ext cx="8229600" cy="63976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Phân loại pháp luật</a:t>
            </a:r>
            <a:endParaRPr sz="3200">
              <a:solidFill>
                <a:srgbClr val="FF0000"/>
              </a:solidFill>
              <a:latin typeface="Times New Roman"/>
              <a:ea typeface="Times New Roman"/>
              <a:cs typeface="Times New Roman"/>
              <a:sym typeface="Times New Roman"/>
            </a:endParaRPr>
          </a:p>
        </p:txBody>
      </p:sp>
      <p:sp>
        <p:nvSpPr>
          <p:cNvPr id="2514" name="Google Shape;2514;p169"/>
          <p:cNvSpPr/>
          <p:nvPr/>
        </p:nvSpPr>
        <p:spPr>
          <a:xfrm>
            <a:off x="0" y="1066800"/>
            <a:ext cx="8686800" cy="4525962"/>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Luật công</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Điều chỉnh mối quan hệ giữa nhà nước với công dân hoặc giữa các cơ quan nhà nước với nhau trong quá trình thực hiện công quyền, hướng đến lợi ích công</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Luật Hiến pháp, Luật hành chính</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Luật tư</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Điều chỉnh mối quan hệ giữa các tư nhân, hướng đến lợi ích tư</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Luật Dân sự, Luật Hôn nhân gia đình, Luật thương mại, Luật lao động,…</a:t>
            </a:r>
            <a:endParaRPr b="0" i="0" sz="1800" u="none" cap="none" strike="noStrike">
              <a:solidFill>
                <a:schemeClr val="dk1"/>
              </a:solidFill>
              <a:latin typeface="Times New Roman"/>
              <a:ea typeface="Times New Roman"/>
              <a:cs typeface="Times New Roman"/>
              <a:sym typeface="Times New Roman"/>
            </a:endParaRPr>
          </a:p>
        </p:txBody>
      </p:sp>
      <p:pic>
        <p:nvPicPr>
          <p:cNvPr descr="E:\Bai giang\PL DC\Pics\images (17).jpg" id="2515" name="Google Shape;2515;p169"/>
          <p:cNvPicPr preferRelativeResize="0"/>
          <p:nvPr/>
        </p:nvPicPr>
        <p:blipFill rotWithShape="1">
          <a:blip r:embed="rId3">
            <a:alphaModFix/>
          </a:blip>
          <a:srcRect b="0" l="0" r="0" t="0"/>
          <a:stretch/>
        </p:blipFill>
        <p:spPr>
          <a:xfrm>
            <a:off x="3224213" y="4967288"/>
            <a:ext cx="2847975" cy="1609725"/>
          </a:xfrm>
          <a:prstGeom prst="rect">
            <a:avLst/>
          </a:prstGeom>
          <a:noFill/>
          <a:ln>
            <a:noFill/>
          </a:ln>
        </p:spPr>
      </p:pic>
      <p:sp>
        <p:nvSpPr>
          <p:cNvPr id="2516" name="Google Shape;2516;p169"/>
          <p:cNvSpPr txBox="1"/>
          <p:nvPr>
            <p:ph idx="11" type="ftr"/>
          </p:nvPr>
        </p:nvSpPr>
        <p:spPr>
          <a:xfrm rot="5400000">
            <a:off x="7077260" y="34535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17" name="Google Shape;2517;p16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3"/>
                                        </p:tgtEl>
                                        <p:attrNameLst>
                                          <p:attrName>style.visibility</p:attrName>
                                        </p:attrNameLst>
                                      </p:cBhvr>
                                      <p:to>
                                        <p:strVal val="visible"/>
                                      </p:to>
                                    </p:set>
                                    <p:animEffect filter="fade" transition="in">
                                      <p:cBhvr>
                                        <p:cTn dur="500"/>
                                        <p:tgtEl>
                                          <p:spTgt spid="25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1" name="Shape 2521"/>
        <p:cNvGrpSpPr/>
        <p:nvPr/>
      </p:nvGrpSpPr>
      <p:grpSpPr>
        <a:xfrm>
          <a:off x="0" y="0"/>
          <a:ext cx="0" cy="0"/>
          <a:chOff x="0" y="0"/>
          <a:chExt cx="0" cy="0"/>
        </a:xfrm>
      </p:grpSpPr>
      <p:sp>
        <p:nvSpPr>
          <p:cNvPr id="2522" name="Google Shape;2522;p170"/>
          <p:cNvSpPr txBox="1"/>
          <p:nvPr>
            <p:ph type="title"/>
          </p:nvPr>
        </p:nvSpPr>
        <p:spPr>
          <a:xfrm>
            <a:off x="533400" y="0"/>
            <a:ext cx="8229600" cy="56356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0000"/>
              </a:buClr>
              <a:buSzPts val="2400"/>
              <a:buFont typeface="Times New Roman"/>
              <a:buNone/>
            </a:pPr>
            <a:r>
              <a:rPr b="1" lang="en-US" sz="2400">
                <a:solidFill>
                  <a:srgbClr val="FF0000"/>
                </a:solidFill>
                <a:latin typeface="Times New Roman"/>
                <a:ea typeface="Times New Roman"/>
                <a:cs typeface="Times New Roman"/>
                <a:sym typeface="Times New Roman"/>
              </a:rPr>
              <a:t> PHÂN BIỆT COMMON LAW VÀ CIVIL LAW</a:t>
            </a:r>
            <a:endParaRPr b="1" sz="2400">
              <a:solidFill>
                <a:srgbClr val="FF0000"/>
              </a:solidFill>
            </a:endParaRPr>
          </a:p>
        </p:txBody>
      </p:sp>
      <p:graphicFrame>
        <p:nvGraphicFramePr>
          <p:cNvPr id="2523" name="Google Shape;2523;p170"/>
          <p:cNvGraphicFramePr/>
          <p:nvPr/>
        </p:nvGraphicFramePr>
        <p:xfrm>
          <a:off x="0" y="685801"/>
          <a:ext cx="3000000" cy="3000000"/>
        </p:xfrm>
        <a:graphic>
          <a:graphicData uri="http://schemas.openxmlformats.org/drawingml/2006/table">
            <a:tbl>
              <a:tblPr bandRow="1" firstRow="1">
                <a:noFill/>
                <a:tableStyleId>{E556D886-79C6-4B34-8550-496D3A3E74C1}</a:tableStyleId>
              </a:tblPr>
              <a:tblGrid>
                <a:gridCol w="1752600"/>
                <a:gridCol w="3581400"/>
                <a:gridCol w="3810000"/>
              </a:tblGrid>
              <a:tr h="388250">
                <a:tc>
                  <a:txBody>
                    <a:bodyPr/>
                    <a:lstStyle/>
                    <a:p>
                      <a:pPr indent="0" lvl="0" marL="0" marR="0" rtl="0" algn="ctr">
                        <a:lnSpc>
                          <a:spcPct val="100000"/>
                        </a:lnSpc>
                        <a:spcBef>
                          <a:spcPts val="0"/>
                        </a:spcBef>
                        <a:spcAft>
                          <a:spcPts val="0"/>
                        </a:spcAft>
                        <a:buClr>
                          <a:schemeClr val="dk1"/>
                        </a:buClr>
                        <a:buSzPts val="2000"/>
                        <a:buFont typeface="Arial"/>
                        <a:buNone/>
                      </a:pPr>
                      <a:r>
                        <a:rPr lang="en-US" sz="2000" u="none" cap="none" strike="noStrike">
                          <a:latin typeface="Arial"/>
                          <a:ea typeface="Arial"/>
                          <a:cs typeface="Arial"/>
                          <a:sym typeface="Arial"/>
                        </a:rPr>
                        <a:t>Tiêu chí</a:t>
                      </a:r>
                      <a:endParaRPr sz="2000" u="none" cap="none" strike="noStrike">
                        <a:solidFill>
                          <a:srgbClr val="FF0000"/>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2000"/>
                        <a:buFont typeface="Arial"/>
                        <a:buNone/>
                      </a:pPr>
                      <a:r>
                        <a:rPr lang="en-US" sz="2000" u="none" cap="none" strike="noStrike">
                          <a:latin typeface="Arial"/>
                          <a:ea typeface="Arial"/>
                          <a:cs typeface="Arial"/>
                          <a:sym typeface="Arial"/>
                        </a:rPr>
                        <a:t>Common law</a:t>
                      </a:r>
                      <a:endParaRPr sz="2000" u="none" cap="none" strike="noStrike">
                        <a:solidFill>
                          <a:srgbClr val="FF0000"/>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chemeClr val="dk1"/>
                        </a:buClr>
                        <a:buSzPts val="2000"/>
                        <a:buFont typeface="Arial"/>
                        <a:buNone/>
                      </a:pPr>
                      <a:r>
                        <a:rPr lang="en-US" sz="2000" u="none" cap="none" strike="noStrike">
                          <a:latin typeface="Arial"/>
                          <a:ea typeface="Arial"/>
                          <a:cs typeface="Arial"/>
                          <a:sym typeface="Arial"/>
                        </a:rPr>
                        <a:t>Civil law</a:t>
                      </a:r>
                      <a:endParaRPr sz="2000" u="none" cap="none" strike="noStrike">
                        <a:solidFill>
                          <a:srgbClr val="FF0000"/>
                        </a:solidFill>
                        <a:latin typeface="Arial"/>
                        <a:ea typeface="Arial"/>
                        <a:cs typeface="Arial"/>
                        <a:sym typeface="Arial"/>
                      </a:endParaRPr>
                    </a:p>
                  </a:txBody>
                  <a:tcPr marT="45725" marB="45725" marR="91450" marL="91450"/>
                </a:tc>
              </a:tr>
              <a:tr h="507700">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latin typeface="Arial"/>
                          <a:ea typeface="Arial"/>
                          <a:cs typeface="Arial"/>
                          <a:sym typeface="Arial"/>
                        </a:rPr>
                        <a:t>Nguồn luật</a:t>
                      </a:r>
                      <a:endParaRPr sz="2000" u="none" cap="none" strike="noStrike">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latin typeface="Arial"/>
                          <a:ea typeface="Arial"/>
                          <a:cs typeface="Arial"/>
                          <a:sym typeface="Arial"/>
                        </a:rPr>
                        <a:t>Chủ yếu là án lệ</a:t>
                      </a:r>
                      <a:endParaRPr sz="2000" u="none" cap="none" strike="noStrike">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latin typeface="Arial"/>
                          <a:ea typeface="Arial"/>
                          <a:cs typeface="Arial"/>
                          <a:sym typeface="Arial"/>
                        </a:rPr>
                        <a:t>Chủ yếu là luật thành văn</a:t>
                      </a:r>
                      <a:endParaRPr sz="2000" u="none" cap="none" strike="noStrike">
                        <a:latin typeface="Arial"/>
                        <a:ea typeface="Arial"/>
                        <a:cs typeface="Arial"/>
                        <a:sym typeface="Arial"/>
                      </a:endParaRPr>
                    </a:p>
                  </a:txBody>
                  <a:tcPr marT="45725" marB="45725" marR="91450" marL="91450"/>
                </a:tc>
              </a:tr>
              <a:tr h="1661350">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latin typeface="Arial"/>
                          <a:ea typeface="Arial"/>
                          <a:cs typeface="Arial"/>
                          <a:sym typeface="Arial"/>
                        </a:rPr>
                        <a:t>Tính chất pháp điển hóa</a:t>
                      </a:r>
                      <a:endParaRPr sz="2000" u="none" cap="none" strike="noStrike">
                        <a:solidFill>
                          <a:srgbClr val="C00000"/>
                        </a:solidFill>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2000" u="none" cap="none" strike="noStrike">
                          <a:latin typeface="Arial"/>
                          <a:ea typeface="Arial"/>
                          <a:cs typeface="Arial"/>
                          <a:sym typeface="Arial"/>
                        </a:rPr>
                        <a:t>- Quan niệm: luật pháp được hình thành từ tục lệ</a:t>
                      </a:r>
                      <a:endParaRPr sz="2000" u="none" cap="none" strike="noStrike">
                        <a:latin typeface="Arial"/>
                        <a:ea typeface="Arial"/>
                        <a:cs typeface="Arial"/>
                        <a:sym typeface="Arial"/>
                      </a:endParaRPr>
                    </a:p>
                    <a:p>
                      <a:pPr indent="0" lvl="0" marL="0" marR="0" rtl="0" algn="l">
                        <a:spcBef>
                          <a:spcPts val="0"/>
                        </a:spcBef>
                        <a:spcAft>
                          <a:spcPts val="0"/>
                        </a:spcAft>
                        <a:buNone/>
                      </a:pPr>
                      <a:r>
                        <a:rPr lang="en-US" sz="2000" u="none" cap="none" strike="noStrike">
                          <a:latin typeface="Arial"/>
                          <a:ea typeface="Arial"/>
                          <a:cs typeface="Arial"/>
                          <a:sym typeface="Arial"/>
                        </a:rPr>
                        <a:t>- Cụ thể, phù hợp với sự phát triển các quan hệ xã hội</a:t>
                      </a:r>
                      <a:endParaRPr sz="2000" u="none" cap="none" strike="noStrike">
                        <a:latin typeface="Arial"/>
                        <a:ea typeface="Arial"/>
                        <a:cs typeface="Arial"/>
                        <a:sym typeface="Arial"/>
                      </a:endParaRPr>
                    </a:p>
                    <a:p>
                      <a:pPr indent="0" lvl="0" marL="0" marR="0" rtl="0" algn="l">
                        <a:spcBef>
                          <a:spcPts val="0"/>
                        </a:spcBef>
                        <a:spcAft>
                          <a:spcPts val="0"/>
                        </a:spcAft>
                        <a:buNone/>
                      </a:pPr>
                      <a:r>
                        <a:rPr lang="en-US" sz="2000" u="none" cap="none" strike="noStrike">
                          <a:latin typeface="Arial"/>
                          <a:ea typeface="Arial"/>
                          <a:cs typeface="Arial"/>
                          <a:sym typeface="Arial"/>
                        </a:rPr>
                        <a:t>- Khó phân chia</a:t>
                      </a:r>
                      <a:endParaRPr sz="2000" u="none" cap="none" strike="noStrike">
                        <a:solidFill>
                          <a:srgbClr val="C00000"/>
                        </a:solidFill>
                        <a:latin typeface="Arial"/>
                        <a:ea typeface="Arial"/>
                        <a:cs typeface="Arial"/>
                        <a:sym typeface="Arial"/>
                      </a:endParaRPr>
                    </a:p>
                  </a:txBody>
                  <a:tcPr marT="45725" marB="45725" marR="91450" marL="91450"/>
                </a:tc>
                <a:tc>
                  <a:txBody>
                    <a:bodyPr/>
                    <a:lstStyle/>
                    <a:p>
                      <a:pPr indent="-127000" lvl="0" marL="0" marR="0" rtl="0" algn="l">
                        <a:spcBef>
                          <a:spcPts val="0"/>
                        </a:spcBef>
                        <a:spcAft>
                          <a:spcPts val="0"/>
                        </a:spcAft>
                        <a:buClr>
                          <a:schemeClr val="dk1"/>
                        </a:buClr>
                        <a:buSzPts val="2000"/>
                        <a:buFont typeface="Arial"/>
                        <a:buChar char="-"/>
                      </a:pPr>
                      <a:r>
                        <a:rPr lang="en-US" sz="2000" u="none" cap="none" strike="noStrike">
                          <a:latin typeface="Arial"/>
                          <a:ea typeface="Arial"/>
                          <a:cs typeface="Arial"/>
                          <a:sym typeface="Arial"/>
                        </a:rPr>
                        <a:t>Quan niệm: luật pháp phải từ các chế định cụ thể</a:t>
                      </a:r>
                      <a:endParaRPr sz="2000" u="none" cap="none" strike="noStrike">
                        <a:latin typeface="Arial"/>
                        <a:ea typeface="Arial"/>
                        <a:cs typeface="Arial"/>
                        <a:sym typeface="Arial"/>
                      </a:endParaRPr>
                    </a:p>
                    <a:p>
                      <a:pPr indent="-127000" lvl="0" marL="0" marR="0" rtl="0" algn="l">
                        <a:spcBef>
                          <a:spcPts val="0"/>
                        </a:spcBef>
                        <a:spcAft>
                          <a:spcPts val="0"/>
                        </a:spcAft>
                        <a:buClr>
                          <a:schemeClr val="dk1"/>
                        </a:buClr>
                        <a:buSzPts val="2000"/>
                        <a:buFont typeface="Arial"/>
                        <a:buChar char="-"/>
                      </a:pPr>
                      <a:r>
                        <a:rPr lang="en-US" sz="2000" u="none" cap="none" strike="noStrike">
                          <a:latin typeface="Arial"/>
                          <a:ea typeface="Arial"/>
                          <a:cs typeface="Arial"/>
                          <a:sym typeface="Arial"/>
                        </a:rPr>
                        <a:t> Khái quát hóa, ổn định cao</a:t>
                      </a:r>
                      <a:endParaRPr sz="2000" u="none" cap="none" strike="noStrike">
                        <a:latin typeface="Arial"/>
                        <a:ea typeface="Arial"/>
                        <a:cs typeface="Arial"/>
                        <a:sym typeface="Arial"/>
                      </a:endParaRPr>
                    </a:p>
                    <a:p>
                      <a:pPr indent="-127000" lvl="0" marL="0" marR="0" rtl="0" algn="l">
                        <a:spcBef>
                          <a:spcPts val="0"/>
                        </a:spcBef>
                        <a:spcAft>
                          <a:spcPts val="0"/>
                        </a:spcAft>
                        <a:buClr>
                          <a:schemeClr val="dk1"/>
                        </a:buClr>
                        <a:buSzPts val="2000"/>
                        <a:buFont typeface="Arial"/>
                        <a:buChar char="-"/>
                      </a:pPr>
                      <a:r>
                        <a:rPr lang="en-US" sz="2000" u="none" cap="none" strike="noStrike">
                          <a:latin typeface="Arial"/>
                          <a:ea typeface="Arial"/>
                          <a:cs typeface="Arial"/>
                          <a:sym typeface="Arial"/>
                        </a:rPr>
                        <a:t> Chia thành luật công và luật tư</a:t>
                      </a:r>
                      <a:endParaRPr sz="2000" u="none" cap="none" strike="noStrike">
                        <a:latin typeface="Arial"/>
                        <a:ea typeface="Arial"/>
                        <a:cs typeface="Arial"/>
                        <a:sym typeface="Arial"/>
                      </a:endParaRPr>
                    </a:p>
                    <a:p>
                      <a:pPr indent="0" lvl="0" marL="0" marR="0" rtl="0" algn="l">
                        <a:spcBef>
                          <a:spcPts val="0"/>
                        </a:spcBef>
                        <a:spcAft>
                          <a:spcPts val="0"/>
                        </a:spcAft>
                        <a:buNone/>
                      </a:pPr>
                      <a:r>
                        <a:t/>
                      </a:r>
                      <a:endParaRPr sz="2000">
                        <a:solidFill>
                          <a:srgbClr val="C00000"/>
                        </a:solidFill>
                        <a:latin typeface="Arial"/>
                        <a:ea typeface="Arial"/>
                        <a:cs typeface="Arial"/>
                        <a:sym typeface="Arial"/>
                      </a:endParaRPr>
                    </a:p>
                  </a:txBody>
                  <a:tcPr marT="45725" marB="45725" marR="91450" marL="91450"/>
                </a:tc>
              </a:tr>
              <a:tr h="1284200">
                <a:tc>
                  <a:txBody>
                    <a:bodyPr/>
                    <a:lstStyle/>
                    <a:p>
                      <a:pPr indent="0" lvl="0" marL="0" marR="0" rtl="0" algn="l">
                        <a:lnSpc>
                          <a:spcPct val="100000"/>
                        </a:lnSpc>
                        <a:spcBef>
                          <a:spcPts val="0"/>
                        </a:spcBef>
                        <a:spcAft>
                          <a:spcPts val="0"/>
                        </a:spcAft>
                        <a:buClr>
                          <a:schemeClr val="dk1"/>
                        </a:buClr>
                        <a:buSzPts val="2000"/>
                        <a:buFont typeface="Arial"/>
                        <a:buNone/>
                      </a:pPr>
                      <a:r>
                        <a:rPr lang="en-US" sz="2000">
                          <a:latin typeface="Arial"/>
                          <a:ea typeface="Arial"/>
                          <a:cs typeface="Arial"/>
                          <a:sym typeface="Arial"/>
                        </a:rPr>
                        <a:t>Thủ tục tố tụng</a:t>
                      </a:r>
                      <a:endParaRPr sz="2000">
                        <a:latin typeface="Arial"/>
                        <a:ea typeface="Arial"/>
                        <a:cs typeface="Arial"/>
                        <a:sym typeface="Arial"/>
                      </a:endParaRPr>
                    </a:p>
                    <a:p>
                      <a:pPr indent="0" lvl="0" marL="0" marR="0" rtl="0" algn="l">
                        <a:spcBef>
                          <a:spcPts val="0"/>
                        </a:spcBef>
                        <a:spcAft>
                          <a:spcPts val="0"/>
                        </a:spcAft>
                        <a:buNone/>
                      </a:pPr>
                      <a:r>
                        <a:t/>
                      </a:r>
                      <a:endParaRPr sz="20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2000">
                          <a:latin typeface="Arial"/>
                          <a:ea typeface="Arial"/>
                          <a:cs typeface="Arial"/>
                          <a:sym typeface="Arial"/>
                        </a:rPr>
                        <a:t>- Tố tụng tranh tụng</a:t>
                      </a:r>
                      <a:endParaRPr sz="2000">
                        <a:latin typeface="Arial"/>
                        <a:ea typeface="Arial"/>
                        <a:cs typeface="Arial"/>
                        <a:sym typeface="Arial"/>
                      </a:endParaRPr>
                    </a:p>
                    <a:p>
                      <a:pPr indent="0" lvl="0" marL="0" marR="0" rtl="0" algn="l">
                        <a:spcBef>
                          <a:spcPts val="0"/>
                        </a:spcBef>
                        <a:spcAft>
                          <a:spcPts val="0"/>
                        </a:spcAft>
                        <a:buNone/>
                      </a:pPr>
                      <a:r>
                        <a:rPr lang="en-US" sz="2000">
                          <a:latin typeface="Arial"/>
                          <a:ea typeface="Arial"/>
                          <a:cs typeface="Arial"/>
                          <a:sym typeface="Arial"/>
                        </a:rPr>
                        <a:t>- Tòa án được coi là cơ quan làm luật lần thứ hai, sáng tạo ra án lệ</a:t>
                      </a:r>
                      <a:endParaRPr sz="20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2000">
                          <a:latin typeface="Arial"/>
                          <a:ea typeface="Arial"/>
                          <a:cs typeface="Arial"/>
                          <a:sym typeface="Arial"/>
                        </a:rPr>
                        <a:t>- Tố tụng thẩm vấn/ tố tụng viết</a:t>
                      </a:r>
                      <a:endParaRPr sz="2000">
                        <a:latin typeface="Arial"/>
                        <a:ea typeface="Arial"/>
                        <a:cs typeface="Arial"/>
                        <a:sym typeface="Arial"/>
                      </a:endParaRPr>
                    </a:p>
                    <a:p>
                      <a:pPr indent="0" lvl="0" marL="0" marR="0" rtl="0" algn="l">
                        <a:spcBef>
                          <a:spcPts val="0"/>
                        </a:spcBef>
                        <a:spcAft>
                          <a:spcPts val="0"/>
                        </a:spcAft>
                        <a:buNone/>
                      </a:pPr>
                      <a:r>
                        <a:rPr lang="en-US" sz="2000">
                          <a:latin typeface="Arial"/>
                          <a:ea typeface="Arial"/>
                          <a:cs typeface="Arial"/>
                          <a:sym typeface="Arial"/>
                        </a:rPr>
                        <a:t>- Chỉ có Nghị viện mới có quyền lập pháp, Tòa án chỉ là cơ quan áp dụng pháp luật</a:t>
                      </a:r>
                      <a:endParaRPr sz="2000">
                        <a:latin typeface="Arial"/>
                        <a:ea typeface="Arial"/>
                        <a:cs typeface="Arial"/>
                        <a:sym typeface="Arial"/>
                      </a:endParaRPr>
                    </a:p>
                  </a:txBody>
                  <a:tcPr marT="45725" marB="45725" marR="91450" marL="91450"/>
                </a:tc>
              </a:tr>
              <a:tr h="2025875">
                <a:tc>
                  <a:txBody>
                    <a:bodyPr/>
                    <a:lstStyle/>
                    <a:p>
                      <a:pPr indent="0" lvl="0" marL="0" marR="0" rtl="0" algn="l">
                        <a:lnSpc>
                          <a:spcPct val="100000"/>
                        </a:lnSpc>
                        <a:spcBef>
                          <a:spcPts val="0"/>
                        </a:spcBef>
                        <a:spcAft>
                          <a:spcPts val="0"/>
                        </a:spcAft>
                        <a:buClr>
                          <a:schemeClr val="dk1"/>
                        </a:buClr>
                        <a:buSzPts val="2000"/>
                        <a:buFont typeface="Arial"/>
                        <a:buNone/>
                      </a:pPr>
                      <a:r>
                        <a:rPr lang="en-US" sz="2000">
                          <a:latin typeface="Arial"/>
                          <a:ea typeface="Arial"/>
                          <a:cs typeface="Arial"/>
                          <a:sym typeface="Arial"/>
                        </a:rPr>
                        <a:t>Vai trò luật sư và thẩm phán</a:t>
                      </a:r>
                      <a:endParaRPr sz="20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2000">
                          <a:latin typeface="Arial"/>
                          <a:ea typeface="Arial"/>
                          <a:cs typeface="Arial"/>
                          <a:sym typeface="Arial"/>
                        </a:rPr>
                        <a:t>- Luật sư, thẩm phán rất được coi trọng</a:t>
                      </a:r>
                      <a:endParaRPr sz="2000">
                        <a:latin typeface="Arial"/>
                        <a:ea typeface="Arial"/>
                        <a:cs typeface="Arial"/>
                        <a:sym typeface="Arial"/>
                      </a:endParaRPr>
                    </a:p>
                    <a:p>
                      <a:pPr indent="0" lvl="0" marL="0" marR="0" rtl="0" algn="l">
                        <a:spcBef>
                          <a:spcPts val="0"/>
                        </a:spcBef>
                        <a:spcAft>
                          <a:spcPts val="0"/>
                        </a:spcAft>
                        <a:buNone/>
                      </a:pPr>
                      <a:r>
                        <a:rPr lang="en-US" sz="2000">
                          <a:latin typeface="Arial"/>
                          <a:ea typeface="Arial"/>
                          <a:cs typeface="Arial"/>
                          <a:sym typeface="Arial"/>
                        </a:rPr>
                        <a:t>- Thẩm phán hầu hết được chọn từ những luật sư danh tiếng, được quyền sáng tạo luật khi xét xử</a:t>
                      </a:r>
                      <a:endParaRPr sz="20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2000">
                          <a:latin typeface="Arial"/>
                          <a:ea typeface="Arial"/>
                          <a:cs typeface="Arial"/>
                          <a:sym typeface="Arial"/>
                        </a:rPr>
                        <a:t>- Luật</a:t>
                      </a:r>
                      <a:r>
                        <a:rPr lang="en-US" sz="2000">
                          <a:latin typeface="Arial"/>
                          <a:ea typeface="Arial"/>
                          <a:cs typeface="Arial"/>
                          <a:sym typeface="Arial"/>
                        </a:rPr>
                        <a:t> sư í</a:t>
                      </a:r>
                      <a:r>
                        <a:rPr lang="en-US" sz="2000">
                          <a:latin typeface="Arial"/>
                          <a:ea typeface="Arial"/>
                          <a:cs typeface="Arial"/>
                          <a:sym typeface="Arial"/>
                        </a:rPr>
                        <a:t>t được coi trọng</a:t>
                      </a:r>
                      <a:endParaRPr sz="2000">
                        <a:latin typeface="Arial"/>
                        <a:ea typeface="Arial"/>
                        <a:cs typeface="Arial"/>
                        <a:sym typeface="Arial"/>
                      </a:endParaRPr>
                    </a:p>
                    <a:p>
                      <a:pPr indent="0" lvl="0" marL="0" marR="0" rtl="0" algn="l">
                        <a:spcBef>
                          <a:spcPts val="0"/>
                        </a:spcBef>
                        <a:spcAft>
                          <a:spcPts val="0"/>
                        </a:spcAft>
                        <a:buNone/>
                      </a:pPr>
                      <a:r>
                        <a:rPr lang="en-US" sz="2000">
                          <a:latin typeface="Arial"/>
                          <a:ea typeface="Arial"/>
                          <a:cs typeface="Arial"/>
                          <a:sym typeface="Arial"/>
                        </a:rPr>
                        <a:t>- Thẩm phán được đào tạo theo một quy trình riêng, chỉ tiến hành xét xử mà không được sáng tạo luật</a:t>
                      </a:r>
                      <a:endParaRPr sz="2000">
                        <a:latin typeface="Arial"/>
                        <a:ea typeface="Arial"/>
                        <a:cs typeface="Arial"/>
                        <a:sym typeface="Arial"/>
                      </a:endParaRPr>
                    </a:p>
                  </a:txBody>
                  <a:tcPr marT="45725" marB="45725" marR="91450" marL="91450"/>
                </a:tc>
              </a:tr>
            </a:tbl>
          </a:graphicData>
        </a:graphic>
      </p:graphicFrame>
      <p:sp>
        <p:nvSpPr>
          <p:cNvPr id="2524" name="Google Shape;2524;p170"/>
          <p:cNvSpPr txBox="1"/>
          <p:nvPr>
            <p:ph idx="11" type="ftr"/>
          </p:nvPr>
        </p:nvSpPr>
        <p:spPr>
          <a:xfrm>
            <a:off x="5638800" y="6492240"/>
            <a:ext cx="350520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25" name="Google Shape;2525;p17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2"/>
                                        </p:tgtEl>
                                        <p:attrNameLst>
                                          <p:attrName>style.visibility</p:attrName>
                                        </p:attrNameLst>
                                      </p:cBhvr>
                                      <p:to>
                                        <p:strVal val="visible"/>
                                      </p:to>
                                    </p:set>
                                    <p:animEffect filter="fade" transition="in">
                                      <p:cBhvr>
                                        <p:cTn dur="500"/>
                                        <p:tgtEl>
                                          <p:spTgt spid="2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3"/>
                                        </p:tgtEl>
                                        <p:attrNameLst>
                                          <p:attrName>style.visibility</p:attrName>
                                        </p:attrNameLst>
                                      </p:cBhvr>
                                      <p:to>
                                        <p:strVal val="visible"/>
                                      </p:to>
                                    </p:set>
                                    <p:animEffect filter="fade" transition="in">
                                      <p:cBhvr>
                                        <p:cTn dur="500"/>
                                        <p:tgtEl>
                                          <p:spTgt spid="25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9" name="Shape 2529"/>
        <p:cNvGrpSpPr/>
        <p:nvPr/>
      </p:nvGrpSpPr>
      <p:grpSpPr>
        <a:xfrm>
          <a:off x="0" y="0"/>
          <a:ext cx="0" cy="0"/>
          <a:chOff x="0" y="0"/>
          <a:chExt cx="0" cy="0"/>
        </a:xfrm>
      </p:grpSpPr>
      <p:sp>
        <p:nvSpPr>
          <p:cNvPr id="2530" name="Google Shape;2530;p171"/>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5.1.3	HỆ THỐNG PHÁP LUẬT HỒI GIÁO</a:t>
            </a:r>
            <a:br>
              <a:rPr lang="en-US" sz="3200">
                <a:solidFill>
                  <a:srgbClr val="FF0000"/>
                </a:solidFill>
                <a:latin typeface="Times New Roman"/>
                <a:ea typeface="Times New Roman"/>
                <a:cs typeface="Times New Roman"/>
                <a:sym typeface="Times New Roman"/>
              </a:rPr>
            </a:br>
            <a:r>
              <a:rPr lang="en-US" sz="3200">
                <a:solidFill>
                  <a:srgbClr val="FF0000"/>
                </a:solidFill>
                <a:latin typeface="Times New Roman"/>
                <a:ea typeface="Times New Roman"/>
                <a:cs typeface="Times New Roman"/>
                <a:sym typeface="Times New Roman"/>
              </a:rPr>
              <a:t>(ISLAMIC LAW)</a:t>
            </a:r>
            <a:endParaRPr sz="3200">
              <a:solidFill>
                <a:srgbClr val="FF0000"/>
              </a:solidFill>
            </a:endParaRPr>
          </a:p>
        </p:txBody>
      </p:sp>
      <p:sp>
        <p:nvSpPr>
          <p:cNvPr id="2531" name="Google Shape;2531;p171"/>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latin typeface="Times New Roman"/>
                <a:ea typeface="Times New Roman"/>
                <a:cs typeface="Times New Roman"/>
                <a:sym typeface="Times New Roman"/>
              </a:rPr>
              <a:t>Đạo Hồi là 1 trong 3 tôn giáo lớn nhất trên thế giới</a:t>
            </a:r>
            <a:endParaRPr>
              <a:latin typeface="Times New Roman"/>
              <a:ea typeface="Times New Roman"/>
              <a:cs typeface="Times New Roman"/>
              <a:sym typeface="Times New Roman"/>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Một quốc gia thuộc hệ thống luật hồi giáo phải thỏa mãn:</a:t>
            </a:r>
            <a:endParaRPr/>
          </a:p>
          <a:p>
            <a:pPr indent="-274320" lvl="0" marL="274320" rtl="0" algn="just">
              <a:spcBef>
                <a:spcPts val="600"/>
              </a:spcBef>
              <a:spcAft>
                <a:spcPts val="0"/>
              </a:spcAft>
              <a:buSzPts val="1680"/>
              <a:buFont typeface="Noto Sans Symbols"/>
              <a:buChar char="✔"/>
            </a:pPr>
            <a:r>
              <a:rPr lang="en-US">
                <a:latin typeface="Times New Roman"/>
                <a:ea typeface="Times New Roman"/>
                <a:cs typeface="Times New Roman"/>
                <a:sym typeface="Times New Roman"/>
              </a:rPr>
              <a:t> Đạo Hồi là quốc đạo của quốc gia</a:t>
            </a:r>
            <a:endParaRPr>
              <a:latin typeface="Times New Roman"/>
              <a:ea typeface="Times New Roman"/>
              <a:cs typeface="Times New Roman"/>
              <a:sym typeface="Times New Roman"/>
            </a:endParaRPr>
          </a:p>
          <a:p>
            <a:pPr indent="-274320" lvl="0" marL="274320" rtl="0" algn="just">
              <a:spcBef>
                <a:spcPts val="600"/>
              </a:spcBef>
              <a:spcAft>
                <a:spcPts val="0"/>
              </a:spcAft>
              <a:buSzPts val="1680"/>
              <a:buFont typeface="Noto Sans Symbols"/>
              <a:buChar char="✔"/>
            </a:pPr>
            <a:r>
              <a:rPr lang="en-US">
                <a:latin typeface="Times New Roman"/>
                <a:ea typeface="Times New Roman"/>
                <a:cs typeface="Times New Roman"/>
                <a:sym typeface="Times New Roman"/>
              </a:rPr>
              <a:t> Quốc gia lấy các quy định trong Kinh thánh của Đạo Hồi làm luật</a:t>
            </a:r>
            <a:endParaRPr>
              <a:latin typeface="Times New Roman"/>
              <a:ea typeface="Times New Roman"/>
              <a:cs typeface="Times New Roman"/>
              <a:sym typeface="Times New Roman"/>
            </a:endParaRPr>
          </a:p>
          <a:p>
            <a:pPr indent="-274320" lvl="0" marL="274320" rtl="0" algn="just">
              <a:spcBef>
                <a:spcPts val="600"/>
              </a:spcBef>
              <a:spcAft>
                <a:spcPts val="0"/>
              </a:spcAft>
              <a:buSzPts val="1680"/>
              <a:buChar char="🞆"/>
            </a:pPr>
            <a:r>
              <a:rPr lang="en-US">
                <a:latin typeface="Times New Roman"/>
                <a:ea typeface="Times New Roman"/>
                <a:cs typeface="Times New Roman"/>
                <a:sym typeface="Times New Roman"/>
              </a:rPr>
              <a:t>Hệ thống pháp luật Islamic được gọi là Shari'ah, theo tiếng Á Rập có nghĩa là “con đường đúng” hoặc là “sự hướng dẫn”</a:t>
            </a:r>
            <a:endParaRPr/>
          </a:p>
        </p:txBody>
      </p:sp>
      <p:sp>
        <p:nvSpPr>
          <p:cNvPr id="2532" name="Google Shape;2532;p171"/>
          <p:cNvSpPr txBox="1"/>
          <p:nvPr>
            <p:ph idx="11" type="ftr"/>
          </p:nvPr>
        </p:nvSpPr>
        <p:spPr>
          <a:xfrm rot="5400000">
            <a:off x="6706526" y="34535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33" name="Google Shape;2533;p17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0"/>
                                        </p:tgtEl>
                                        <p:attrNameLst>
                                          <p:attrName>style.visibility</p:attrName>
                                        </p:attrNameLst>
                                      </p:cBhvr>
                                      <p:to>
                                        <p:strVal val="visible"/>
                                      </p:to>
                                    </p:set>
                                    <p:animEffect filter="fade" transition="in">
                                      <p:cBhvr>
                                        <p:cTn dur="500"/>
                                        <p:tgtEl>
                                          <p:spTgt spid="25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1">
                                            <p:txEl>
                                              <p:pRg end="0" st="0"/>
                                            </p:txEl>
                                          </p:spTgt>
                                        </p:tgtEl>
                                        <p:attrNameLst>
                                          <p:attrName>style.visibility</p:attrName>
                                        </p:attrNameLst>
                                      </p:cBhvr>
                                      <p:to>
                                        <p:strVal val="visible"/>
                                      </p:to>
                                    </p:set>
                                    <p:anim calcmode="lin" valueType="num">
                                      <p:cBhvr additive="base">
                                        <p:cTn dur="500"/>
                                        <p:tgtEl>
                                          <p:spTgt spid="253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1">
                                            <p:txEl>
                                              <p:pRg end="1" st="1"/>
                                            </p:txEl>
                                          </p:spTgt>
                                        </p:tgtEl>
                                        <p:attrNameLst>
                                          <p:attrName>style.visibility</p:attrName>
                                        </p:attrNameLst>
                                      </p:cBhvr>
                                      <p:to>
                                        <p:strVal val="visible"/>
                                      </p:to>
                                    </p:set>
                                    <p:anim calcmode="lin" valueType="num">
                                      <p:cBhvr additive="base">
                                        <p:cTn dur="500"/>
                                        <p:tgtEl>
                                          <p:spTgt spid="253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1">
                                            <p:txEl>
                                              <p:pRg end="2" st="2"/>
                                            </p:txEl>
                                          </p:spTgt>
                                        </p:tgtEl>
                                        <p:attrNameLst>
                                          <p:attrName>style.visibility</p:attrName>
                                        </p:attrNameLst>
                                      </p:cBhvr>
                                      <p:to>
                                        <p:strVal val="visible"/>
                                      </p:to>
                                    </p:set>
                                    <p:anim calcmode="lin" valueType="num">
                                      <p:cBhvr additive="base">
                                        <p:cTn dur="500"/>
                                        <p:tgtEl>
                                          <p:spTgt spid="253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1">
                                            <p:txEl>
                                              <p:pRg end="3" st="3"/>
                                            </p:txEl>
                                          </p:spTgt>
                                        </p:tgtEl>
                                        <p:attrNameLst>
                                          <p:attrName>style.visibility</p:attrName>
                                        </p:attrNameLst>
                                      </p:cBhvr>
                                      <p:to>
                                        <p:strVal val="visible"/>
                                      </p:to>
                                    </p:set>
                                    <p:anim calcmode="lin" valueType="num">
                                      <p:cBhvr additive="base">
                                        <p:cTn dur="500"/>
                                        <p:tgtEl>
                                          <p:spTgt spid="253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1">
                                            <p:txEl>
                                              <p:pRg end="4" st="4"/>
                                            </p:txEl>
                                          </p:spTgt>
                                        </p:tgtEl>
                                        <p:attrNameLst>
                                          <p:attrName>style.visibility</p:attrName>
                                        </p:attrNameLst>
                                      </p:cBhvr>
                                      <p:to>
                                        <p:strVal val="visible"/>
                                      </p:to>
                                    </p:set>
                                    <p:anim calcmode="lin" valueType="num">
                                      <p:cBhvr additive="base">
                                        <p:cTn dur="500"/>
                                        <p:tgtEl>
                                          <p:spTgt spid="253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7" name="Shape 2537"/>
        <p:cNvGrpSpPr/>
        <p:nvPr/>
      </p:nvGrpSpPr>
      <p:grpSpPr>
        <a:xfrm>
          <a:off x="0" y="0"/>
          <a:ext cx="0" cy="0"/>
          <a:chOff x="0" y="0"/>
          <a:chExt cx="0" cy="0"/>
        </a:xfrm>
      </p:grpSpPr>
      <p:sp>
        <p:nvSpPr>
          <p:cNvPr id="2538" name="Google Shape;2538;p172"/>
          <p:cNvSpPr txBox="1"/>
          <p:nvPr>
            <p:ph type="title"/>
          </p:nvPr>
        </p:nvSpPr>
        <p:spPr>
          <a:xfrm>
            <a:off x="457200" y="0"/>
            <a:ext cx="8229600" cy="1066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2400"/>
              <a:buFont typeface="Times New Roman"/>
              <a:buNone/>
            </a:pPr>
            <a:r>
              <a:rPr lang="en-US" sz="2400">
                <a:latin typeface="Times New Roman"/>
                <a:ea typeface="Times New Roman"/>
                <a:cs typeface="Times New Roman"/>
                <a:sym typeface="Times New Roman"/>
              </a:rPr>
              <a:t>HỆ THỐNG PHÁP LUẬT HỒI GIÁO</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Nguồn pháp luật</a:t>
            </a:r>
            <a:endParaRPr sz="2400">
              <a:latin typeface="Times New Roman"/>
              <a:ea typeface="Times New Roman"/>
              <a:cs typeface="Times New Roman"/>
              <a:sym typeface="Times New Roman"/>
            </a:endParaRPr>
          </a:p>
        </p:txBody>
      </p:sp>
      <p:sp>
        <p:nvSpPr>
          <p:cNvPr id="2539" name="Google Shape;2539;p172"/>
          <p:cNvSpPr/>
          <p:nvPr/>
        </p:nvSpPr>
        <p:spPr>
          <a:xfrm>
            <a:off x="457200" y="1066800"/>
            <a:ext cx="8686800" cy="5791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Kinh Koran</a:t>
            </a:r>
            <a:endParaRPr b="0" i="0" sz="2400" u="none" cap="none" strike="noStrike">
              <a:solidFill>
                <a:schemeClr val="dk1"/>
              </a:solidFill>
              <a:latin typeface="Times New Roman"/>
              <a:ea typeface="Times New Roman"/>
              <a:cs typeface="Times New Roman"/>
              <a:sym typeface="Times New Roman"/>
            </a:endParaRPr>
          </a:p>
          <a:p>
            <a:pPr indent="-152400" lvl="1" marL="1143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Sunnah (các lời dạy của Tiên tri Muhanmmad)</a:t>
            </a:r>
            <a:endParaRPr b="0" i="0" sz="2400" u="none" cap="none" strike="noStrike">
              <a:solidFill>
                <a:schemeClr val="dk1"/>
              </a:solidFill>
              <a:latin typeface="Times New Roman"/>
              <a:ea typeface="Times New Roman"/>
              <a:cs typeface="Times New Roman"/>
              <a:sym typeface="Times New Roman"/>
            </a:endParaRPr>
          </a:p>
          <a:p>
            <a:pPr indent="-152400" lvl="1" marL="1143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Các bài viết của học giả Islamic giải thích và rút ra các quy định từ trong kinh Koran và Sunnah</a:t>
            </a:r>
            <a:endParaRPr b="0" i="0" sz="2400" u="none" cap="none" strike="noStrike">
              <a:solidFill>
                <a:schemeClr val="dk1"/>
              </a:solidFill>
              <a:latin typeface="Times New Roman"/>
              <a:ea typeface="Times New Roman"/>
              <a:cs typeface="Times New Roman"/>
              <a:sym typeface="Times New Roman"/>
            </a:endParaRPr>
          </a:p>
          <a:p>
            <a:pPr indent="-152400" lvl="1" marL="114300" marR="0" rtl="0" algn="l">
              <a:lnSpc>
                <a:spcPct val="75000"/>
              </a:lnSpc>
              <a:spcBef>
                <a:spcPts val="24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Các điều được cộng đồng thừa nhận về mặt Pháp lý </a:t>
            </a:r>
            <a:endParaRPr b="0" i="0" sz="2400" u="none" cap="none" strike="noStrike">
              <a:solidFill>
                <a:schemeClr val="dk1"/>
              </a:solidFill>
              <a:latin typeface="Times New Roman"/>
              <a:ea typeface="Times New Roman"/>
              <a:cs typeface="Times New Roman"/>
              <a:sym typeface="Times New Roman"/>
            </a:endParaRPr>
          </a:p>
        </p:txBody>
      </p:sp>
      <p:sp>
        <p:nvSpPr>
          <p:cNvPr id="2540" name="Google Shape;2540;p172"/>
          <p:cNvSpPr txBox="1"/>
          <p:nvPr>
            <p:ph idx="11" type="ftr"/>
          </p:nvPr>
        </p:nvSpPr>
        <p:spPr>
          <a:xfrm rot="5400000">
            <a:off x="7077260" y="17009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41" name="Google Shape;2541;p17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8"/>
                                        </p:tgtEl>
                                        <p:attrNameLst>
                                          <p:attrName>style.visibility</p:attrName>
                                        </p:attrNameLst>
                                      </p:cBhvr>
                                      <p:to>
                                        <p:strVal val="visible"/>
                                      </p:to>
                                    </p:set>
                                    <p:anim calcmode="lin" valueType="num">
                                      <p:cBhvr additive="base">
                                        <p:cTn dur="500"/>
                                        <p:tgtEl>
                                          <p:spTgt spid="25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5" name="Shape 2545"/>
        <p:cNvGrpSpPr/>
        <p:nvPr/>
      </p:nvGrpSpPr>
      <p:grpSpPr>
        <a:xfrm>
          <a:off x="0" y="0"/>
          <a:ext cx="0" cy="0"/>
          <a:chOff x="0" y="0"/>
          <a:chExt cx="0" cy="0"/>
        </a:xfrm>
      </p:grpSpPr>
      <p:sp>
        <p:nvSpPr>
          <p:cNvPr id="2546" name="Google Shape;2546;p173"/>
          <p:cNvSpPr txBox="1"/>
          <p:nvPr>
            <p:ph type="title"/>
          </p:nvPr>
        </p:nvSpPr>
        <p:spPr>
          <a:xfrm>
            <a:off x="457200" y="0"/>
            <a:ext cx="8229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Đặc điểm</a:t>
            </a:r>
            <a:endParaRPr sz="3200">
              <a:latin typeface="Times New Roman"/>
              <a:ea typeface="Times New Roman"/>
              <a:cs typeface="Times New Roman"/>
              <a:sym typeface="Times New Roman"/>
            </a:endParaRPr>
          </a:p>
        </p:txBody>
      </p:sp>
      <p:sp>
        <p:nvSpPr>
          <p:cNvPr id="2547" name="Google Shape;2547;p173"/>
          <p:cNvSpPr/>
          <p:nvPr/>
        </p:nvSpPr>
        <p:spPr>
          <a:xfrm>
            <a:off x="457200" y="1066800"/>
            <a:ext cx="8229600" cy="5334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1</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Không có sự phân biệt giữa tín điều tôn giáo và quy tắc xử sự của đời sống thực tế</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2</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Bao gồm nhiều quy định khó áp dụng vì đã được ghi nhận chủ yếu trong kinh Koran</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3</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Rất khó khăn khi giải thích pháp luật</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4</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Bao gồm nhiều quy định nghiêm khắc và phân biệt đối xử, đặc biệt là phân biệt giới tính</a:t>
            </a:r>
            <a:endParaRPr b="0" i="0" sz="18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5</a:t>
            </a:r>
            <a:endParaRPr b="0" i="0" sz="18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Không phân chia thành các ngành luật độc lập mà chủ yếu ghi nhận trong Kinh Koran</a:t>
            </a:r>
            <a:endParaRPr b="0" i="0" sz="1800" u="none" cap="none" strike="noStrike">
              <a:solidFill>
                <a:schemeClr val="dk1"/>
              </a:solidFill>
              <a:latin typeface="Times New Roman"/>
              <a:ea typeface="Times New Roman"/>
              <a:cs typeface="Times New Roman"/>
              <a:sym typeface="Times New Roman"/>
            </a:endParaRPr>
          </a:p>
        </p:txBody>
      </p:sp>
      <p:sp>
        <p:nvSpPr>
          <p:cNvPr id="2548" name="Google Shape;2548;p173"/>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49" name="Google Shape;2549;p17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6"/>
                                        </p:tgtEl>
                                        <p:attrNameLst>
                                          <p:attrName>style.visibility</p:attrName>
                                        </p:attrNameLst>
                                      </p:cBhvr>
                                      <p:to>
                                        <p:strVal val="visible"/>
                                      </p:to>
                                    </p:set>
                                    <p:anim calcmode="lin" valueType="num">
                                      <p:cBhvr additive="base">
                                        <p:cTn dur="500"/>
                                        <p:tgtEl>
                                          <p:spTgt spid="25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3" name="Shape 2553"/>
        <p:cNvGrpSpPr/>
        <p:nvPr/>
      </p:nvGrpSpPr>
      <p:grpSpPr>
        <a:xfrm>
          <a:off x="0" y="0"/>
          <a:ext cx="0" cy="0"/>
          <a:chOff x="0" y="0"/>
          <a:chExt cx="0" cy="0"/>
        </a:xfrm>
      </p:grpSpPr>
      <p:sp>
        <p:nvSpPr>
          <p:cNvPr id="2554" name="Google Shape;2554;p174"/>
          <p:cNvSpPr txBox="1"/>
          <p:nvPr>
            <p:ph type="title"/>
          </p:nvPr>
        </p:nvSpPr>
        <p:spPr>
          <a:xfrm>
            <a:off x="533400" y="0"/>
            <a:ext cx="8229600" cy="9445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Nội dung</a:t>
            </a:r>
            <a:endParaRPr sz="3200">
              <a:latin typeface="Times New Roman"/>
              <a:ea typeface="Times New Roman"/>
              <a:cs typeface="Times New Roman"/>
              <a:sym typeface="Times New Roman"/>
            </a:endParaRPr>
          </a:p>
        </p:txBody>
      </p:sp>
      <p:sp>
        <p:nvSpPr>
          <p:cNvPr id="2555" name="Google Shape;2555;p174"/>
          <p:cNvSpPr/>
          <p:nvPr/>
        </p:nvSpPr>
        <p:spPr>
          <a:xfrm>
            <a:off x="2702583" y="914400"/>
            <a:ext cx="4196033" cy="503524"/>
          </a:xfrm>
          <a:prstGeom prst="roundRect">
            <a:avLst>
              <a:gd fmla="val 16667" name="adj"/>
            </a:avLst>
          </a:prstGeom>
          <a:gradFill>
            <a:gsLst>
              <a:gs pos="0">
                <a:srgbClr val="C7D7FF"/>
              </a:gs>
              <a:gs pos="30000">
                <a:srgbClr val="C2D7FF"/>
              </a:gs>
              <a:gs pos="75000">
                <a:srgbClr val="A2C0FF"/>
              </a:gs>
              <a:gs pos="100000">
                <a:srgbClr val="81ACFF"/>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2200">
                <a:solidFill>
                  <a:schemeClr val="dk1"/>
                </a:solidFill>
                <a:latin typeface="Times New Roman"/>
                <a:ea typeface="Times New Roman"/>
                <a:cs typeface="Times New Roman"/>
                <a:sym typeface="Times New Roman"/>
              </a:rPr>
              <a:t>Luật Hình sự</a:t>
            </a:r>
            <a:endParaRPr sz="2200">
              <a:solidFill>
                <a:schemeClr val="dk1"/>
              </a:solidFill>
              <a:latin typeface="Times New Roman"/>
              <a:ea typeface="Times New Roman"/>
              <a:cs typeface="Times New Roman"/>
              <a:sym typeface="Times New Roman"/>
            </a:endParaRPr>
          </a:p>
        </p:txBody>
      </p:sp>
      <p:sp>
        <p:nvSpPr>
          <p:cNvPr id="2556" name="Google Shape;2556;p174"/>
          <p:cNvSpPr/>
          <p:nvPr/>
        </p:nvSpPr>
        <p:spPr>
          <a:xfrm>
            <a:off x="2702583" y="1493452"/>
            <a:ext cx="4196033" cy="503524"/>
          </a:xfrm>
          <a:prstGeom prst="rect">
            <a:avLst/>
          </a:prstGeom>
          <a:noFill/>
          <a:ln>
            <a:noFill/>
          </a:ln>
        </p:spPr>
        <p:txBody>
          <a:bodyPr anchorCtr="0" anchor="t" bIns="45700" lIns="91425" spcFirstLastPara="1" rIns="91425" wrap="square" tIns="45700">
            <a:noAutofit/>
          </a:bodyPr>
          <a:lstStyle/>
          <a:p>
            <a:pPr indent="-139700" lvl="1" marL="114300" marR="0" rtl="0" algn="l">
              <a:lnSpc>
                <a:spcPct val="7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Tội phạm có thể trả bằng tiền và Tội phạm phải trả bằng thân thể hoặc cuộc sống của mình. Lưu ý các tội chống lại Chúa là tội phạm nặng nhất.</a:t>
            </a:r>
            <a:endParaRPr b="0" i="0" sz="2200" u="none" cap="none" strike="noStrike">
              <a:solidFill>
                <a:schemeClr val="dk1"/>
              </a:solidFill>
              <a:latin typeface="Times New Roman"/>
              <a:ea typeface="Times New Roman"/>
              <a:cs typeface="Times New Roman"/>
              <a:sym typeface="Times New Roman"/>
            </a:endParaRPr>
          </a:p>
        </p:txBody>
      </p:sp>
      <p:sp>
        <p:nvSpPr>
          <p:cNvPr id="2557" name="Google Shape;2557;p174"/>
          <p:cNvSpPr/>
          <p:nvPr/>
        </p:nvSpPr>
        <p:spPr>
          <a:xfrm>
            <a:off x="2702583" y="2072504"/>
            <a:ext cx="4196033" cy="503524"/>
          </a:xfrm>
          <a:prstGeom prst="roundRect">
            <a:avLst>
              <a:gd fmla="val 16667" name="adj"/>
            </a:avLst>
          </a:prstGeom>
          <a:gradFill>
            <a:gsLst>
              <a:gs pos="0">
                <a:srgbClr val="F9C3C0"/>
              </a:gs>
              <a:gs pos="30000">
                <a:srgbClr val="FABBB8"/>
              </a:gs>
              <a:gs pos="75000">
                <a:srgbClr val="F79693"/>
              </a:gs>
              <a:gs pos="100000">
                <a:srgbClr val="F96F67"/>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2200">
                <a:solidFill>
                  <a:schemeClr val="dk1"/>
                </a:solidFill>
                <a:latin typeface="Times New Roman"/>
                <a:ea typeface="Times New Roman"/>
                <a:cs typeface="Times New Roman"/>
                <a:sym typeface="Times New Roman"/>
              </a:rPr>
              <a:t>Luật Dân sự</a:t>
            </a:r>
            <a:endParaRPr sz="2200">
              <a:solidFill>
                <a:schemeClr val="dk1"/>
              </a:solidFill>
              <a:latin typeface="Times New Roman"/>
              <a:ea typeface="Times New Roman"/>
              <a:cs typeface="Times New Roman"/>
              <a:sym typeface="Times New Roman"/>
            </a:endParaRPr>
          </a:p>
        </p:txBody>
      </p:sp>
      <p:sp>
        <p:nvSpPr>
          <p:cNvPr id="2558" name="Google Shape;2558;p174"/>
          <p:cNvSpPr/>
          <p:nvPr/>
        </p:nvSpPr>
        <p:spPr>
          <a:xfrm>
            <a:off x="2702583" y="2651556"/>
            <a:ext cx="4196033" cy="503524"/>
          </a:xfrm>
          <a:prstGeom prst="rect">
            <a:avLst/>
          </a:prstGeom>
          <a:noFill/>
          <a:ln>
            <a:noFill/>
          </a:ln>
        </p:spPr>
        <p:txBody>
          <a:bodyPr anchorCtr="0" anchor="t" bIns="45700" lIns="91425" spcFirstLastPara="1" rIns="91425" wrap="square" tIns="45700">
            <a:noAutofit/>
          </a:bodyPr>
          <a:lstStyle/>
          <a:p>
            <a:pPr indent="-139700" lvl="1" marL="114300" marR="0" rtl="0" algn="l">
              <a:lnSpc>
                <a:spcPct val="7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Phát triển luật nghĩa vụ. Nghĩa vụ xuất phát từ hợp đồng chia làm 2 loại trên cơ sở có hay không sự chuyển giao (là đối tượng hợp đồng)</a:t>
            </a:r>
            <a:endParaRPr b="0" i="0" sz="2200" u="none" cap="none" strike="noStrike">
              <a:solidFill>
                <a:schemeClr val="dk1"/>
              </a:solidFill>
              <a:latin typeface="Times New Roman"/>
              <a:ea typeface="Times New Roman"/>
              <a:cs typeface="Times New Roman"/>
              <a:sym typeface="Times New Roman"/>
            </a:endParaRPr>
          </a:p>
        </p:txBody>
      </p:sp>
      <p:sp>
        <p:nvSpPr>
          <p:cNvPr id="2559" name="Google Shape;2559;p174"/>
          <p:cNvSpPr/>
          <p:nvPr/>
        </p:nvSpPr>
        <p:spPr>
          <a:xfrm>
            <a:off x="2702583" y="3230608"/>
            <a:ext cx="4196033" cy="503524"/>
          </a:xfrm>
          <a:prstGeom prst="roundRect">
            <a:avLst>
              <a:gd fmla="val 16667" name="adj"/>
            </a:avLst>
          </a:prstGeom>
          <a:gradFill>
            <a:gsLst>
              <a:gs pos="0">
                <a:srgbClr val="FFFBB2"/>
              </a:gs>
              <a:gs pos="30000">
                <a:srgbClr val="FFFAA9"/>
              </a:gs>
              <a:gs pos="75000">
                <a:srgbClr val="FFFA7D"/>
              </a:gs>
              <a:gs pos="100000">
                <a:srgbClr val="FFFE4B"/>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2200">
                <a:solidFill>
                  <a:schemeClr val="dk1"/>
                </a:solidFill>
                <a:latin typeface="Times New Roman"/>
                <a:ea typeface="Times New Roman"/>
                <a:cs typeface="Times New Roman"/>
                <a:sym typeface="Times New Roman"/>
              </a:rPr>
              <a:t>Luật Hôn nhân và gia đình</a:t>
            </a:r>
            <a:endParaRPr sz="2200">
              <a:solidFill>
                <a:schemeClr val="dk1"/>
              </a:solidFill>
              <a:latin typeface="Times New Roman"/>
              <a:ea typeface="Times New Roman"/>
              <a:cs typeface="Times New Roman"/>
              <a:sym typeface="Times New Roman"/>
            </a:endParaRPr>
          </a:p>
        </p:txBody>
      </p:sp>
      <p:sp>
        <p:nvSpPr>
          <p:cNvPr id="2560" name="Google Shape;2560;p174"/>
          <p:cNvSpPr/>
          <p:nvPr/>
        </p:nvSpPr>
        <p:spPr>
          <a:xfrm>
            <a:off x="2702583" y="3809660"/>
            <a:ext cx="4196033" cy="503524"/>
          </a:xfrm>
          <a:prstGeom prst="rect">
            <a:avLst/>
          </a:prstGeom>
          <a:noFill/>
          <a:ln>
            <a:noFill/>
          </a:ln>
        </p:spPr>
        <p:txBody>
          <a:bodyPr anchorCtr="0" anchor="t" bIns="45700" lIns="91425" spcFirstLastPara="1" rIns="91425" wrap="square" tIns="45700">
            <a:noAutofit/>
          </a:bodyPr>
          <a:lstStyle/>
          <a:p>
            <a:pPr indent="-139700" lvl="1" marL="114300" marR="0" rtl="0" algn="l">
              <a:lnSpc>
                <a:spcPct val="7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Coi người đàn ông có uy thế tuyệt đối trong gia đình</a:t>
            </a:r>
            <a:endParaRPr b="0" i="0" sz="2200" u="none" cap="none" strike="noStrike">
              <a:solidFill>
                <a:schemeClr val="dk1"/>
              </a:solidFill>
              <a:latin typeface="Times New Roman"/>
              <a:ea typeface="Times New Roman"/>
              <a:cs typeface="Times New Roman"/>
              <a:sym typeface="Times New Roman"/>
            </a:endParaRPr>
          </a:p>
        </p:txBody>
      </p:sp>
      <p:sp>
        <p:nvSpPr>
          <p:cNvPr id="2561" name="Google Shape;2561;p174"/>
          <p:cNvSpPr/>
          <p:nvPr/>
        </p:nvSpPr>
        <p:spPr>
          <a:xfrm>
            <a:off x="2702583" y="4388712"/>
            <a:ext cx="4196033" cy="503524"/>
          </a:xfrm>
          <a:prstGeom prst="roundRect">
            <a:avLst>
              <a:gd fmla="val 16667" name="adj"/>
            </a:avLst>
          </a:prstGeom>
          <a:gradFill>
            <a:gsLst>
              <a:gs pos="0">
                <a:srgbClr val="DFE6F8"/>
              </a:gs>
              <a:gs pos="30000">
                <a:srgbClr val="DAE4F9"/>
              </a:gs>
              <a:gs pos="75000">
                <a:srgbClr val="C9D5F6"/>
              </a:gs>
              <a:gs pos="100000">
                <a:srgbClr val="B6CBF6"/>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2200">
                <a:solidFill>
                  <a:schemeClr val="dk1"/>
                </a:solidFill>
                <a:latin typeface="Times New Roman"/>
                <a:ea typeface="Times New Roman"/>
                <a:cs typeface="Times New Roman"/>
                <a:sym typeface="Times New Roman"/>
              </a:rPr>
              <a:t>Luật tố tụng (hình sự và dân sự)</a:t>
            </a:r>
            <a:endParaRPr/>
          </a:p>
        </p:txBody>
      </p:sp>
      <p:sp>
        <p:nvSpPr>
          <p:cNvPr id="2562" name="Google Shape;2562;p174"/>
          <p:cNvSpPr/>
          <p:nvPr/>
        </p:nvSpPr>
        <p:spPr>
          <a:xfrm>
            <a:off x="2702583" y="4967764"/>
            <a:ext cx="4196033" cy="503524"/>
          </a:xfrm>
          <a:prstGeom prst="rect">
            <a:avLst/>
          </a:prstGeom>
          <a:noFill/>
          <a:ln>
            <a:noFill/>
          </a:ln>
        </p:spPr>
        <p:txBody>
          <a:bodyPr anchorCtr="0" anchor="t" bIns="45700" lIns="91425" spcFirstLastPara="1" rIns="91425" wrap="square" tIns="45700">
            <a:noAutofit/>
          </a:bodyPr>
          <a:lstStyle/>
          <a:p>
            <a:pPr indent="-139700" lvl="1" marL="114300" marR="0" rtl="0" algn="l">
              <a:lnSpc>
                <a:spcPct val="7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Tòa án Hồi giáo truyền thống giải quyết các vụ án hình sự và dân sự</a:t>
            </a:r>
            <a:endParaRPr b="0" i="0" sz="2200" u="none" cap="none" strike="noStrike">
              <a:solidFill>
                <a:schemeClr val="dk1"/>
              </a:solidFill>
              <a:latin typeface="Times New Roman"/>
              <a:ea typeface="Times New Roman"/>
              <a:cs typeface="Times New Roman"/>
              <a:sym typeface="Times New Roman"/>
            </a:endParaRPr>
          </a:p>
        </p:txBody>
      </p:sp>
      <p:sp>
        <p:nvSpPr>
          <p:cNvPr id="2563" name="Google Shape;2563;p174"/>
          <p:cNvSpPr/>
          <p:nvPr/>
        </p:nvSpPr>
        <p:spPr>
          <a:xfrm>
            <a:off x="2702583" y="5546816"/>
            <a:ext cx="4196033" cy="503524"/>
          </a:xfrm>
          <a:prstGeom prst="roundRect">
            <a:avLst>
              <a:gd fmla="val 16667" name="adj"/>
            </a:avLst>
          </a:prstGeom>
          <a:gradFill>
            <a:gsLst>
              <a:gs pos="0">
                <a:srgbClr val="D9DCDE"/>
              </a:gs>
              <a:gs pos="30000">
                <a:srgbClr val="D6D9DB"/>
              </a:gs>
              <a:gs pos="75000">
                <a:srgbClr val="BFC2CA"/>
              </a:gs>
              <a:gs pos="100000">
                <a:srgbClr val="A9AEB8"/>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2200">
                <a:solidFill>
                  <a:schemeClr val="dk1"/>
                </a:solidFill>
                <a:latin typeface="Times New Roman"/>
                <a:ea typeface="Times New Roman"/>
                <a:cs typeface="Times New Roman"/>
                <a:sym typeface="Times New Roman"/>
              </a:rPr>
              <a:t>Luật Nhà nước</a:t>
            </a:r>
            <a:endParaRPr sz="2200">
              <a:solidFill>
                <a:schemeClr val="dk1"/>
              </a:solidFill>
              <a:latin typeface="Times New Roman"/>
              <a:ea typeface="Times New Roman"/>
              <a:cs typeface="Times New Roman"/>
              <a:sym typeface="Times New Roman"/>
            </a:endParaRPr>
          </a:p>
        </p:txBody>
      </p:sp>
      <p:sp>
        <p:nvSpPr>
          <p:cNvPr id="2564" name="Google Shape;2564;p174"/>
          <p:cNvSpPr/>
          <p:nvPr/>
        </p:nvSpPr>
        <p:spPr>
          <a:xfrm>
            <a:off x="2702583" y="6125868"/>
            <a:ext cx="4196033" cy="503524"/>
          </a:xfrm>
          <a:prstGeom prst="rect">
            <a:avLst/>
          </a:prstGeom>
          <a:noFill/>
          <a:ln>
            <a:noFill/>
          </a:ln>
        </p:spPr>
        <p:txBody>
          <a:bodyPr anchorCtr="0" anchor="t" bIns="45700" lIns="91425" spcFirstLastPara="1" rIns="91425" wrap="square" tIns="45700">
            <a:noAutofit/>
          </a:bodyPr>
          <a:lstStyle/>
          <a:p>
            <a:pPr indent="-139700" lvl="1" marL="114300" marR="0" rtl="0" algn="l">
              <a:lnSpc>
                <a:spcPct val="75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Nhà vua nắm trong tay quyền lực chính trị và chỉ bị hạn chế bởi các quy định của Kinh Koran</a:t>
            </a:r>
            <a:endParaRPr/>
          </a:p>
        </p:txBody>
      </p:sp>
      <p:sp>
        <p:nvSpPr>
          <p:cNvPr id="2565" name="Google Shape;2565;p174"/>
          <p:cNvSpPr txBox="1"/>
          <p:nvPr>
            <p:ph idx="11" type="ftr"/>
          </p:nvPr>
        </p:nvSpPr>
        <p:spPr>
          <a:xfrm>
            <a:off x="5452480" y="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66" name="Google Shape;2566;p17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4"/>
                                        </p:tgtEl>
                                        <p:attrNameLst>
                                          <p:attrName>style.visibility</p:attrName>
                                        </p:attrNameLst>
                                      </p:cBhvr>
                                      <p:to>
                                        <p:strVal val="visible"/>
                                      </p:to>
                                    </p:set>
                                    <p:animEffect filter="fade" transition="in">
                                      <p:cBhvr>
                                        <p:cTn dur="500"/>
                                        <p:tgtEl>
                                          <p:spTgt spid="25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0" name="Shape 2570"/>
        <p:cNvGrpSpPr/>
        <p:nvPr/>
      </p:nvGrpSpPr>
      <p:grpSpPr>
        <a:xfrm>
          <a:off x="0" y="0"/>
          <a:ext cx="0" cy="0"/>
          <a:chOff x="0" y="0"/>
          <a:chExt cx="0" cy="0"/>
        </a:xfrm>
      </p:grpSpPr>
      <p:sp>
        <p:nvSpPr>
          <p:cNvPr id="2571" name="Google Shape;2571;p17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Bài tập về nhà</a:t>
            </a:r>
            <a:endParaRPr sz="2800">
              <a:solidFill>
                <a:srgbClr val="FF0000"/>
              </a:solidFill>
              <a:latin typeface="Times New Roman"/>
              <a:ea typeface="Times New Roman"/>
              <a:cs typeface="Times New Roman"/>
              <a:sym typeface="Times New Roman"/>
            </a:endParaRPr>
          </a:p>
        </p:txBody>
      </p:sp>
      <p:sp>
        <p:nvSpPr>
          <p:cNvPr id="2572" name="Google Shape;2572;p175"/>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514350" lvl="0" marL="596646" rtl="0" algn="l">
              <a:spcBef>
                <a:spcPts val="0"/>
              </a:spcBef>
              <a:spcAft>
                <a:spcPts val="0"/>
              </a:spcAft>
              <a:buSzPts val="1680"/>
              <a:buAutoNum type="arabicPeriod"/>
            </a:pPr>
            <a:r>
              <a:rPr lang="en-US" sz="2400">
                <a:latin typeface="Times New Roman"/>
                <a:ea typeface="Times New Roman"/>
                <a:cs typeface="Times New Roman"/>
                <a:sym typeface="Times New Roman"/>
              </a:rPr>
              <a:t>Nêu khái  niệm và phân biệt giữa các ngành luật?</a:t>
            </a:r>
            <a:endParaRPr/>
          </a:p>
          <a:p>
            <a:pPr indent="-514350" lvl="0" marL="596646" rtl="0" algn="l">
              <a:spcBef>
                <a:spcPts val="600"/>
              </a:spcBef>
              <a:spcAft>
                <a:spcPts val="0"/>
              </a:spcAft>
              <a:buSzPts val="1680"/>
              <a:buAutoNum type="arabicPeriod"/>
            </a:pPr>
            <a:r>
              <a:rPr lang="en-US" sz="2400">
                <a:latin typeface="Times New Roman"/>
                <a:ea typeface="Times New Roman"/>
                <a:cs typeface="Times New Roman"/>
                <a:sym typeface="Times New Roman"/>
              </a:rPr>
              <a:t>Những nội dung cơ bản của các ngành luật trong hệ thống pháp luật Việt Nam?</a:t>
            </a:r>
            <a:endParaRPr sz="2400">
              <a:latin typeface="Times New Roman"/>
              <a:ea typeface="Times New Roman"/>
              <a:cs typeface="Times New Roman"/>
              <a:sym typeface="Times New Roman"/>
            </a:endParaRPr>
          </a:p>
        </p:txBody>
      </p:sp>
      <p:sp>
        <p:nvSpPr>
          <p:cNvPr id="2573" name="Google Shape;2573;p175"/>
          <p:cNvSpPr txBox="1"/>
          <p:nvPr>
            <p:ph idx="11" type="ftr"/>
          </p:nvPr>
        </p:nvSpPr>
        <p:spPr>
          <a:xfrm rot="5400000">
            <a:off x="7115360" y="16628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74" name="Google Shape;2574;p17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8" name="Shape 2578"/>
        <p:cNvGrpSpPr/>
        <p:nvPr/>
      </p:nvGrpSpPr>
      <p:grpSpPr>
        <a:xfrm>
          <a:off x="0" y="0"/>
          <a:ext cx="0" cy="0"/>
          <a:chOff x="0" y="0"/>
          <a:chExt cx="0" cy="0"/>
        </a:xfrm>
      </p:grpSpPr>
      <p:sp>
        <p:nvSpPr>
          <p:cNvPr id="2579" name="Google Shape;2579;p176"/>
          <p:cNvSpPr txBox="1"/>
          <p:nvPr>
            <p:ph type="title"/>
          </p:nvPr>
        </p:nvSpPr>
        <p:spPr>
          <a:xfrm>
            <a:off x="381000" y="0"/>
            <a:ext cx="8763000" cy="97536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FF0000"/>
              </a:buClr>
              <a:buSzPts val="3000"/>
              <a:buFont typeface="Times New Roman"/>
              <a:buNone/>
            </a:pPr>
            <a:r>
              <a:rPr lang="en-US" sz="3000">
                <a:solidFill>
                  <a:srgbClr val="FF0000"/>
                </a:solidFill>
                <a:latin typeface="Times New Roman"/>
                <a:ea typeface="Times New Roman"/>
                <a:cs typeface="Times New Roman"/>
                <a:sym typeface="Times New Roman"/>
              </a:rPr>
              <a:t>5.2	HỆ THỐNG PHÁP LUẬT VIỆT NAM</a:t>
            </a:r>
            <a:endParaRPr sz="3000">
              <a:solidFill>
                <a:srgbClr val="FF0000"/>
              </a:solidFill>
              <a:latin typeface="Times New Roman"/>
              <a:ea typeface="Times New Roman"/>
              <a:cs typeface="Times New Roman"/>
              <a:sym typeface="Times New Roman"/>
            </a:endParaRPr>
          </a:p>
        </p:txBody>
      </p:sp>
      <p:sp>
        <p:nvSpPr>
          <p:cNvPr id="2580" name="Google Shape;2580;p17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b="1" lang="en-US" u="sng">
                <a:latin typeface="Times New Roman"/>
                <a:ea typeface="Times New Roman"/>
                <a:cs typeface="Times New Roman"/>
                <a:sym typeface="Times New Roman"/>
              </a:rPr>
              <a:t>Hệ thống pháp luật</a:t>
            </a:r>
            <a:r>
              <a:rPr lang="en-US">
                <a:latin typeface="Times New Roman"/>
                <a:ea typeface="Times New Roman"/>
                <a:cs typeface="Times New Roman"/>
                <a:sym typeface="Times New Roman"/>
              </a:rPr>
              <a:t> là cơ cấu bên trong của pháp luật, thể hiện sự thống nhất nội tại của các </a:t>
            </a:r>
            <a:r>
              <a:rPr b="1" lang="en-US" u="sng">
                <a:latin typeface="Times New Roman"/>
                <a:ea typeface="Times New Roman"/>
                <a:cs typeface="Times New Roman"/>
                <a:sym typeface="Times New Roman"/>
              </a:rPr>
              <a:t>quy phạm pháp luật</a:t>
            </a:r>
            <a:r>
              <a:rPr lang="en-US">
                <a:latin typeface="Times New Roman"/>
                <a:ea typeface="Times New Roman"/>
                <a:cs typeface="Times New Roman"/>
                <a:sym typeface="Times New Roman"/>
              </a:rPr>
              <a:t> và sự phân chia một cách khách quan các quy phạm pháp luật trong hệ thống ấy thành các </a:t>
            </a:r>
            <a:r>
              <a:rPr b="1" lang="en-US" u="sng">
                <a:latin typeface="Times New Roman"/>
                <a:ea typeface="Times New Roman"/>
                <a:cs typeface="Times New Roman"/>
                <a:sym typeface="Times New Roman"/>
              </a:rPr>
              <a:t>ngành luật</a:t>
            </a:r>
            <a:r>
              <a:rPr lang="en-US">
                <a:latin typeface="Times New Roman"/>
                <a:ea typeface="Times New Roman"/>
                <a:cs typeface="Times New Roman"/>
                <a:sym typeface="Times New Roman"/>
              </a:rPr>
              <a:t> và </a:t>
            </a:r>
            <a:r>
              <a:rPr b="1" lang="en-US" u="sng">
                <a:latin typeface="Times New Roman"/>
                <a:ea typeface="Times New Roman"/>
                <a:cs typeface="Times New Roman"/>
                <a:sym typeface="Times New Roman"/>
              </a:rPr>
              <a:t>chế định pháp luật</a:t>
            </a:r>
            <a:r>
              <a:rPr lang="en-US">
                <a:latin typeface="Times New Roman"/>
                <a:ea typeface="Times New Roman"/>
                <a:cs typeface="Times New Roman"/>
                <a:sym typeface="Times New Roman"/>
              </a:rPr>
              <a:t> phù hợp với tính chất, đặc điểm của các quan hệ xã hội mà nó điều chỉnh.</a:t>
            </a:r>
            <a:endParaRPr/>
          </a:p>
          <a:p>
            <a:pPr indent="-274320" lvl="0" marL="274320" rtl="0" algn="l">
              <a:spcBef>
                <a:spcPts val="600"/>
              </a:spcBef>
              <a:spcAft>
                <a:spcPts val="0"/>
              </a:spcAft>
              <a:buSzPts val="1680"/>
              <a:buChar char="🞆"/>
            </a:pPr>
            <a:r>
              <a:rPr lang="en-US">
                <a:latin typeface="Times New Roman"/>
                <a:ea typeface="Times New Roman"/>
                <a:cs typeface="Times New Roman"/>
                <a:sym typeface="Times New Roman"/>
              </a:rPr>
              <a:t>Hệ thống pháp luật Việt Nam bao gồm các ngành luật cụ thể.</a:t>
            </a:r>
            <a:endParaRPr>
              <a:latin typeface="Times New Roman"/>
              <a:ea typeface="Times New Roman"/>
              <a:cs typeface="Times New Roman"/>
              <a:sym typeface="Times New Roman"/>
            </a:endParaRPr>
          </a:p>
        </p:txBody>
      </p:sp>
      <p:sp>
        <p:nvSpPr>
          <p:cNvPr id="2581" name="Google Shape;2581;p176"/>
          <p:cNvSpPr txBox="1"/>
          <p:nvPr>
            <p:ph idx="11" type="ftr"/>
          </p:nvPr>
        </p:nvSpPr>
        <p:spPr>
          <a:xfrm rot="5400000">
            <a:off x="6592226" y="3339280"/>
            <a:ext cx="3996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82" name="Google Shape;2582;p17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79"/>
                                        </p:tgtEl>
                                        <p:attrNameLst>
                                          <p:attrName>style.visibility</p:attrName>
                                        </p:attrNameLst>
                                      </p:cBhvr>
                                      <p:to>
                                        <p:strVal val="visible"/>
                                      </p:to>
                                    </p:set>
                                    <p:anim calcmode="lin" valueType="num">
                                      <p:cBhvr additive="base">
                                        <p:cTn dur="500"/>
                                        <p:tgtEl>
                                          <p:spTgt spid="25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6" name="Shape 2586"/>
        <p:cNvGrpSpPr/>
        <p:nvPr/>
      </p:nvGrpSpPr>
      <p:grpSpPr>
        <a:xfrm>
          <a:off x="0" y="0"/>
          <a:ext cx="0" cy="0"/>
          <a:chOff x="0" y="0"/>
          <a:chExt cx="0" cy="0"/>
        </a:xfrm>
      </p:grpSpPr>
      <p:sp>
        <p:nvSpPr>
          <p:cNvPr id="2587" name="Google Shape;2587;p177"/>
          <p:cNvSpPr txBox="1"/>
          <p:nvPr>
            <p:ph type="title"/>
          </p:nvPr>
        </p:nvSpPr>
        <p:spPr>
          <a:xfrm>
            <a:off x="457200" y="0"/>
            <a:ext cx="8229600" cy="715962"/>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5.2.1	Ngành luật Hiến pháp</a:t>
            </a:r>
            <a:endParaRPr sz="3200">
              <a:latin typeface="Times New Roman"/>
              <a:ea typeface="Times New Roman"/>
              <a:cs typeface="Times New Roman"/>
              <a:sym typeface="Times New Roman"/>
            </a:endParaRPr>
          </a:p>
        </p:txBody>
      </p:sp>
      <p:sp>
        <p:nvSpPr>
          <p:cNvPr id="2588" name="Google Shape;2588;p177"/>
          <p:cNvSpPr txBox="1"/>
          <p:nvPr>
            <p:ph idx="1" type="body"/>
          </p:nvPr>
        </p:nvSpPr>
        <p:spPr>
          <a:xfrm>
            <a:off x="609600" y="685800"/>
            <a:ext cx="8153400" cy="5943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sz="2400">
                <a:latin typeface="Times New Roman"/>
                <a:ea typeface="Times New Roman"/>
                <a:cs typeface="Times New Roman"/>
                <a:sym typeface="Times New Roman"/>
              </a:rPr>
              <a:t>   </a:t>
            </a:r>
            <a:endParaRPr/>
          </a:p>
          <a:p>
            <a:pPr indent="-274320" lvl="0" marL="274320" rtl="0" algn="l">
              <a:spcBef>
                <a:spcPts val="600"/>
              </a:spcBef>
              <a:spcAft>
                <a:spcPts val="0"/>
              </a:spcAft>
              <a:buSzPts val="1680"/>
              <a:buNone/>
            </a:pPr>
            <a:r>
              <a:t/>
            </a:r>
            <a:endParaRPr sz="2400" u="sng">
              <a:solidFill>
                <a:schemeClr val="hlink"/>
              </a:solidFill>
              <a:latin typeface="Times New Roman"/>
              <a:ea typeface="Times New Roman"/>
              <a:cs typeface="Times New Roman"/>
              <a:sym typeface="Times New Roman"/>
              <a:hlinkClick r:id="rId3"/>
            </a:endParaRPr>
          </a:p>
          <a:p>
            <a:pPr indent="-274320" lvl="0" marL="274320" rtl="0" algn="l">
              <a:spcBef>
                <a:spcPts val="600"/>
              </a:spcBef>
              <a:spcAft>
                <a:spcPts val="0"/>
              </a:spcAft>
              <a:buSzPts val="1680"/>
              <a:buNone/>
            </a:pPr>
            <a:r>
              <a:t/>
            </a:r>
            <a:endParaRPr sz="2400" u="sng">
              <a:solidFill>
                <a:schemeClr val="hlink"/>
              </a:solidFill>
              <a:latin typeface="Times New Roman"/>
              <a:ea typeface="Times New Roman"/>
              <a:cs typeface="Times New Roman"/>
              <a:sym typeface="Times New Roman"/>
              <a:hlinkClick r:id="rId4"/>
            </a:endParaRPr>
          </a:p>
        </p:txBody>
      </p:sp>
      <p:sp>
        <p:nvSpPr>
          <p:cNvPr id="2589" name="Google Shape;2589;p177"/>
          <p:cNvSpPr/>
          <p:nvPr/>
        </p:nvSpPr>
        <p:spPr>
          <a:xfrm>
            <a:off x="685800" y="381000"/>
            <a:ext cx="8153400" cy="3048000"/>
          </a:xfrm>
          <a:prstGeom prst="horizontalScroll">
            <a:avLst>
              <a:gd fmla="val 12500" name="adj"/>
            </a:avLst>
          </a:prstGeom>
          <a:solidFill>
            <a:schemeClr val="accent2"/>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Times New Roman"/>
                <a:ea typeface="Times New Roman"/>
                <a:cs typeface="Times New Roman"/>
                <a:sym typeface="Times New Roman"/>
              </a:rPr>
              <a:t>Hiến pháp là một đạo luật cơ bản do cơ quan quyền lực nhà nước cao nhất ban hành, quy định việc tổ chức nhà nước, cơ cấu, thẩm quyền các cơ quan nhà nước trung ương và quyền cơ bản của con người. Mọi cơ quan và tổ chức có nghĩa vụ tuân thủ Hiến pháp.</a:t>
            </a:r>
            <a:endParaRPr/>
          </a:p>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2590" name="Google Shape;2590;p177"/>
          <p:cNvSpPr/>
          <p:nvPr/>
        </p:nvSpPr>
        <p:spPr>
          <a:xfrm>
            <a:off x="1447800" y="2794000"/>
            <a:ext cx="6096000" cy="4064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Hiến pháp 1946 (9/11/1946) : gồm 7 chương, 70 điều</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HP 1959 (HP sửa đổi – 31/12/1959): 10 chương, 112 điều</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HP 1980 (18/12/1980): 12 chương, 147 điều</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HP 1992 (14/4/1992 – sửa đổi bổ sung 2001): 12 chương, 147 điều</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HP 2013 (28/11/2013 – có hiệu lực 1/1/2014): 11 chương, 120 điều</a:t>
            </a:r>
            <a:endParaRPr b="0" i="0" sz="1800" u="none" cap="none" strike="noStrike">
              <a:solidFill>
                <a:schemeClr val="dk1"/>
              </a:solidFill>
              <a:latin typeface="Arial"/>
              <a:ea typeface="Arial"/>
              <a:cs typeface="Arial"/>
              <a:sym typeface="Arial"/>
            </a:endParaRPr>
          </a:p>
        </p:txBody>
      </p:sp>
      <p:sp>
        <p:nvSpPr>
          <p:cNvPr id="2591" name="Google Shape;2591;p177"/>
          <p:cNvSpPr txBox="1"/>
          <p:nvPr>
            <p:ph idx="11" type="ftr"/>
          </p:nvPr>
        </p:nvSpPr>
        <p:spPr>
          <a:xfrm rot="5400000">
            <a:off x="7077260" y="45965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592" name="Google Shape;2592;p17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6" name="Shape 2596"/>
        <p:cNvGrpSpPr/>
        <p:nvPr/>
      </p:nvGrpSpPr>
      <p:grpSpPr>
        <a:xfrm>
          <a:off x="0" y="0"/>
          <a:ext cx="0" cy="0"/>
          <a:chOff x="0" y="0"/>
          <a:chExt cx="0" cy="0"/>
        </a:xfrm>
      </p:grpSpPr>
      <p:sp>
        <p:nvSpPr>
          <p:cNvPr id="2597" name="Google Shape;2597;p178"/>
          <p:cNvSpPr txBox="1"/>
          <p:nvPr>
            <p:ph type="title"/>
          </p:nvPr>
        </p:nvSpPr>
        <p:spPr>
          <a:xfrm>
            <a:off x="152400" y="228600"/>
            <a:ext cx="8705088" cy="9144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rgbClr val="FF0000"/>
              </a:buClr>
              <a:buSzPct val="100000"/>
              <a:buFont typeface="Times New Roman"/>
              <a:buNone/>
            </a:pPr>
            <a:r>
              <a:rPr b="0" lang="en-US" sz="3200">
                <a:solidFill>
                  <a:srgbClr val="FF0000"/>
                </a:solidFill>
                <a:latin typeface="Times New Roman"/>
                <a:ea typeface="Times New Roman"/>
                <a:cs typeface="Times New Roman"/>
                <a:sym typeface="Times New Roman"/>
              </a:rPr>
              <a:t>Ngành luật hiến pháp</a:t>
            </a:r>
            <a:br>
              <a:rPr b="0" lang="en-US" sz="3200">
                <a:solidFill>
                  <a:srgbClr val="FF0000"/>
                </a:solidFill>
                <a:latin typeface="Times New Roman"/>
                <a:ea typeface="Times New Roman"/>
                <a:cs typeface="Times New Roman"/>
                <a:sym typeface="Times New Roman"/>
              </a:rPr>
            </a:br>
            <a:r>
              <a:rPr lang="en-US" sz="3200">
                <a:solidFill>
                  <a:srgbClr val="FF0000"/>
                </a:solidFill>
                <a:latin typeface="Times New Roman"/>
                <a:ea typeface="Times New Roman"/>
                <a:cs typeface="Times New Roman"/>
                <a:sym typeface="Times New Roman"/>
              </a:rPr>
              <a:t>Đối tượng điều chỉnh và phương pháp điều chỉnh</a:t>
            </a:r>
            <a:endParaRPr b="0" sz="3200">
              <a:solidFill>
                <a:srgbClr val="FF0000"/>
              </a:solidFill>
              <a:latin typeface="Times New Roman"/>
              <a:ea typeface="Times New Roman"/>
              <a:cs typeface="Times New Roman"/>
              <a:sym typeface="Times New Roman"/>
            </a:endParaRPr>
          </a:p>
        </p:txBody>
      </p:sp>
      <p:sp>
        <p:nvSpPr>
          <p:cNvPr id="2598" name="Google Shape;2598;p178"/>
          <p:cNvSpPr txBox="1"/>
          <p:nvPr>
            <p:ph idx="1" type="body"/>
          </p:nvPr>
        </p:nvSpPr>
        <p:spPr>
          <a:xfrm>
            <a:off x="457200" y="1219200"/>
            <a:ext cx="8458200" cy="533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None/>
            </a:pP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2599" name="Google Shape;2599;p178"/>
          <p:cNvSpPr/>
          <p:nvPr/>
        </p:nvSpPr>
        <p:spPr>
          <a:xfrm>
            <a:off x="685800" y="1676400"/>
            <a:ext cx="4191000" cy="2286000"/>
          </a:xfrm>
          <a:prstGeom prst="roundRect">
            <a:avLst>
              <a:gd fmla="val 16667" name="adj"/>
            </a:avLst>
          </a:prstGeom>
          <a:solidFill>
            <a:srgbClr val="FFE6D6"/>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Đối tượng điều chỉnh: những quan hệ xã hội quan trọng liên quan đến việc tổ chức quyền lực nhà nước. </a:t>
            </a:r>
            <a:endParaRPr sz="20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US" sz="2000">
                <a:solidFill>
                  <a:schemeClr val="dk1"/>
                </a:solidFill>
                <a:latin typeface="Times New Roman"/>
                <a:ea typeface="Times New Roman"/>
                <a:cs typeface="Times New Roman"/>
                <a:sym typeface="Times New Roman"/>
              </a:rPr>
              <a:t>Qua việc tổ chức quyền lực nhà nước này mà pháp luật xác lập nên chế độ chính trị.</a:t>
            </a:r>
            <a:endParaRPr sz="2000">
              <a:solidFill>
                <a:schemeClr val="dk1"/>
              </a:solidFill>
              <a:latin typeface="Times New Roman"/>
              <a:ea typeface="Times New Roman"/>
              <a:cs typeface="Times New Roman"/>
              <a:sym typeface="Times New Roman"/>
            </a:endParaRPr>
          </a:p>
        </p:txBody>
      </p:sp>
      <p:sp>
        <p:nvSpPr>
          <p:cNvPr id="2600" name="Google Shape;2600;p178"/>
          <p:cNvSpPr/>
          <p:nvPr/>
        </p:nvSpPr>
        <p:spPr>
          <a:xfrm>
            <a:off x="2971800" y="4114800"/>
            <a:ext cx="5029200" cy="2514600"/>
          </a:xfrm>
          <a:prstGeom prst="roundRect">
            <a:avLst>
              <a:gd fmla="val 16667" name="adj"/>
            </a:avLst>
          </a:prstGeom>
          <a:solidFill>
            <a:srgbClr val="FFB585"/>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Phương pháp điều chỉnh: </a:t>
            </a:r>
            <a:endParaRPr/>
          </a:p>
          <a:p>
            <a:pPr indent="0" lvl="0" marL="0" marR="0" rtl="0" algn="just">
              <a:spcBef>
                <a:spcPts val="0"/>
              </a:spcBef>
              <a:spcAft>
                <a:spcPts val="0"/>
              </a:spcAft>
              <a:buNone/>
            </a:pPr>
            <a:r>
              <a:rPr lang="en-US" sz="2400">
                <a:solidFill>
                  <a:schemeClr val="dk1"/>
                </a:solidFill>
                <a:latin typeface="Times New Roman"/>
                <a:ea typeface="Times New Roman"/>
                <a:cs typeface="Times New Roman"/>
                <a:sym typeface="Times New Roman"/>
              </a:rPr>
              <a:t>Định nghĩa, bắt buộc, quyền uy</a:t>
            </a:r>
            <a:endParaRPr sz="2400">
              <a:solidFill>
                <a:schemeClr val="dk1"/>
              </a:solidFill>
              <a:latin typeface="Times New Roman"/>
              <a:ea typeface="Times New Roman"/>
              <a:cs typeface="Times New Roman"/>
              <a:sym typeface="Times New Roman"/>
            </a:endParaRPr>
          </a:p>
        </p:txBody>
      </p:sp>
      <p:sp>
        <p:nvSpPr>
          <p:cNvPr id="2601" name="Google Shape;2601;p178"/>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02" name="Google Shape;2602;p17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7"/>
                                        </p:tgtEl>
                                        <p:attrNameLst>
                                          <p:attrName>style.visibility</p:attrName>
                                        </p:attrNameLst>
                                      </p:cBhvr>
                                      <p:to>
                                        <p:strVal val="visible"/>
                                      </p:to>
                                    </p:set>
                                    <p:animEffect filter="fade" transition="in">
                                      <p:cBhvr>
                                        <p:cTn dur="500"/>
                                        <p:tgtEl>
                                          <p:spTgt spid="25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8">
                                            <p:txEl>
                                              <p:pRg end="0" st="0"/>
                                            </p:txEl>
                                          </p:spTgt>
                                        </p:tgtEl>
                                        <p:attrNameLst>
                                          <p:attrName>style.visibility</p:attrName>
                                        </p:attrNameLst>
                                      </p:cBhvr>
                                      <p:to>
                                        <p:strVal val="visible"/>
                                      </p:to>
                                    </p:set>
                                    <p:animEffect filter="fade" transition="in">
                                      <p:cBhvr>
                                        <p:cTn dur="500"/>
                                        <p:tgtEl>
                                          <p:spTgt spid="25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99"/>
                                        </p:tgtEl>
                                        <p:attrNameLst>
                                          <p:attrName>style.visibility</p:attrName>
                                        </p:attrNameLst>
                                      </p:cBhvr>
                                      <p:to>
                                        <p:strVal val="visible"/>
                                      </p:to>
                                    </p:set>
                                    <p:anim calcmode="lin" valueType="num">
                                      <p:cBhvr additive="base">
                                        <p:cTn dur="500"/>
                                        <p:tgtEl>
                                          <p:spTgt spid="259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0"/>
                                        </p:tgtEl>
                                        <p:attrNameLst>
                                          <p:attrName>style.visibility</p:attrName>
                                        </p:attrNameLst>
                                      </p:cBhvr>
                                      <p:to>
                                        <p:strVal val="visible"/>
                                      </p:to>
                                    </p:set>
                                    <p:animEffect filter="fade" transition="in">
                                      <p:cBhvr>
                                        <p:cTn dur="500"/>
                                        <p:tgtEl>
                                          <p:spTgt spid="26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6" name="Shape 2606"/>
        <p:cNvGrpSpPr/>
        <p:nvPr/>
      </p:nvGrpSpPr>
      <p:grpSpPr>
        <a:xfrm>
          <a:off x="0" y="0"/>
          <a:ext cx="0" cy="0"/>
          <a:chOff x="0" y="0"/>
          <a:chExt cx="0" cy="0"/>
        </a:xfrm>
      </p:grpSpPr>
      <p:sp>
        <p:nvSpPr>
          <p:cNvPr id="2607" name="Google Shape;2607;p179"/>
          <p:cNvSpPr txBox="1"/>
          <p:nvPr>
            <p:ph type="title"/>
          </p:nvPr>
        </p:nvSpPr>
        <p:spPr>
          <a:xfrm>
            <a:off x="1048512" y="0"/>
            <a:ext cx="8095488" cy="8683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dk1"/>
              </a:buClr>
              <a:buSzPts val="2800"/>
              <a:buFont typeface="Times New Roman"/>
              <a:buNone/>
            </a:pPr>
            <a:r>
              <a:rPr b="1" lang="en-US" sz="2800">
                <a:solidFill>
                  <a:schemeClr val="dk1"/>
                </a:solidFill>
                <a:latin typeface="Times New Roman"/>
                <a:ea typeface="Times New Roman"/>
                <a:cs typeface="Times New Roman"/>
                <a:sym typeface="Times New Roman"/>
              </a:rPr>
              <a:t>Ngành luật Hiến pháp</a:t>
            </a:r>
            <a:br>
              <a:rPr b="1" lang="en-US" sz="2800">
                <a:solidFill>
                  <a:schemeClr val="dk1"/>
                </a:solidFill>
                <a:latin typeface="Times New Roman"/>
                <a:ea typeface="Times New Roman"/>
                <a:cs typeface="Times New Roman"/>
                <a:sym typeface="Times New Roman"/>
              </a:rPr>
            </a:br>
            <a:r>
              <a:rPr b="1" lang="en-US" sz="2800">
                <a:latin typeface="Times New Roman"/>
                <a:ea typeface="Times New Roman"/>
                <a:cs typeface="Times New Roman"/>
                <a:sym typeface="Times New Roman"/>
              </a:rPr>
              <a:t>Các chế định cơ bản</a:t>
            </a:r>
            <a:endParaRPr b="1" sz="2800">
              <a:solidFill>
                <a:schemeClr val="dk1"/>
              </a:solidFill>
              <a:latin typeface="Times New Roman"/>
              <a:ea typeface="Times New Roman"/>
              <a:cs typeface="Times New Roman"/>
              <a:sym typeface="Times New Roman"/>
            </a:endParaRPr>
          </a:p>
        </p:txBody>
      </p:sp>
      <p:sp>
        <p:nvSpPr>
          <p:cNvPr id="2608" name="Google Shape;2608;p179"/>
          <p:cNvSpPr/>
          <p:nvPr/>
        </p:nvSpPr>
        <p:spPr>
          <a:xfrm>
            <a:off x="457200" y="586338"/>
            <a:ext cx="2271469" cy="1905432"/>
          </a:xfrm>
          <a:prstGeom prst="roundRect">
            <a:avLst>
              <a:gd fmla="val 16667" name="adj"/>
            </a:avLst>
          </a:prstGeom>
          <a:solidFill>
            <a:schemeClr val="accent2"/>
          </a:soli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600">
                <a:solidFill>
                  <a:schemeClr val="dk1"/>
                </a:solidFill>
                <a:latin typeface="Arial"/>
                <a:ea typeface="Arial"/>
                <a:cs typeface="Arial"/>
                <a:sym typeface="Arial"/>
              </a:rPr>
              <a:t>Chế độ chính trị</a:t>
            </a:r>
            <a:endParaRPr sz="1600">
              <a:solidFill>
                <a:schemeClr val="dk1"/>
              </a:solidFill>
              <a:latin typeface="Arial"/>
              <a:ea typeface="Arial"/>
              <a:cs typeface="Arial"/>
              <a:sym typeface="Arial"/>
            </a:endParaRPr>
          </a:p>
        </p:txBody>
      </p:sp>
      <p:sp>
        <p:nvSpPr>
          <p:cNvPr id="2609" name="Google Shape;2609;p179"/>
          <p:cNvSpPr/>
          <p:nvPr/>
        </p:nvSpPr>
        <p:spPr>
          <a:xfrm rot="5400000">
            <a:off x="2911687" y="403320"/>
            <a:ext cx="1905432" cy="2271469"/>
          </a:xfrm>
          <a:prstGeom prst="round2SameRect">
            <a:avLst>
              <a:gd fmla="val 16667" name="adj1"/>
              <a:gd fmla="val 0" name="adj2"/>
            </a:avLst>
          </a:prstGeom>
          <a:solidFill>
            <a:srgbClr val="D5DDF1">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179"/>
          <p:cNvSpPr txBox="1"/>
          <p:nvPr/>
        </p:nvSpPr>
        <p:spPr>
          <a:xfrm>
            <a:off x="2728656" y="679334"/>
            <a:ext cx="2178454" cy="1719401"/>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Là hệ thống những nguyên tắc thực hiện quyền lực nhà nước</a:t>
            </a:r>
            <a:endParaRPr b="0" i="0" sz="1600" u="none" cap="none" strike="noStrike">
              <a:solidFill>
                <a:schemeClr val="dk1"/>
              </a:solidFill>
              <a:latin typeface="Arial"/>
              <a:ea typeface="Arial"/>
              <a:cs typeface="Arial"/>
              <a:sym typeface="Arial"/>
            </a:endParaRPr>
          </a:p>
          <a:p>
            <a:pPr indent="-114300" lvl="1" marL="1143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Là chế định của Hiến pháp, làm nền tảng cho các chương sau của Hiến pháp như bản chất nhà nước, sự lãnh đạo của Đảng Cộng sản…</a:t>
            </a:r>
            <a:endParaRPr b="0" i="0" sz="1600" u="none" cap="none" strike="noStrike">
              <a:solidFill>
                <a:schemeClr val="dk1"/>
              </a:solidFill>
              <a:latin typeface="Arial"/>
              <a:ea typeface="Arial"/>
              <a:cs typeface="Arial"/>
              <a:sym typeface="Arial"/>
            </a:endParaRPr>
          </a:p>
        </p:txBody>
      </p:sp>
      <p:sp>
        <p:nvSpPr>
          <p:cNvPr id="2611" name="Google Shape;2611;p179"/>
          <p:cNvSpPr/>
          <p:nvPr/>
        </p:nvSpPr>
        <p:spPr>
          <a:xfrm>
            <a:off x="457200" y="1772531"/>
            <a:ext cx="2271469" cy="2406454"/>
          </a:xfrm>
          <a:prstGeom prst="roundRect">
            <a:avLst>
              <a:gd fmla="val 16667" name="adj"/>
            </a:avLst>
          </a:prstGeom>
          <a:solidFill>
            <a:schemeClr val="accent3"/>
          </a:soli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600">
                <a:solidFill>
                  <a:schemeClr val="dk1"/>
                </a:solidFill>
                <a:latin typeface="Arial"/>
                <a:ea typeface="Arial"/>
                <a:cs typeface="Arial"/>
                <a:sym typeface="Arial"/>
              </a:rPr>
              <a:t>Chế độ kinh tế</a:t>
            </a:r>
            <a:endParaRPr sz="1600">
              <a:solidFill>
                <a:schemeClr val="dk1"/>
              </a:solidFill>
              <a:latin typeface="Arial"/>
              <a:ea typeface="Arial"/>
              <a:cs typeface="Arial"/>
              <a:sym typeface="Arial"/>
            </a:endParaRPr>
          </a:p>
        </p:txBody>
      </p:sp>
      <p:sp>
        <p:nvSpPr>
          <p:cNvPr id="2612" name="Google Shape;2612;p179"/>
          <p:cNvSpPr/>
          <p:nvPr/>
        </p:nvSpPr>
        <p:spPr>
          <a:xfrm rot="5400000">
            <a:off x="2661177" y="1840023"/>
            <a:ext cx="2406454" cy="2271469"/>
          </a:xfrm>
          <a:prstGeom prst="round2SameRect">
            <a:avLst>
              <a:gd fmla="val 16667" name="adj1"/>
              <a:gd fmla="val 0" name="adj2"/>
            </a:avLst>
          </a:prstGeom>
          <a:solidFill>
            <a:srgbClr val="E4CBCA">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179"/>
          <p:cNvSpPr txBox="1"/>
          <p:nvPr/>
        </p:nvSpPr>
        <p:spPr>
          <a:xfrm>
            <a:off x="2728668" y="1883391"/>
            <a:ext cx="2160585" cy="2184686"/>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Những quan hệ kinh tế chủ yếu tạo thành cơ sở kinh tế của nhà nước</a:t>
            </a:r>
            <a:endParaRPr b="0" i="0" sz="1600" u="none" cap="none" strike="noStrike">
              <a:solidFill>
                <a:schemeClr val="dk1"/>
              </a:solidFill>
              <a:latin typeface="Arial"/>
              <a:ea typeface="Arial"/>
              <a:cs typeface="Arial"/>
              <a:sym typeface="Arial"/>
            </a:endParaRPr>
          </a:p>
          <a:p>
            <a:pPr indent="-114300" lvl="1" marL="1143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Bao gồm: chính sách phát triển kinh tế, quan hệ về sơ hữu, quan hệ sản xuất, quan hệ về tổ chức quản lý nền kinh tế quốc dân….</a:t>
            </a:r>
            <a:endParaRPr b="0" i="0" sz="1600" u="none" cap="none" strike="noStrike">
              <a:solidFill>
                <a:schemeClr val="dk1"/>
              </a:solidFill>
              <a:latin typeface="Arial"/>
              <a:ea typeface="Arial"/>
              <a:cs typeface="Arial"/>
              <a:sym typeface="Arial"/>
            </a:endParaRPr>
          </a:p>
        </p:txBody>
      </p:sp>
      <p:sp>
        <p:nvSpPr>
          <p:cNvPr id="2614" name="Google Shape;2614;p179"/>
          <p:cNvSpPr/>
          <p:nvPr/>
        </p:nvSpPr>
        <p:spPr>
          <a:xfrm>
            <a:off x="457200" y="3247920"/>
            <a:ext cx="2271469" cy="2329084"/>
          </a:xfrm>
          <a:prstGeom prst="roundRect">
            <a:avLst>
              <a:gd fmla="val 16667" name="adj"/>
            </a:avLst>
          </a:prstGeom>
          <a:solidFill>
            <a:schemeClr val="accent4"/>
          </a:soli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600">
                <a:solidFill>
                  <a:schemeClr val="dk1"/>
                </a:solidFill>
                <a:latin typeface="Arial"/>
                <a:ea typeface="Arial"/>
                <a:cs typeface="Arial"/>
                <a:sym typeface="Arial"/>
              </a:rPr>
              <a:t>Quyền và nghĩa vụ cơ bản của công dân</a:t>
            </a:r>
            <a:endParaRPr sz="1600">
              <a:solidFill>
                <a:schemeClr val="dk1"/>
              </a:solidFill>
              <a:latin typeface="Arial"/>
              <a:ea typeface="Arial"/>
              <a:cs typeface="Arial"/>
              <a:sym typeface="Arial"/>
            </a:endParaRPr>
          </a:p>
        </p:txBody>
      </p:sp>
      <p:sp>
        <p:nvSpPr>
          <p:cNvPr id="2615" name="Google Shape;2615;p179"/>
          <p:cNvSpPr/>
          <p:nvPr/>
        </p:nvSpPr>
        <p:spPr>
          <a:xfrm rot="5400000">
            <a:off x="2699862" y="3276727"/>
            <a:ext cx="2329084" cy="2271469"/>
          </a:xfrm>
          <a:prstGeom prst="round2SameRect">
            <a:avLst>
              <a:gd fmla="val 16667" name="adj1"/>
              <a:gd fmla="val 0" name="adj2"/>
            </a:avLst>
          </a:prstGeom>
          <a:solidFill>
            <a:srgbClr val="FBEDCC">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179"/>
          <p:cNvSpPr txBox="1"/>
          <p:nvPr/>
        </p:nvSpPr>
        <p:spPr>
          <a:xfrm>
            <a:off x="2728657" y="3358802"/>
            <a:ext cx="2160585" cy="2107316"/>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Quyền: trong lĩnh vực chính trị, tự do cá nhân, trong lĩnh vực văn hóa xã hội</a:t>
            </a:r>
            <a:endParaRPr b="0" i="0" sz="1600" u="none" cap="none" strike="noStrike">
              <a:solidFill>
                <a:schemeClr val="dk1"/>
              </a:solidFill>
              <a:latin typeface="Arial"/>
              <a:ea typeface="Arial"/>
              <a:cs typeface="Arial"/>
              <a:sym typeface="Arial"/>
            </a:endParaRPr>
          </a:p>
          <a:p>
            <a:pPr indent="-114300" lvl="1" marL="1143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Nghĩa vụ: bảo vệ tổ quốc, đóng thuế cho nhà nước, tôn trọng hiến pháp và pháp luật</a:t>
            </a:r>
            <a:endParaRPr b="0" i="0" sz="1600" u="none" cap="none" strike="noStrike">
              <a:solidFill>
                <a:schemeClr val="dk1"/>
              </a:solidFill>
              <a:latin typeface="Arial"/>
              <a:ea typeface="Arial"/>
              <a:cs typeface="Arial"/>
              <a:sym typeface="Arial"/>
            </a:endParaRPr>
          </a:p>
        </p:txBody>
      </p:sp>
      <p:sp>
        <p:nvSpPr>
          <p:cNvPr id="2617" name="Google Shape;2617;p179"/>
          <p:cNvSpPr/>
          <p:nvPr/>
        </p:nvSpPr>
        <p:spPr>
          <a:xfrm>
            <a:off x="457200" y="5224512"/>
            <a:ext cx="2271469" cy="1249308"/>
          </a:xfrm>
          <a:prstGeom prst="roundRect">
            <a:avLst>
              <a:gd fmla="val 16667" name="adj"/>
            </a:avLst>
          </a:prstGeom>
          <a:solidFill>
            <a:schemeClr val="accent5"/>
          </a:solidFill>
          <a:ln>
            <a:noFill/>
          </a:ln>
          <a:effectLst>
            <a:outerShdw blurRad="50800" rotWithShape="0" dir="5400000" dist="20000">
              <a:srgbClr val="000000">
                <a:alpha val="41960"/>
              </a:srgbClr>
            </a:outerShdw>
          </a:effectLst>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600">
                <a:solidFill>
                  <a:schemeClr val="dk1"/>
                </a:solidFill>
                <a:latin typeface="Arial"/>
                <a:ea typeface="Arial"/>
                <a:cs typeface="Arial"/>
                <a:sym typeface="Arial"/>
              </a:rPr>
              <a:t>Bộ máy nhà nước; văn hoá, giáo dục, khoa học, công nghệ; bảo vệ Tổ quốc</a:t>
            </a:r>
            <a:endParaRPr sz="1600">
              <a:solidFill>
                <a:schemeClr val="dk1"/>
              </a:solidFill>
              <a:latin typeface="Arial"/>
              <a:ea typeface="Arial"/>
              <a:cs typeface="Arial"/>
              <a:sym typeface="Arial"/>
            </a:endParaRPr>
          </a:p>
        </p:txBody>
      </p:sp>
      <p:sp>
        <p:nvSpPr>
          <p:cNvPr id="2618" name="Google Shape;2618;p179"/>
          <p:cNvSpPr txBox="1"/>
          <p:nvPr>
            <p:ph idx="11" type="ftr"/>
          </p:nvPr>
        </p:nvSpPr>
        <p:spPr>
          <a:xfrm rot="5400000">
            <a:off x="7115360" y="34154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19" name="Google Shape;2619;p17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7"/>
                                        </p:tgtEl>
                                        <p:attrNameLst>
                                          <p:attrName>style.visibility</p:attrName>
                                        </p:attrNameLst>
                                      </p:cBhvr>
                                      <p:to>
                                        <p:strVal val="visible"/>
                                      </p:to>
                                    </p:set>
                                    <p:animEffect filter="fade" transition="in">
                                      <p:cBhvr>
                                        <p:cTn dur="500"/>
                                        <p:tgtEl>
                                          <p:spTgt spid="26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3" name="Shape 2623"/>
        <p:cNvGrpSpPr/>
        <p:nvPr/>
      </p:nvGrpSpPr>
      <p:grpSpPr>
        <a:xfrm>
          <a:off x="0" y="0"/>
          <a:ext cx="0" cy="0"/>
          <a:chOff x="0" y="0"/>
          <a:chExt cx="0" cy="0"/>
        </a:xfrm>
      </p:grpSpPr>
      <p:sp>
        <p:nvSpPr>
          <p:cNvPr id="2624" name="Google Shape;2624;p180"/>
          <p:cNvSpPr txBox="1"/>
          <p:nvPr>
            <p:ph type="title"/>
          </p:nvPr>
        </p:nvSpPr>
        <p:spPr>
          <a:xfrm>
            <a:off x="381000" y="0"/>
            <a:ext cx="8552688" cy="990600"/>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0000"/>
              </a:buClr>
              <a:buSzPts val="2400"/>
              <a:buFont typeface="Times New Roman"/>
              <a:buNone/>
            </a:pPr>
            <a:r>
              <a:rPr lang="en-US" sz="2400">
                <a:solidFill>
                  <a:srgbClr val="FF0000"/>
                </a:solidFill>
                <a:latin typeface="Times New Roman"/>
                <a:ea typeface="Times New Roman"/>
                <a:cs typeface="Times New Roman"/>
                <a:sym typeface="Times New Roman"/>
              </a:rPr>
              <a:t>5.2.2	Ngành luật Hành chính</a:t>
            </a:r>
            <a:endParaRPr sz="2200">
              <a:solidFill>
                <a:srgbClr val="FF0000"/>
              </a:solidFill>
              <a:latin typeface="Times New Roman"/>
              <a:ea typeface="Times New Roman"/>
              <a:cs typeface="Times New Roman"/>
              <a:sym typeface="Times New Roman"/>
            </a:endParaRPr>
          </a:p>
        </p:txBody>
      </p:sp>
      <p:sp>
        <p:nvSpPr>
          <p:cNvPr id="2625" name="Google Shape;2625;p180"/>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a:t>.</a:t>
            </a:r>
            <a:endParaRPr/>
          </a:p>
        </p:txBody>
      </p:sp>
      <p:sp>
        <p:nvSpPr>
          <p:cNvPr id="2626" name="Google Shape;2626;p180"/>
          <p:cNvSpPr/>
          <p:nvPr/>
        </p:nvSpPr>
        <p:spPr>
          <a:xfrm>
            <a:off x="609600" y="1371600"/>
            <a:ext cx="7315200" cy="4267200"/>
          </a:xfrm>
          <a:prstGeom prst="horizontalScroll">
            <a:avLst>
              <a:gd fmla="val 12500" name="adj"/>
            </a:avLst>
          </a:prstGeom>
          <a:solidFill>
            <a:srgbClr val="FBEAA9"/>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Luật Hành chính là hệ thống các quy phạm pháp luật do nhà nước ban hành điều chỉnh những quan hệ xã hội mang tính chất chấp hành và điều hành phát sinh trong hoạt động của các cơ quan nhà nước hoặc tổ chức xã hội khi nhà nước trao quyền thực hiện các chức năng quản lý nhà nước</a:t>
            </a:r>
            <a:endParaRPr sz="2400">
              <a:solidFill>
                <a:schemeClr val="dk1"/>
              </a:solidFill>
              <a:latin typeface="Arial"/>
              <a:ea typeface="Arial"/>
              <a:cs typeface="Arial"/>
              <a:sym typeface="Arial"/>
            </a:endParaRPr>
          </a:p>
        </p:txBody>
      </p:sp>
      <p:sp>
        <p:nvSpPr>
          <p:cNvPr id="2627" name="Google Shape;2627;p180"/>
          <p:cNvSpPr txBox="1"/>
          <p:nvPr>
            <p:ph idx="11" type="ftr"/>
          </p:nvPr>
        </p:nvSpPr>
        <p:spPr>
          <a:xfrm rot="5400000">
            <a:off x="7191560" y="3491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28" name="Google Shape;2628;p18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4"/>
                                        </p:tgtEl>
                                        <p:attrNameLst>
                                          <p:attrName>style.visibility</p:attrName>
                                        </p:attrNameLst>
                                      </p:cBhvr>
                                      <p:to>
                                        <p:strVal val="visible"/>
                                      </p:to>
                                    </p:set>
                                    <p:animEffect filter="fade" transition="in">
                                      <p:cBhvr>
                                        <p:cTn dur="2000"/>
                                        <p:tgtEl>
                                          <p:spTgt spid="26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2" name="Shape 2632"/>
        <p:cNvGrpSpPr/>
        <p:nvPr/>
      </p:nvGrpSpPr>
      <p:grpSpPr>
        <a:xfrm>
          <a:off x="0" y="0"/>
          <a:ext cx="0" cy="0"/>
          <a:chOff x="0" y="0"/>
          <a:chExt cx="0" cy="0"/>
        </a:xfrm>
      </p:grpSpPr>
      <p:sp>
        <p:nvSpPr>
          <p:cNvPr id="2633" name="Google Shape;2633;p181"/>
          <p:cNvSpPr txBox="1"/>
          <p:nvPr>
            <p:ph type="title"/>
          </p:nvPr>
        </p:nvSpPr>
        <p:spPr>
          <a:xfrm>
            <a:off x="533400" y="0"/>
            <a:ext cx="8229600" cy="8683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Times New Roman"/>
              <a:buNone/>
            </a:pPr>
            <a:r>
              <a:rPr lang="en-US" sz="3200">
                <a:latin typeface="Times New Roman"/>
                <a:ea typeface="Times New Roman"/>
                <a:cs typeface="Times New Roman"/>
                <a:sym typeface="Times New Roman"/>
              </a:rPr>
              <a:t>Ngành luật Hành chính</a:t>
            </a:r>
            <a:br>
              <a:rPr lang="en-US" sz="3200">
                <a:latin typeface="Times New Roman"/>
                <a:ea typeface="Times New Roman"/>
                <a:cs typeface="Times New Roman"/>
                <a:sym typeface="Times New Roman"/>
              </a:rPr>
            </a:br>
            <a:r>
              <a:rPr lang="en-US" sz="3200">
                <a:latin typeface="Times New Roman"/>
                <a:ea typeface="Times New Roman"/>
                <a:cs typeface="Times New Roman"/>
                <a:sym typeface="Times New Roman"/>
              </a:rPr>
              <a:t>Đối tượng điều chỉnh và phương pháp điều chỉnh</a:t>
            </a:r>
            <a:endParaRPr sz="3200">
              <a:latin typeface="Times New Roman"/>
              <a:ea typeface="Times New Roman"/>
              <a:cs typeface="Times New Roman"/>
              <a:sym typeface="Times New Roman"/>
            </a:endParaRPr>
          </a:p>
        </p:txBody>
      </p:sp>
      <p:sp>
        <p:nvSpPr>
          <p:cNvPr id="2634" name="Google Shape;2634;p181"/>
          <p:cNvSpPr/>
          <p:nvPr/>
        </p:nvSpPr>
        <p:spPr>
          <a:xfrm>
            <a:off x="457200" y="1600200"/>
            <a:ext cx="3778003" cy="2266802"/>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4000">
                <a:solidFill>
                  <a:schemeClr val="lt1"/>
                </a:solidFill>
                <a:latin typeface="Arial"/>
                <a:ea typeface="Arial"/>
                <a:cs typeface="Arial"/>
                <a:sym typeface="Arial"/>
              </a:rPr>
              <a:t>Đối tượng điều chỉnh</a:t>
            </a:r>
            <a:endParaRPr sz="4000">
              <a:solidFill>
                <a:schemeClr val="lt1"/>
              </a:solidFill>
              <a:latin typeface="Arial"/>
              <a:ea typeface="Arial"/>
              <a:cs typeface="Arial"/>
              <a:sym typeface="Arial"/>
            </a:endParaRPr>
          </a:p>
        </p:txBody>
      </p:sp>
      <p:sp>
        <p:nvSpPr>
          <p:cNvPr id="2635" name="Google Shape;2635;p181"/>
          <p:cNvSpPr/>
          <p:nvPr/>
        </p:nvSpPr>
        <p:spPr>
          <a:xfrm>
            <a:off x="4235203" y="1600200"/>
            <a:ext cx="3778003" cy="2266802"/>
          </a:xfrm>
          <a:prstGeom prst="rightArrow">
            <a:avLst>
              <a:gd fmla="val 50000" name="adj1"/>
              <a:gd fmla="val 50000" name="adj2"/>
            </a:avLst>
          </a:prstGeom>
          <a:solidFill>
            <a:srgbClr val="FFD8CC">
              <a:alpha val="89803"/>
            </a:srgbClr>
          </a:solidFill>
          <a:ln cap="flat" cmpd="sng" w="25400">
            <a:solidFill>
              <a:srgbClr val="FFD8CC">
                <a:alpha val="89803"/>
              </a:srgbClr>
            </a:solidFill>
            <a:prstDash val="solid"/>
            <a:round/>
            <a:headEnd len="sm" w="sm" type="none"/>
            <a:tailEnd len="sm" w="sm" type="none"/>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Những quan hệ xã hội mang tính chất chấp hành và điều hành phát sinh giữa các chủ thể tham gia hoạt động của nhà nước</a:t>
            </a:r>
            <a:endParaRPr b="0" i="0" sz="1800" u="none" cap="none" strike="noStrike">
              <a:solidFill>
                <a:schemeClr val="dk1"/>
              </a:solidFill>
              <a:latin typeface="Arial"/>
              <a:ea typeface="Arial"/>
              <a:cs typeface="Arial"/>
              <a:sym typeface="Arial"/>
            </a:endParaRPr>
          </a:p>
        </p:txBody>
      </p:sp>
      <p:sp>
        <p:nvSpPr>
          <p:cNvPr id="2636" name="Google Shape;2636;p181"/>
          <p:cNvSpPr/>
          <p:nvPr/>
        </p:nvSpPr>
        <p:spPr>
          <a:xfrm>
            <a:off x="457200" y="4207022"/>
            <a:ext cx="3778003" cy="2266802"/>
          </a:xfrm>
          <a:prstGeom prst="roundRect">
            <a:avLst>
              <a:gd fmla="val 16667" name="adj"/>
            </a:avLst>
          </a:prstGeom>
          <a:solidFill>
            <a:schemeClr val="accen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3600">
                <a:solidFill>
                  <a:schemeClr val="lt1"/>
                </a:solidFill>
                <a:latin typeface="Times New Roman"/>
                <a:ea typeface="Times New Roman"/>
                <a:cs typeface="Times New Roman"/>
                <a:sym typeface="Times New Roman"/>
              </a:rPr>
              <a:t>Phương pháp điều chỉnh</a:t>
            </a:r>
            <a:endParaRPr sz="3600">
              <a:solidFill>
                <a:schemeClr val="lt1"/>
              </a:solidFill>
              <a:latin typeface="Arial"/>
              <a:ea typeface="Arial"/>
              <a:cs typeface="Arial"/>
              <a:sym typeface="Arial"/>
            </a:endParaRPr>
          </a:p>
        </p:txBody>
      </p:sp>
      <p:sp>
        <p:nvSpPr>
          <p:cNvPr id="2637" name="Google Shape;2637;p181"/>
          <p:cNvSpPr/>
          <p:nvPr/>
        </p:nvSpPr>
        <p:spPr>
          <a:xfrm>
            <a:off x="4235203" y="4207022"/>
            <a:ext cx="3778003" cy="2266802"/>
          </a:xfrm>
          <a:prstGeom prst="rightArrow">
            <a:avLst>
              <a:gd fmla="val 50000" name="adj1"/>
              <a:gd fmla="val 50000" name="adj2"/>
            </a:avLst>
          </a:prstGeom>
          <a:solidFill>
            <a:srgbClr val="FFD8CC">
              <a:alpha val="89803"/>
            </a:srgbClr>
          </a:solidFill>
          <a:ln cap="flat" cmpd="sng" w="25400">
            <a:solidFill>
              <a:srgbClr val="FFD8CC">
                <a:alpha val="89803"/>
              </a:srgbClr>
            </a:solidFill>
            <a:prstDash val="solid"/>
            <a:round/>
            <a:headEnd len="sm" w="sm" type="none"/>
            <a:tailEnd len="sm" w="sm" type="none"/>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mệnh lệnh – phục tùng</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Có thể sử dụng phương pháp thỏa thuận trong 1 số trường hợp </a:t>
            </a:r>
            <a:endParaRPr b="0" i="0" sz="1800" u="none" cap="none" strike="noStrike">
              <a:solidFill>
                <a:schemeClr val="dk1"/>
              </a:solidFill>
              <a:latin typeface="Arial"/>
              <a:ea typeface="Arial"/>
              <a:cs typeface="Arial"/>
              <a:sym typeface="Arial"/>
            </a:endParaRPr>
          </a:p>
        </p:txBody>
      </p:sp>
      <p:sp>
        <p:nvSpPr>
          <p:cNvPr id="2638" name="Google Shape;2638;p181"/>
          <p:cNvSpPr txBox="1"/>
          <p:nvPr>
            <p:ph idx="11" type="ftr"/>
          </p:nvPr>
        </p:nvSpPr>
        <p:spPr>
          <a:xfrm rot="5400000">
            <a:off x="7153460" y="3529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39" name="Google Shape;2639;p18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33"/>
                                        </p:tgtEl>
                                        <p:attrNameLst>
                                          <p:attrName>style.visibility</p:attrName>
                                        </p:attrNameLst>
                                      </p:cBhvr>
                                      <p:to>
                                        <p:strVal val="visible"/>
                                      </p:to>
                                    </p:set>
                                    <p:anim calcmode="lin" valueType="num">
                                      <p:cBhvr additive="base">
                                        <p:cTn dur="500"/>
                                        <p:tgtEl>
                                          <p:spTgt spid="263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3" name="Shape 2643"/>
        <p:cNvGrpSpPr/>
        <p:nvPr/>
      </p:nvGrpSpPr>
      <p:grpSpPr>
        <a:xfrm>
          <a:off x="0" y="0"/>
          <a:ext cx="0" cy="0"/>
          <a:chOff x="0" y="0"/>
          <a:chExt cx="0" cy="0"/>
        </a:xfrm>
      </p:grpSpPr>
      <p:sp>
        <p:nvSpPr>
          <p:cNvPr id="2644" name="Google Shape;2644;p182"/>
          <p:cNvSpPr txBox="1"/>
          <p:nvPr>
            <p:ph type="title"/>
          </p:nvPr>
        </p:nvSpPr>
        <p:spPr>
          <a:xfrm>
            <a:off x="457200" y="0"/>
            <a:ext cx="8229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accent1"/>
              </a:buClr>
              <a:buSzPts val="2800"/>
              <a:buFont typeface="Times New Roman"/>
              <a:buNone/>
            </a:pPr>
            <a:r>
              <a:rPr b="1" lang="en-US" sz="2800">
                <a:solidFill>
                  <a:schemeClr val="accent1"/>
                </a:solidFill>
                <a:latin typeface="Times New Roman"/>
                <a:ea typeface="Times New Roman"/>
                <a:cs typeface="Times New Roman"/>
                <a:sym typeface="Times New Roman"/>
              </a:rPr>
              <a:t>Ngành luật hành chính</a:t>
            </a:r>
            <a:br>
              <a:rPr b="1" lang="en-US" sz="2800">
                <a:solidFill>
                  <a:schemeClr val="accent1"/>
                </a:solidFill>
                <a:latin typeface="Times New Roman"/>
                <a:ea typeface="Times New Roman"/>
                <a:cs typeface="Times New Roman"/>
                <a:sym typeface="Times New Roman"/>
              </a:rPr>
            </a:br>
            <a:r>
              <a:rPr b="1" lang="en-US" sz="2800">
                <a:solidFill>
                  <a:schemeClr val="accent1"/>
                </a:solidFill>
                <a:latin typeface="Times New Roman"/>
                <a:ea typeface="Times New Roman"/>
                <a:cs typeface="Times New Roman"/>
                <a:sym typeface="Times New Roman"/>
              </a:rPr>
              <a:t>Các chế định cơ bản</a:t>
            </a:r>
            <a:endParaRPr b="1" sz="2800">
              <a:solidFill>
                <a:schemeClr val="accent1"/>
              </a:solidFill>
              <a:latin typeface="Times New Roman"/>
              <a:ea typeface="Times New Roman"/>
              <a:cs typeface="Times New Roman"/>
              <a:sym typeface="Times New Roman"/>
            </a:endParaRPr>
          </a:p>
        </p:txBody>
      </p:sp>
      <p:sp>
        <p:nvSpPr>
          <p:cNvPr id="2645" name="Google Shape;2645;p182"/>
          <p:cNvSpPr/>
          <p:nvPr/>
        </p:nvSpPr>
        <p:spPr>
          <a:xfrm rot="-5400000">
            <a:off x="971550" y="2600325"/>
            <a:ext cx="1543050" cy="2571750"/>
          </a:xfrm>
          <a:prstGeom prst="flowChartManualOperation">
            <a:avLst/>
          </a:prstGeom>
          <a:gradFill>
            <a:gsLst>
              <a:gs pos="0">
                <a:srgbClr val="FFFBB2"/>
              </a:gs>
              <a:gs pos="30000">
                <a:srgbClr val="FFFAA9"/>
              </a:gs>
              <a:gs pos="75000">
                <a:srgbClr val="FFFA7D"/>
              </a:gs>
              <a:gs pos="100000">
                <a:srgbClr val="FFFE4B"/>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182"/>
          <p:cNvSpPr txBox="1"/>
          <p:nvPr/>
        </p:nvSpPr>
        <p:spPr>
          <a:xfrm>
            <a:off x="457200" y="3423285"/>
            <a:ext cx="2571750" cy="92583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Cơ quan hành chính</a:t>
            </a:r>
            <a:endParaRPr sz="1800">
              <a:solidFill>
                <a:schemeClr val="dk1"/>
              </a:solidFill>
              <a:latin typeface="Arial"/>
              <a:ea typeface="Arial"/>
              <a:cs typeface="Arial"/>
              <a:sym typeface="Arial"/>
            </a:endParaRPr>
          </a:p>
          <a:p>
            <a:pPr indent="-114300" lvl="1" marL="114300" marR="0" rtl="0" algn="l">
              <a:lnSpc>
                <a:spcPct val="75000"/>
              </a:lnSpc>
              <a:spcBef>
                <a:spcPts val="36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Là những bộ phận hợp thành của bộ máy quản lý</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Được thành lập để chuyên thực hiện chức năng quản lý nhà nước (hoạt động chấp hành và điều hành, hoạt động hành pháp</a:t>
            </a:r>
            <a:endParaRPr b="0" i="0" sz="1800" u="none" cap="none" strike="noStrike">
              <a:solidFill>
                <a:schemeClr val="dk1"/>
              </a:solidFill>
              <a:latin typeface="Arial"/>
              <a:ea typeface="Arial"/>
              <a:cs typeface="Arial"/>
              <a:sym typeface="Arial"/>
            </a:endParaRPr>
          </a:p>
        </p:txBody>
      </p:sp>
      <p:sp>
        <p:nvSpPr>
          <p:cNvPr id="2647" name="Google Shape;2647;p182"/>
          <p:cNvSpPr/>
          <p:nvPr/>
        </p:nvSpPr>
        <p:spPr>
          <a:xfrm rot="-5400000">
            <a:off x="3800475" y="2600325"/>
            <a:ext cx="1543050" cy="2571750"/>
          </a:xfrm>
          <a:prstGeom prst="flowChartManualOperation">
            <a:avLst/>
          </a:prstGeom>
          <a:gradFill>
            <a:gsLst>
              <a:gs pos="0">
                <a:srgbClr val="DFE6F8"/>
              </a:gs>
              <a:gs pos="30000">
                <a:srgbClr val="DAE4F9"/>
              </a:gs>
              <a:gs pos="75000">
                <a:srgbClr val="C9D5F6"/>
              </a:gs>
              <a:gs pos="100000">
                <a:srgbClr val="B6CBF6"/>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182"/>
          <p:cNvSpPr txBox="1"/>
          <p:nvPr/>
        </p:nvSpPr>
        <p:spPr>
          <a:xfrm>
            <a:off x="3286125" y="3423285"/>
            <a:ext cx="2571750" cy="92583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Cán bộ công chức</a:t>
            </a:r>
            <a:endParaRPr sz="1800">
              <a:solidFill>
                <a:schemeClr val="dk1"/>
              </a:solidFill>
              <a:latin typeface="Arial"/>
              <a:ea typeface="Arial"/>
              <a:cs typeface="Arial"/>
              <a:sym typeface="Arial"/>
            </a:endParaRPr>
          </a:p>
          <a:p>
            <a:pPr indent="-114300" lvl="1" marL="114300" marR="0" rtl="0" algn="l">
              <a:lnSpc>
                <a:spcPct val="75000"/>
              </a:lnSpc>
              <a:spcBef>
                <a:spcPts val="36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Làm việc trong coq quan nhà nước</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Do tuyển dụng, bầu hoặc bổ nhiệm</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Giữ một nghĩa vụ nhất định hoặc tiến hành những hoạt động cụ thể nào đó để phục vụ việc thực hiện 1 chức vụ nhất định</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Do Nhà nước trả lương theo chức vụ hoặc loại hoạt động đó</a:t>
            </a:r>
            <a:endParaRPr b="0" i="0" sz="1800" u="none" cap="none" strike="noStrike">
              <a:solidFill>
                <a:schemeClr val="dk1"/>
              </a:solidFill>
              <a:latin typeface="Arial"/>
              <a:ea typeface="Arial"/>
              <a:cs typeface="Arial"/>
              <a:sym typeface="Arial"/>
            </a:endParaRPr>
          </a:p>
        </p:txBody>
      </p:sp>
      <p:sp>
        <p:nvSpPr>
          <p:cNvPr id="2649" name="Google Shape;2649;p182"/>
          <p:cNvSpPr/>
          <p:nvPr/>
        </p:nvSpPr>
        <p:spPr>
          <a:xfrm rot="-5400000">
            <a:off x="6629400" y="2600325"/>
            <a:ext cx="1543050" cy="2571750"/>
          </a:xfrm>
          <a:prstGeom prst="flowChartManualOperation">
            <a:avLst/>
          </a:prstGeom>
          <a:gradFill>
            <a:gsLst>
              <a:gs pos="0">
                <a:srgbClr val="FFFBB2"/>
              </a:gs>
              <a:gs pos="30000">
                <a:srgbClr val="FFFAA9"/>
              </a:gs>
              <a:gs pos="75000">
                <a:srgbClr val="FFFA7D"/>
              </a:gs>
              <a:gs pos="100000">
                <a:srgbClr val="FFFE4B"/>
              </a:gs>
            </a:gsLst>
            <a:path path="circle">
              <a:fillToRect r="100%" t="100%"/>
            </a:path>
            <a:tileRect b="-100%" l="-100%"/>
          </a:gradFill>
          <a:ln>
            <a:noFill/>
          </a:ln>
          <a:effectLst>
            <a:outerShdw blurRad="50800" rotWithShape="0" dir="5400000" dist="25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182"/>
          <p:cNvSpPr txBox="1"/>
          <p:nvPr/>
        </p:nvSpPr>
        <p:spPr>
          <a:xfrm>
            <a:off x="6115050" y="3423285"/>
            <a:ext cx="2571750" cy="925830"/>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dk1"/>
                </a:solidFill>
                <a:latin typeface="Arial"/>
                <a:ea typeface="Arial"/>
                <a:cs typeface="Arial"/>
                <a:sym typeface="Arial"/>
              </a:rPr>
              <a:t>Vi phạm hành chính</a:t>
            </a:r>
            <a:endParaRPr sz="1800">
              <a:solidFill>
                <a:schemeClr val="dk1"/>
              </a:solidFill>
              <a:latin typeface="Arial"/>
              <a:ea typeface="Arial"/>
              <a:cs typeface="Arial"/>
              <a:sym typeface="Arial"/>
            </a:endParaRPr>
          </a:p>
          <a:p>
            <a:pPr indent="-114300" lvl="1" marL="114300" marR="0" rtl="0" algn="l">
              <a:lnSpc>
                <a:spcPct val="75000"/>
              </a:lnSpc>
              <a:spcBef>
                <a:spcPts val="36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Là những hành vi trái pháp luật do các chủ thẻ của luật hành chính thực hiện 1 cách cố ý hoặc vô ý xâm hại tới các quan hệ xã hội do luật hành chính bảo vệ à theo quy định của pháp luật phải bị xử phạt hành chính</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Các hình thức xử lý vi phạm hành chính</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Đối tượng và thẩm quyền xử phạt vi phạm hành chính</a:t>
            </a:r>
            <a:endParaRPr b="0" i="0" sz="1800" u="none" cap="none" strike="noStrike">
              <a:solidFill>
                <a:schemeClr val="dk1"/>
              </a:solidFill>
              <a:latin typeface="Arial"/>
              <a:ea typeface="Arial"/>
              <a:cs typeface="Arial"/>
              <a:sym typeface="Arial"/>
            </a:endParaRPr>
          </a:p>
        </p:txBody>
      </p:sp>
      <p:sp>
        <p:nvSpPr>
          <p:cNvPr id="2651" name="Google Shape;2651;p182"/>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52" name="Google Shape;2652;p18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4"/>
                                        </p:tgtEl>
                                        <p:attrNameLst>
                                          <p:attrName>style.visibility</p:attrName>
                                        </p:attrNameLst>
                                      </p:cBhvr>
                                      <p:to>
                                        <p:strVal val="visible"/>
                                      </p:to>
                                    </p:set>
                                    <p:animEffect filter="fade" transition="in">
                                      <p:cBhvr>
                                        <p:cTn dur="500"/>
                                        <p:tgtEl>
                                          <p:spTgt spid="26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6" name="Shape 2656"/>
        <p:cNvGrpSpPr/>
        <p:nvPr/>
      </p:nvGrpSpPr>
      <p:grpSpPr>
        <a:xfrm>
          <a:off x="0" y="0"/>
          <a:ext cx="0" cy="0"/>
          <a:chOff x="0" y="0"/>
          <a:chExt cx="0" cy="0"/>
        </a:xfrm>
      </p:grpSpPr>
      <p:sp>
        <p:nvSpPr>
          <p:cNvPr id="2657" name="Google Shape;2657;p183"/>
          <p:cNvSpPr txBox="1"/>
          <p:nvPr>
            <p:ph type="title"/>
          </p:nvPr>
        </p:nvSpPr>
        <p:spPr>
          <a:xfrm>
            <a:off x="457200" y="0"/>
            <a:ext cx="8229600" cy="94456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FF0000"/>
              </a:buClr>
              <a:buSzPts val="2800"/>
              <a:buFont typeface="Times New Roman"/>
              <a:buNone/>
            </a:pPr>
            <a:r>
              <a:rPr b="1" lang="en-US" sz="2800">
                <a:solidFill>
                  <a:srgbClr val="FF0000"/>
                </a:solidFill>
                <a:latin typeface="Times New Roman"/>
                <a:ea typeface="Times New Roman"/>
                <a:cs typeface="Times New Roman"/>
                <a:sym typeface="Times New Roman"/>
              </a:rPr>
              <a:t>5.2.3	Ngành Luật Dân sự</a:t>
            </a:r>
            <a:endParaRPr b="1" sz="2800">
              <a:solidFill>
                <a:srgbClr val="FF0000"/>
              </a:solidFill>
            </a:endParaRPr>
          </a:p>
        </p:txBody>
      </p:sp>
      <p:sp>
        <p:nvSpPr>
          <p:cNvPr id="2658" name="Google Shape;2658;p18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None/>
            </a:pPr>
            <a:r>
              <a:rPr lang="en-US"/>
              <a:t>.</a:t>
            </a:r>
            <a:endParaRPr/>
          </a:p>
        </p:txBody>
      </p:sp>
      <p:sp>
        <p:nvSpPr>
          <p:cNvPr id="2659" name="Google Shape;2659;p183"/>
          <p:cNvSpPr/>
          <p:nvPr/>
        </p:nvSpPr>
        <p:spPr>
          <a:xfrm>
            <a:off x="1371600" y="1828800"/>
            <a:ext cx="6934200" cy="2514600"/>
          </a:xfrm>
          <a:prstGeom prst="horizontalScroll">
            <a:avLst>
              <a:gd fmla="val 12500" name="adj"/>
            </a:avLst>
          </a:prstGeom>
          <a:solidFill>
            <a:srgbClr val="FFCDAD"/>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Luật dân sự là tổng thể quy phạm pháp luật điều chỉnh các quan hệ tài sản và quan hệ nhân thân nhất định trong xã hội</a:t>
            </a:r>
            <a:endParaRPr sz="2400">
              <a:solidFill>
                <a:schemeClr val="dk1"/>
              </a:solidFill>
              <a:latin typeface="Arial"/>
              <a:ea typeface="Arial"/>
              <a:cs typeface="Arial"/>
              <a:sym typeface="Arial"/>
            </a:endParaRPr>
          </a:p>
        </p:txBody>
      </p:sp>
      <p:sp>
        <p:nvSpPr>
          <p:cNvPr id="2660" name="Google Shape;2660;p183"/>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61" name="Google Shape;2661;p18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7"/>
                                        </p:tgtEl>
                                        <p:attrNameLst>
                                          <p:attrName>style.visibility</p:attrName>
                                        </p:attrNameLst>
                                      </p:cBhvr>
                                      <p:to>
                                        <p:strVal val="visible"/>
                                      </p:to>
                                    </p:set>
                                    <p:anim calcmode="lin" valueType="num">
                                      <p:cBhvr additive="base">
                                        <p:cTn dur="500"/>
                                        <p:tgtEl>
                                          <p:spTgt spid="26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5" name="Shape 2665"/>
        <p:cNvGrpSpPr/>
        <p:nvPr/>
      </p:nvGrpSpPr>
      <p:grpSpPr>
        <a:xfrm>
          <a:off x="0" y="0"/>
          <a:ext cx="0" cy="0"/>
          <a:chOff x="0" y="0"/>
          <a:chExt cx="0" cy="0"/>
        </a:xfrm>
      </p:grpSpPr>
      <p:sp>
        <p:nvSpPr>
          <p:cNvPr id="2666" name="Google Shape;2666;p184"/>
          <p:cNvSpPr txBox="1"/>
          <p:nvPr>
            <p:ph type="title"/>
          </p:nvPr>
        </p:nvSpPr>
        <p:spPr>
          <a:xfrm>
            <a:off x="457200" y="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FF0000"/>
              </a:buClr>
              <a:buSzPct val="100000"/>
              <a:buFont typeface="Times New Roman"/>
              <a:buNone/>
            </a:pPr>
            <a:r>
              <a:rPr b="1" lang="en-US" sz="3200">
                <a:solidFill>
                  <a:srgbClr val="FF0000"/>
                </a:solidFill>
                <a:latin typeface="Times New Roman"/>
                <a:ea typeface="Times New Roman"/>
                <a:cs typeface="Times New Roman"/>
                <a:sym typeface="Times New Roman"/>
              </a:rPr>
              <a:t>Ngành Luật Dân sự </a:t>
            </a:r>
            <a:br>
              <a:rPr lang="en-US" sz="3200">
                <a:latin typeface="Times New Roman"/>
                <a:ea typeface="Times New Roman"/>
                <a:cs typeface="Times New Roman"/>
                <a:sym typeface="Times New Roman"/>
              </a:rPr>
            </a:br>
            <a:r>
              <a:rPr lang="en-US" sz="3200">
                <a:latin typeface="Times New Roman"/>
                <a:ea typeface="Times New Roman"/>
                <a:cs typeface="Times New Roman"/>
                <a:sym typeface="Times New Roman"/>
              </a:rPr>
              <a:t>Đối tượng điều chỉnh và phương pháp điều chỉnh</a:t>
            </a:r>
            <a:endParaRPr sz="3200">
              <a:solidFill>
                <a:srgbClr val="FF0000"/>
              </a:solidFill>
              <a:latin typeface="Times New Roman"/>
              <a:ea typeface="Times New Roman"/>
              <a:cs typeface="Times New Roman"/>
              <a:sym typeface="Times New Roman"/>
            </a:endParaRPr>
          </a:p>
        </p:txBody>
      </p:sp>
      <p:sp>
        <p:nvSpPr>
          <p:cNvPr id="2667" name="Google Shape;2667;p184"/>
          <p:cNvSpPr/>
          <p:nvPr/>
        </p:nvSpPr>
        <p:spPr>
          <a:xfrm>
            <a:off x="228600" y="990600"/>
            <a:ext cx="8686800" cy="5638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Đối tượng điều chỉnh </a:t>
            </a:r>
            <a:endParaRPr b="0" i="0" sz="16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6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Quan hệ tài sản: là những quan hệ xã hội  gắn liền và thông qua 1 tài sản dưới dạng 1 tư liệu sản xuất, 1 tư liệu tiêu dung hoặc dịch vụ tạo ra 1 tài sản nhất định </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Quan hệ nhân thân:</a:t>
            </a:r>
            <a:endParaRPr/>
          </a:p>
          <a:p>
            <a:pPr indent="-114300" lvl="2" marL="228600" marR="0" rtl="0" algn="l">
              <a:lnSpc>
                <a:spcPct val="75000"/>
              </a:lnSpc>
              <a:spcBef>
                <a:spcPts val="16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 là những quan hệ xã hội phát sinh từ một giá trị tinh thần (giá trị nhân thân) của 1 cá nhân hay 1 tổ chức và luôn luôn gắn liền với một chủ thể nhất định. Quyền này k dịch chuyển được</a:t>
            </a:r>
            <a:endParaRPr b="0" i="0" sz="16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6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 Gồm: liên quan đến tài sản và ko liên quan đến tài sản</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Phương pháp điều chỉnh</a:t>
            </a:r>
            <a:endParaRPr b="0" i="0" sz="1600" u="none" cap="none" strike="noStrike">
              <a:solidFill>
                <a:schemeClr val="dk1"/>
              </a:solidFill>
              <a:latin typeface="Times New Roman"/>
              <a:ea typeface="Times New Roman"/>
              <a:cs typeface="Times New Roman"/>
              <a:sym typeface="Times New Roman"/>
            </a:endParaRPr>
          </a:p>
          <a:p>
            <a:pPr indent="-114300" lvl="2" marL="228600" marR="0" rtl="0" algn="l">
              <a:lnSpc>
                <a:spcPct val="75000"/>
              </a:lnSpc>
              <a:spcBef>
                <a:spcPts val="16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Bình đẳng, thỏa thuận</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Tự chịu trách nhiệm bằng tài sản</a:t>
            </a:r>
            <a:endParaRPr b="0" i="0" sz="1600" u="none" cap="none" strike="noStrike">
              <a:solidFill>
                <a:schemeClr val="dk1"/>
              </a:solidFill>
              <a:latin typeface="Times New Roman"/>
              <a:ea typeface="Times New Roman"/>
              <a:cs typeface="Times New Roman"/>
              <a:sym typeface="Times New Roman"/>
            </a:endParaRPr>
          </a:p>
          <a:p>
            <a:pPr indent="0" lvl="2" marL="2286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68" name="Google Shape;2668;p184"/>
          <p:cNvSpPr txBox="1"/>
          <p:nvPr>
            <p:ph idx="11" type="ftr"/>
          </p:nvPr>
        </p:nvSpPr>
        <p:spPr>
          <a:xfrm rot="5400000">
            <a:off x="6744626" y="34916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69" name="Google Shape;2669;p18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6"/>
                                        </p:tgtEl>
                                        <p:attrNameLst>
                                          <p:attrName>style.visibility</p:attrName>
                                        </p:attrNameLst>
                                      </p:cBhvr>
                                      <p:to>
                                        <p:strVal val="visible"/>
                                      </p:to>
                                    </p:set>
                                    <p:animEffect filter="fade" transition="in">
                                      <p:cBhvr>
                                        <p:cTn dur="500"/>
                                        <p:tgtEl>
                                          <p:spTgt spid="2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3" name="Shape 2673"/>
        <p:cNvGrpSpPr/>
        <p:nvPr/>
      </p:nvGrpSpPr>
      <p:grpSpPr>
        <a:xfrm>
          <a:off x="0" y="0"/>
          <a:ext cx="0" cy="0"/>
          <a:chOff x="0" y="0"/>
          <a:chExt cx="0" cy="0"/>
        </a:xfrm>
      </p:grpSpPr>
      <p:sp>
        <p:nvSpPr>
          <p:cNvPr id="2674" name="Google Shape;2674;p185"/>
          <p:cNvSpPr txBox="1"/>
          <p:nvPr>
            <p:ph type="title"/>
          </p:nvPr>
        </p:nvSpPr>
        <p:spPr>
          <a:xfrm>
            <a:off x="457200" y="274638"/>
            <a:ext cx="8229600" cy="868362"/>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FF0000"/>
              </a:buClr>
              <a:buSzPct val="100000"/>
              <a:buFont typeface="Times New Roman"/>
              <a:buNone/>
            </a:pPr>
            <a:r>
              <a:rPr b="1" lang="en-US" sz="3200">
                <a:solidFill>
                  <a:srgbClr val="FF0000"/>
                </a:solidFill>
                <a:latin typeface="Times New Roman"/>
                <a:ea typeface="Times New Roman"/>
                <a:cs typeface="Times New Roman"/>
                <a:sym typeface="Times New Roman"/>
              </a:rPr>
              <a:t>Ngành Luật Dân sự </a:t>
            </a:r>
            <a:br>
              <a:rPr b="1" lang="en-US" sz="3200">
                <a:solidFill>
                  <a:srgbClr val="FF0000"/>
                </a:solidFill>
                <a:latin typeface="Times New Roman"/>
                <a:ea typeface="Times New Roman"/>
                <a:cs typeface="Times New Roman"/>
                <a:sym typeface="Times New Roman"/>
              </a:rPr>
            </a:br>
            <a:r>
              <a:rPr b="1" lang="en-US" sz="3200">
                <a:solidFill>
                  <a:srgbClr val="FF0000"/>
                </a:solidFill>
                <a:latin typeface="Times New Roman"/>
                <a:ea typeface="Times New Roman"/>
                <a:cs typeface="Times New Roman"/>
                <a:sym typeface="Times New Roman"/>
              </a:rPr>
              <a:t>Nguồn và hệ thống pháp luật</a:t>
            </a:r>
            <a:endParaRPr sz="3200">
              <a:latin typeface="Times New Roman"/>
              <a:ea typeface="Times New Roman"/>
              <a:cs typeface="Times New Roman"/>
              <a:sym typeface="Times New Roman"/>
            </a:endParaRPr>
          </a:p>
        </p:txBody>
      </p:sp>
      <p:sp>
        <p:nvSpPr>
          <p:cNvPr id="2675" name="Google Shape;2675;p185"/>
          <p:cNvSpPr/>
          <p:nvPr/>
        </p:nvSpPr>
        <p:spPr>
          <a:xfrm>
            <a:off x="304800" y="1554163"/>
            <a:ext cx="8686800" cy="4525962"/>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27000" lvl="1" marL="114300" marR="0" rtl="0" algn="l">
              <a:lnSpc>
                <a:spcPct val="75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Nguồn</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Hiến pháp1992 </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Bộ luật dân sự 2005 </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Các đạo luật và nhiều văn bản quy phạm pháp luật khác có liên quan do các cơ quan nhà nước trung ương ban hành như Luật sở hữu trí tuệ năm 2005, Luật doanh nghiệp năm 2005, Luật hôn nhân và gia đình năm 2000 </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Điều ước quốc tế mà Việt Nam là thành viên </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Một số tập quán quốc tế </a:t>
            </a:r>
            <a:endParaRPr b="0" i="0" sz="2000" u="none" cap="none" strike="noStrike">
              <a:solidFill>
                <a:schemeClr val="dk1"/>
              </a:solidFill>
              <a:latin typeface="Times New Roman"/>
              <a:ea typeface="Times New Roman"/>
              <a:cs typeface="Times New Roman"/>
              <a:sym typeface="Times New Roman"/>
            </a:endParaRPr>
          </a:p>
          <a:p>
            <a:pPr indent="0" lvl="1" marL="114300" marR="0" rtl="0" algn="l">
              <a:lnSpc>
                <a:spcPct val="75000"/>
              </a:lnSpc>
              <a:spcBef>
                <a:spcPts val="20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27000" lvl="1" marL="114300" marR="0" rtl="0" algn="l">
              <a:lnSpc>
                <a:spcPct val="75000"/>
              </a:lnSpc>
              <a:spcBef>
                <a:spcPts val="18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Hệ thống</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1" i="0" lang="en-US" sz="2000" u="sng" cap="none" strike="noStrike">
                <a:solidFill>
                  <a:schemeClr val="dk1"/>
                </a:solidFill>
                <a:latin typeface="Times New Roman"/>
                <a:ea typeface="Times New Roman"/>
                <a:cs typeface="Times New Roman"/>
                <a:sym typeface="Times New Roman"/>
              </a:rPr>
              <a:t>Phần chung</a:t>
            </a:r>
            <a:r>
              <a:rPr b="0" i="0" lang="en-US" sz="2000" u="none" cap="none" strike="noStrike">
                <a:solidFill>
                  <a:schemeClr val="dk1"/>
                </a:solidFill>
                <a:latin typeface="Times New Roman"/>
                <a:ea typeface="Times New Roman"/>
                <a:cs typeface="Times New Roman"/>
                <a:sym typeface="Times New Roman"/>
              </a:rPr>
              <a:t> là phần quy định về nhiệm vụ, những nguyên tắc cơ bản của luật dân sự, xác định địa vị pháp lý của các loại chủ thể trong quan hệ pháp luật dân sự và những vấn đề chung nhất của luật dân sự như vấn đề thời hạn, thời hiệu.</a:t>
            </a:r>
            <a:endParaRPr b="0" i="0" sz="2000" u="none" cap="none" strike="noStrike">
              <a:solidFill>
                <a:schemeClr val="dk1"/>
              </a:solidFill>
              <a:latin typeface="Times New Roman"/>
              <a:ea typeface="Times New Roman"/>
              <a:cs typeface="Times New Roman"/>
              <a:sym typeface="Times New Roman"/>
            </a:endParaRPr>
          </a:p>
          <a:p>
            <a:pPr indent="-127000" lvl="2" marL="228600" marR="0" rtl="0" algn="l">
              <a:lnSpc>
                <a:spcPct val="75000"/>
              </a:lnSpc>
              <a:spcBef>
                <a:spcPts val="200"/>
              </a:spcBef>
              <a:spcAft>
                <a:spcPts val="0"/>
              </a:spcAft>
              <a:buClr>
                <a:schemeClr val="dk1"/>
              </a:buClr>
              <a:buSzPts val="2000"/>
              <a:buFont typeface="Times New Roman"/>
              <a:buChar char="•"/>
            </a:pPr>
            <a:r>
              <a:rPr b="1" i="0" lang="en-US" sz="2000" u="sng" cap="none" strike="noStrike">
                <a:solidFill>
                  <a:schemeClr val="dk1"/>
                </a:solidFill>
                <a:latin typeface="Times New Roman"/>
                <a:ea typeface="Times New Roman"/>
                <a:cs typeface="Times New Roman"/>
                <a:sym typeface="Times New Roman"/>
              </a:rPr>
              <a:t>Phần riêng</a:t>
            </a:r>
            <a:r>
              <a:rPr b="0" i="0" lang="en-US" sz="2000" u="none" cap="none" strike="noStrike">
                <a:solidFill>
                  <a:schemeClr val="dk1"/>
                </a:solidFill>
                <a:latin typeface="Times New Roman"/>
                <a:ea typeface="Times New Roman"/>
                <a:cs typeface="Times New Roman"/>
                <a:sym typeface="Times New Roman"/>
              </a:rPr>
              <a:t> bao gồm</a:t>
            </a:r>
            <a:r>
              <a:rPr b="0" i="1"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những quy phạm pháp luật được sắp xếp thành các chế định pháp luật điều chỉnh từng mặt, từng lĩnh vực cụ thể của quan hệ pháp luật dân sự.</a:t>
            </a:r>
            <a:endParaRPr b="0" i="0" sz="2000" u="none" cap="none" strike="noStrike">
              <a:solidFill>
                <a:schemeClr val="dk1"/>
              </a:solidFill>
              <a:latin typeface="Times New Roman"/>
              <a:ea typeface="Times New Roman"/>
              <a:cs typeface="Times New Roman"/>
              <a:sym typeface="Times New Roman"/>
            </a:endParaRPr>
          </a:p>
        </p:txBody>
      </p:sp>
      <p:sp>
        <p:nvSpPr>
          <p:cNvPr id="2676" name="Google Shape;2676;p185"/>
          <p:cNvSpPr txBox="1"/>
          <p:nvPr>
            <p:ph idx="11" type="ftr"/>
          </p:nvPr>
        </p:nvSpPr>
        <p:spPr>
          <a:xfrm rot="5400000">
            <a:off x="7077260" y="170098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77" name="Google Shape;2677;p18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1" name="Shape 2681"/>
        <p:cNvGrpSpPr/>
        <p:nvPr/>
      </p:nvGrpSpPr>
      <p:grpSpPr>
        <a:xfrm>
          <a:off x="0" y="0"/>
          <a:ext cx="0" cy="0"/>
          <a:chOff x="0" y="0"/>
          <a:chExt cx="0" cy="0"/>
        </a:xfrm>
      </p:grpSpPr>
      <p:sp>
        <p:nvSpPr>
          <p:cNvPr id="2682" name="Google Shape;2682;p186"/>
          <p:cNvSpPr txBox="1"/>
          <p:nvPr>
            <p:ph type="title"/>
          </p:nvPr>
        </p:nvSpPr>
        <p:spPr>
          <a:xfrm>
            <a:off x="533400" y="0"/>
            <a:ext cx="8229600" cy="7620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rgbClr val="FF0000"/>
              </a:buClr>
              <a:buSzPct val="100000"/>
              <a:buFont typeface="Times New Roman"/>
              <a:buNone/>
            </a:pPr>
            <a:r>
              <a:rPr b="1" lang="en-US" sz="2400">
                <a:solidFill>
                  <a:srgbClr val="FF0000"/>
                </a:solidFill>
                <a:latin typeface="Times New Roman"/>
                <a:ea typeface="Times New Roman"/>
                <a:cs typeface="Times New Roman"/>
                <a:sym typeface="Times New Roman"/>
              </a:rPr>
              <a:t>Ngành Luật Dân sự </a:t>
            </a:r>
            <a:br>
              <a:rPr b="1" lang="en-US" sz="2400">
                <a:solidFill>
                  <a:srgbClr val="FF0000"/>
                </a:solidFill>
                <a:latin typeface="Times New Roman"/>
                <a:ea typeface="Times New Roman"/>
                <a:cs typeface="Times New Roman"/>
                <a:sym typeface="Times New Roman"/>
              </a:rPr>
            </a:br>
            <a:r>
              <a:rPr b="1" lang="en-US" sz="2400">
                <a:solidFill>
                  <a:srgbClr val="FF0000"/>
                </a:solidFill>
                <a:latin typeface="Times New Roman"/>
                <a:ea typeface="Times New Roman"/>
                <a:cs typeface="Times New Roman"/>
                <a:sym typeface="Times New Roman"/>
              </a:rPr>
              <a:t>Các chế định cơ bản</a:t>
            </a:r>
            <a:endParaRPr sz="2400"/>
          </a:p>
        </p:txBody>
      </p:sp>
      <p:sp>
        <p:nvSpPr>
          <p:cNvPr id="2683" name="Google Shape;2683;p186"/>
          <p:cNvSpPr txBox="1"/>
          <p:nvPr>
            <p:ph idx="1" type="body"/>
          </p:nvPr>
        </p:nvSpPr>
        <p:spPr>
          <a:xfrm>
            <a:off x="457200" y="990600"/>
            <a:ext cx="8229600" cy="5135563"/>
          </a:xfrm>
          <a:prstGeom prst="rect">
            <a:avLst/>
          </a:prstGeom>
          <a:noFill/>
          <a:ln>
            <a:noFill/>
          </a:ln>
        </p:spPr>
        <p:txBody>
          <a:bodyPr anchorCtr="0" anchor="t" bIns="45700" lIns="91425" spcFirstLastPara="1" rIns="91425" wrap="square" tIns="45700">
            <a:normAutofit fontScale="92500"/>
          </a:bodyPr>
          <a:lstStyle/>
          <a:p>
            <a:pPr indent="-514350" lvl="0" marL="514350" rtl="0" algn="l">
              <a:spcBef>
                <a:spcPts val="0"/>
              </a:spcBef>
              <a:spcAft>
                <a:spcPts val="0"/>
              </a:spcAft>
              <a:buSzPct val="70000"/>
              <a:buAutoNum type="arabicPeriod"/>
            </a:pPr>
            <a:r>
              <a:rPr lang="en-US"/>
              <a:t>Tài sản và Quyền sở hữu</a:t>
            </a:r>
            <a:endParaRPr/>
          </a:p>
          <a:p>
            <a:pPr indent="-274320" lvl="0" marL="274320" rtl="0" algn="l">
              <a:spcBef>
                <a:spcPts val="600"/>
              </a:spcBef>
              <a:spcAft>
                <a:spcPts val="0"/>
              </a:spcAft>
              <a:buSzPct val="70000"/>
              <a:buChar char="🞆"/>
            </a:pPr>
            <a:r>
              <a:rPr lang="en-US"/>
              <a:t>Tài sản bao gồm vật, tiền, giấy tờ có giá và các quyền tài sản.</a:t>
            </a:r>
            <a:endParaRPr/>
          </a:p>
          <a:p>
            <a:pPr indent="-274320" lvl="0" marL="274320" rtl="0" algn="l">
              <a:spcBef>
                <a:spcPts val="600"/>
              </a:spcBef>
              <a:spcAft>
                <a:spcPts val="0"/>
              </a:spcAft>
              <a:buSzPct val="70000"/>
              <a:buChar char="🞆"/>
            </a:pPr>
            <a:r>
              <a:rPr lang="en-US"/>
              <a:t>Quyền tài sản là quyền trị giá được bằng tiền và có thể chuyển giao trong giao dịch dân sự, kể cả quyền sở hữu trí tuệ.</a:t>
            </a:r>
            <a:endParaRPr/>
          </a:p>
          <a:p>
            <a:pPr indent="-274320" lvl="0" marL="274320" rtl="0" algn="l">
              <a:spcBef>
                <a:spcPts val="600"/>
              </a:spcBef>
              <a:spcAft>
                <a:spcPts val="0"/>
              </a:spcAft>
              <a:buSzPct val="70000"/>
              <a:buChar char="🞆"/>
            </a:pPr>
            <a:r>
              <a:rPr lang="en-US"/>
              <a:t>Phân loại tài sản: </a:t>
            </a:r>
            <a:r>
              <a:rPr b="1" lang="en-US" u="sng"/>
              <a:t>Bất động sản</a:t>
            </a:r>
            <a:r>
              <a:rPr lang="en-US"/>
              <a:t> là các tài sản không di, dời được trong không gian bao gồm:</a:t>
            </a:r>
            <a:endParaRPr/>
          </a:p>
          <a:p>
            <a:pPr indent="-274320" lvl="0" marL="274320" rtl="0" algn="l">
              <a:spcBef>
                <a:spcPts val="600"/>
              </a:spcBef>
              <a:spcAft>
                <a:spcPts val="0"/>
              </a:spcAft>
              <a:buSzPct val="70000"/>
              <a:buNone/>
            </a:pPr>
            <a:r>
              <a:rPr lang="en-US"/>
              <a:t>      Đất đai </a:t>
            </a:r>
            <a:endParaRPr/>
          </a:p>
          <a:p>
            <a:pPr indent="-274320" lvl="0" marL="274320" rtl="0" algn="l">
              <a:spcBef>
                <a:spcPts val="600"/>
              </a:spcBef>
              <a:spcAft>
                <a:spcPts val="0"/>
              </a:spcAft>
              <a:buSzPct val="70000"/>
              <a:buNone/>
            </a:pPr>
            <a:r>
              <a:rPr lang="en-US"/>
              <a:t>      Nhà, công trình xây dựng gắn liền với đất đai, kể cả các tài sản gắn liền với nhà, công trình xây dựng đó;</a:t>
            </a:r>
            <a:endParaRPr/>
          </a:p>
          <a:p>
            <a:pPr indent="-274320" lvl="0" marL="274320" rtl="0" algn="l">
              <a:spcBef>
                <a:spcPts val="600"/>
              </a:spcBef>
              <a:spcAft>
                <a:spcPts val="0"/>
              </a:spcAft>
              <a:buSzPct val="70000"/>
              <a:buNone/>
            </a:pPr>
            <a:r>
              <a:rPr lang="en-US"/>
              <a:t>     Các tài sản khác gắn liền với đất đai;</a:t>
            </a:r>
            <a:endParaRPr/>
          </a:p>
          <a:p>
            <a:pPr indent="-274320" lvl="0" marL="274320" rtl="0" algn="l">
              <a:spcBef>
                <a:spcPts val="600"/>
              </a:spcBef>
              <a:spcAft>
                <a:spcPts val="0"/>
              </a:spcAft>
              <a:buSzPct val="70000"/>
              <a:buNone/>
            </a:pPr>
            <a:r>
              <a:rPr lang="en-US"/>
              <a:t>     Các loại tài sản khác do pháp luật quy định </a:t>
            </a:r>
            <a:endParaRPr/>
          </a:p>
          <a:p>
            <a:pPr indent="-274320" lvl="0" marL="274320" rtl="0" algn="l">
              <a:spcBef>
                <a:spcPts val="600"/>
              </a:spcBef>
              <a:spcAft>
                <a:spcPts val="0"/>
              </a:spcAft>
              <a:buSzPct val="70000"/>
              <a:buChar char="🞆"/>
            </a:pPr>
            <a:r>
              <a:rPr b="1" lang="en-US" u="sng"/>
              <a:t>Động sản</a:t>
            </a:r>
            <a:r>
              <a:rPr lang="en-US"/>
              <a:t> là những tài sản không phải là bất động sản</a:t>
            </a:r>
            <a:endParaRPr/>
          </a:p>
        </p:txBody>
      </p:sp>
      <p:sp>
        <p:nvSpPr>
          <p:cNvPr id="2684" name="Google Shape;2684;p186"/>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85" name="Google Shape;2685;p18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9" name="Shape 2689"/>
        <p:cNvGrpSpPr/>
        <p:nvPr/>
      </p:nvGrpSpPr>
      <p:grpSpPr>
        <a:xfrm>
          <a:off x="0" y="0"/>
          <a:ext cx="0" cy="0"/>
          <a:chOff x="0" y="0"/>
          <a:chExt cx="0" cy="0"/>
        </a:xfrm>
      </p:grpSpPr>
      <p:sp>
        <p:nvSpPr>
          <p:cNvPr id="2690" name="Google Shape;2690;p187"/>
          <p:cNvSpPr txBox="1"/>
          <p:nvPr>
            <p:ph type="title"/>
          </p:nvPr>
        </p:nvSpPr>
        <p:spPr>
          <a:xfrm>
            <a:off x="457200" y="0"/>
            <a:ext cx="8229600" cy="762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FF0000"/>
              </a:buClr>
              <a:buSzPts val="2400"/>
              <a:buFont typeface="Times New Roman"/>
              <a:buNone/>
            </a:pPr>
            <a:r>
              <a:rPr b="1" lang="en-US" sz="2400">
                <a:solidFill>
                  <a:srgbClr val="FF0000"/>
                </a:solidFill>
                <a:latin typeface="Times New Roman"/>
                <a:ea typeface="Times New Roman"/>
                <a:cs typeface="Times New Roman"/>
                <a:sym typeface="Times New Roman"/>
              </a:rPr>
              <a:t>Ngành Luật Dân sự và Tố tụng Dân sự</a:t>
            </a:r>
            <a:br>
              <a:rPr b="1" lang="en-US" sz="2400">
                <a:solidFill>
                  <a:srgbClr val="FF0000"/>
                </a:solidFill>
                <a:latin typeface="Times New Roman"/>
                <a:ea typeface="Times New Roman"/>
                <a:cs typeface="Times New Roman"/>
                <a:sym typeface="Times New Roman"/>
              </a:rPr>
            </a:br>
            <a:r>
              <a:rPr b="1" lang="en-US" sz="2400">
                <a:solidFill>
                  <a:srgbClr val="FF0000"/>
                </a:solidFill>
                <a:latin typeface="Times New Roman"/>
                <a:ea typeface="Times New Roman"/>
                <a:cs typeface="Times New Roman"/>
                <a:sym typeface="Times New Roman"/>
              </a:rPr>
              <a:t>Các chế định cơ bản</a:t>
            </a:r>
            <a:endParaRPr sz="2400"/>
          </a:p>
        </p:txBody>
      </p:sp>
      <p:sp>
        <p:nvSpPr>
          <p:cNvPr id="2691" name="Google Shape;2691;p187"/>
          <p:cNvSpPr txBox="1"/>
          <p:nvPr>
            <p:ph idx="1" type="body"/>
          </p:nvPr>
        </p:nvSpPr>
        <p:spPr>
          <a:xfrm>
            <a:off x="304800" y="914400"/>
            <a:ext cx="8534400" cy="5638800"/>
          </a:xfrm>
          <a:prstGeom prst="rect">
            <a:avLst/>
          </a:prstGeom>
          <a:noFill/>
          <a:ln>
            <a:noFill/>
          </a:ln>
        </p:spPr>
        <p:txBody>
          <a:bodyPr anchorCtr="0" anchor="t" bIns="45700" lIns="91425" spcFirstLastPara="1" rIns="91425" wrap="square" tIns="45700">
            <a:normAutofit/>
          </a:bodyPr>
          <a:lstStyle/>
          <a:p>
            <a:pPr indent="-514350" lvl="0" marL="514350" rtl="0" algn="l">
              <a:spcBef>
                <a:spcPts val="0"/>
              </a:spcBef>
              <a:spcAft>
                <a:spcPts val="0"/>
              </a:spcAft>
              <a:buSzPts val="1260"/>
              <a:buAutoNum type="arabicPeriod"/>
            </a:pPr>
            <a:r>
              <a:rPr lang="en-US" sz="1800">
                <a:latin typeface="Times New Roman"/>
                <a:ea typeface="Times New Roman"/>
                <a:cs typeface="Times New Roman"/>
                <a:sym typeface="Times New Roman"/>
              </a:rPr>
              <a:t>Tài sản và Quyền sở hữu (tiếp)</a:t>
            </a:r>
            <a:endParaRPr/>
          </a:p>
          <a:p>
            <a:pPr indent="-514350" lvl="0" marL="514350" rtl="0" algn="l">
              <a:spcBef>
                <a:spcPts val="600"/>
              </a:spcBef>
              <a:spcAft>
                <a:spcPts val="0"/>
              </a:spcAft>
              <a:buSzPts val="1260"/>
              <a:buNone/>
            </a:pPr>
            <a:r>
              <a:rPr b="1" lang="en-US" sz="1800" u="sng">
                <a:latin typeface="Times New Roman"/>
                <a:ea typeface="Times New Roman"/>
                <a:cs typeface="Times New Roman"/>
                <a:sym typeface="Times New Roman"/>
              </a:rPr>
              <a:t>         Quyền sở hữu</a:t>
            </a:r>
            <a:r>
              <a:rPr lang="en-US" sz="1800">
                <a:latin typeface="Times New Roman"/>
                <a:ea typeface="Times New Roman"/>
                <a:cs typeface="Times New Roman"/>
                <a:sym typeface="Times New Roman"/>
              </a:rPr>
              <a:t> là biểu hiện về mặt pháp lý của các quan hệ sở hữu. Đó là những quyền và nghĩa vụ pháp lý của các chủ sở hữu là cá nhân, pháp nhân hay các chủ thể khác trong việc chiếm hữu, sử dụng và định đoạt tài sản</a:t>
            </a:r>
            <a:endParaRPr sz="1800">
              <a:latin typeface="Times New Roman"/>
              <a:ea typeface="Times New Roman"/>
              <a:cs typeface="Times New Roman"/>
              <a:sym typeface="Times New Roman"/>
            </a:endParaRPr>
          </a:p>
          <a:p>
            <a:pPr indent="-514350" lvl="0" marL="514350" rtl="0" algn="l">
              <a:spcBef>
                <a:spcPts val="600"/>
              </a:spcBef>
              <a:spcAft>
                <a:spcPts val="0"/>
              </a:spcAft>
              <a:buSzPts val="1260"/>
              <a:buNone/>
            </a:pPr>
            <a:r>
              <a:t/>
            </a:r>
            <a:endParaRPr sz="1800">
              <a:latin typeface="Times New Roman"/>
              <a:ea typeface="Times New Roman"/>
              <a:cs typeface="Times New Roman"/>
              <a:sym typeface="Times New Roman"/>
            </a:endParaRPr>
          </a:p>
        </p:txBody>
      </p:sp>
      <p:sp>
        <p:nvSpPr>
          <p:cNvPr id="2692" name="Google Shape;2692;p187"/>
          <p:cNvSpPr/>
          <p:nvPr/>
        </p:nvSpPr>
        <p:spPr>
          <a:xfrm>
            <a:off x="838200" y="2209800"/>
            <a:ext cx="7696200" cy="4648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Quyền chiếm hữu: là quyền của chủ sở hữu tự mình nắm giữ hoặc quản lý tài sản thuộc sở hữu của mình</a:t>
            </a:r>
            <a:endParaRPr b="0" i="0" sz="1600" u="none" cap="none" strike="noStrike">
              <a:solidFill>
                <a:schemeClr val="dk1"/>
              </a:solidFill>
              <a:latin typeface="Arial"/>
              <a:ea typeface="Arial"/>
              <a:cs typeface="Arial"/>
              <a:sym typeface="Arial"/>
            </a:endParaRPr>
          </a:p>
          <a:p>
            <a:pPr indent="-114300" lvl="1" marL="1143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Quyền định đoạt: là quyền của chủ sở hữu tự mình định đoạt tài sản thông qua việc chuyển giao quyền sở hữu của mình cho người khác hoặc từ bỏ quyền sở hữu đó</a:t>
            </a:r>
            <a:endParaRPr b="0" i="0" sz="1600" u="none" cap="none" strike="noStrike">
              <a:solidFill>
                <a:schemeClr val="dk1"/>
              </a:solidFill>
              <a:latin typeface="Arial"/>
              <a:ea typeface="Arial"/>
              <a:cs typeface="Arial"/>
              <a:sym typeface="Arial"/>
            </a:endParaRPr>
          </a:p>
          <a:p>
            <a:pPr indent="-114300" lvl="1" marL="1143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Quyền sử dụng: là quyền của chủ sở hữu tự mình khai thác công dụng, hưởng hoa lợi hoặc lợi tức có được từ tài sản</a:t>
            </a:r>
            <a:endParaRPr b="0" i="0" sz="1600" u="none" cap="none" strike="noStrike">
              <a:solidFill>
                <a:schemeClr val="dk1"/>
              </a:solidFill>
              <a:latin typeface="Arial"/>
              <a:ea typeface="Arial"/>
              <a:cs typeface="Arial"/>
              <a:sym typeface="Arial"/>
            </a:endParaRPr>
          </a:p>
        </p:txBody>
      </p:sp>
      <p:sp>
        <p:nvSpPr>
          <p:cNvPr id="2693" name="Google Shape;2693;p187"/>
          <p:cNvSpPr txBox="1"/>
          <p:nvPr>
            <p:ph idx="11" type="ftr"/>
          </p:nvPr>
        </p:nvSpPr>
        <p:spPr>
          <a:xfrm rot="5400000">
            <a:off x="7229660" y="1548580"/>
            <a:ext cx="34629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694" name="Google Shape;2694;p18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0"/>
                                        </p:tgtEl>
                                        <p:attrNameLst>
                                          <p:attrName>style.visibility</p:attrName>
                                        </p:attrNameLst>
                                      </p:cBhvr>
                                      <p:to>
                                        <p:strVal val="visible"/>
                                      </p:to>
                                    </p:set>
                                    <p:animEffect filter="fade" transition="in">
                                      <p:cBhvr>
                                        <p:cTn dur="500"/>
                                        <p:tgtEl>
                                          <p:spTgt spid="26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1">
                                            <p:txEl>
                                              <p:pRg end="0" st="0"/>
                                            </p:txEl>
                                          </p:spTgt>
                                        </p:tgtEl>
                                        <p:attrNameLst>
                                          <p:attrName>style.visibility</p:attrName>
                                        </p:attrNameLst>
                                      </p:cBhvr>
                                      <p:to>
                                        <p:strVal val="visible"/>
                                      </p:to>
                                    </p:set>
                                    <p:anim calcmode="lin" valueType="num">
                                      <p:cBhvr additive="base">
                                        <p:cTn dur="500"/>
                                        <p:tgtEl>
                                          <p:spTgt spid="26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1">
                                            <p:txEl>
                                              <p:pRg end="1" st="1"/>
                                            </p:txEl>
                                          </p:spTgt>
                                        </p:tgtEl>
                                        <p:attrNameLst>
                                          <p:attrName>style.visibility</p:attrName>
                                        </p:attrNameLst>
                                      </p:cBhvr>
                                      <p:to>
                                        <p:strVal val="visible"/>
                                      </p:to>
                                    </p:set>
                                    <p:anim calcmode="lin" valueType="num">
                                      <p:cBhvr additive="base">
                                        <p:cTn dur="500"/>
                                        <p:tgtEl>
                                          <p:spTgt spid="269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1">
                                            <p:txEl>
                                              <p:pRg end="2" st="2"/>
                                            </p:txEl>
                                          </p:spTgt>
                                        </p:tgtEl>
                                        <p:attrNameLst>
                                          <p:attrName>style.visibility</p:attrName>
                                        </p:attrNameLst>
                                      </p:cBhvr>
                                      <p:to>
                                        <p:strVal val="visible"/>
                                      </p:to>
                                    </p:set>
                                    <p:anim calcmode="lin" valueType="num">
                                      <p:cBhvr additive="base">
                                        <p:cTn dur="500"/>
                                        <p:tgtEl>
                                          <p:spTgt spid="269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8" name="Shape 2698"/>
        <p:cNvGrpSpPr/>
        <p:nvPr/>
      </p:nvGrpSpPr>
      <p:grpSpPr>
        <a:xfrm>
          <a:off x="0" y="0"/>
          <a:ext cx="0" cy="0"/>
          <a:chOff x="0" y="0"/>
          <a:chExt cx="0" cy="0"/>
        </a:xfrm>
      </p:grpSpPr>
      <p:sp>
        <p:nvSpPr>
          <p:cNvPr id="2699" name="Google Shape;2699;p188"/>
          <p:cNvSpPr txBox="1"/>
          <p:nvPr>
            <p:ph type="title"/>
          </p:nvPr>
        </p:nvSpPr>
        <p:spPr>
          <a:xfrm>
            <a:off x="457200" y="0"/>
            <a:ext cx="8229600" cy="457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0000"/>
              </a:buClr>
              <a:buSzPts val="2400"/>
              <a:buFont typeface="Times New Roman"/>
              <a:buNone/>
            </a:pPr>
            <a:r>
              <a:rPr b="1" lang="en-US" sz="2400">
                <a:solidFill>
                  <a:srgbClr val="FF0000"/>
                </a:solidFill>
                <a:latin typeface="Times New Roman"/>
                <a:ea typeface="Times New Roman"/>
                <a:cs typeface="Times New Roman"/>
                <a:sym typeface="Times New Roman"/>
              </a:rPr>
              <a:t>Ngành Luật Dân sự - Các chế định cơ bản</a:t>
            </a:r>
            <a:endParaRPr sz="2400">
              <a:latin typeface="Times New Roman"/>
              <a:ea typeface="Times New Roman"/>
              <a:cs typeface="Times New Roman"/>
              <a:sym typeface="Times New Roman"/>
            </a:endParaRPr>
          </a:p>
        </p:txBody>
      </p:sp>
      <p:sp>
        <p:nvSpPr>
          <p:cNvPr id="2700" name="Google Shape;2700;p188"/>
          <p:cNvSpPr txBox="1"/>
          <p:nvPr>
            <p:ph idx="1" type="body"/>
          </p:nvPr>
        </p:nvSpPr>
        <p:spPr>
          <a:xfrm>
            <a:off x="0" y="457200"/>
            <a:ext cx="9144000" cy="6400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260"/>
              <a:buNone/>
            </a:pPr>
            <a:r>
              <a:rPr lang="en-US" sz="1800">
                <a:latin typeface="Times New Roman"/>
                <a:ea typeface="Times New Roman"/>
                <a:cs typeface="Times New Roman"/>
                <a:sym typeface="Times New Roman"/>
              </a:rPr>
              <a:t>2. Thừa kế</a:t>
            </a:r>
            <a:endParaRPr sz="1800">
              <a:latin typeface="Times New Roman"/>
              <a:ea typeface="Times New Roman"/>
              <a:cs typeface="Times New Roman"/>
              <a:sym typeface="Times New Roman"/>
            </a:endParaRPr>
          </a:p>
          <a:p>
            <a:pPr indent="-274320" lvl="0" marL="274320" rtl="0" algn="l">
              <a:spcBef>
                <a:spcPts val="600"/>
              </a:spcBef>
              <a:spcAft>
                <a:spcPts val="0"/>
              </a:spcAft>
              <a:buSzPts val="1260"/>
              <a:buNone/>
            </a:pPr>
            <a:r>
              <a:rPr b="1" i="1" lang="en-US" sz="1800">
                <a:latin typeface="Times New Roman"/>
                <a:ea typeface="Times New Roman"/>
                <a:cs typeface="Times New Roman"/>
                <a:sym typeface="Times New Roman"/>
              </a:rPr>
              <a:t>  Thừa kế </a:t>
            </a:r>
            <a:r>
              <a:rPr b="1" lang="en-US" sz="1800">
                <a:latin typeface="Times New Roman"/>
                <a:ea typeface="Times New Roman"/>
                <a:cs typeface="Times New Roman"/>
                <a:sym typeface="Times New Roman"/>
              </a:rPr>
              <a:t>là quan hệ xã hội về việc chuyển giao di sản của người chết cho những người sống</a:t>
            </a:r>
            <a:endParaRPr b="1" sz="1800">
              <a:latin typeface="Times New Roman"/>
              <a:ea typeface="Times New Roman"/>
              <a:cs typeface="Times New Roman"/>
              <a:sym typeface="Times New Roman"/>
            </a:endParaRPr>
          </a:p>
        </p:txBody>
      </p:sp>
      <p:sp>
        <p:nvSpPr>
          <p:cNvPr id="2701" name="Google Shape;2701;p188"/>
          <p:cNvSpPr/>
          <p:nvPr/>
        </p:nvSpPr>
        <p:spPr>
          <a:xfrm>
            <a:off x="2623979" y="1143000"/>
            <a:ext cx="3972241" cy="476669"/>
          </a:xfrm>
          <a:prstGeom prst="roundRect">
            <a:avLst>
              <a:gd fmla="val 16667" name="adj"/>
            </a:avLst>
          </a:prstGeom>
          <a:solidFill>
            <a:schemeClr val="accent2"/>
          </a:solidFill>
          <a:ln cap="flat" cmpd="sng" w="34925">
            <a:solidFill>
              <a:schemeClr val="lt1"/>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lt1"/>
                </a:solidFill>
                <a:latin typeface="Times New Roman"/>
                <a:ea typeface="Times New Roman"/>
                <a:cs typeface="Times New Roman"/>
                <a:sym typeface="Times New Roman"/>
              </a:rPr>
              <a:t>Người để lại di sản thừa kế</a:t>
            </a:r>
            <a:endParaRPr sz="1800">
              <a:solidFill>
                <a:schemeClr val="lt1"/>
              </a:solidFill>
              <a:latin typeface="Times New Roman"/>
              <a:ea typeface="Times New Roman"/>
              <a:cs typeface="Times New Roman"/>
              <a:sym typeface="Times New Roman"/>
            </a:endParaRPr>
          </a:p>
        </p:txBody>
      </p:sp>
      <p:sp>
        <p:nvSpPr>
          <p:cNvPr id="2702" name="Google Shape;2702;p188"/>
          <p:cNvSpPr/>
          <p:nvPr/>
        </p:nvSpPr>
        <p:spPr>
          <a:xfrm>
            <a:off x="2623979" y="1691169"/>
            <a:ext cx="3972241" cy="476669"/>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Là người mà sau khi chết có tài sản để lại cho người khác theo trình tự thừa kế</a:t>
            </a:r>
            <a:endParaRPr b="0" i="0" sz="1800" u="none" cap="none" strike="noStrike">
              <a:solidFill>
                <a:schemeClr val="dk1"/>
              </a:solidFill>
              <a:latin typeface="Times New Roman"/>
              <a:ea typeface="Times New Roman"/>
              <a:cs typeface="Times New Roman"/>
              <a:sym typeface="Times New Roman"/>
            </a:endParaRPr>
          </a:p>
        </p:txBody>
      </p:sp>
      <p:sp>
        <p:nvSpPr>
          <p:cNvPr id="2703" name="Google Shape;2703;p188"/>
          <p:cNvSpPr/>
          <p:nvPr/>
        </p:nvSpPr>
        <p:spPr>
          <a:xfrm>
            <a:off x="2623979" y="2239338"/>
            <a:ext cx="3972241" cy="476669"/>
          </a:xfrm>
          <a:prstGeom prst="roundRect">
            <a:avLst>
              <a:gd fmla="val 16667" name="adj"/>
            </a:avLst>
          </a:prstGeom>
          <a:solidFill>
            <a:schemeClr val="accent3"/>
          </a:solidFill>
          <a:ln cap="flat" cmpd="sng" w="34925">
            <a:solidFill>
              <a:schemeClr val="lt1"/>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lt1"/>
                </a:solidFill>
                <a:latin typeface="Times New Roman"/>
                <a:ea typeface="Times New Roman"/>
                <a:cs typeface="Times New Roman"/>
                <a:sym typeface="Times New Roman"/>
              </a:rPr>
              <a:t>Di sản thừa kế</a:t>
            </a:r>
            <a:endParaRPr sz="1800">
              <a:solidFill>
                <a:schemeClr val="lt1"/>
              </a:solidFill>
              <a:latin typeface="Times New Roman"/>
              <a:ea typeface="Times New Roman"/>
              <a:cs typeface="Times New Roman"/>
              <a:sym typeface="Times New Roman"/>
            </a:endParaRPr>
          </a:p>
        </p:txBody>
      </p:sp>
      <p:sp>
        <p:nvSpPr>
          <p:cNvPr id="2704" name="Google Shape;2704;p188"/>
          <p:cNvSpPr/>
          <p:nvPr/>
        </p:nvSpPr>
        <p:spPr>
          <a:xfrm>
            <a:off x="2623979" y="2787507"/>
            <a:ext cx="3972241" cy="476669"/>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Bao gồm những tài sản riêng và phần tài sản của người chết trong khối tài sản chung đối với người khác trong đó bao gồm cả những quyền về tài sản của người chết</a:t>
            </a:r>
            <a:endParaRPr b="0" i="0" sz="1800" u="none" cap="none" strike="noStrike">
              <a:solidFill>
                <a:schemeClr val="dk1"/>
              </a:solidFill>
              <a:latin typeface="Times New Roman"/>
              <a:ea typeface="Times New Roman"/>
              <a:cs typeface="Times New Roman"/>
              <a:sym typeface="Times New Roman"/>
            </a:endParaRPr>
          </a:p>
        </p:txBody>
      </p:sp>
      <p:sp>
        <p:nvSpPr>
          <p:cNvPr id="2705" name="Google Shape;2705;p188"/>
          <p:cNvSpPr/>
          <p:nvPr/>
        </p:nvSpPr>
        <p:spPr>
          <a:xfrm>
            <a:off x="2623979" y="3335676"/>
            <a:ext cx="3972241" cy="476669"/>
          </a:xfrm>
          <a:prstGeom prst="roundRect">
            <a:avLst>
              <a:gd fmla="val 16667" name="adj"/>
            </a:avLst>
          </a:prstGeom>
          <a:solidFill>
            <a:schemeClr val="accent2"/>
          </a:solidFill>
          <a:ln cap="flat" cmpd="sng" w="34925">
            <a:solidFill>
              <a:schemeClr val="lt1"/>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lt1"/>
                </a:solidFill>
                <a:latin typeface="Times New Roman"/>
                <a:ea typeface="Times New Roman"/>
                <a:cs typeface="Times New Roman"/>
                <a:sym typeface="Times New Roman"/>
              </a:rPr>
              <a:t>Người thừa kế</a:t>
            </a:r>
            <a:endParaRPr sz="1800">
              <a:solidFill>
                <a:schemeClr val="lt1"/>
              </a:solidFill>
              <a:latin typeface="Times New Roman"/>
              <a:ea typeface="Times New Roman"/>
              <a:cs typeface="Times New Roman"/>
              <a:sym typeface="Times New Roman"/>
            </a:endParaRPr>
          </a:p>
        </p:txBody>
      </p:sp>
      <p:sp>
        <p:nvSpPr>
          <p:cNvPr id="2706" name="Google Shape;2706;p188"/>
          <p:cNvSpPr/>
          <p:nvPr/>
        </p:nvSpPr>
        <p:spPr>
          <a:xfrm>
            <a:off x="2623979" y="3883845"/>
            <a:ext cx="3972241" cy="476669"/>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Cá nhân: còn sống vào thời điểm mở thừa kế hoặc sinh ra và còn sống sau thời điểm mở thừa kế nhưng đã thành thai trước khi người để lại di sản thừa kế chết</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Tổ chức: tồn tại vào thời điểm mở thừa kế</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Người thừa kế nhận di sản của người chết thì phải thực hiện những nghĩa vụ của người chết để lại</a:t>
            </a:r>
            <a:endParaRPr b="0" i="0" sz="1800" u="none" cap="none" strike="noStrike">
              <a:solidFill>
                <a:schemeClr val="dk1"/>
              </a:solidFill>
              <a:latin typeface="Times New Roman"/>
              <a:ea typeface="Times New Roman"/>
              <a:cs typeface="Times New Roman"/>
              <a:sym typeface="Times New Roman"/>
            </a:endParaRPr>
          </a:p>
        </p:txBody>
      </p:sp>
      <p:sp>
        <p:nvSpPr>
          <p:cNvPr id="2707" name="Google Shape;2707;p188"/>
          <p:cNvSpPr/>
          <p:nvPr/>
        </p:nvSpPr>
        <p:spPr>
          <a:xfrm>
            <a:off x="2623979" y="4432014"/>
            <a:ext cx="3972241" cy="476669"/>
          </a:xfrm>
          <a:prstGeom prst="roundRect">
            <a:avLst>
              <a:gd fmla="val 16667" name="adj"/>
            </a:avLst>
          </a:prstGeom>
          <a:solidFill>
            <a:schemeClr val="accent3"/>
          </a:solidFill>
          <a:ln cap="flat" cmpd="sng" w="34925">
            <a:solidFill>
              <a:schemeClr val="lt1"/>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lt1"/>
                </a:solidFill>
                <a:latin typeface="Times New Roman"/>
                <a:ea typeface="Times New Roman"/>
                <a:cs typeface="Times New Roman"/>
                <a:sym typeface="Times New Roman"/>
              </a:rPr>
              <a:t>Thời điểm mở thừa kế</a:t>
            </a:r>
            <a:endParaRPr sz="1800">
              <a:solidFill>
                <a:schemeClr val="lt1"/>
              </a:solidFill>
              <a:latin typeface="Times New Roman"/>
              <a:ea typeface="Times New Roman"/>
              <a:cs typeface="Times New Roman"/>
              <a:sym typeface="Times New Roman"/>
            </a:endParaRPr>
          </a:p>
        </p:txBody>
      </p:sp>
      <p:sp>
        <p:nvSpPr>
          <p:cNvPr id="2708" name="Google Shape;2708;p188"/>
          <p:cNvSpPr/>
          <p:nvPr/>
        </p:nvSpPr>
        <p:spPr>
          <a:xfrm>
            <a:off x="2623979" y="4980183"/>
            <a:ext cx="3972241" cy="476669"/>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Thời điểm người có tài sản để lại chết</a:t>
            </a:r>
            <a:endParaRPr b="0" i="0" sz="1800" u="none" cap="none" strike="noStrike">
              <a:solidFill>
                <a:schemeClr val="dk1"/>
              </a:solidFill>
              <a:latin typeface="Times New Roman"/>
              <a:ea typeface="Times New Roman"/>
              <a:cs typeface="Times New Roman"/>
              <a:sym typeface="Times New Roman"/>
            </a:endParaRPr>
          </a:p>
        </p:txBody>
      </p:sp>
      <p:sp>
        <p:nvSpPr>
          <p:cNvPr id="2709" name="Google Shape;2709;p188"/>
          <p:cNvSpPr/>
          <p:nvPr/>
        </p:nvSpPr>
        <p:spPr>
          <a:xfrm>
            <a:off x="2623979" y="5528352"/>
            <a:ext cx="3972241" cy="476669"/>
          </a:xfrm>
          <a:prstGeom prst="roundRect">
            <a:avLst>
              <a:gd fmla="val 16667" name="adj"/>
            </a:avLst>
          </a:prstGeom>
          <a:solidFill>
            <a:schemeClr val="accent2"/>
          </a:solidFill>
          <a:ln cap="flat" cmpd="sng" w="34925">
            <a:solidFill>
              <a:schemeClr val="lt1"/>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lang="en-US" sz="1800">
                <a:solidFill>
                  <a:schemeClr val="lt1"/>
                </a:solidFill>
                <a:latin typeface="Times New Roman"/>
                <a:ea typeface="Times New Roman"/>
                <a:cs typeface="Times New Roman"/>
                <a:sym typeface="Times New Roman"/>
              </a:rPr>
              <a:t>Địa điểm mở thừa kế</a:t>
            </a:r>
            <a:endParaRPr sz="1800">
              <a:solidFill>
                <a:schemeClr val="lt1"/>
              </a:solidFill>
              <a:latin typeface="Times New Roman"/>
              <a:ea typeface="Times New Roman"/>
              <a:cs typeface="Times New Roman"/>
              <a:sym typeface="Times New Roman"/>
            </a:endParaRPr>
          </a:p>
        </p:txBody>
      </p:sp>
      <p:sp>
        <p:nvSpPr>
          <p:cNvPr id="2710" name="Google Shape;2710;p188"/>
          <p:cNvSpPr/>
          <p:nvPr/>
        </p:nvSpPr>
        <p:spPr>
          <a:xfrm>
            <a:off x="2623979" y="6076521"/>
            <a:ext cx="3972241" cy="476669"/>
          </a:xfrm>
          <a:prstGeom prst="rect">
            <a:avLst/>
          </a:prstGeom>
          <a:noFill/>
          <a:ln>
            <a:noFill/>
          </a:ln>
        </p:spPr>
        <p:txBody>
          <a:bodyPr anchorCtr="0" anchor="t"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 Nơi cư trú cuối cùng của người để lại di sản</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36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 Hoặc nơi có toàn bộ hoặc phần lớn di sản thừa kế nếu ko xác định được nơi cư trú cuối cùng</a:t>
            </a:r>
            <a:endParaRPr b="0" i="0" sz="1800" u="none" cap="none" strike="noStrike">
              <a:solidFill>
                <a:schemeClr val="dk1"/>
              </a:solidFill>
              <a:latin typeface="Times New Roman"/>
              <a:ea typeface="Times New Roman"/>
              <a:cs typeface="Times New Roman"/>
              <a:sym typeface="Times New Roman"/>
            </a:endParaRPr>
          </a:p>
        </p:txBody>
      </p:sp>
      <p:sp>
        <p:nvSpPr>
          <p:cNvPr id="2711" name="Google Shape;2711;p188"/>
          <p:cNvSpPr txBox="1"/>
          <p:nvPr>
            <p:ph idx="11" type="ftr"/>
          </p:nvPr>
        </p:nvSpPr>
        <p:spPr>
          <a:xfrm rot="5400000">
            <a:off x="7191560" y="37202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12" name="Google Shape;2712;p18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99"/>
                                        </p:tgtEl>
                                        <p:attrNameLst>
                                          <p:attrName>style.visibility</p:attrName>
                                        </p:attrNameLst>
                                      </p:cBhvr>
                                      <p:to>
                                        <p:strVal val="visible"/>
                                      </p:to>
                                    </p:set>
                                    <p:anim calcmode="lin" valueType="num">
                                      <p:cBhvr additive="base">
                                        <p:cTn dur="500"/>
                                        <p:tgtEl>
                                          <p:spTgt spid="269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6" name="Shape 2716"/>
        <p:cNvGrpSpPr/>
        <p:nvPr/>
      </p:nvGrpSpPr>
      <p:grpSpPr>
        <a:xfrm>
          <a:off x="0" y="0"/>
          <a:ext cx="0" cy="0"/>
          <a:chOff x="0" y="0"/>
          <a:chExt cx="0" cy="0"/>
        </a:xfrm>
      </p:grpSpPr>
      <p:sp>
        <p:nvSpPr>
          <p:cNvPr id="2717" name="Google Shape;2717;p189"/>
          <p:cNvSpPr txBox="1"/>
          <p:nvPr>
            <p:ph type="title"/>
          </p:nvPr>
        </p:nvSpPr>
        <p:spPr>
          <a:xfrm>
            <a:off x="457200" y="0"/>
            <a:ext cx="8229600" cy="685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1"/>
              </a:buClr>
              <a:buSzPts val="3200"/>
              <a:buFont typeface="Times New Roman"/>
              <a:buNone/>
            </a:pPr>
            <a:r>
              <a:rPr lang="en-US" sz="3200">
                <a:solidFill>
                  <a:schemeClr val="dk1"/>
                </a:solidFill>
                <a:latin typeface="Times New Roman"/>
                <a:ea typeface="Times New Roman"/>
                <a:cs typeface="Times New Roman"/>
                <a:sym typeface="Times New Roman"/>
              </a:rPr>
              <a:t>Chế định Thừa kế (tiếp)</a:t>
            </a:r>
            <a:endParaRPr sz="3200">
              <a:solidFill>
                <a:schemeClr val="dk1"/>
              </a:solidFill>
              <a:latin typeface="Times New Roman"/>
              <a:ea typeface="Times New Roman"/>
              <a:cs typeface="Times New Roman"/>
              <a:sym typeface="Times New Roman"/>
            </a:endParaRPr>
          </a:p>
        </p:txBody>
      </p:sp>
      <p:sp>
        <p:nvSpPr>
          <p:cNvPr id="2718" name="Google Shape;2718;p189"/>
          <p:cNvSpPr/>
          <p:nvPr/>
        </p:nvSpPr>
        <p:spPr>
          <a:xfrm>
            <a:off x="457200" y="990600"/>
            <a:ext cx="8686800" cy="5638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600"/>
              <a:buFont typeface="Arial"/>
              <a:buChar char="•"/>
            </a:pPr>
            <a:r>
              <a:rPr b="1" i="0" lang="en-US" sz="1600" u="sng" cap="none" strike="noStrike">
                <a:solidFill>
                  <a:schemeClr val="dk1"/>
                </a:solidFill>
                <a:latin typeface="Arial"/>
                <a:ea typeface="Arial"/>
                <a:cs typeface="Arial"/>
                <a:sym typeface="Arial"/>
              </a:rPr>
              <a:t>Thừa kế theo di chúc</a:t>
            </a:r>
            <a:r>
              <a:rPr b="0" i="0" lang="en-US"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114300" lvl="2" marL="2286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là việc chuyển di sản của người chết cho người sống bằng chính sự định đoạt của người có di sản theo di chúc được lập ra khi họ còn sống.</a:t>
            </a:r>
            <a:endParaRPr b="0" i="0" sz="1600" u="none" cap="none" strike="noStrike">
              <a:solidFill>
                <a:schemeClr val="dk1"/>
              </a:solidFill>
              <a:latin typeface="Arial"/>
              <a:ea typeface="Arial"/>
              <a:cs typeface="Arial"/>
              <a:sym typeface="Arial"/>
            </a:endParaRPr>
          </a:p>
          <a:p>
            <a:pPr indent="-114300" lvl="2" marL="228600" marR="0" rtl="0" algn="l">
              <a:lnSpc>
                <a:spcPct val="75000"/>
              </a:lnSpc>
              <a:spcBef>
                <a:spcPts val="160"/>
              </a:spcBef>
              <a:spcAft>
                <a:spcPts val="0"/>
              </a:spcAft>
              <a:buClr>
                <a:schemeClr val="dk1"/>
              </a:buClr>
              <a:buSzPts val="1600"/>
              <a:buFont typeface="Arial"/>
              <a:buChar char="•"/>
            </a:pPr>
            <a:r>
              <a:rPr b="1" i="0" lang="en-US" sz="1600" u="sng" cap="none" strike="noStrike">
                <a:solidFill>
                  <a:schemeClr val="dk1"/>
                </a:solidFill>
                <a:latin typeface="Arial"/>
                <a:ea typeface="Arial"/>
                <a:cs typeface="Arial"/>
                <a:sym typeface="Arial"/>
              </a:rPr>
              <a:t>Di chúc</a:t>
            </a:r>
            <a:r>
              <a:rPr b="0" i="0" lang="en-US" sz="1600" u="none" cap="none" strike="noStrike">
                <a:solidFill>
                  <a:schemeClr val="dk1"/>
                </a:solidFill>
                <a:latin typeface="Arial"/>
                <a:ea typeface="Arial"/>
                <a:cs typeface="Arial"/>
                <a:sym typeface="Arial"/>
              </a:rPr>
              <a:t> là sự thể hiện ý chí của cá nhân nhằm chuyển tài sản của mình cho người khác sau khi chết</a:t>
            </a:r>
            <a:endParaRPr b="0" i="0" sz="1600" u="none" cap="none" strike="noStrike">
              <a:solidFill>
                <a:schemeClr val="dk1"/>
              </a:solidFill>
              <a:latin typeface="Arial"/>
              <a:ea typeface="Arial"/>
              <a:cs typeface="Arial"/>
              <a:sym typeface="Arial"/>
            </a:endParaRPr>
          </a:p>
          <a:p>
            <a:pPr indent="-114300" lvl="2" marL="2286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Di chúc hợp pháp phải đảm bảo các điều kiện về:</a:t>
            </a:r>
            <a:endParaRPr b="0" i="0" sz="1600" u="none" cap="none" strike="noStrike">
              <a:solidFill>
                <a:schemeClr val="dk1"/>
              </a:solidFill>
              <a:latin typeface="Arial"/>
              <a:ea typeface="Arial"/>
              <a:cs typeface="Arial"/>
              <a:sym typeface="Arial"/>
            </a:endParaRPr>
          </a:p>
          <a:p>
            <a:pPr indent="-114300" lvl="3" marL="3429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Người lập di chúc</a:t>
            </a:r>
            <a:endParaRPr b="0" i="0" sz="1600" u="none" cap="none" strike="noStrike">
              <a:solidFill>
                <a:schemeClr val="dk1"/>
              </a:solidFill>
              <a:latin typeface="Arial"/>
              <a:ea typeface="Arial"/>
              <a:cs typeface="Arial"/>
              <a:sym typeface="Arial"/>
            </a:endParaRPr>
          </a:p>
          <a:p>
            <a:pPr indent="-114300" lvl="3" marL="3429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Nội dung di chúc</a:t>
            </a:r>
            <a:endParaRPr b="0" i="0" sz="1600" u="none" cap="none" strike="noStrike">
              <a:solidFill>
                <a:schemeClr val="dk1"/>
              </a:solidFill>
              <a:latin typeface="Arial"/>
              <a:ea typeface="Arial"/>
              <a:cs typeface="Arial"/>
              <a:sym typeface="Arial"/>
            </a:endParaRPr>
          </a:p>
          <a:p>
            <a:pPr indent="-114300" lvl="3" marL="342900" marR="0" rtl="0" algn="l">
              <a:lnSpc>
                <a:spcPct val="75000"/>
              </a:lnSpc>
              <a:spcBef>
                <a:spcPts val="16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Hình thức di chúc</a:t>
            </a:r>
            <a:endParaRPr b="0" i="0" sz="1600" u="none" cap="none" strike="noStrike">
              <a:solidFill>
                <a:schemeClr val="dk1"/>
              </a:solidFill>
              <a:latin typeface="Arial"/>
              <a:ea typeface="Arial"/>
              <a:cs typeface="Arial"/>
              <a:sym typeface="Arial"/>
            </a:endParaRPr>
          </a:p>
          <a:p>
            <a:pPr indent="0" lvl="1" marL="114300" marR="0" rtl="0" algn="l">
              <a:lnSpc>
                <a:spcPct val="75000"/>
              </a:lnSpc>
              <a:spcBef>
                <a:spcPts val="16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600"/>
              <a:buFont typeface="Arial"/>
              <a:buChar char="•"/>
            </a:pPr>
            <a:r>
              <a:rPr b="1" i="0" lang="en-US" sz="1600" u="sng" cap="none" strike="noStrike">
                <a:solidFill>
                  <a:schemeClr val="dk1"/>
                </a:solidFill>
                <a:latin typeface="Arial"/>
                <a:ea typeface="Arial"/>
                <a:cs typeface="Arial"/>
                <a:sym typeface="Arial"/>
              </a:rPr>
              <a:t>Thừa kế theo pháp luật</a:t>
            </a:r>
            <a:r>
              <a:rPr b="0" i="0" lang="en-US"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114300" lvl="2" marL="228600" marR="0" rtl="0" algn="l">
              <a:lnSpc>
                <a:spcPct val="75000"/>
              </a:lnSpc>
              <a:spcBef>
                <a:spcPts val="16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là thừa kế theo hàng thừa kế, điều kiện và trình tự thừa kế do pháp luật quy định.</a:t>
            </a:r>
            <a:endParaRPr b="0" i="0" sz="1500" u="none" cap="none" strike="noStrike">
              <a:solidFill>
                <a:schemeClr val="dk1"/>
              </a:solidFill>
              <a:latin typeface="Arial"/>
              <a:ea typeface="Arial"/>
              <a:cs typeface="Arial"/>
              <a:sym typeface="Arial"/>
            </a:endParaRPr>
          </a:p>
          <a:p>
            <a:pPr indent="-114300" lvl="2" marL="228600" marR="0" rtl="0" algn="l">
              <a:lnSpc>
                <a:spcPct val="75000"/>
              </a:lnSpc>
              <a:spcBef>
                <a:spcPts val="15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Áp dụng trong trường hợp:</a:t>
            </a:r>
            <a:endParaRPr b="0" i="0" sz="1500" u="none" cap="none" strike="noStrike">
              <a:solidFill>
                <a:schemeClr val="dk1"/>
              </a:solidFill>
              <a:latin typeface="Arial"/>
              <a:ea typeface="Arial"/>
              <a:cs typeface="Arial"/>
              <a:sym typeface="Arial"/>
            </a:endParaRPr>
          </a:p>
          <a:p>
            <a:pPr indent="-114300" lvl="3" marL="342900" marR="0" rtl="0" algn="l">
              <a:lnSpc>
                <a:spcPct val="75000"/>
              </a:lnSpc>
              <a:spcBef>
                <a:spcPts val="15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Ko có di chúc hoặc di chúc ko có hiệu lực</a:t>
            </a:r>
            <a:endParaRPr b="0" i="0" sz="1500" u="none" cap="none" strike="noStrike">
              <a:solidFill>
                <a:schemeClr val="dk1"/>
              </a:solidFill>
              <a:latin typeface="Arial"/>
              <a:ea typeface="Arial"/>
              <a:cs typeface="Arial"/>
              <a:sym typeface="Arial"/>
            </a:endParaRPr>
          </a:p>
          <a:p>
            <a:pPr indent="-114300" lvl="3" marL="342900" marR="0" rtl="0" algn="l">
              <a:lnSpc>
                <a:spcPct val="75000"/>
              </a:lnSpc>
              <a:spcBef>
                <a:spcPts val="15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Người được chỉ định hưởng thừa kế trong di chúc chết trước, bị tước quyền thừa kế hoặc khước từ hưởng thừa kế </a:t>
            </a:r>
            <a:endParaRPr b="0" i="0" sz="1500" u="none" cap="none" strike="noStrike">
              <a:solidFill>
                <a:schemeClr val="dk1"/>
              </a:solidFill>
              <a:latin typeface="Arial"/>
              <a:ea typeface="Arial"/>
              <a:cs typeface="Arial"/>
              <a:sym typeface="Arial"/>
            </a:endParaRPr>
          </a:p>
          <a:p>
            <a:pPr indent="-114300" lvl="2" marL="228600" marR="0" rtl="0" algn="l">
              <a:lnSpc>
                <a:spcPct val="75000"/>
              </a:lnSpc>
              <a:spcBef>
                <a:spcPts val="150"/>
              </a:spcBef>
              <a:spcAft>
                <a:spcPts val="0"/>
              </a:spcAft>
              <a:buClr>
                <a:schemeClr val="dk1"/>
              </a:buClr>
              <a:buSzPts val="1500"/>
              <a:buFont typeface="Arial"/>
              <a:buChar char="•"/>
            </a:pPr>
            <a:r>
              <a:rPr b="1" i="0" lang="en-US" sz="1500" u="sng" cap="none" strike="noStrike">
                <a:solidFill>
                  <a:schemeClr val="dk1"/>
                </a:solidFill>
                <a:latin typeface="Arial"/>
                <a:ea typeface="Arial"/>
                <a:cs typeface="Arial"/>
                <a:sym typeface="Arial"/>
              </a:rPr>
              <a:t>Diện thừa kế</a:t>
            </a:r>
            <a:r>
              <a:rPr b="0" i="0" lang="en-US" sz="1500" u="none" cap="none" strike="noStrike">
                <a:solidFill>
                  <a:schemeClr val="dk1"/>
                </a:solidFill>
                <a:latin typeface="Arial"/>
                <a:ea typeface="Arial"/>
                <a:cs typeface="Arial"/>
                <a:sym typeface="Arial"/>
              </a:rPr>
              <a:t> là phạm vi những người có quyền hưởng thừa kế xác định theo quan hệ hôn nhân, quan hệ huyết thống và quan hệ nuôi dưỡng giữa người thừa kế với người để lại thừa kế.</a:t>
            </a:r>
            <a:endParaRPr b="0" i="0" sz="1500" u="none" cap="none" strike="noStrike">
              <a:solidFill>
                <a:schemeClr val="dk1"/>
              </a:solidFill>
              <a:latin typeface="Arial"/>
              <a:ea typeface="Arial"/>
              <a:cs typeface="Arial"/>
              <a:sym typeface="Arial"/>
            </a:endParaRPr>
          </a:p>
          <a:p>
            <a:pPr indent="-114300" lvl="2" marL="228600" marR="0" rtl="0" algn="l">
              <a:lnSpc>
                <a:spcPct val="75000"/>
              </a:lnSpc>
              <a:spcBef>
                <a:spcPts val="150"/>
              </a:spcBef>
              <a:spcAft>
                <a:spcPts val="0"/>
              </a:spcAft>
              <a:buClr>
                <a:schemeClr val="dk1"/>
              </a:buClr>
              <a:buSzPts val="1500"/>
              <a:buFont typeface="Arial"/>
              <a:buChar char="•"/>
            </a:pPr>
            <a:r>
              <a:rPr b="1" i="0" lang="en-US" sz="1500" u="sng" cap="none" strike="noStrike">
                <a:solidFill>
                  <a:schemeClr val="dk1"/>
                </a:solidFill>
                <a:latin typeface="Arial"/>
                <a:ea typeface="Arial"/>
                <a:cs typeface="Arial"/>
                <a:sym typeface="Arial"/>
              </a:rPr>
              <a:t>Hàng thừa kế</a:t>
            </a:r>
            <a:r>
              <a:rPr b="0" i="0" lang="en-US" sz="1500" u="none" cap="none" strike="noStrike">
                <a:solidFill>
                  <a:schemeClr val="dk1"/>
                </a:solidFill>
                <a:latin typeface="Arial"/>
                <a:ea typeface="Arial"/>
                <a:cs typeface="Arial"/>
                <a:sym typeface="Arial"/>
              </a:rPr>
              <a:t> thể hiện thứ tự được hưởng di sản của những người thừa kế được pháp luật quy định thành 3 hàng.</a:t>
            </a:r>
            <a:endParaRPr b="0" i="0" sz="1500" u="none" cap="none" strike="noStrike">
              <a:solidFill>
                <a:schemeClr val="dk1"/>
              </a:solidFill>
              <a:latin typeface="Arial"/>
              <a:ea typeface="Arial"/>
              <a:cs typeface="Arial"/>
              <a:sym typeface="Arial"/>
            </a:endParaRPr>
          </a:p>
          <a:p>
            <a:pPr indent="-114300" lvl="3" marL="342900" marR="0" rtl="0" algn="l">
              <a:lnSpc>
                <a:spcPct val="75000"/>
              </a:lnSpc>
              <a:spcBef>
                <a:spcPts val="15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Hàng thứ nhất: vợ, chồng, bố mẹ đẻ, bố mẹ nuôi, con đẻ, con nuôi</a:t>
            </a:r>
            <a:endParaRPr b="0" i="0" sz="1500" u="none" cap="none" strike="noStrike">
              <a:solidFill>
                <a:schemeClr val="dk1"/>
              </a:solidFill>
              <a:latin typeface="Arial"/>
              <a:ea typeface="Arial"/>
              <a:cs typeface="Arial"/>
              <a:sym typeface="Arial"/>
            </a:endParaRPr>
          </a:p>
          <a:p>
            <a:pPr indent="-114300" lvl="3" marL="342900" marR="0" rtl="0" algn="l">
              <a:lnSpc>
                <a:spcPct val="75000"/>
              </a:lnSpc>
              <a:spcBef>
                <a:spcPts val="15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Hàng thứ 2: Ông bà nội ngoại, anh chị em ruột, cháu ruột nếu người chết là ông bà nội ngoại</a:t>
            </a:r>
            <a:endParaRPr b="0" i="0" sz="1500" u="none" cap="none" strike="noStrike">
              <a:solidFill>
                <a:schemeClr val="dk1"/>
              </a:solidFill>
              <a:latin typeface="Arial"/>
              <a:ea typeface="Arial"/>
              <a:cs typeface="Arial"/>
              <a:sym typeface="Arial"/>
            </a:endParaRPr>
          </a:p>
          <a:p>
            <a:pPr indent="-114300" lvl="3" marL="342900" marR="0" rtl="0" algn="l">
              <a:lnSpc>
                <a:spcPct val="75000"/>
              </a:lnSpc>
              <a:spcBef>
                <a:spcPts val="150"/>
              </a:spcBef>
              <a:spcAft>
                <a:spcPts val="0"/>
              </a:spcAft>
              <a:buClr>
                <a:schemeClr val="dk1"/>
              </a:buClr>
              <a:buSzPts val="1500"/>
              <a:buFont typeface="Arial"/>
              <a:buChar char="•"/>
            </a:pPr>
            <a:r>
              <a:rPr b="0" i="0" lang="en-US" sz="1500" u="none" cap="none" strike="noStrike">
                <a:solidFill>
                  <a:schemeClr val="dk1"/>
                </a:solidFill>
                <a:latin typeface="Arial"/>
                <a:ea typeface="Arial"/>
                <a:cs typeface="Arial"/>
                <a:sym typeface="Arial"/>
              </a:rPr>
              <a:t>Hàng thứ 3: cụ nội ngoại, bác, chú, cô dì, cậu, cháu ruột, chắt ruột</a:t>
            </a:r>
            <a:endParaRPr b="0" i="0" sz="1500" u="none" cap="none" strike="noStrike">
              <a:solidFill>
                <a:schemeClr val="dk1"/>
              </a:solidFill>
              <a:latin typeface="Arial"/>
              <a:ea typeface="Arial"/>
              <a:cs typeface="Arial"/>
              <a:sym typeface="Arial"/>
            </a:endParaRPr>
          </a:p>
          <a:p>
            <a:pPr indent="-19050" lvl="2" marL="228600" marR="0" rtl="0" algn="l">
              <a:lnSpc>
                <a:spcPct val="75000"/>
              </a:lnSpc>
              <a:spcBef>
                <a:spcPts val="150"/>
              </a:spcBef>
              <a:spcAft>
                <a:spcPts val="0"/>
              </a:spcAft>
              <a:buClr>
                <a:schemeClr val="dk1"/>
              </a:buClr>
              <a:buSzPts val="1500"/>
              <a:buFont typeface="Arial"/>
              <a:buNone/>
            </a:pPr>
            <a:r>
              <a:t/>
            </a:r>
            <a:endParaRPr b="0" i="0" sz="1500" u="none" cap="none" strike="noStrike">
              <a:solidFill>
                <a:schemeClr val="dk1"/>
              </a:solidFill>
              <a:latin typeface="Arial"/>
              <a:ea typeface="Arial"/>
              <a:cs typeface="Arial"/>
              <a:sym typeface="Arial"/>
            </a:endParaRPr>
          </a:p>
        </p:txBody>
      </p:sp>
      <p:sp>
        <p:nvSpPr>
          <p:cNvPr id="2719" name="Google Shape;2719;p189"/>
          <p:cNvSpPr txBox="1"/>
          <p:nvPr>
            <p:ph idx="11" type="ftr"/>
          </p:nvPr>
        </p:nvSpPr>
        <p:spPr>
          <a:xfrm>
            <a:off x="5681080" y="0"/>
            <a:ext cx="34629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20" name="Google Shape;2720;p18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17"/>
                                        </p:tgtEl>
                                        <p:attrNameLst>
                                          <p:attrName>style.visibility</p:attrName>
                                        </p:attrNameLst>
                                      </p:cBhvr>
                                      <p:to>
                                        <p:strVal val="visible"/>
                                      </p:to>
                                    </p:set>
                                    <p:anim calcmode="lin" valueType="num">
                                      <p:cBhvr additive="base">
                                        <p:cTn dur="500"/>
                                        <p:tgtEl>
                                          <p:spTgt spid="27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4" name="Shape 2724"/>
        <p:cNvGrpSpPr/>
        <p:nvPr/>
      </p:nvGrpSpPr>
      <p:grpSpPr>
        <a:xfrm>
          <a:off x="0" y="0"/>
          <a:ext cx="0" cy="0"/>
          <a:chOff x="0" y="0"/>
          <a:chExt cx="0" cy="0"/>
        </a:xfrm>
      </p:grpSpPr>
      <p:sp>
        <p:nvSpPr>
          <p:cNvPr id="2725" name="Google Shape;2725;p190"/>
          <p:cNvSpPr txBox="1"/>
          <p:nvPr>
            <p:ph type="title"/>
          </p:nvPr>
        </p:nvSpPr>
        <p:spPr>
          <a:xfrm>
            <a:off x="533400" y="0"/>
            <a:ext cx="8229600" cy="685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2400"/>
              <a:buFont typeface="Times New Roman"/>
              <a:buNone/>
            </a:pPr>
            <a:r>
              <a:rPr lang="en-US" sz="2400">
                <a:latin typeface="Times New Roman"/>
                <a:ea typeface="Times New Roman"/>
                <a:cs typeface="Times New Roman"/>
                <a:sym typeface="Times New Roman"/>
              </a:rPr>
              <a:t>Chế định thừa kế (tiếp) - Một số lưu ý</a:t>
            </a:r>
            <a:endParaRPr sz="2400">
              <a:latin typeface="Times New Roman"/>
              <a:ea typeface="Times New Roman"/>
              <a:cs typeface="Times New Roman"/>
              <a:sym typeface="Times New Roman"/>
            </a:endParaRPr>
          </a:p>
        </p:txBody>
      </p:sp>
      <p:sp>
        <p:nvSpPr>
          <p:cNvPr id="2726" name="Google Shape;2726;p190"/>
          <p:cNvSpPr/>
          <p:nvPr/>
        </p:nvSpPr>
        <p:spPr>
          <a:xfrm>
            <a:off x="0" y="762000"/>
            <a:ext cx="3358676" cy="1847272"/>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Times New Roman"/>
                <a:ea typeface="Times New Roman"/>
                <a:cs typeface="Times New Roman"/>
                <a:sym typeface="Times New Roman"/>
              </a:rPr>
              <a:t>Nguyên tắc chia di sản (thừa kế theo pháp luật)</a:t>
            </a:r>
            <a:endParaRPr sz="1800">
              <a:solidFill>
                <a:schemeClr val="dk1"/>
              </a:solidFill>
              <a:latin typeface="Times New Roman"/>
              <a:ea typeface="Times New Roman"/>
              <a:cs typeface="Times New Roman"/>
              <a:sym typeface="Times New Roman"/>
            </a:endParaRPr>
          </a:p>
        </p:txBody>
      </p:sp>
      <p:sp>
        <p:nvSpPr>
          <p:cNvPr id="2727" name="Google Shape;2727;p190"/>
          <p:cNvSpPr/>
          <p:nvPr/>
        </p:nvSpPr>
        <p:spPr>
          <a:xfrm rot="5400000">
            <a:off x="4114378" y="6298"/>
            <a:ext cx="1847272" cy="3358676"/>
          </a:xfrm>
          <a:prstGeom prst="round2SameRect">
            <a:avLst>
              <a:gd fmla="val 16667" name="adj1"/>
              <a:gd fmla="val 0" name="adj2"/>
            </a:avLst>
          </a:prstGeom>
          <a:solidFill>
            <a:srgbClr val="FBEDCC">
              <a:alpha val="89803"/>
            </a:srgbClr>
          </a:solidFill>
          <a:ln cap="flat" cmpd="sng" w="25400">
            <a:solidFill>
              <a:srgbClr val="FBEDCC">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190"/>
          <p:cNvSpPr txBox="1"/>
          <p:nvPr/>
        </p:nvSpPr>
        <p:spPr>
          <a:xfrm>
            <a:off x="3358673" y="852153"/>
            <a:ext cx="3268499" cy="1666919"/>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Những người thừa kế cùng hàng được hưởng phần di sản bằng nhau</a:t>
            </a:r>
            <a:endParaRPr b="0" i="0" sz="1800" u="none" cap="none" strike="noStrike">
              <a:solidFill>
                <a:schemeClr val="dk1"/>
              </a:solidFill>
              <a:latin typeface="Times New Roman"/>
              <a:ea typeface="Times New Roman"/>
              <a:cs typeface="Times New Roman"/>
              <a:sym typeface="Times New Roman"/>
            </a:endParaRPr>
          </a:p>
          <a:p>
            <a:pPr indent="-114300" lvl="1" marL="114300" marR="0" rtl="0" algn="l">
              <a:lnSpc>
                <a:spcPct val="75000"/>
              </a:lnSpc>
              <a:spcBef>
                <a:spcPts val="18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Những người ở hàng thừa kế sau chỉ được hưởng thừa kế nếu ko còn ai ở hàng thừa kế trước, ko có quyền hưởng di sản. bị truất quyền hưởng di sản hoặc từ chối nhận di sản</a:t>
            </a:r>
            <a:endParaRPr b="0" i="0" sz="1800" u="none" cap="none" strike="noStrike">
              <a:solidFill>
                <a:schemeClr val="dk1"/>
              </a:solidFill>
              <a:latin typeface="Times New Roman"/>
              <a:ea typeface="Times New Roman"/>
              <a:cs typeface="Times New Roman"/>
              <a:sym typeface="Times New Roman"/>
            </a:endParaRPr>
          </a:p>
        </p:txBody>
      </p:sp>
      <p:sp>
        <p:nvSpPr>
          <p:cNvPr id="2729" name="Google Shape;2729;p190"/>
          <p:cNvSpPr/>
          <p:nvPr/>
        </p:nvSpPr>
        <p:spPr>
          <a:xfrm>
            <a:off x="0" y="2886362"/>
            <a:ext cx="3358676" cy="1847272"/>
          </a:xfrm>
          <a:prstGeom prst="roundRect">
            <a:avLst>
              <a:gd fmla="val 16667" name="adj"/>
            </a:avLst>
          </a:prstGeom>
          <a:solidFill>
            <a:schemeClr val="accent5"/>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Times New Roman"/>
                <a:ea typeface="Times New Roman"/>
                <a:cs typeface="Times New Roman"/>
                <a:sym typeface="Times New Roman"/>
              </a:rPr>
              <a:t>Thừa kế thế vị</a:t>
            </a:r>
            <a:endParaRPr sz="1800">
              <a:solidFill>
                <a:schemeClr val="dk1"/>
              </a:solidFill>
              <a:latin typeface="Times New Roman"/>
              <a:ea typeface="Times New Roman"/>
              <a:cs typeface="Times New Roman"/>
              <a:sym typeface="Times New Roman"/>
            </a:endParaRPr>
          </a:p>
        </p:txBody>
      </p:sp>
      <p:sp>
        <p:nvSpPr>
          <p:cNvPr id="2730" name="Google Shape;2730;p190"/>
          <p:cNvSpPr/>
          <p:nvPr/>
        </p:nvSpPr>
        <p:spPr>
          <a:xfrm rot="5400000">
            <a:off x="4114378" y="2130660"/>
            <a:ext cx="1847272" cy="3358676"/>
          </a:xfrm>
          <a:prstGeom prst="round2SameRect">
            <a:avLst>
              <a:gd fmla="val 16667" name="adj1"/>
              <a:gd fmla="val 0" name="adj2"/>
            </a:avLst>
          </a:prstGeom>
          <a:solidFill>
            <a:srgbClr val="E3E6EF">
              <a:alpha val="89803"/>
            </a:srgbClr>
          </a:solidFill>
          <a:ln cap="flat" cmpd="sng" w="25400">
            <a:solidFill>
              <a:srgbClr val="E3E6E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190"/>
          <p:cNvSpPr txBox="1"/>
          <p:nvPr/>
        </p:nvSpPr>
        <p:spPr>
          <a:xfrm>
            <a:off x="3358673" y="2976528"/>
            <a:ext cx="3268499" cy="1666919"/>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Được áp dụng trong trường hợp con của người để lại di sản chết trước người để lại di sản thì cháu được hưởng pần di sản mà cha hoặc mẹ của cháu được hưởng nếu còn sống</a:t>
            </a:r>
            <a:endParaRPr b="0" i="0" sz="1800" u="none" cap="none" strike="noStrike">
              <a:solidFill>
                <a:schemeClr val="dk1"/>
              </a:solidFill>
              <a:latin typeface="Times New Roman"/>
              <a:ea typeface="Times New Roman"/>
              <a:cs typeface="Times New Roman"/>
              <a:sym typeface="Times New Roman"/>
            </a:endParaRPr>
          </a:p>
        </p:txBody>
      </p:sp>
      <p:sp>
        <p:nvSpPr>
          <p:cNvPr id="2732" name="Google Shape;2732;p190"/>
          <p:cNvSpPr/>
          <p:nvPr/>
        </p:nvSpPr>
        <p:spPr>
          <a:xfrm>
            <a:off x="0" y="5010724"/>
            <a:ext cx="3358676" cy="1847272"/>
          </a:xfrm>
          <a:prstGeom prst="roundRect">
            <a:avLst>
              <a:gd fmla="val 16667" name="adj"/>
            </a:avLst>
          </a:prstGeom>
          <a:solidFill>
            <a:schemeClr val="accent4"/>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None/>
            </a:pPr>
            <a:r>
              <a:rPr lang="en-US" sz="1800">
                <a:solidFill>
                  <a:schemeClr val="dk1"/>
                </a:solidFill>
                <a:latin typeface="Times New Roman"/>
                <a:ea typeface="Times New Roman"/>
                <a:cs typeface="Times New Roman"/>
                <a:sym typeface="Times New Roman"/>
              </a:rPr>
              <a:t>Thừa kế ko phụ thuộc di chúc</a:t>
            </a:r>
            <a:endParaRPr sz="1800">
              <a:solidFill>
                <a:schemeClr val="dk1"/>
              </a:solidFill>
              <a:latin typeface="Times New Roman"/>
              <a:ea typeface="Times New Roman"/>
              <a:cs typeface="Times New Roman"/>
              <a:sym typeface="Times New Roman"/>
            </a:endParaRPr>
          </a:p>
        </p:txBody>
      </p:sp>
      <p:sp>
        <p:nvSpPr>
          <p:cNvPr id="2733" name="Google Shape;2733;p190"/>
          <p:cNvSpPr/>
          <p:nvPr/>
        </p:nvSpPr>
        <p:spPr>
          <a:xfrm rot="5400000">
            <a:off x="4114378" y="4255022"/>
            <a:ext cx="1847272" cy="3358676"/>
          </a:xfrm>
          <a:prstGeom prst="round2SameRect">
            <a:avLst>
              <a:gd fmla="val 16667" name="adj1"/>
              <a:gd fmla="val 0" name="adj2"/>
            </a:avLst>
          </a:prstGeom>
          <a:solidFill>
            <a:srgbClr val="FBEDCC">
              <a:alpha val="89803"/>
            </a:srgbClr>
          </a:solidFill>
          <a:ln cap="flat" cmpd="sng" w="25400">
            <a:solidFill>
              <a:srgbClr val="FBEDCC">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190"/>
          <p:cNvSpPr txBox="1"/>
          <p:nvPr/>
        </p:nvSpPr>
        <p:spPr>
          <a:xfrm>
            <a:off x="3358673" y="5100879"/>
            <a:ext cx="3268499" cy="1666919"/>
          </a:xfrm>
          <a:prstGeom prst="rect">
            <a:avLst/>
          </a:prstGeom>
          <a:noFill/>
          <a:ln>
            <a:noFill/>
          </a:ln>
        </p:spPr>
        <p:txBody>
          <a:bodyPr anchorCtr="0"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Con chưa thành niên, cha, mẹ, vợ, chồng hoặc con đã thành niên nhưng ko có khả năng lao động của người lập di chúc được hưởng phần di sản bằng 2/3 suất của 1 người thừa kế theo pháp luật nếu di sản được chia theo pháp luật trong trường hợp ho ko được người lập di chúc cho hưởng di sản hoặc chỉ được hưởng phần di sản ít hơn 2/3 suất đó.</a:t>
            </a:r>
            <a:endParaRPr b="0" i="0" sz="1800" u="none" cap="none" strike="noStrike">
              <a:solidFill>
                <a:schemeClr val="dk1"/>
              </a:solidFill>
              <a:latin typeface="Times New Roman"/>
              <a:ea typeface="Times New Roman"/>
              <a:cs typeface="Times New Roman"/>
              <a:sym typeface="Times New Roman"/>
            </a:endParaRPr>
          </a:p>
        </p:txBody>
      </p:sp>
      <p:sp>
        <p:nvSpPr>
          <p:cNvPr id="2735" name="Google Shape;2735;p190"/>
          <p:cNvSpPr txBox="1"/>
          <p:nvPr>
            <p:ph idx="11" type="ftr"/>
          </p:nvPr>
        </p:nvSpPr>
        <p:spPr>
          <a:xfrm>
            <a:off x="5604880" y="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36" name="Google Shape;2736;p19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5"/>
                                        </p:tgtEl>
                                        <p:attrNameLst>
                                          <p:attrName>style.visibility</p:attrName>
                                        </p:attrNameLst>
                                      </p:cBhvr>
                                      <p:to>
                                        <p:strVal val="visible"/>
                                      </p:to>
                                    </p:set>
                                    <p:animEffect filter="fade" transition="in">
                                      <p:cBhvr>
                                        <p:cTn dur="500"/>
                                        <p:tgtEl>
                                          <p:spTgt spid="27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0" name="Shape 2740"/>
        <p:cNvGrpSpPr/>
        <p:nvPr/>
      </p:nvGrpSpPr>
      <p:grpSpPr>
        <a:xfrm>
          <a:off x="0" y="0"/>
          <a:ext cx="0" cy="0"/>
          <a:chOff x="0" y="0"/>
          <a:chExt cx="0" cy="0"/>
        </a:xfrm>
      </p:grpSpPr>
      <p:sp>
        <p:nvSpPr>
          <p:cNvPr id="2741" name="Google Shape;2741;p191"/>
          <p:cNvSpPr txBox="1"/>
          <p:nvPr>
            <p:ph type="title"/>
          </p:nvPr>
        </p:nvSpPr>
        <p:spPr>
          <a:xfrm>
            <a:off x="457200" y="274638"/>
            <a:ext cx="8229600" cy="7159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Dạng bài tập thừa kế</a:t>
            </a:r>
            <a:endParaRPr sz="3200">
              <a:latin typeface="Times New Roman"/>
              <a:ea typeface="Times New Roman"/>
              <a:cs typeface="Times New Roman"/>
              <a:sym typeface="Times New Roman"/>
            </a:endParaRPr>
          </a:p>
        </p:txBody>
      </p:sp>
      <p:sp>
        <p:nvSpPr>
          <p:cNvPr id="2742" name="Google Shape;2742;p191"/>
          <p:cNvSpPr txBox="1"/>
          <p:nvPr>
            <p:ph idx="1" type="body"/>
          </p:nvPr>
        </p:nvSpPr>
        <p:spPr>
          <a:xfrm>
            <a:off x="457200" y="990600"/>
            <a:ext cx="8382000" cy="5562600"/>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120"/>
              <a:buChar char="🞆"/>
            </a:pPr>
            <a:r>
              <a:rPr b="1" lang="en-US" sz="1600">
                <a:latin typeface="Times New Roman"/>
                <a:ea typeface="Times New Roman"/>
                <a:cs typeface="Times New Roman"/>
                <a:sym typeface="Times New Roman"/>
              </a:rPr>
              <a:t>1. Thời điểm mở thừa kế</a:t>
            </a:r>
            <a:r>
              <a:rPr lang="en-US" sz="1600">
                <a:latin typeface="Times New Roman"/>
                <a:ea typeface="Times New Roman"/>
                <a:cs typeface="Times New Roman"/>
                <a:sym typeface="Times New Roman"/>
              </a:rPr>
              <a:t>: sinh viên phải trình bày chính xác theo dữ kiện đề bài nêu ra như ngày tháng năm thời điểm mở thừa kế là thời điểm người có di sản để lại chết.</a:t>
            </a:r>
            <a:endParaRPr/>
          </a:p>
          <a:p>
            <a:pPr indent="-274320" lvl="0" marL="274320" rtl="0" algn="l">
              <a:spcBef>
                <a:spcPts val="600"/>
              </a:spcBef>
              <a:spcAft>
                <a:spcPts val="0"/>
              </a:spcAft>
              <a:buSzPts val="1120"/>
              <a:buChar char="🞆"/>
            </a:pPr>
            <a:r>
              <a:rPr b="1" lang="en-US" sz="1600">
                <a:latin typeface="Times New Roman"/>
                <a:ea typeface="Times New Roman"/>
                <a:cs typeface="Times New Roman"/>
                <a:sym typeface="Times New Roman"/>
              </a:rPr>
              <a:t>2. Chia di sản thừa kế</a:t>
            </a:r>
            <a:endParaRPr sz="1600">
              <a:latin typeface="Times New Roman"/>
              <a:ea typeface="Times New Roman"/>
              <a:cs typeface="Times New Roman"/>
              <a:sym typeface="Times New Roman"/>
            </a:endParaRPr>
          </a:p>
          <a:p>
            <a:pPr indent="-274320" lvl="0" marL="274320" rtl="0" algn="l">
              <a:spcBef>
                <a:spcPts val="600"/>
              </a:spcBef>
              <a:spcAft>
                <a:spcPts val="0"/>
              </a:spcAft>
              <a:buSzPts val="1120"/>
              <a:buChar char="🞆"/>
            </a:pPr>
            <a:r>
              <a:rPr b="1" lang="en-US" sz="1600">
                <a:latin typeface="Times New Roman"/>
                <a:ea typeface="Times New Roman"/>
                <a:cs typeface="Times New Roman"/>
                <a:sym typeface="Times New Roman"/>
              </a:rPr>
              <a:t>a. Trình tự:</a:t>
            </a:r>
            <a:r>
              <a:rPr lang="en-US" sz="1600">
                <a:latin typeface="Times New Roman"/>
                <a:ea typeface="Times New Roman"/>
                <a:cs typeface="Times New Roman"/>
                <a:sym typeface="Times New Roman"/>
              </a:rPr>
              <a:t> Trong một tình huống thì nếu có cả chia di sản theo di chúc và theo pháp luật thì chia theo di chúc trước, còn lại mới chia theo pháp luật.</a:t>
            </a:r>
            <a:endParaRPr/>
          </a:p>
          <a:p>
            <a:pPr indent="-274320" lvl="0" marL="274320" rtl="0" algn="l">
              <a:spcBef>
                <a:spcPts val="600"/>
              </a:spcBef>
              <a:spcAft>
                <a:spcPts val="0"/>
              </a:spcAft>
              <a:buSzPts val="1120"/>
              <a:buChar char="🞆"/>
            </a:pPr>
            <a:r>
              <a:rPr b="1" lang="en-US" sz="1600">
                <a:latin typeface="Times New Roman"/>
                <a:ea typeface="Times New Roman"/>
                <a:cs typeface="Times New Roman"/>
                <a:sym typeface="Times New Roman"/>
              </a:rPr>
              <a:t>b. Xác định di sản thừa kế:</a:t>
            </a:r>
            <a:r>
              <a:rPr lang="en-US" sz="1600">
                <a:latin typeface="Times New Roman"/>
                <a:ea typeface="Times New Roman"/>
                <a:cs typeface="Times New Roman"/>
                <a:sym typeface="Times New Roman"/>
              </a:rPr>
              <a:t> là phần tài sản riêng của người chết và tài sản nằm trong khối tài sản chung (cách xác định tài sản riêng hay di sản thừa kế đã có hướng dẫn trong đề cương ôn tập rồi). Nếu là di sản chung sinh viên phải thực hiện phép chia cụ thể và có lập luận cụ thể (ví dụ tài sản của vợ chồng trong thời kỳ hôn nhân là tài sản chung nên khi chấm dứt hôn nhân được chia mỗi người một nữa…) nếu người để lại di sản thừa kế có nghĩa vụ trong việc trả nợ hay nghĩa vụ tài chính khác thì phải trừ các khoản tiền này trước khi chia (tiền nợ, chi phí chung trong việc bảo quản sửa chữa tài sản chung, chi phí mai táng…).</a:t>
            </a:r>
            <a:endParaRPr/>
          </a:p>
          <a:p>
            <a:pPr indent="-274320" lvl="0" marL="274320" rtl="0" algn="l">
              <a:spcBef>
                <a:spcPts val="600"/>
              </a:spcBef>
              <a:spcAft>
                <a:spcPts val="0"/>
              </a:spcAft>
              <a:buSzPts val="1120"/>
              <a:buChar char="🞆"/>
            </a:pPr>
            <a:r>
              <a:rPr b="1" lang="en-US" sz="1600">
                <a:latin typeface="Times New Roman"/>
                <a:ea typeface="Times New Roman"/>
                <a:cs typeface="Times New Roman"/>
                <a:sym typeface="Times New Roman"/>
              </a:rPr>
              <a:t>c. Chia theo di chúc</a:t>
            </a:r>
            <a:r>
              <a:rPr lang="en-US" sz="1600">
                <a:latin typeface="Times New Roman"/>
                <a:ea typeface="Times New Roman"/>
                <a:cs typeface="Times New Roman"/>
                <a:sym typeface="Times New Roman"/>
              </a:rPr>
              <a:t>: ưu tiên lấy di sản thừa kế chia theo di chúc trước. Trường hợp chia di sản cho những người không phụ thuộc vào nội dung di chúc: nếu phát hiện có trường hợp này thì cần chia cho những người này trước theo đúng quy định sau đó còn lại bao nhiều mới chia theo di chúc</a:t>
            </a:r>
            <a:endParaRPr sz="1600">
              <a:latin typeface="Times New Roman"/>
              <a:ea typeface="Times New Roman"/>
              <a:cs typeface="Times New Roman"/>
              <a:sym typeface="Times New Roman"/>
            </a:endParaRPr>
          </a:p>
          <a:p>
            <a:pPr indent="-274320" lvl="0" marL="274320" rtl="0" algn="l">
              <a:spcBef>
                <a:spcPts val="600"/>
              </a:spcBef>
              <a:spcAft>
                <a:spcPts val="0"/>
              </a:spcAft>
              <a:buSzPts val="1120"/>
              <a:buChar char="🞆"/>
            </a:pPr>
            <a:r>
              <a:rPr b="1" lang="en-US" sz="1600">
                <a:latin typeface="Times New Roman"/>
                <a:ea typeface="Times New Roman"/>
                <a:cs typeface="Times New Roman"/>
                <a:sym typeface="Times New Roman"/>
              </a:rPr>
              <a:t>d. Chia theo pháp luật</a:t>
            </a:r>
            <a:r>
              <a:rPr lang="en-US" sz="1600">
                <a:latin typeface="Times New Roman"/>
                <a:ea typeface="Times New Roman"/>
                <a:cs typeface="Times New Roman"/>
                <a:sym typeface="Times New Roman"/>
              </a:rPr>
              <a:t>: phải xác định những người cùng hàng thừa kế được nhận di sản (số lượng người được hưởng và lập luận vì sao?)</a:t>
            </a:r>
            <a:endParaRPr/>
          </a:p>
          <a:p>
            <a:pPr indent="-274320" lvl="0" marL="274320" rtl="0" algn="l">
              <a:spcBef>
                <a:spcPts val="600"/>
              </a:spcBef>
              <a:spcAft>
                <a:spcPts val="0"/>
              </a:spcAft>
              <a:buSzPts val="1120"/>
              <a:buChar char="🞆"/>
            </a:pPr>
            <a:r>
              <a:rPr lang="en-US" sz="1600">
                <a:latin typeface="Times New Roman"/>
                <a:ea typeface="Times New Roman"/>
                <a:cs typeface="Times New Roman"/>
                <a:sym typeface="Times New Roman"/>
              </a:rPr>
              <a:t>Kết luận:  số tài sản mỗi người nhận được từ người chết theo đề bài đưa ra (cộng số tiền chia theo di chúc với số tiền chia theo pháp luật nếu có). Sinh viên thường nhầm lẫn, ở đây chỉ yêu câu xác  định số tài sản nhận từ người chết chứ không bao gồm số tài sản đương nhiên của họ.</a:t>
            </a:r>
            <a:endParaRPr sz="1600">
              <a:latin typeface="Times New Roman"/>
              <a:ea typeface="Times New Roman"/>
              <a:cs typeface="Times New Roman"/>
              <a:sym typeface="Times New Roman"/>
            </a:endParaRPr>
          </a:p>
        </p:txBody>
      </p:sp>
      <p:sp>
        <p:nvSpPr>
          <p:cNvPr id="2743" name="Google Shape;2743;p191"/>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44" name="Google Shape;2744;p19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1"/>
                                        </p:tgtEl>
                                        <p:attrNameLst>
                                          <p:attrName>style.visibility</p:attrName>
                                        </p:attrNameLst>
                                      </p:cBhvr>
                                      <p:to>
                                        <p:strVal val="visible"/>
                                      </p:to>
                                    </p:set>
                                    <p:animEffect filter="fade" transition="in">
                                      <p:cBhvr>
                                        <p:cTn dur="500"/>
                                        <p:tgtEl>
                                          <p:spTgt spid="27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8" name="Shape 2748"/>
        <p:cNvGrpSpPr/>
        <p:nvPr/>
      </p:nvGrpSpPr>
      <p:grpSpPr>
        <a:xfrm>
          <a:off x="0" y="0"/>
          <a:ext cx="0" cy="0"/>
          <a:chOff x="0" y="0"/>
          <a:chExt cx="0" cy="0"/>
        </a:xfrm>
      </p:grpSpPr>
      <p:sp>
        <p:nvSpPr>
          <p:cNvPr id="2749" name="Google Shape;2749;p19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Ngành luật Dân sự</a:t>
            </a:r>
            <a:endParaRPr sz="2800">
              <a:solidFill>
                <a:srgbClr val="FF0000"/>
              </a:solidFill>
              <a:latin typeface="Times New Roman"/>
              <a:ea typeface="Times New Roman"/>
              <a:cs typeface="Times New Roman"/>
              <a:sym typeface="Times New Roman"/>
            </a:endParaRPr>
          </a:p>
        </p:txBody>
      </p:sp>
      <p:sp>
        <p:nvSpPr>
          <p:cNvPr id="2750" name="Google Shape;2750;p19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514350" lvl="0" marL="596646" rtl="0" algn="l">
              <a:spcBef>
                <a:spcPts val="0"/>
              </a:spcBef>
              <a:spcAft>
                <a:spcPts val="0"/>
              </a:spcAft>
              <a:buSzPts val="1680"/>
              <a:buNone/>
            </a:pPr>
            <a:r>
              <a:rPr lang="en-US" sz="2400">
                <a:latin typeface="Times New Roman"/>
                <a:ea typeface="Times New Roman"/>
                <a:cs typeface="Times New Roman"/>
                <a:sym typeface="Times New Roman"/>
              </a:rPr>
              <a:t>3. Chế định Hợp đồng dân sự và nghĩa vụ dân sự</a:t>
            </a:r>
            <a:endParaRPr sz="2400">
              <a:latin typeface="Times New Roman"/>
              <a:ea typeface="Times New Roman"/>
              <a:cs typeface="Times New Roman"/>
              <a:sym typeface="Times New Roman"/>
            </a:endParaRPr>
          </a:p>
          <a:p>
            <a:pPr indent="-514350" lvl="0" marL="596646" rtl="0" algn="l">
              <a:spcBef>
                <a:spcPts val="600"/>
              </a:spcBef>
              <a:spcAft>
                <a:spcPts val="0"/>
              </a:spcAft>
              <a:buSzPts val="1680"/>
              <a:buNone/>
            </a:pPr>
            <a:r>
              <a:rPr lang="en-US" sz="2400">
                <a:latin typeface="Times New Roman"/>
                <a:ea typeface="Times New Roman"/>
                <a:cs typeface="Times New Roman"/>
                <a:sym typeface="Times New Roman"/>
              </a:rPr>
              <a:t>(tự nghiên cứu)</a:t>
            </a:r>
            <a:endParaRPr sz="2400">
              <a:latin typeface="Times New Roman"/>
              <a:ea typeface="Times New Roman"/>
              <a:cs typeface="Times New Roman"/>
              <a:sym typeface="Times New Roman"/>
            </a:endParaRPr>
          </a:p>
        </p:txBody>
      </p:sp>
      <p:sp>
        <p:nvSpPr>
          <p:cNvPr id="2751" name="Google Shape;2751;p192"/>
          <p:cNvSpPr txBox="1"/>
          <p:nvPr>
            <p:ph idx="11" type="ftr"/>
          </p:nvPr>
        </p:nvSpPr>
        <p:spPr>
          <a:xfrm rot="5400000">
            <a:off x="7191560" y="15866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52" name="Google Shape;2752;p19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6" name="Shape 2756"/>
        <p:cNvGrpSpPr/>
        <p:nvPr/>
      </p:nvGrpSpPr>
      <p:grpSpPr>
        <a:xfrm>
          <a:off x="0" y="0"/>
          <a:ext cx="0" cy="0"/>
          <a:chOff x="0" y="0"/>
          <a:chExt cx="0" cy="0"/>
        </a:xfrm>
      </p:grpSpPr>
      <p:sp>
        <p:nvSpPr>
          <p:cNvPr id="2757" name="Google Shape;2757;p19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Times New Roman"/>
              <a:buNone/>
            </a:pPr>
            <a:r>
              <a:rPr lang="en-US">
                <a:latin typeface="Times New Roman"/>
                <a:ea typeface="Times New Roman"/>
                <a:cs typeface="Times New Roman"/>
                <a:sym typeface="Times New Roman"/>
              </a:rPr>
              <a:t>Ngành luật Tố tụng Dân sự</a:t>
            </a:r>
            <a:endParaRPr>
              <a:latin typeface="Times New Roman"/>
              <a:ea typeface="Times New Roman"/>
              <a:cs typeface="Times New Roman"/>
              <a:sym typeface="Times New Roman"/>
            </a:endParaRPr>
          </a:p>
        </p:txBody>
      </p:sp>
      <p:sp>
        <p:nvSpPr>
          <p:cNvPr id="2758" name="Google Shape;2758;p19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Khái niệm: là tổng thể quy phạm pháp luật điều chỉnh các quan hệ xã hội phát sinh trong quá trình giải quyết vụ án dân sự</a:t>
            </a:r>
            <a:endParaRPr/>
          </a:p>
          <a:p>
            <a:pPr indent="-274320" lvl="0" marL="274320" rtl="0" algn="l">
              <a:spcBef>
                <a:spcPts val="600"/>
              </a:spcBef>
              <a:spcAft>
                <a:spcPts val="0"/>
              </a:spcAft>
              <a:buSzPts val="1680"/>
              <a:buChar char="🞆"/>
            </a:pPr>
            <a:r>
              <a:rPr lang="en-US"/>
              <a:t>Các chế định cơ bản</a:t>
            </a:r>
            <a:endParaRPr/>
          </a:p>
          <a:p>
            <a:pPr indent="-274320" lvl="0" marL="274320" rtl="0" algn="l">
              <a:spcBef>
                <a:spcPts val="600"/>
              </a:spcBef>
              <a:spcAft>
                <a:spcPts val="0"/>
              </a:spcAft>
              <a:buSzPts val="1680"/>
              <a:buNone/>
            </a:pPr>
            <a:r>
              <a:rPr lang="en-US"/>
              <a:t>(tự nghiên cứu)</a:t>
            </a:r>
            <a:endParaRPr/>
          </a:p>
        </p:txBody>
      </p:sp>
      <p:sp>
        <p:nvSpPr>
          <p:cNvPr id="2759" name="Google Shape;2759;p193"/>
          <p:cNvSpPr txBox="1"/>
          <p:nvPr>
            <p:ph idx="11" type="ftr"/>
          </p:nvPr>
        </p:nvSpPr>
        <p:spPr>
          <a:xfrm rot="5400000">
            <a:off x="7153460" y="1624780"/>
            <a:ext cx="36153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60" name="Google Shape;2760;p19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4" name="Shape 2764"/>
        <p:cNvGrpSpPr/>
        <p:nvPr/>
      </p:nvGrpSpPr>
      <p:grpSpPr>
        <a:xfrm>
          <a:off x="0" y="0"/>
          <a:ext cx="0" cy="0"/>
          <a:chOff x="0" y="0"/>
          <a:chExt cx="0" cy="0"/>
        </a:xfrm>
      </p:grpSpPr>
      <p:sp>
        <p:nvSpPr>
          <p:cNvPr id="2765" name="Google Shape;2765;p19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Arial"/>
              <a:buNone/>
            </a:pPr>
            <a:r>
              <a:rPr lang="en-US"/>
              <a:t>5.2.4	Ngành luật Hình sự</a:t>
            </a:r>
            <a:endParaRPr/>
          </a:p>
        </p:txBody>
      </p:sp>
      <p:sp>
        <p:nvSpPr>
          <p:cNvPr id="2766" name="Google Shape;2766;p19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Khái niệm</a:t>
            </a:r>
            <a:endParaRPr/>
          </a:p>
        </p:txBody>
      </p:sp>
      <p:sp>
        <p:nvSpPr>
          <p:cNvPr id="2767" name="Google Shape;2767;p194"/>
          <p:cNvSpPr/>
          <p:nvPr/>
        </p:nvSpPr>
        <p:spPr>
          <a:xfrm>
            <a:off x="685800" y="1981200"/>
            <a:ext cx="7239000" cy="3200400"/>
          </a:xfrm>
          <a:prstGeom prst="horizontalScroll">
            <a:avLst>
              <a:gd fmla="val 12500" name="adj"/>
            </a:avLst>
          </a:prstGeom>
          <a:gradFill>
            <a:gsLst>
              <a:gs pos="0">
                <a:srgbClr val="F9C3C0"/>
              </a:gs>
              <a:gs pos="30000">
                <a:srgbClr val="FABBB8"/>
              </a:gs>
              <a:gs pos="75000">
                <a:srgbClr val="F79693"/>
              </a:gs>
              <a:gs pos="100000">
                <a:srgbClr val="F96F67"/>
              </a:gs>
            </a:gsLst>
            <a:path path="circle">
              <a:fillToRect r="100%" t="100%"/>
            </a:path>
            <a:tileRect b="-100%" l="-100%"/>
          </a:gradFill>
          <a:ln cap="flat" cmpd="sng" w="12700">
            <a:solidFill>
              <a:srgbClr val="B90C00"/>
            </a:solidFill>
            <a:prstDash val="solid"/>
            <a:round/>
            <a:headEnd len="sm" w="sm" type="none"/>
            <a:tailEnd len="sm" w="sm" type="none"/>
          </a:ln>
          <a:effectLst>
            <a:outerShdw blurRad="50800" rotWithShape="0" dir="5400000" dist="25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Luật hình sự là tổng thể các quy phạm pháp luật quy định những hành vi nguy hiểm cho xã hội bị coi là tội phạm, đồng thời quy định những hình phạt tương ứng và điều kiện áp dụng các hình phạt đó</a:t>
            </a:r>
            <a:endParaRPr sz="2400">
              <a:solidFill>
                <a:schemeClr val="dk1"/>
              </a:solidFill>
              <a:latin typeface="Arial"/>
              <a:ea typeface="Arial"/>
              <a:cs typeface="Arial"/>
              <a:sym typeface="Arial"/>
            </a:endParaRPr>
          </a:p>
        </p:txBody>
      </p:sp>
      <p:sp>
        <p:nvSpPr>
          <p:cNvPr id="2768" name="Google Shape;2768;p194"/>
          <p:cNvSpPr txBox="1"/>
          <p:nvPr>
            <p:ph idx="11" type="ftr"/>
          </p:nvPr>
        </p:nvSpPr>
        <p:spPr>
          <a:xfrm rot="5400000">
            <a:off x="6744626" y="3491680"/>
            <a:ext cx="36915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69" name="Google Shape;2769;p194"/>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3" name="Shape 2773"/>
        <p:cNvGrpSpPr/>
        <p:nvPr/>
      </p:nvGrpSpPr>
      <p:grpSpPr>
        <a:xfrm>
          <a:off x="0" y="0"/>
          <a:ext cx="0" cy="0"/>
          <a:chOff x="0" y="0"/>
          <a:chExt cx="0" cy="0"/>
        </a:xfrm>
      </p:grpSpPr>
      <p:sp>
        <p:nvSpPr>
          <p:cNvPr id="2774" name="Google Shape;2774;p195"/>
          <p:cNvSpPr txBox="1"/>
          <p:nvPr>
            <p:ph type="title"/>
          </p:nvPr>
        </p:nvSpPr>
        <p:spPr>
          <a:xfrm>
            <a:off x="152400" y="228600"/>
            <a:ext cx="8705088" cy="914400"/>
          </a:xfrm>
          <a:prstGeom prst="rect">
            <a:avLst/>
          </a:prstGeom>
          <a:noFill/>
          <a:ln>
            <a:noFill/>
          </a:ln>
        </p:spPr>
        <p:txBody>
          <a:bodyPr anchorCtr="0" anchor="b" bIns="45700" lIns="91425" spcFirstLastPara="1" rIns="91425" wrap="square" tIns="45700">
            <a:normAutofit fontScale="90000"/>
          </a:bodyPr>
          <a:lstStyle/>
          <a:p>
            <a:pPr indent="0" lvl="0" marL="0" rtl="0" algn="ctr">
              <a:spcBef>
                <a:spcPts val="0"/>
              </a:spcBef>
              <a:spcAft>
                <a:spcPts val="0"/>
              </a:spcAft>
              <a:buClr>
                <a:srgbClr val="FF0000"/>
              </a:buClr>
              <a:buSzPct val="100000"/>
              <a:buFont typeface="Times New Roman"/>
              <a:buNone/>
            </a:pPr>
            <a:r>
              <a:rPr b="0" lang="en-US" sz="3200">
                <a:solidFill>
                  <a:srgbClr val="FF0000"/>
                </a:solidFill>
                <a:latin typeface="Times New Roman"/>
                <a:ea typeface="Times New Roman"/>
                <a:cs typeface="Times New Roman"/>
                <a:sym typeface="Times New Roman"/>
              </a:rPr>
              <a:t>Ngành luật </a:t>
            </a:r>
            <a:r>
              <a:rPr lang="en-US" sz="3200">
                <a:solidFill>
                  <a:srgbClr val="FF0000"/>
                </a:solidFill>
                <a:latin typeface="Times New Roman"/>
                <a:ea typeface="Times New Roman"/>
                <a:cs typeface="Times New Roman"/>
                <a:sym typeface="Times New Roman"/>
              </a:rPr>
              <a:t>hình sự</a:t>
            </a:r>
            <a:br>
              <a:rPr b="0" lang="en-US" sz="3200">
                <a:solidFill>
                  <a:srgbClr val="FF0000"/>
                </a:solidFill>
                <a:latin typeface="Times New Roman"/>
                <a:ea typeface="Times New Roman"/>
                <a:cs typeface="Times New Roman"/>
                <a:sym typeface="Times New Roman"/>
              </a:rPr>
            </a:br>
            <a:r>
              <a:rPr lang="en-US" sz="3200">
                <a:solidFill>
                  <a:srgbClr val="FF0000"/>
                </a:solidFill>
                <a:latin typeface="Times New Roman"/>
                <a:ea typeface="Times New Roman"/>
                <a:cs typeface="Times New Roman"/>
                <a:sym typeface="Times New Roman"/>
              </a:rPr>
              <a:t>Đối tượng điều chỉnh và phương pháp điều chỉnh</a:t>
            </a:r>
            <a:endParaRPr b="0" sz="3200">
              <a:solidFill>
                <a:srgbClr val="FF0000"/>
              </a:solidFill>
              <a:latin typeface="Times New Roman"/>
              <a:ea typeface="Times New Roman"/>
              <a:cs typeface="Times New Roman"/>
              <a:sym typeface="Times New Roman"/>
            </a:endParaRPr>
          </a:p>
        </p:txBody>
      </p:sp>
      <p:sp>
        <p:nvSpPr>
          <p:cNvPr id="2775" name="Google Shape;2775;p195"/>
          <p:cNvSpPr txBox="1"/>
          <p:nvPr>
            <p:ph idx="1" type="body"/>
          </p:nvPr>
        </p:nvSpPr>
        <p:spPr>
          <a:xfrm>
            <a:off x="457200" y="1219200"/>
            <a:ext cx="8458200" cy="533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400"/>
              <a:buNone/>
            </a:pP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2776" name="Google Shape;2776;p195"/>
          <p:cNvSpPr/>
          <p:nvPr/>
        </p:nvSpPr>
        <p:spPr>
          <a:xfrm>
            <a:off x="685800" y="1676400"/>
            <a:ext cx="4191000" cy="2286000"/>
          </a:xfrm>
          <a:prstGeom prst="roundRect">
            <a:avLst>
              <a:gd fmla="val 16667" name="adj"/>
            </a:avLst>
          </a:prstGeom>
          <a:solidFill>
            <a:srgbClr val="FFE6D6"/>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Đối tượng điều chỉnh: </a:t>
            </a:r>
            <a:r>
              <a:rPr lang="en-US" sz="1800">
                <a:solidFill>
                  <a:schemeClr val="dk1"/>
                </a:solidFill>
                <a:latin typeface="Arial"/>
                <a:ea typeface="Arial"/>
                <a:cs typeface="Arial"/>
                <a:sym typeface="Arial"/>
              </a:rPr>
              <a:t>các quan hệ xã hội phát sinh giữa nhà nước và người phạm tội, khi người đó thực hiện hành vi mà nhà nước quy định là tội phạm</a:t>
            </a:r>
            <a:endParaRPr sz="1800">
              <a:solidFill>
                <a:schemeClr val="dk1"/>
              </a:solidFill>
              <a:latin typeface="Times New Roman"/>
              <a:ea typeface="Times New Roman"/>
              <a:cs typeface="Times New Roman"/>
              <a:sym typeface="Times New Roman"/>
            </a:endParaRPr>
          </a:p>
        </p:txBody>
      </p:sp>
      <p:sp>
        <p:nvSpPr>
          <p:cNvPr id="2777" name="Google Shape;2777;p195"/>
          <p:cNvSpPr/>
          <p:nvPr/>
        </p:nvSpPr>
        <p:spPr>
          <a:xfrm>
            <a:off x="2971800" y="4114800"/>
            <a:ext cx="5029200" cy="2514600"/>
          </a:xfrm>
          <a:prstGeom prst="roundRect">
            <a:avLst>
              <a:gd fmla="val 16667" name="adj"/>
            </a:avLst>
          </a:prstGeom>
          <a:solidFill>
            <a:srgbClr val="FFB585"/>
          </a:solidFill>
          <a:ln cap="flat" cmpd="sng" w="25400">
            <a:solidFill>
              <a:srgbClr val="B961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800">
                <a:solidFill>
                  <a:schemeClr val="dk1"/>
                </a:solidFill>
                <a:latin typeface="Times New Roman"/>
                <a:ea typeface="Times New Roman"/>
                <a:cs typeface="Times New Roman"/>
                <a:sym typeface="Times New Roman"/>
              </a:rPr>
              <a:t>Phương pháp điều chỉnh: quyền uy</a:t>
            </a:r>
            <a:endParaRPr sz="1800">
              <a:solidFill>
                <a:schemeClr val="dk1"/>
              </a:solidFill>
              <a:latin typeface="Times New Roman"/>
              <a:ea typeface="Times New Roman"/>
              <a:cs typeface="Times New Roman"/>
              <a:sym typeface="Times New Roman"/>
            </a:endParaRPr>
          </a:p>
        </p:txBody>
      </p:sp>
      <p:sp>
        <p:nvSpPr>
          <p:cNvPr id="2778" name="Google Shape;2778;p195"/>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79" name="Google Shape;2779;p19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4"/>
                                        </p:tgtEl>
                                        <p:attrNameLst>
                                          <p:attrName>style.visibility</p:attrName>
                                        </p:attrNameLst>
                                      </p:cBhvr>
                                      <p:to>
                                        <p:strVal val="visible"/>
                                      </p:to>
                                    </p:set>
                                    <p:animEffect filter="fade" transition="in">
                                      <p:cBhvr>
                                        <p:cTn dur="500"/>
                                        <p:tgtEl>
                                          <p:spTgt spid="27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5">
                                            <p:txEl>
                                              <p:pRg end="0" st="0"/>
                                            </p:txEl>
                                          </p:spTgt>
                                        </p:tgtEl>
                                        <p:attrNameLst>
                                          <p:attrName>style.visibility</p:attrName>
                                        </p:attrNameLst>
                                      </p:cBhvr>
                                      <p:to>
                                        <p:strVal val="visible"/>
                                      </p:to>
                                    </p:set>
                                    <p:animEffect filter="fade" transition="in">
                                      <p:cBhvr>
                                        <p:cTn dur="500"/>
                                        <p:tgtEl>
                                          <p:spTgt spid="27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76"/>
                                        </p:tgtEl>
                                        <p:attrNameLst>
                                          <p:attrName>style.visibility</p:attrName>
                                        </p:attrNameLst>
                                      </p:cBhvr>
                                      <p:to>
                                        <p:strVal val="visible"/>
                                      </p:to>
                                    </p:set>
                                    <p:anim calcmode="lin" valueType="num">
                                      <p:cBhvr additive="base">
                                        <p:cTn dur="500"/>
                                        <p:tgtEl>
                                          <p:spTgt spid="277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7"/>
                                        </p:tgtEl>
                                        <p:attrNameLst>
                                          <p:attrName>style.visibility</p:attrName>
                                        </p:attrNameLst>
                                      </p:cBhvr>
                                      <p:to>
                                        <p:strVal val="visible"/>
                                      </p:to>
                                    </p:set>
                                    <p:animEffect filter="fade" transition="in">
                                      <p:cBhvr>
                                        <p:cTn dur="500"/>
                                        <p:tgtEl>
                                          <p:spTgt spid="27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3" name="Shape 2783"/>
        <p:cNvGrpSpPr/>
        <p:nvPr/>
      </p:nvGrpSpPr>
      <p:grpSpPr>
        <a:xfrm>
          <a:off x="0" y="0"/>
          <a:ext cx="0" cy="0"/>
          <a:chOff x="0" y="0"/>
          <a:chExt cx="0" cy="0"/>
        </a:xfrm>
      </p:grpSpPr>
      <p:sp>
        <p:nvSpPr>
          <p:cNvPr id="2784" name="Google Shape;2784;p196"/>
          <p:cNvSpPr txBox="1"/>
          <p:nvPr>
            <p:ph type="title"/>
          </p:nvPr>
        </p:nvSpPr>
        <p:spPr>
          <a:xfrm>
            <a:off x="457200" y="0"/>
            <a:ext cx="8229600" cy="4572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Times New Roman"/>
              <a:buNone/>
            </a:pPr>
            <a:r>
              <a:rPr lang="en-US" sz="3200">
                <a:latin typeface="Times New Roman"/>
                <a:ea typeface="Times New Roman"/>
                <a:cs typeface="Times New Roman"/>
                <a:sym typeface="Times New Roman"/>
              </a:rPr>
              <a:t>Ngành luật hình sự - Các chế định cơ bản</a:t>
            </a:r>
            <a:endParaRPr sz="3200">
              <a:latin typeface="Times New Roman"/>
              <a:ea typeface="Times New Roman"/>
              <a:cs typeface="Times New Roman"/>
              <a:sym typeface="Times New Roman"/>
            </a:endParaRPr>
          </a:p>
        </p:txBody>
      </p:sp>
      <p:sp>
        <p:nvSpPr>
          <p:cNvPr id="2785" name="Google Shape;2785;p196"/>
          <p:cNvSpPr/>
          <p:nvPr/>
        </p:nvSpPr>
        <p:spPr>
          <a:xfrm>
            <a:off x="0" y="457200"/>
            <a:ext cx="9144000" cy="6400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lt1"/>
              </a:buClr>
              <a:buSzPts val="1700"/>
              <a:buFont typeface="Arial"/>
              <a:buChar char="•"/>
            </a:pPr>
            <a:r>
              <a:rPr b="0" i="0" lang="en-US" sz="1700" u="none" cap="none" strike="noStrike">
                <a:solidFill>
                  <a:schemeClr val="lt1"/>
                </a:solidFill>
                <a:latin typeface="Arial"/>
                <a:ea typeface="Arial"/>
                <a:cs typeface="Arial"/>
                <a:sym typeface="Arial"/>
              </a:rPr>
              <a:t>1. Tội phạm</a:t>
            </a:r>
            <a:endParaRPr b="0" i="0" sz="1700" u="none" cap="none" strike="noStrike">
              <a:solidFill>
                <a:schemeClr val="lt1"/>
              </a:solidFill>
              <a:latin typeface="Arial"/>
              <a:ea typeface="Arial"/>
              <a:cs typeface="Arial"/>
              <a:sym typeface="Arial"/>
            </a:endParaRPr>
          </a:p>
          <a:p>
            <a:pPr indent="-114300" lvl="1" marL="114300" marR="0" rtl="0" algn="l">
              <a:lnSpc>
                <a:spcPct val="75000"/>
              </a:lnSpc>
              <a:spcBef>
                <a:spcPts val="170"/>
              </a:spcBef>
              <a:spcAft>
                <a:spcPts val="0"/>
              </a:spcAft>
              <a:buClr>
                <a:schemeClr val="lt1"/>
              </a:buClr>
              <a:buSzPts val="1700"/>
              <a:buFont typeface="Arial"/>
              <a:buChar char="•"/>
            </a:pPr>
            <a:r>
              <a:rPr b="0" i="0" lang="en-US" sz="1700" u="none" cap="none" strike="noStrike">
                <a:solidFill>
                  <a:schemeClr val="lt1"/>
                </a:solidFill>
                <a:latin typeface="Arial"/>
                <a:ea typeface="Arial"/>
                <a:cs typeface="Arial"/>
                <a:sym typeface="Arial"/>
              </a:rPr>
              <a:t>là hành vi nguy hiểm cho xã hội được quy định trong Bộ luật hình sự, do người có năng lực trách nhiệm hình sự thực hiện một cách cố ý hoặc vô ý, xâm phạm độc lập, chủ quyền, thống nhất, toàn vẹn lãnh thổ Tổ quốc, xâm phạm chế độ chính trị, chế độ kinh tế, nên văn hóa, quốc phòng, an ninh, trật tự an toàn xã hội, quyền, lợi ích hợp pháp của tổ chức, xâm phạm tính mạng, sức khỏe, danh dự, nhân phẩm, tự do, tài sản, các quyền, lợi ích hợp pháp khác của công dân, xâm phạm những lĩnh vực khác của trật tự pháp luật xã hội chủ nghĩa</a:t>
            </a:r>
            <a:endParaRPr b="0" i="0" sz="1700" u="none" cap="none" strike="noStrike">
              <a:solidFill>
                <a:schemeClr val="lt1"/>
              </a:solidFill>
              <a:latin typeface="Arial"/>
              <a:ea typeface="Arial"/>
              <a:cs typeface="Arial"/>
              <a:sym typeface="Arial"/>
            </a:endParaRPr>
          </a:p>
          <a:p>
            <a:pPr indent="-114300" lvl="2" marL="228600" marR="0" rtl="0" algn="l">
              <a:lnSpc>
                <a:spcPct val="75000"/>
              </a:lnSpc>
              <a:spcBef>
                <a:spcPts val="17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Tội phạm ít nghiêm trọng: là tội phạm gây nguy hạ ko lớn cho xã hội mà mức cao nhất của khung hình phạt đối với tội ấy là đến 3 năm tù</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Tội phạm Nghiêm trọng: là tội phạm gây nguy hại lớn cho xã hội mà mức cao nhất của khung hình phạt đối với tội ấy là đến 7 năm tù</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Tội phạm rất nghiêm trọng: là tội phạm gây nguy hại rất lớn cho xã hội mà mức cao nhất của khung hình phạt đối với tội ấy là đến 15 năm tù</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Tội phạm đặc biệt nghiêm trọng: là tội phạm gây nguy hại đặc biệt lớn co xã hội mà mức cao nhất của khung hình phạt đối với tội ấy là trên 15 năm tù, tù chung thân hoặc tử hình.</a:t>
            </a:r>
            <a:endParaRPr b="0" i="0" sz="1800" u="none" cap="none" strike="noStrike">
              <a:solidFill>
                <a:schemeClr val="dk1"/>
              </a:solidFill>
              <a:latin typeface="Arial"/>
              <a:ea typeface="Arial"/>
              <a:cs typeface="Arial"/>
              <a:sym typeface="Arial"/>
            </a:endParaRPr>
          </a:p>
        </p:txBody>
      </p:sp>
      <p:sp>
        <p:nvSpPr>
          <p:cNvPr id="2786" name="Google Shape;2786;p196"/>
          <p:cNvSpPr txBox="1"/>
          <p:nvPr>
            <p:ph idx="11" type="ftr"/>
          </p:nvPr>
        </p:nvSpPr>
        <p:spPr>
          <a:xfrm>
            <a:off x="2514600" y="6492240"/>
            <a:ext cx="37677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87" name="Google Shape;2787;p19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1" name="Shape 2791"/>
        <p:cNvGrpSpPr/>
        <p:nvPr/>
      </p:nvGrpSpPr>
      <p:grpSpPr>
        <a:xfrm>
          <a:off x="0" y="0"/>
          <a:ext cx="0" cy="0"/>
          <a:chOff x="0" y="0"/>
          <a:chExt cx="0" cy="0"/>
        </a:xfrm>
      </p:grpSpPr>
      <p:sp>
        <p:nvSpPr>
          <p:cNvPr id="2792" name="Google Shape;2792;p197"/>
          <p:cNvSpPr txBox="1"/>
          <p:nvPr>
            <p:ph type="title"/>
          </p:nvPr>
        </p:nvSpPr>
        <p:spPr>
          <a:xfrm>
            <a:off x="457200" y="0"/>
            <a:ext cx="8229600" cy="685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Times New Roman"/>
              <a:buNone/>
            </a:pPr>
            <a:r>
              <a:rPr lang="en-US" sz="3200">
                <a:latin typeface="Times New Roman"/>
                <a:ea typeface="Times New Roman"/>
                <a:cs typeface="Times New Roman"/>
                <a:sym typeface="Times New Roman"/>
              </a:rPr>
              <a:t>Ngành luật hình sự - Các chế định cơ bản</a:t>
            </a:r>
            <a:endParaRPr sz="3200">
              <a:latin typeface="Times New Roman"/>
              <a:ea typeface="Times New Roman"/>
              <a:cs typeface="Times New Roman"/>
              <a:sym typeface="Times New Roman"/>
            </a:endParaRPr>
          </a:p>
        </p:txBody>
      </p:sp>
      <p:sp>
        <p:nvSpPr>
          <p:cNvPr id="2793" name="Google Shape;2793;p197"/>
          <p:cNvSpPr/>
          <p:nvPr/>
        </p:nvSpPr>
        <p:spPr>
          <a:xfrm>
            <a:off x="0" y="685800"/>
            <a:ext cx="9144000" cy="5943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2. Hình phạt</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là biện pháp cưỡng chế nghiêm khắc nhất của nhà nước nhằm tước bỏ hoặc hạn chế quyền, lợi ích của người phạm tội</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Hình phạt chính: cảnh cáo, phạt tiền, cải tạo ko giam giữ, trục xuất, tù có thời hạn, tù chung thân, tử hình</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Hình phạt bổ sung: cấm đảm nhiệm chức vụ, cấm hành nghề hoặc làm công việc nhất định; cấm cư trú; quản chế; tước một số quyền công dân; tịch thu tài sản; phạt tiền, khi ko áp dụng hình phạt chính; trục xuất, khi ko áp dụng hình phạt chính.</a:t>
            </a:r>
            <a:endParaRPr b="0" i="0" sz="1800" u="none" cap="none" strike="noStrike">
              <a:solidFill>
                <a:schemeClr val="dk1"/>
              </a:solidFill>
              <a:latin typeface="Arial"/>
              <a:ea typeface="Arial"/>
              <a:cs typeface="Arial"/>
              <a:sym typeface="Arial"/>
            </a:endParaRPr>
          </a:p>
        </p:txBody>
      </p:sp>
      <p:sp>
        <p:nvSpPr>
          <p:cNvPr id="2794" name="Google Shape;2794;p197"/>
          <p:cNvSpPr txBox="1"/>
          <p:nvPr>
            <p:ph idx="11" type="ftr"/>
          </p:nvPr>
        </p:nvSpPr>
        <p:spPr>
          <a:xfrm>
            <a:off x="3048000" y="624840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795" name="Google Shape;2795;p19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9" name="Shape 2799"/>
        <p:cNvGrpSpPr/>
        <p:nvPr/>
      </p:nvGrpSpPr>
      <p:grpSpPr>
        <a:xfrm>
          <a:off x="0" y="0"/>
          <a:ext cx="0" cy="0"/>
          <a:chOff x="0" y="0"/>
          <a:chExt cx="0" cy="0"/>
        </a:xfrm>
      </p:grpSpPr>
      <p:sp>
        <p:nvSpPr>
          <p:cNvPr id="2800" name="Google Shape;2800;p19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Arial"/>
              <a:buNone/>
            </a:pPr>
            <a:r>
              <a:rPr lang="en-US"/>
              <a:t>Ngành luật tố tụng hình sự</a:t>
            </a:r>
            <a:endParaRPr/>
          </a:p>
        </p:txBody>
      </p:sp>
      <p:sp>
        <p:nvSpPr>
          <p:cNvPr id="2801" name="Google Shape;2801;p19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Khái niệm: là tổng thể quy phạm pháp luật điều chỉnh các quan hệ xã hội phát sinh trong quá trình giải quyết vụ án hình sự</a:t>
            </a:r>
            <a:endParaRPr/>
          </a:p>
          <a:p>
            <a:pPr indent="-274320" lvl="0" marL="274320" rtl="0" algn="l">
              <a:spcBef>
                <a:spcPts val="600"/>
              </a:spcBef>
              <a:spcAft>
                <a:spcPts val="0"/>
              </a:spcAft>
              <a:buSzPts val="1680"/>
              <a:buChar char="🞆"/>
            </a:pPr>
            <a:r>
              <a:rPr lang="en-US"/>
              <a:t>Các chế định cơ bản (tự nghiên cứu)</a:t>
            </a:r>
            <a:endParaRPr/>
          </a:p>
        </p:txBody>
      </p:sp>
      <p:sp>
        <p:nvSpPr>
          <p:cNvPr id="2802" name="Google Shape;2802;p198"/>
          <p:cNvSpPr txBox="1"/>
          <p:nvPr>
            <p:ph idx="11" type="ftr"/>
          </p:nvPr>
        </p:nvSpPr>
        <p:spPr>
          <a:xfrm rot="5400000">
            <a:off x="6820826" y="3567880"/>
            <a:ext cx="3539120" cy="36576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803" name="Google Shape;2803;p19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7" name="Shape 2807"/>
        <p:cNvGrpSpPr/>
        <p:nvPr/>
      </p:nvGrpSpPr>
      <p:grpSpPr>
        <a:xfrm>
          <a:off x="0" y="0"/>
          <a:ext cx="0" cy="0"/>
          <a:chOff x="0" y="0"/>
          <a:chExt cx="0" cy="0"/>
        </a:xfrm>
      </p:grpSpPr>
      <p:sp>
        <p:nvSpPr>
          <p:cNvPr id="2808" name="Google Shape;2808;p199"/>
          <p:cNvSpPr txBox="1"/>
          <p:nvPr>
            <p:ph type="ctrTitle"/>
          </p:nvPr>
        </p:nvSpPr>
        <p:spPr>
          <a:xfrm>
            <a:off x="2286000" y="1600200"/>
            <a:ext cx="6172200" cy="189436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16600"/>
              <a:buFont typeface="Arial"/>
              <a:buNone/>
            </a:pPr>
            <a:r>
              <a:rPr lang="en-US" sz="16600"/>
              <a:t>END!</a:t>
            </a:r>
            <a:endParaRPr sz="16600"/>
          </a:p>
        </p:txBody>
      </p:sp>
      <p:sp>
        <p:nvSpPr>
          <p:cNvPr id="2809" name="Google Shape;2809;p199"/>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t>.</a:t>
            </a:r>
            <a:endParaRPr/>
          </a:p>
        </p:txBody>
      </p:sp>
      <p:sp>
        <p:nvSpPr>
          <p:cNvPr id="2810" name="Google Shape;2810;p199"/>
          <p:cNvSpPr txBox="1"/>
          <p:nvPr>
            <p:ph idx="11" type="ftr"/>
          </p:nvPr>
        </p:nvSpPr>
        <p:spPr>
          <a:xfrm>
            <a:off x="3429000" y="5943600"/>
            <a:ext cx="3657600" cy="384048"/>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ThS. Nguyễn Thị Thúy Hằng - Viện KT &amp; QL</a:t>
            </a:r>
            <a:endParaRPr/>
          </a:p>
        </p:txBody>
      </p:sp>
      <p:sp>
        <p:nvSpPr>
          <p:cNvPr id="2811" name="Google Shape;2811;p199"/>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Verve">
  <a:themeElements>
    <a:clrScheme name="Verve">
      <a:dk1>
        <a:srgbClr val="000000"/>
      </a:dk1>
      <a:lt1>
        <a:srgbClr val="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Aspect">
  <a:themeElements>
    <a:clrScheme name="Aspect">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2013-12-24T07:36:11Z</dcterms:created>
  <dc:creator>Hang</dc:creator>
</cp:coreProperties>
</file>